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1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1.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charts/chart1.xml" ContentType="application/vnd.openxmlformats-officedocument.drawingml.chart+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3.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4.xml" ContentType="application/vnd.openxmlformats-officedocument.presentationml.notesSlide+xml"/>
  <Override PartName="/ppt/tags/tag8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8.xml" ContentType="application/vnd.openxmlformats-officedocument.presentationml.tags+xml"/>
  <Override PartName="/ppt/notesSlides/notesSlide17.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8.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9.xml" ContentType="application/vnd.openxmlformats-officedocument.presentationml.notesSlide+xml"/>
  <Override PartName="/ppt/tags/tag95.xml" ContentType="application/vnd.openxmlformats-officedocument.presentationml.tags+xml"/>
  <Override PartName="/ppt/notesSlides/notesSlide20.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21.xml" ContentType="application/vnd.openxmlformats-officedocument.presentationml.notesSlide+xml"/>
  <Override PartName="/ppt/tags/tag98.xml" ContentType="application/vnd.openxmlformats-officedocument.presentationml.tags+xml"/>
  <Override PartName="/ppt/notesSlides/notesSlide22.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3.xml" ContentType="application/vnd.openxmlformats-officedocument.presentationml.notesSlide+xml"/>
  <Override PartName="/ppt/tags/tag102.xml" ContentType="application/vnd.openxmlformats-officedocument.presentationml.tags+xml"/>
  <Override PartName="/ppt/notesSlides/notesSlide24.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5.xml" ContentType="application/vnd.openxmlformats-officedocument.presentationml.notesSlide+xml"/>
  <Override PartName="/ppt/tags/tag106.xml" ContentType="application/vnd.openxmlformats-officedocument.presentationml.tags+xml"/>
  <Override PartName="/ppt/notesSlides/notesSlide26.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10.xml" ContentType="application/vnd.openxmlformats-officedocument.presentationml.tags+xml"/>
  <Override PartName="/ppt/notesSlides/notesSlide29.xml" ContentType="application/vnd.openxmlformats-officedocument.presentationml.notesSlide+xml"/>
  <Override PartName="/ppt/tags/tag111.xml" ContentType="application/vnd.openxmlformats-officedocument.presentationml.tags+xml"/>
  <Override PartName="/ppt/notesSlides/notesSlide30.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31.xml" ContentType="application/vnd.openxmlformats-officedocument.presentationml.notesSlide+xml"/>
  <Override PartName="/ppt/tags/tag136.xml" ContentType="application/vnd.openxmlformats-officedocument.presentationml.tags+xml"/>
  <Override PartName="/ppt/notesSlides/notesSlide32.xml" ContentType="application/vnd.openxmlformats-officedocument.presentationml.notesSlide+xml"/>
  <Override PartName="/ppt/tags/tag137.xml" ContentType="application/vnd.openxmlformats-officedocument.presentationml.tags+xml"/>
  <Override PartName="/ppt/notesSlides/notesSlide33.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34.xml" ContentType="application/vnd.openxmlformats-officedocument.presentationml.notesSlide+xml"/>
  <Override PartName="/ppt/tags/tag142.xml" ContentType="application/vnd.openxmlformats-officedocument.presentationml.tags+xml"/>
  <Override PartName="/ppt/notesSlides/notesSlide35.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charts/chart2.xml" ContentType="application/vnd.openxmlformats-officedocument.drawingml.chart+xml"/>
  <Override PartName="/ppt/tags/tag171.xml" ContentType="application/vnd.openxmlformats-officedocument.presentationml.tags+xml"/>
  <Override PartName="/ppt/tags/tag172.xml" ContentType="application/vnd.openxmlformats-officedocument.presentationml.tags+xml"/>
  <Override PartName="/ppt/notesSlides/notesSlide36.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charts/chart3.xml" ContentType="application/vnd.openxmlformats-officedocument.drawingml.chart+xml"/>
  <Override PartName="/ppt/tags/tag201.xml" ContentType="application/vnd.openxmlformats-officedocument.presentationml.tags+xml"/>
  <Override PartName="/ppt/tags/tag202.xml" ContentType="application/vnd.openxmlformats-officedocument.presentationml.tags+xml"/>
  <Override PartName="/ppt/notesSlides/notesSlide37.xml" ContentType="application/vnd.openxmlformats-officedocument.presentationml.notesSlide+xml"/>
  <Override PartName="/ppt/tags/tag203.xml" ContentType="application/vnd.openxmlformats-officedocument.presentationml.tags+xml"/>
  <Override PartName="/ppt/notesSlides/notesSlide38.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39.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40.xml" ContentType="application/vnd.openxmlformats-officedocument.presentationml.notesSlide+xml"/>
  <Override PartName="/ppt/tags/tag241.xml" ContentType="application/vnd.openxmlformats-officedocument.presentationml.tags+xml"/>
  <Override PartName="/ppt/notesSlides/notesSlide41.xml" ContentType="application/vnd.openxmlformats-officedocument.presentationml.notesSlide+xml"/>
  <Override PartName="/ppt/tags/tag242.xml" ContentType="application/vnd.openxmlformats-officedocument.presentationml.tags+xml"/>
  <Override PartName="/ppt/notesSlides/notesSlide42.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43.xml" ContentType="application/vnd.openxmlformats-officedocument.presentationml.notesSlide+xml"/>
  <Override PartName="/ppt/tags/tag246.xml" ContentType="application/vnd.openxmlformats-officedocument.presentationml.tags+xml"/>
  <Override PartName="/ppt/notesSlides/notesSlide44.xml" ContentType="application/vnd.openxmlformats-officedocument.presentationml.notesSlide+xml"/>
  <Override PartName="/ppt/tags/tag247.xml" ContentType="application/vnd.openxmlformats-officedocument.presentationml.tags+xml"/>
  <Override PartName="/ppt/notesSlides/notesSlide45.xml" ContentType="application/vnd.openxmlformats-officedocument.presentationml.notesSlide+xml"/>
  <Override PartName="/ppt/tags/tag248.xml" ContentType="application/vnd.openxmlformats-officedocument.presentationml.tags+xml"/>
  <Override PartName="/ppt/notesSlides/notesSlide46.xml" ContentType="application/vnd.openxmlformats-officedocument.presentationml.notesSlide+xml"/>
  <Override PartName="/ppt/tags/tag249.xml" ContentType="application/vnd.openxmlformats-officedocument.presentationml.tags+xml"/>
  <Override PartName="/ppt/notesSlides/notesSlide47.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notesSlides/notesSlide48.xml" ContentType="application/vnd.openxmlformats-officedocument.presentationml.notesSlide+xml"/>
  <Override PartName="/ppt/tags/tag253.xml" ContentType="application/vnd.openxmlformats-officedocument.presentationml.tags+xml"/>
  <Override PartName="/ppt/notesSlides/notesSlide49.xml" ContentType="application/vnd.openxmlformats-officedocument.presentationml.notesSlide+xml"/>
  <Override PartName="/ppt/tags/tag254.xml" ContentType="application/vnd.openxmlformats-officedocument.presentationml.tags+xml"/>
  <Override PartName="/ppt/notesSlides/notesSlide50.xml" ContentType="application/vnd.openxmlformats-officedocument.presentationml.notesSlide+xml"/>
  <Override PartName="/ppt/tags/tag255.xml" ContentType="application/vnd.openxmlformats-officedocument.presentationml.tags+xml"/>
  <Override PartName="/ppt/notesSlides/notesSlide51.xml" ContentType="application/vnd.openxmlformats-officedocument.presentationml.notesSlide+xml"/>
  <Override PartName="/ppt/tags/tag256.xml" ContentType="application/vnd.openxmlformats-officedocument.presentationml.tags+xml"/>
  <Override PartName="/ppt/notesSlides/notesSlide52.xml" ContentType="application/vnd.openxmlformats-officedocument.presentationml.notesSlide+xml"/>
  <Override PartName="/ppt/tags/tag257.xml" ContentType="application/vnd.openxmlformats-officedocument.presentationml.tags+xml"/>
  <Override PartName="/ppt/notesSlides/notesSlide53.xml" ContentType="application/vnd.openxmlformats-officedocument.presentationml.notesSlide+xml"/>
  <Override PartName="/ppt/tags/tag258.xml" ContentType="application/vnd.openxmlformats-officedocument.presentationml.tags+xml"/>
  <Override PartName="/ppt/notesSlides/notesSlide54.xml" ContentType="application/vnd.openxmlformats-officedocument.presentationml.notesSlide+xml"/>
  <Override PartName="/ppt/tags/tag259.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60.xml" ContentType="application/vnd.openxmlformats-officedocument.presentationml.tags+xml"/>
  <Override PartName="/ppt/notesSlides/notesSlide57.xml" ContentType="application/vnd.openxmlformats-officedocument.presentationml.notesSlid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notesSlides/notesSlide58.xml" ContentType="application/vnd.openxmlformats-officedocument.presentationml.notesSlide+xml"/>
  <Override PartName="/ppt/tags/tag265.xml" ContentType="application/vnd.openxmlformats-officedocument.presentationml.tags+xml"/>
  <Override PartName="/ppt/notesSlides/notesSlide59.xml" ContentType="application/vnd.openxmlformats-officedocument.presentationml.notesSlide+xml"/>
  <Override PartName="/ppt/tags/tag266.xml" ContentType="application/vnd.openxmlformats-officedocument.presentationml.tags+xml"/>
  <Override PartName="/ppt/notesSlides/notesSlide60.xml" ContentType="application/vnd.openxmlformats-officedocument.presentationml.notesSlide+xml"/>
  <Override PartName="/ppt/tags/tag267.xml" ContentType="application/vnd.openxmlformats-officedocument.presentationml.tags+xml"/>
  <Override PartName="/ppt/notesSlides/notesSlide61.xml" ContentType="application/vnd.openxmlformats-officedocument.presentationml.notesSlide+xml"/>
  <Override PartName="/ppt/tags/tag268.xml" ContentType="application/vnd.openxmlformats-officedocument.presentationml.tags+xml"/>
  <Override PartName="/ppt/notesSlides/notesSlide62.xml" ContentType="application/vnd.openxmlformats-officedocument.presentationml.notesSlide+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5"/>
    <p:sldMasterId id="2147483720" r:id="rId6"/>
    <p:sldMasterId id="2147483733" r:id="rId7"/>
    <p:sldMasterId id="2147483752" r:id="rId8"/>
    <p:sldMasterId id="2147483775" r:id="rId9"/>
  </p:sldMasterIdLst>
  <p:notesMasterIdLst>
    <p:notesMasterId r:id="rId107"/>
  </p:notesMasterIdLst>
  <p:handoutMasterIdLst>
    <p:handoutMasterId r:id="rId108"/>
  </p:handoutMasterIdLst>
  <p:sldIdLst>
    <p:sldId id="355" r:id="rId10"/>
    <p:sldId id="2147478752" r:id="rId11"/>
    <p:sldId id="339" r:id="rId12"/>
    <p:sldId id="358" r:id="rId13"/>
    <p:sldId id="311" r:id="rId14"/>
    <p:sldId id="318" r:id="rId15"/>
    <p:sldId id="314" r:id="rId16"/>
    <p:sldId id="315" r:id="rId17"/>
    <p:sldId id="305" r:id="rId18"/>
    <p:sldId id="279" r:id="rId19"/>
    <p:sldId id="325" r:id="rId20"/>
    <p:sldId id="326" r:id="rId21"/>
    <p:sldId id="306" r:id="rId22"/>
    <p:sldId id="307" r:id="rId23"/>
    <p:sldId id="309" r:id="rId24"/>
    <p:sldId id="316" r:id="rId25"/>
    <p:sldId id="286" r:id="rId26"/>
    <p:sldId id="313" r:id="rId27"/>
    <p:sldId id="312" r:id="rId28"/>
    <p:sldId id="364" r:id="rId29"/>
    <p:sldId id="283" r:id="rId30"/>
    <p:sldId id="365" r:id="rId31"/>
    <p:sldId id="257" r:id="rId32"/>
    <p:sldId id="360" r:id="rId33"/>
    <p:sldId id="274" r:id="rId34"/>
    <p:sldId id="366" r:id="rId35"/>
    <p:sldId id="258" r:id="rId36"/>
    <p:sldId id="273" r:id="rId37"/>
    <p:sldId id="291" r:id="rId38"/>
    <p:sldId id="278" r:id="rId39"/>
    <p:sldId id="369" r:id="rId40"/>
    <p:sldId id="370" r:id="rId41"/>
    <p:sldId id="292" r:id="rId42"/>
    <p:sldId id="330" r:id="rId43"/>
    <p:sldId id="372" r:id="rId44"/>
    <p:sldId id="319" r:id="rId45"/>
    <p:sldId id="374" r:id="rId46"/>
    <p:sldId id="322" r:id="rId47"/>
    <p:sldId id="320" r:id="rId48"/>
    <p:sldId id="328" r:id="rId49"/>
    <p:sldId id="323" r:id="rId50"/>
    <p:sldId id="303" r:id="rId51"/>
    <p:sldId id="284" r:id="rId52"/>
    <p:sldId id="2147483636" r:id="rId53"/>
    <p:sldId id="297" r:id="rId54"/>
    <p:sldId id="275" r:id="rId55"/>
    <p:sldId id="288" r:id="rId56"/>
    <p:sldId id="287" r:id="rId57"/>
    <p:sldId id="308" r:id="rId58"/>
    <p:sldId id="2147483609" r:id="rId59"/>
    <p:sldId id="296" r:id="rId60"/>
    <p:sldId id="262" r:id="rId61"/>
    <p:sldId id="2147483625" r:id="rId62"/>
    <p:sldId id="321" r:id="rId63"/>
    <p:sldId id="2147483626" r:id="rId64"/>
    <p:sldId id="285" r:id="rId65"/>
    <p:sldId id="259" r:id="rId66"/>
    <p:sldId id="2147483627" r:id="rId67"/>
    <p:sldId id="277" r:id="rId68"/>
    <p:sldId id="281" r:id="rId69"/>
    <p:sldId id="260" r:id="rId70"/>
    <p:sldId id="261" r:id="rId71"/>
    <p:sldId id="263" r:id="rId72"/>
    <p:sldId id="295" r:id="rId73"/>
    <p:sldId id="310" r:id="rId74"/>
    <p:sldId id="280" r:id="rId75"/>
    <p:sldId id="2147483642" r:id="rId76"/>
    <p:sldId id="300" r:id="rId77"/>
    <p:sldId id="301" r:id="rId78"/>
    <p:sldId id="2147483647" r:id="rId79"/>
    <p:sldId id="302" r:id="rId80"/>
    <p:sldId id="272" r:id="rId81"/>
    <p:sldId id="2147481254" r:id="rId82"/>
    <p:sldId id="264" r:id="rId83"/>
    <p:sldId id="304" r:id="rId84"/>
    <p:sldId id="2147481163" r:id="rId85"/>
    <p:sldId id="2147483631" r:id="rId86"/>
    <p:sldId id="267" r:id="rId87"/>
    <p:sldId id="270" r:id="rId88"/>
    <p:sldId id="256" r:id="rId89"/>
    <p:sldId id="317" r:id="rId90"/>
    <p:sldId id="269" r:id="rId91"/>
    <p:sldId id="271" r:id="rId92"/>
    <p:sldId id="2147483645" r:id="rId93"/>
    <p:sldId id="2147483646" r:id="rId94"/>
    <p:sldId id="298" r:id="rId95"/>
    <p:sldId id="327" r:id="rId96"/>
    <p:sldId id="294" r:id="rId97"/>
    <p:sldId id="290" r:id="rId98"/>
    <p:sldId id="293" r:id="rId99"/>
    <p:sldId id="299" r:id="rId100"/>
    <p:sldId id="268" r:id="rId101"/>
    <p:sldId id="265" r:id="rId102"/>
    <p:sldId id="266" r:id="rId103"/>
    <p:sldId id="276" r:id="rId104"/>
    <p:sldId id="282" r:id="rId105"/>
    <p:sldId id="289" r:id="rId106"/>
  </p:sldIdLst>
  <p:sldSz cx="9144000" cy="5143500" type="screen16x9"/>
  <p:notesSz cx="9940925" cy="6808788"/>
  <p:custDataLst>
    <p:tags r:id="rId10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880">
          <p15:clr>
            <a:srgbClr val="A4A3A4"/>
          </p15:clr>
        </p15:guide>
        <p15:guide id="5"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6A6A6"/>
    <a:srgbClr val="CCCC00"/>
    <a:srgbClr val="F2F2F2"/>
    <a:srgbClr val="C3984D"/>
    <a:srgbClr val="F3EADB"/>
    <a:srgbClr val="EDF6F1"/>
    <a:srgbClr val="F8F2E9"/>
    <a:srgbClr val="C09345"/>
    <a:srgbClr val="F6F3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60"/>
  </p:normalViewPr>
  <p:slideViewPr>
    <p:cSldViewPr snapToGrid="0">
      <p:cViewPr varScale="1">
        <p:scale>
          <a:sx n="104" d="100"/>
          <a:sy n="104" d="100"/>
        </p:scale>
        <p:origin x="792" y="298"/>
      </p:cViewPr>
      <p:guideLst>
        <p:guide pos="2880"/>
        <p:guide orient="horz" pos="162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theme" Target="theme/theme1.xml"/><Relationship Id="rId16" Type="http://schemas.openxmlformats.org/officeDocument/2006/relationships/slide" Target="slides/slide7.xml"/><Relationship Id="rId107" Type="http://schemas.openxmlformats.org/officeDocument/2006/relationships/notesMaster" Target="notesMasters/notesMaster1.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5" Type="http://schemas.openxmlformats.org/officeDocument/2006/relationships/slideMaster" Target="slideMasters/slideMaster1.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tableStyles" Target="tableStyles.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handoutMaster" Target="handoutMasters/handoutMaster1.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6" Type="http://schemas.openxmlformats.org/officeDocument/2006/relationships/slide" Target="slides/slide97.xml"/><Relationship Id="rId114" Type="http://schemas.microsoft.com/office/2016/11/relationships/changesInfo" Target="changesInfos/changesInfo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tags" Target="tags/tag1.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7" Type="http://schemas.openxmlformats.org/officeDocument/2006/relationships/slideMaster" Target="slideMasters/slideMaster3.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presProps" Target="presProps.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ind Gupta (MiddleEast)" userId="94b27098-3e50-4a49-87c4-9ba093cdd8d3" providerId="ADAL" clId="{78E28E89-18A2-407D-BD64-AAFF6711A772}"/>
    <pc:docChg chg="delMainMaster">
      <pc:chgData name="Rakind Gupta (MiddleEast)" userId="94b27098-3e50-4a49-87c4-9ba093cdd8d3" providerId="ADAL" clId="{78E28E89-18A2-407D-BD64-AAFF6711A772}" dt="2026-05-04T09:41:10.711" v="0"/>
      <pc:docMkLst>
        <pc:docMk/>
      </pc:docMkLst>
      <pc:sldMasterChg chg="del delSldLayout">
        <pc:chgData name="Rakind Gupta (MiddleEast)" userId="94b27098-3e50-4a49-87c4-9ba093cdd8d3" providerId="ADAL" clId="{78E28E89-18A2-407D-BD64-AAFF6711A772}" dt="2026-05-04T09:41:10.711" v="0"/>
        <pc:sldMasterMkLst>
          <pc:docMk/>
          <pc:sldMasterMk cId="889800964" sldId="2147483712"/>
        </pc:sldMasterMkLst>
        <pc:sldLayoutChg chg="del">
          <pc:chgData name="Rakind Gupta (MiddleEast)" userId="94b27098-3e50-4a49-87c4-9ba093cdd8d3" providerId="ADAL" clId="{78E28E89-18A2-407D-BD64-AAFF6711A772}" dt="2026-05-04T09:41:10.711" v="0"/>
          <pc:sldLayoutMkLst>
            <pc:docMk/>
            <pc:sldMasterMk cId="889800964" sldId="2147483712"/>
            <pc:sldLayoutMk cId="1400842273" sldId="2147483713"/>
          </pc:sldLayoutMkLst>
        </pc:sldLayoutChg>
        <pc:sldLayoutChg chg="del">
          <pc:chgData name="Rakind Gupta (MiddleEast)" userId="94b27098-3e50-4a49-87c4-9ba093cdd8d3" providerId="ADAL" clId="{78E28E89-18A2-407D-BD64-AAFF6711A772}" dt="2026-05-04T09:41:10.711" v="0"/>
          <pc:sldLayoutMkLst>
            <pc:docMk/>
            <pc:sldMasterMk cId="889800964" sldId="2147483712"/>
            <pc:sldLayoutMk cId="1776026652" sldId="2147483714"/>
          </pc:sldLayoutMkLst>
        </pc:sldLayoutChg>
        <pc:sldLayoutChg chg="del">
          <pc:chgData name="Rakind Gupta (MiddleEast)" userId="94b27098-3e50-4a49-87c4-9ba093cdd8d3" providerId="ADAL" clId="{78E28E89-18A2-407D-BD64-AAFF6711A772}" dt="2026-05-04T09:41:10.711" v="0"/>
          <pc:sldLayoutMkLst>
            <pc:docMk/>
            <pc:sldMasterMk cId="889800964" sldId="2147483712"/>
            <pc:sldLayoutMk cId="4284724308" sldId="2147483715"/>
          </pc:sldLayoutMkLst>
        </pc:sldLayoutChg>
      </pc:sldMasterChg>
      <pc:sldMasterChg chg="del delSldLayout">
        <pc:chgData name="Rakind Gupta (MiddleEast)" userId="94b27098-3e50-4a49-87c4-9ba093cdd8d3" providerId="ADAL" clId="{78E28E89-18A2-407D-BD64-AAFF6711A772}" dt="2026-05-04T09:41:10.711" v="0"/>
        <pc:sldMasterMkLst>
          <pc:docMk/>
          <pc:sldMasterMk cId="4151485286" sldId="2147483716"/>
        </pc:sldMasterMkLst>
        <pc:sldLayoutChg chg="del">
          <pc:chgData name="Rakind Gupta (MiddleEast)" userId="94b27098-3e50-4a49-87c4-9ba093cdd8d3" providerId="ADAL" clId="{78E28E89-18A2-407D-BD64-AAFF6711A772}" dt="2026-05-04T09:41:10.711" v="0"/>
          <pc:sldLayoutMkLst>
            <pc:docMk/>
            <pc:sldMasterMk cId="4151485286" sldId="2147483716"/>
            <pc:sldLayoutMk cId="3997945324" sldId="2147483717"/>
          </pc:sldLayoutMkLst>
        </pc:sldLayoutChg>
        <pc:sldLayoutChg chg="del">
          <pc:chgData name="Rakind Gupta (MiddleEast)" userId="94b27098-3e50-4a49-87c4-9ba093cdd8d3" providerId="ADAL" clId="{78E28E89-18A2-407D-BD64-AAFF6711A772}" dt="2026-05-04T09:41:10.711" v="0"/>
          <pc:sldLayoutMkLst>
            <pc:docMk/>
            <pc:sldMasterMk cId="4151485286" sldId="2147483716"/>
            <pc:sldLayoutMk cId="417660848" sldId="2147483718"/>
          </pc:sldLayoutMkLst>
        </pc:sldLayoutChg>
        <pc:sldLayoutChg chg="del">
          <pc:chgData name="Rakind Gupta (MiddleEast)" userId="94b27098-3e50-4a49-87c4-9ba093cdd8d3" providerId="ADAL" clId="{78E28E89-18A2-407D-BD64-AAFF6711A772}" dt="2026-05-04T09:41:10.711" v="0"/>
          <pc:sldLayoutMkLst>
            <pc:docMk/>
            <pc:sldMasterMk cId="4151485286" sldId="2147483716"/>
            <pc:sldLayoutMk cId="2664056150" sldId="2147483719"/>
          </pc:sldLayoutMkLst>
        </pc:sldLayoutChg>
      </pc:sldMasterChg>
      <pc:sldMasterChg chg="del delSldLayout">
        <pc:chgData name="Rakind Gupta (MiddleEast)" userId="94b27098-3e50-4a49-87c4-9ba093cdd8d3" providerId="ADAL" clId="{78E28E89-18A2-407D-BD64-AAFF6711A772}" dt="2026-05-04T09:41:10.711" v="0"/>
        <pc:sldMasterMkLst>
          <pc:docMk/>
          <pc:sldMasterMk cId="2917365897" sldId="2147483724"/>
        </pc:sldMasterMkLst>
        <pc:sldLayoutChg chg="del">
          <pc:chgData name="Rakind Gupta (MiddleEast)" userId="94b27098-3e50-4a49-87c4-9ba093cdd8d3" providerId="ADAL" clId="{78E28E89-18A2-407D-BD64-AAFF6711A772}" dt="2026-05-04T09:41:10.711" v="0"/>
          <pc:sldLayoutMkLst>
            <pc:docMk/>
            <pc:sldMasterMk cId="2917365897" sldId="2147483724"/>
            <pc:sldLayoutMk cId="3611023988" sldId="2147483725"/>
          </pc:sldLayoutMkLst>
        </pc:sldLayoutChg>
        <pc:sldLayoutChg chg="del">
          <pc:chgData name="Rakind Gupta (MiddleEast)" userId="94b27098-3e50-4a49-87c4-9ba093cdd8d3" providerId="ADAL" clId="{78E28E89-18A2-407D-BD64-AAFF6711A772}" dt="2026-05-04T09:41:10.711" v="0"/>
          <pc:sldLayoutMkLst>
            <pc:docMk/>
            <pc:sldMasterMk cId="2917365897" sldId="2147483724"/>
            <pc:sldLayoutMk cId="1205119630" sldId="2147483726"/>
          </pc:sldLayoutMkLst>
        </pc:sldLayoutChg>
        <pc:sldLayoutChg chg="del">
          <pc:chgData name="Rakind Gupta (MiddleEast)" userId="94b27098-3e50-4a49-87c4-9ba093cdd8d3" providerId="ADAL" clId="{78E28E89-18A2-407D-BD64-AAFF6711A772}" dt="2026-05-04T09:41:10.711" v="0"/>
          <pc:sldLayoutMkLst>
            <pc:docMk/>
            <pc:sldMasterMk cId="2917365897" sldId="2147483724"/>
            <pc:sldLayoutMk cId="210663701" sldId="2147483727"/>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200233849751535E-2"/>
          <c:y val="7.8229229836264402E-2"/>
          <c:w val="0.96959953230049689"/>
          <c:h val="0.8435415403274712"/>
        </c:manualLayout>
      </c:layout>
      <c:barChart>
        <c:barDir val="col"/>
        <c:grouping val="stacked"/>
        <c:varyColors val="0"/>
        <c:ser>
          <c:idx val="0"/>
          <c:order val="0"/>
          <c:spPr>
            <a:solidFill>
              <a:srgbClr val="C39A5C"/>
            </a:solidFill>
            <a:ln w="9525" cmpd="sng" algn="ctr">
              <a:solidFill>
                <a:srgbClr val="FFFFFF"/>
              </a:solidFill>
              <a:prstDash val="solid"/>
            </a:ln>
          </c:spPr>
          <c:invertIfNegative val="0"/>
          <c:dLbls>
            <c:dLbl>
              <c:idx val="1"/>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E15-41A4-B260-8D4FA8A363AA}"/>
                </c:ext>
              </c:extLst>
            </c:dLbl>
            <c:dLbl>
              <c:idx val="2"/>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E15-41A4-B260-8D4FA8A363AA}"/>
                </c:ext>
              </c:extLst>
            </c:dLbl>
            <c:dLbl>
              <c:idx val="3"/>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E15-41A4-B260-8D4FA8A363AA}"/>
                </c:ext>
              </c:extLst>
            </c:dLbl>
            <c:dLbl>
              <c:idx val="4"/>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E15-41A4-B260-8D4FA8A363AA}"/>
                </c:ext>
              </c:extLst>
            </c:dLbl>
            <c:dLbl>
              <c:idx val="5"/>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5E15-41A4-B260-8D4FA8A363AA}"/>
                </c:ext>
              </c:extLst>
            </c:dLbl>
            <c:dLbl>
              <c:idx val="6"/>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E15-41A4-B260-8D4FA8A363AA}"/>
                </c:ext>
              </c:extLst>
            </c:dLbl>
            <c:dLbl>
              <c:idx val="7"/>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5E15-41A4-B260-8D4FA8A363AA}"/>
                </c:ext>
              </c:extLst>
            </c:dLbl>
            <c:dLbl>
              <c:idx val="8"/>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E15-41A4-B260-8D4FA8A363AA}"/>
                </c:ext>
              </c:extLst>
            </c:dLbl>
            <c:dLbl>
              <c:idx val="9"/>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5E15-41A4-B260-8D4FA8A363A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0</c:v>
                </c:pt>
                <c:pt idx="1">
                  <c:v>300</c:v>
                </c:pt>
                <c:pt idx="2">
                  <c:v>600</c:v>
                </c:pt>
                <c:pt idx="3">
                  <c:v>630</c:v>
                </c:pt>
                <c:pt idx="4">
                  <c:v>661.5</c:v>
                </c:pt>
                <c:pt idx="5">
                  <c:v>694.57500000000005</c:v>
                </c:pt>
                <c:pt idx="6">
                  <c:v>729.30375000000004</c:v>
                </c:pt>
                <c:pt idx="7">
                  <c:v>765.76893750000011</c:v>
                </c:pt>
                <c:pt idx="8">
                  <c:v>804.0573843750002</c:v>
                </c:pt>
                <c:pt idx="9">
                  <c:v>844.26025359375024</c:v>
                </c:pt>
              </c:numCache>
            </c:numRef>
          </c:val>
          <c:extLst>
            <c:ext xmlns:c16="http://schemas.microsoft.com/office/drawing/2014/chart" uri="{C3380CC4-5D6E-409C-BE32-E72D297353CC}">
              <c16:uniqueId val="{00000009-5E15-41A4-B260-8D4FA8A363AA}"/>
            </c:ext>
          </c:extLst>
        </c:ser>
        <c:ser>
          <c:idx val="1"/>
          <c:order val="1"/>
          <c:spPr>
            <a:solidFill>
              <a:schemeClr val="tx2"/>
            </a:solidFill>
            <a:ln w="9525" cmpd="sng" algn="ctr">
              <a:solidFill>
                <a:srgbClr val="FFFFFF"/>
              </a:solidFill>
              <a:prstDash val="solid"/>
            </a:ln>
          </c:spPr>
          <c:invertIfNegative val="0"/>
          <c:val>
            <c:numRef>
              <c:f>Sheet1!$A$2:$J$2</c:f>
              <c:numCache>
                <c:formatCode>General</c:formatCode>
                <c:ptCount val="10"/>
                <c:pt idx="0">
                  <c:v>-126.5625</c:v>
                </c:pt>
                <c:pt idx="1">
                  <c:v>-42.1875</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A-5E15-41A4-B260-8D4FA8A363AA}"/>
            </c:ext>
          </c:extLst>
        </c:ser>
        <c:ser>
          <c:idx val="2"/>
          <c:order val="2"/>
          <c:spPr>
            <a:solidFill>
              <a:srgbClr val="B9B9B9"/>
            </a:solidFill>
            <a:ln w="9525" cmpd="sng" algn="ctr">
              <a:solidFill>
                <a:srgbClr val="FFFFFF"/>
              </a:solidFill>
              <a:prstDash val="solid"/>
            </a:ln>
          </c:spPr>
          <c:invertIfNegative val="0"/>
          <c:val>
            <c:numRef>
              <c:f>Sheet1!$A$3:$J$3</c:f>
              <c:numCache>
                <c:formatCode>General</c:formatCode>
                <c:ptCount val="10"/>
                <c:pt idx="0">
                  <c:v>0</c:v>
                </c:pt>
                <c:pt idx="1">
                  <c:v>-165</c:v>
                </c:pt>
                <c:pt idx="2">
                  <c:v>-330</c:v>
                </c:pt>
                <c:pt idx="3">
                  <c:v>-346.5</c:v>
                </c:pt>
                <c:pt idx="4">
                  <c:v>-363.82500000000005</c:v>
                </c:pt>
                <c:pt idx="5">
                  <c:v>-382.01625000000007</c:v>
                </c:pt>
                <c:pt idx="6">
                  <c:v>-401.11706250000003</c:v>
                </c:pt>
                <c:pt idx="7">
                  <c:v>-421.17291562500009</c:v>
                </c:pt>
                <c:pt idx="8">
                  <c:v>-442.23156140625014</c:v>
                </c:pt>
                <c:pt idx="9">
                  <c:v>-464.34313947656267</c:v>
                </c:pt>
              </c:numCache>
            </c:numRef>
          </c:val>
          <c:extLst>
            <c:ext xmlns:c16="http://schemas.microsoft.com/office/drawing/2014/chart" uri="{C3380CC4-5D6E-409C-BE32-E72D297353CC}">
              <c16:uniqueId val="{0000000B-5E15-41A4-B260-8D4FA8A363AA}"/>
            </c:ext>
          </c:extLst>
        </c:ser>
        <c:ser>
          <c:idx val="3"/>
          <c:order val="3"/>
          <c:spPr>
            <a:solidFill>
              <a:srgbClr val="5A5A5A"/>
            </a:solidFill>
            <a:ln w="9525" cmpd="sng" algn="ctr">
              <a:solidFill>
                <a:srgbClr val="FFFFFF"/>
              </a:solidFill>
              <a:prstDash val="solid"/>
            </a:ln>
          </c:spPr>
          <c:invertIfNegative val="0"/>
          <c:val>
            <c:numRef>
              <c:f>Sheet1!$A$4:$J$4</c:f>
              <c:numCache>
                <c:formatCode>General</c:formatCode>
                <c:ptCount val="10"/>
                <c:pt idx="0">
                  <c:v>0</c:v>
                </c:pt>
                <c:pt idx="1">
                  <c:v>-111</c:v>
                </c:pt>
                <c:pt idx="2">
                  <c:v>-222</c:v>
                </c:pt>
                <c:pt idx="3">
                  <c:v>-233.10000000000002</c:v>
                </c:pt>
                <c:pt idx="4">
                  <c:v>-231.52499999999998</c:v>
                </c:pt>
                <c:pt idx="5">
                  <c:v>-243.10124999999999</c:v>
                </c:pt>
                <c:pt idx="6">
                  <c:v>-255.25631250000009</c:v>
                </c:pt>
                <c:pt idx="7">
                  <c:v>-268.01912812500007</c:v>
                </c:pt>
                <c:pt idx="8">
                  <c:v>-281.4200845312501</c:v>
                </c:pt>
                <c:pt idx="9">
                  <c:v>-295.49108875781258</c:v>
                </c:pt>
              </c:numCache>
            </c:numRef>
          </c:val>
          <c:extLst>
            <c:ext xmlns:c16="http://schemas.microsoft.com/office/drawing/2014/chart" uri="{C3380CC4-5D6E-409C-BE32-E72D297353CC}">
              <c16:uniqueId val="{0000000C-5E15-41A4-B260-8D4FA8A363AA}"/>
            </c:ext>
          </c:extLst>
        </c:ser>
        <c:dLbls>
          <c:showLegendKey val="0"/>
          <c:showVal val="0"/>
          <c:showCatName val="0"/>
          <c:showSerName val="0"/>
          <c:showPercent val="0"/>
          <c:showBubbleSize val="0"/>
        </c:dLbls>
        <c:gapWidth val="80"/>
        <c:overlap val="100"/>
        <c:axId val="1734607"/>
        <c:axId val="1"/>
      </c:barChart>
      <c:lineChart>
        <c:grouping val="standard"/>
        <c:varyColors val="0"/>
        <c:ser>
          <c:idx val="4"/>
          <c:order val="4"/>
          <c:spPr>
            <a:ln w="19050" cmpd="sng" algn="ctr">
              <a:solidFill>
                <a:srgbClr val="000000"/>
              </a:solidFill>
              <a:prstDash val="solid"/>
            </a:ln>
          </c:spPr>
          <c:marker>
            <c:symbol val="none"/>
          </c:marker>
          <c:dPt>
            <c:idx val="0"/>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D-5E15-41A4-B260-8D4FA8A363AA}"/>
              </c:ext>
            </c:extLst>
          </c:dPt>
          <c:dPt>
            <c:idx val="1"/>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E-5E15-41A4-B260-8D4FA8A363AA}"/>
              </c:ext>
            </c:extLst>
          </c:dPt>
          <c:dPt>
            <c:idx val="2"/>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F-5E15-41A4-B260-8D4FA8A363AA}"/>
              </c:ext>
            </c:extLst>
          </c:dPt>
          <c:dPt>
            <c:idx val="3"/>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0-5E15-41A4-B260-8D4FA8A363AA}"/>
              </c:ext>
            </c:extLst>
          </c:dPt>
          <c:dPt>
            <c:idx val="4"/>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1-5E15-41A4-B260-8D4FA8A363AA}"/>
              </c:ext>
            </c:extLst>
          </c:dPt>
          <c:dPt>
            <c:idx val="5"/>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2-5E15-41A4-B260-8D4FA8A363AA}"/>
              </c:ext>
            </c:extLst>
          </c:dPt>
          <c:dPt>
            <c:idx val="6"/>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3-5E15-41A4-B260-8D4FA8A363AA}"/>
              </c:ext>
            </c:extLst>
          </c:dPt>
          <c:dPt>
            <c:idx val="7"/>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4-5E15-41A4-B260-8D4FA8A363AA}"/>
              </c:ext>
            </c:extLst>
          </c:dPt>
          <c:dPt>
            <c:idx val="8"/>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5-5E15-41A4-B260-8D4FA8A363AA}"/>
              </c:ext>
            </c:extLst>
          </c:dPt>
          <c:dPt>
            <c:idx val="9"/>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6-5E15-41A4-B260-8D4FA8A363AA}"/>
              </c:ext>
            </c:extLst>
          </c:dPt>
          <c:val>
            <c:numRef>
              <c:f>Sheet1!$A$5:$J$5</c:f>
              <c:numCache>
                <c:formatCode>General</c:formatCode>
                <c:ptCount val="10"/>
                <c:pt idx="0">
                  <c:v>-126.5625</c:v>
                </c:pt>
                <c:pt idx="1">
                  <c:v>-168.75</c:v>
                </c:pt>
                <c:pt idx="2">
                  <c:v>-139.94999999999999</c:v>
                </c:pt>
                <c:pt idx="3">
                  <c:v>-109.70999999999998</c:v>
                </c:pt>
                <c:pt idx="4">
                  <c:v>-70.02000000000001</c:v>
                </c:pt>
                <c:pt idx="5">
                  <c:v>-28.345500000000037</c:v>
                </c:pt>
                <c:pt idx="6">
                  <c:v>15.412724999999952</c:v>
                </c:pt>
                <c:pt idx="7">
                  <c:v>61.35886124999994</c:v>
                </c:pt>
                <c:pt idx="8">
                  <c:v>109.60230431249994</c:v>
                </c:pt>
                <c:pt idx="9">
                  <c:v>160.25791952812492</c:v>
                </c:pt>
              </c:numCache>
            </c:numRef>
          </c:val>
          <c:smooth val="0"/>
          <c:extLst>
            <c:ext xmlns:c16="http://schemas.microsoft.com/office/drawing/2014/chart" uri="{C3380CC4-5D6E-409C-BE32-E72D297353CC}">
              <c16:uniqueId val="{00000017-5E15-41A4-B260-8D4FA8A363AA}"/>
            </c:ext>
          </c:extLst>
        </c:ser>
        <c:dLbls>
          <c:showLegendKey val="0"/>
          <c:showVal val="0"/>
          <c:showCatName val="0"/>
          <c:showSerName val="0"/>
          <c:showPercent val="0"/>
          <c:showBubbleSize val="0"/>
        </c:dLbls>
        <c:marker val="1"/>
        <c:smooth val="0"/>
        <c:axId val="1734607"/>
        <c:axId val="1"/>
      </c:lineChart>
      <c:catAx>
        <c:axId val="1734607"/>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1"/>
        <c:crossesAt val="0"/>
        <c:auto val="0"/>
        <c:lblAlgn val="ctr"/>
        <c:lblOffset val="100"/>
        <c:noMultiLvlLbl val="0"/>
      </c:catAx>
      <c:valAx>
        <c:axId val="1"/>
        <c:scaling>
          <c:orientation val="minMax"/>
          <c:max val="1000"/>
          <c:min val="-80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1734607"/>
        <c:crosses val="min"/>
        <c:crossBetween val="between"/>
        <c:majorUnit val="200"/>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200233849751535E-2"/>
          <c:y val="7.8229229836264402E-2"/>
          <c:w val="0.96959953230049689"/>
          <c:h val="0.8435415403274712"/>
        </c:manualLayout>
      </c:layout>
      <c:barChart>
        <c:barDir val="col"/>
        <c:grouping val="stacked"/>
        <c:varyColors val="0"/>
        <c:ser>
          <c:idx val="0"/>
          <c:order val="0"/>
          <c:spPr>
            <a:solidFill>
              <a:srgbClr val="C39A5C"/>
            </a:solidFill>
            <a:ln w="9525" cmpd="sng" algn="ctr">
              <a:solidFill>
                <a:srgbClr val="FFFFFF"/>
              </a:solidFill>
              <a:prstDash val="solid"/>
            </a:ln>
          </c:spPr>
          <c:invertIfNegative val="0"/>
          <c:dLbls>
            <c:dLbl>
              <c:idx val="1"/>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343-412D-8716-3B2F9EDEB16F}"/>
                </c:ext>
              </c:extLst>
            </c:dLbl>
            <c:dLbl>
              <c:idx val="2"/>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343-412D-8716-3B2F9EDEB16F}"/>
                </c:ext>
              </c:extLst>
            </c:dLbl>
            <c:dLbl>
              <c:idx val="3"/>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343-412D-8716-3B2F9EDEB16F}"/>
                </c:ext>
              </c:extLst>
            </c:dLbl>
            <c:dLbl>
              <c:idx val="4"/>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343-412D-8716-3B2F9EDEB16F}"/>
                </c:ext>
              </c:extLst>
            </c:dLbl>
            <c:dLbl>
              <c:idx val="5"/>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343-412D-8716-3B2F9EDEB16F}"/>
                </c:ext>
              </c:extLst>
            </c:dLbl>
            <c:dLbl>
              <c:idx val="6"/>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343-412D-8716-3B2F9EDEB16F}"/>
                </c:ext>
              </c:extLst>
            </c:dLbl>
            <c:dLbl>
              <c:idx val="7"/>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343-412D-8716-3B2F9EDEB16F}"/>
                </c:ext>
              </c:extLst>
            </c:dLbl>
            <c:dLbl>
              <c:idx val="8"/>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343-412D-8716-3B2F9EDEB16F}"/>
                </c:ext>
              </c:extLst>
            </c:dLbl>
            <c:dLbl>
              <c:idx val="9"/>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1343-412D-8716-3B2F9EDEB1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0</c:v>
                </c:pt>
                <c:pt idx="1">
                  <c:v>300</c:v>
                </c:pt>
                <c:pt idx="2">
                  <c:v>600</c:v>
                </c:pt>
                <c:pt idx="3">
                  <c:v>630</c:v>
                </c:pt>
                <c:pt idx="4">
                  <c:v>661.5</c:v>
                </c:pt>
                <c:pt idx="5">
                  <c:v>694.57500000000005</c:v>
                </c:pt>
                <c:pt idx="6">
                  <c:v>729.30375000000004</c:v>
                </c:pt>
                <c:pt idx="7">
                  <c:v>765.76893750000011</c:v>
                </c:pt>
                <c:pt idx="8">
                  <c:v>804.0573843750002</c:v>
                </c:pt>
                <c:pt idx="9">
                  <c:v>844.26025359375024</c:v>
                </c:pt>
              </c:numCache>
            </c:numRef>
          </c:val>
          <c:extLst>
            <c:ext xmlns:c16="http://schemas.microsoft.com/office/drawing/2014/chart" uri="{C3380CC4-5D6E-409C-BE32-E72D297353CC}">
              <c16:uniqueId val="{00000009-1343-412D-8716-3B2F9EDEB16F}"/>
            </c:ext>
          </c:extLst>
        </c:ser>
        <c:ser>
          <c:idx val="1"/>
          <c:order val="1"/>
          <c:spPr>
            <a:solidFill>
              <a:schemeClr val="tx2"/>
            </a:solidFill>
            <a:ln w="9525" cmpd="sng" algn="ctr">
              <a:solidFill>
                <a:srgbClr val="FFFFFF"/>
              </a:solidFill>
              <a:prstDash val="solid"/>
            </a:ln>
          </c:spPr>
          <c:invertIfNegative val="0"/>
          <c:val>
            <c:numRef>
              <c:f>Sheet1!$A$2:$J$2</c:f>
              <c:numCache>
                <c:formatCode>General</c:formatCode>
                <c:ptCount val="10"/>
                <c:pt idx="0">
                  <c:v>-126.5625</c:v>
                </c:pt>
                <c:pt idx="1">
                  <c:v>-42.1875</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A-1343-412D-8716-3B2F9EDEB16F}"/>
            </c:ext>
          </c:extLst>
        </c:ser>
        <c:ser>
          <c:idx val="2"/>
          <c:order val="2"/>
          <c:spPr>
            <a:solidFill>
              <a:srgbClr val="B9B9B9"/>
            </a:solidFill>
            <a:ln w="9525" cmpd="sng" algn="ctr">
              <a:solidFill>
                <a:srgbClr val="FFFFFF"/>
              </a:solidFill>
              <a:prstDash val="solid"/>
            </a:ln>
          </c:spPr>
          <c:invertIfNegative val="0"/>
          <c:val>
            <c:numRef>
              <c:f>Sheet1!$A$3:$J$3</c:f>
              <c:numCache>
                <c:formatCode>General</c:formatCode>
                <c:ptCount val="10"/>
                <c:pt idx="0">
                  <c:v>0</c:v>
                </c:pt>
                <c:pt idx="1">
                  <c:v>-165</c:v>
                </c:pt>
                <c:pt idx="2">
                  <c:v>-330</c:v>
                </c:pt>
                <c:pt idx="3">
                  <c:v>-346.5</c:v>
                </c:pt>
                <c:pt idx="4">
                  <c:v>-363.82500000000005</c:v>
                </c:pt>
                <c:pt idx="5">
                  <c:v>-382.01625000000007</c:v>
                </c:pt>
                <c:pt idx="6">
                  <c:v>-401.11706250000003</c:v>
                </c:pt>
                <c:pt idx="7">
                  <c:v>-421.17291562500009</c:v>
                </c:pt>
                <c:pt idx="8">
                  <c:v>-442.23156140625014</c:v>
                </c:pt>
                <c:pt idx="9">
                  <c:v>-464.34313947656267</c:v>
                </c:pt>
              </c:numCache>
            </c:numRef>
          </c:val>
          <c:extLst>
            <c:ext xmlns:c16="http://schemas.microsoft.com/office/drawing/2014/chart" uri="{C3380CC4-5D6E-409C-BE32-E72D297353CC}">
              <c16:uniqueId val="{0000000B-1343-412D-8716-3B2F9EDEB16F}"/>
            </c:ext>
          </c:extLst>
        </c:ser>
        <c:ser>
          <c:idx val="3"/>
          <c:order val="3"/>
          <c:spPr>
            <a:solidFill>
              <a:srgbClr val="5A5A5A"/>
            </a:solidFill>
            <a:ln w="9525" cmpd="sng" algn="ctr">
              <a:solidFill>
                <a:srgbClr val="FFFFFF"/>
              </a:solidFill>
              <a:prstDash val="solid"/>
            </a:ln>
          </c:spPr>
          <c:invertIfNegative val="0"/>
          <c:val>
            <c:numRef>
              <c:f>Sheet1!$A$4:$J$4</c:f>
              <c:numCache>
                <c:formatCode>General</c:formatCode>
                <c:ptCount val="10"/>
                <c:pt idx="0">
                  <c:v>0</c:v>
                </c:pt>
                <c:pt idx="1">
                  <c:v>-111</c:v>
                </c:pt>
                <c:pt idx="2">
                  <c:v>-222</c:v>
                </c:pt>
                <c:pt idx="3">
                  <c:v>-233.10000000000002</c:v>
                </c:pt>
                <c:pt idx="4">
                  <c:v>-231.52499999999998</c:v>
                </c:pt>
                <c:pt idx="5">
                  <c:v>-243.10124999999999</c:v>
                </c:pt>
                <c:pt idx="6">
                  <c:v>-255.25631250000009</c:v>
                </c:pt>
                <c:pt idx="7">
                  <c:v>-268.01912812500007</c:v>
                </c:pt>
                <c:pt idx="8">
                  <c:v>-281.4200845312501</c:v>
                </c:pt>
                <c:pt idx="9">
                  <c:v>-295.49108875781258</c:v>
                </c:pt>
              </c:numCache>
            </c:numRef>
          </c:val>
          <c:extLst>
            <c:ext xmlns:c16="http://schemas.microsoft.com/office/drawing/2014/chart" uri="{C3380CC4-5D6E-409C-BE32-E72D297353CC}">
              <c16:uniqueId val="{0000000C-1343-412D-8716-3B2F9EDEB16F}"/>
            </c:ext>
          </c:extLst>
        </c:ser>
        <c:dLbls>
          <c:showLegendKey val="0"/>
          <c:showVal val="0"/>
          <c:showCatName val="0"/>
          <c:showSerName val="0"/>
          <c:showPercent val="0"/>
          <c:showBubbleSize val="0"/>
        </c:dLbls>
        <c:gapWidth val="80"/>
        <c:overlap val="100"/>
        <c:axId val="239523968"/>
        <c:axId val="1"/>
      </c:barChart>
      <c:lineChart>
        <c:grouping val="standard"/>
        <c:varyColors val="0"/>
        <c:ser>
          <c:idx val="4"/>
          <c:order val="4"/>
          <c:spPr>
            <a:ln w="19050" cmpd="sng" algn="ctr">
              <a:solidFill>
                <a:srgbClr val="000000"/>
              </a:solidFill>
              <a:prstDash val="solid"/>
            </a:ln>
          </c:spPr>
          <c:marker>
            <c:symbol val="none"/>
          </c:marker>
          <c:dPt>
            <c:idx val="0"/>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D-1343-412D-8716-3B2F9EDEB16F}"/>
              </c:ext>
            </c:extLst>
          </c:dPt>
          <c:dPt>
            <c:idx val="1"/>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E-1343-412D-8716-3B2F9EDEB16F}"/>
              </c:ext>
            </c:extLst>
          </c:dPt>
          <c:dPt>
            <c:idx val="2"/>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F-1343-412D-8716-3B2F9EDEB16F}"/>
              </c:ext>
            </c:extLst>
          </c:dPt>
          <c:dPt>
            <c:idx val="3"/>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0-1343-412D-8716-3B2F9EDEB16F}"/>
              </c:ext>
            </c:extLst>
          </c:dPt>
          <c:dPt>
            <c:idx val="4"/>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1-1343-412D-8716-3B2F9EDEB16F}"/>
              </c:ext>
            </c:extLst>
          </c:dPt>
          <c:dPt>
            <c:idx val="5"/>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2-1343-412D-8716-3B2F9EDEB16F}"/>
              </c:ext>
            </c:extLst>
          </c:dPt>
          <c:dPt>
            <c:idx val="6"/>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3-1343-412D-8716-3B2F9EDEB16F}"/>
              </c:ext>
            </c:extLst>
          </c:dPt>
          <c:dPt>
            <c:idx val="7"/>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4-1343-412D-8716-3B2F9EDEB16F}"/>
              </c:ext>
            </c:extLst>
          </c:dPt>
          <c:dPt>
            <c:idx val="8"/>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5-1343-412D-8716-3B2F9EDEB16F}"/>
              </c:ext>
            </c:extLst>
          </c:dPt>
          <c:dPt>
            <c:idx val="9"/>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6-1343-412D-8716-3B2F9EDEB16F}"/>
              </c:ext>
            </c:extLst>
          </c:dPt>
          <c:val>
            <c:numRef>
              <c:f>Sheet1!$A$5:$J$5</c:f>
              <c:numCache>
                <c:formatCode>General</c:formatCode>
                <c:ptCount val="10"/>
                <c:pt idx="0">
                  <c:v>-126.5625</c:v>
                </c:pt>
                <c:pt idx="1">
                  <c:v>-168.75</c:v>
                </c:pt>
                <c:pt idx="2">
                  <c:v>-139.94999999999999</c:v>
                </c:pt>
                <c:pt idx="3">
                  <c:v>-109.70999999999998</c:v>
                </c:pt>
                <c:pt idx="4">
                  <c:v>-70.02000000000001</c:v>
                </c:pt>
                <c:pt idx="5">
                  <c:v>-28.345500000000037</c:v>
                </c:pt>
                <c:pt idx="6">
                  <c:v>15.412724999999952</c:v>
                </c:pt>
                <c:pt idx="7">
                  <c:v>61.35886124999994</c:v>
                </c:pt>
                <c:pt idx="8">
                  <c:v>109.60230431249994</c:v>
                </c:pt>
                <c:pt idx="9">
                  <c:v>160.25791952812492</c:v>
                </c:pt>
              </c:numCache>
            </c:numRef>
          </c:val>
          <c:smooth val="0"/>
          <c:extLst>
            <c:ext xmlns:c16="http://schemas.microsoft.com/office/drawing/2014/chart" uri="{C3380CC4-5D6E-409C-BE32-E72D297353CC}">
              <c16:uniqueId val="{00000017-1343-412D-8716-3B2F9EDEB16F}"/>
            </c:ext>
          </c:extLst>
        </c:ser>
        <c:dLbls>
          <c:showLegendKey val="0"/>
          <c:showVal val="0"/>
          <c:showCatName val="0"/>
          <c:showSerName val="0"/>
          <c:showPercent val="0"/>
          <c:showBubbleSize val="0"/>
        </c:dLbls>
        <c:marker val="1"/>
        <c:smooth val="0"/>
        <c:axId val="239523968"/>
        <c:axId val="1"/>
      </c:lineChart>
      <c:catAx>
        <c:axId val="239523968"/>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1"/>
        <c:crossesAt val="0"/>
        <c:auto val="0"/>
        <c:lblAlgn val="ctr"/>
        <c:lblOffset val="100"/>
        <c:noMultiLvlLbl val="0"/>
      </c:catAx>
      <c:valAx>
        <c:axId val="1"/>
        <c:scaling>
          <c:orientation val="minMax"/>
          <c:max val="1000"/>
          <c:min val="-80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239523968"/>
        <c:crosses val="min"/>
        <c:crossBetween val="between"/>
        <c:majorUnit val="20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200233849751535E-2"/>
          <c:y val="7.8229229836264402E-2"/>
          <c:w val="0.96959953230049689"/>
          <c:h val="0.8435415403274712"/>
        </c:manualLayout>
      </c:layout>
      <c:barChart>
        <c:barDir val="col"/>
        <c:grouping val="stacked"/>
        <c:varyColors val="0"/>
        <c:ser>
          <c:idx val="0"/>
          <c:order val="0"/>
          <c:spPr>
            <a:solidFill>
              <a:srgbClr val="C39A5C"/>
            </a:solidFill>
            <a:ln w="9525" cmpd="sng" algn="ctr">
              <a:solidFill>
                <a:srgbClr val="FFFFFF"/>
              </a:solidFill>
              <a:prstDash val="solid"/>
            </a:ln>
          </c:spPr>
          <c:invertIfNegative val="0"/>
          <c:dLbls>
            <c:dLbl>
              <c:idx val="1"/>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6E9-4E62-A52B-CEBB989DAF8E}"/>
                </c:ext>
              </c:extLst>
            </c:dLbl>
            <c:dLbl>
              <c:idx val="2"/>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6E9-4E62-A52B-CEBB989DAF8E}"/>
                </c:ext>
              </c:extLst>
            </c:dLbl>
            <c:dLbl>
              <c:idx val="3"/>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6E9-4E62-A52B-CEBB989DAF8E}"/>
                </c:ext>
              </c:extLst>
            </c:dLbl>
            <c:dLbl>
              <c:idx val="4"/>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86E9-4E62-A52B-CEBB989DAF8E}"/>
                </c:ext>
              </c:extLst>
            </c:dLbl>
            <c:dLbl>
              <c:idx val="5"/>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86E9-4E62-A52B-CEBB989DAF8E}"/>
                </c:ext>
              </c:extLst>
            </c:dLbl>
            <c:dLbl>
              <c:idx val="6"/>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86E9-4E62-A52B-CEBB989DAF8E}"/>
                </c:ext>
              </c:extLst>
            </c:dLbl>
            <c:dLbl>
              <c:idx val="7"/>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86E9-4E62-A52B-CEBB989DAF8E}"/>
                </c:ext>
              </c:extLst>
            </c:dLbl>
            <c:dLbl>
              <c:idx val="8"/>
              <c:layout>
                <c:manualLayout>
                  <c:x val="0"/>
                  <c:y val="-1.8192844147968466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86E9-4E62-A52B-CEBB989DAF8E}"/>
                </c:ext>
              </c:extLst>
            </c:dLbl>
            <c:dLbl>
              <c:idx val="9"/>
              <c:layout>
                <c:manualLayout>
                  <c:x val="0"/>
                  <c:y val="-1.2128562765312311E-3"/>
                </c:manualLayout>
              </c:layout>
              <c:numFmt formatCode="#,##0;&quot;-&quot;#,##0" sourceLinked="0"/>
              <c:spPr>
                <a:noFill/>
                <a:ln>
                  <a:noFill/>
                </a:ln>
              </c:spPr>
              <c:txPr>
                <a:bodyPr wrap="none"/>
                <a:lstStyle/>
                <a:p>
                  <a:pPr>
                    <a:defRPr sz="900" kern="1200">
                      <a:solidFill>
                        <a:schemeClr val="bg1"/>
                      </a:solidFill>
                      <a:latin typeface="Fund Light"/>
                      <a:ea typeface="+mn-ea"/>
                      <a:cs typeface="Fund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86E9-4E62-A52B-CEBB989DAF8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0</c:v>
                </c:pt>
                <c:pt idx="1">
                  <c:v>300</c:v>
                </c:pt>
                <c:pt idx="2">
                  <c:v>600</c:v>
                </c:pt>
                <c:pt idx="3">
                  <c:v>630</c:v>
                </c:pt>
                <c:pt idx="4">
                  <c:v>661.5</c:v>
                </c:pt>
                <c:pt idx="5">
                  <c:v>694.57500000000005</c:v>
                </c:pt>
                <c:pt idx="6">
                  <c:v>729.30375000000004</c:v>
                </c:pt>
                <c:pt idx="7">
                  <c:v>765.76893750000011</c:v>
                </c:pt>
                <c:pt idx="8">
                  <c:v>804.0573843750002</c:v>
                </c:pt>
                <c:pt idx="9">
                  <c:v>844.26025359375024</c:v>
                </c:pt>
              </c:numCache>
            </c:numRef>
          </c:val>
          <c:extLst>
            <c:ext xmlns:c16="http://schemas.microsoft.com/office/drawing/2014/chart" uri="{C3380CC4-5D6E-409C-BE32-E72D297353CC}">
              <c16:uniqueId val="{00000009-86E9-4E62-A52B-CEBB989DAF8E}"/>
            </c:ext>
          </c:extLst>
        </c:ser>
        <c:ser>
          <c:idx val="1"/>
          <c:order val="1"/>
          <c:spPr>
            <a:solidFill>
              <a:schemeClr val="tx2"/>
            </a:solidFill>
            <a:ln w="9525" cmpd="sng" algn="ctr">
              <a:solidFill>
                <a:srgbClr val="FFFFFF"/>
              </a:solidFill>
              <a:prstDash val="solid"/>
            </a:ln>
          </c:spPr>
          <c:invertIfNegative val="0"/>
          <c:val>
            <c:numRef>
              <c:f>Sheet1!$A$2:$J$2</c:f>
              <c:numCache>
                <c:formatCode>General</c:formatCode>
                <c:ptCount val="10"/>
                <c:pt idx="0">
                  <c:v>-126.5625</c:v>
                </c:pt>
                <c:pt idx="1">
                  <c:v>-42.1875</c:v>
                </c:pt>
                <c:pt idx="2">
                  <c:v>0</c:v>
                </c:pt>
                <c:pt idx="3">
                  <c:v>0</c:v>
                </c:pt>
                <c:pt idx="4">
                  <c:v>0</c:v>
                </c:pt>
                <c:pt idx="5">
                  <c:v>0</c:v>
                </c:pt>
                <c:pt idx="6">
                  <c:v>0</c:v>
                </c:pt>
                <c:pt idx="7">
                  <c:v>0</c:v>
                </c:pt>
                <c:pt idx="8">
                  <c:v>0</c:v>
                </c:pt>
                <c:pt idx="9">
                  <c:v>0</c:v>
                </c:pt>
              </c:numCache>
            </c:numRef>
          </c:val>
          <c:extLst>
            <c:ext xmlns:c16="http://schemas.microsoft.com/office/drawing/2014/chart" uri="{C3380CC4-5D6E-409C-BE32-E72D297353CC}">
              <c16:uniqueId val="{0000000A-86E9-4E62-A52B-CEBB989DAF8E}"/>
            </c:ext>
          </c:extLst>
        </c:ser>
        <c:ser>
          <c:idx val="2"/>
          <c:order val="2"/>
          <c:spPr>
            <a:solidFill>
              <a:srgbClr val="B9B9B9"/>
            </a:solidFill>
            <a:ln w="9525" cmpd="sng" algn="ctr">
              <a:solidFill>
                <a:srgbClr val="FFFFFF"/>
              </a:solidFill>
              <a:prstDash val="solid"/>
            </a:ln>
          </c:spPr>
          <c:invertIfNegative val="0"/>
          <c:val>
            <c:numRef>
              <c:f>Sheet1!$A$3:$J$3</c:f>
              <c:numCache>
                <c:formatCode>General</c:formatCode>
                <c:ptCount val="10"/>
                <c:pt idx="0">
                  <c:v>0</c:v>
                </c:pt>
                <c:pt idx="1">
                  <c:v>-165</c:v>
                </c:pt>
                <c:pt idx="2">
                  <c:v>-330</c:v>
                </c:pt>
                <c:pt idx="3">
                  <c:v>-346.5</c:v>
                </c:pt>
                <c:pt idx="4">
                  <c:v>-363.82500000000005</c:v>
                </c:pt>
                <c:pt idx="5">
                  <c:v>-382.01625000000007</c:v>
                </c:pt>
                <c:pt idx="6">
                  <c:v>-401.11706250000003</c:v>
                </c:pt>
                <c:pt idx="7">
                  <c:v>-421.17291562500009</c:v>
                </c:pt>
                <c:pt idx="8">
                  <c:v>-442.23156140625014</c:v>
                </c:pt>
                <c:pt idx="9">
                  <c:v>-464.34313947656267</c:v>
                </c:pt>
              </c:numCache>
            </c:numRef>
          </c:val>
          <c:extLst>
            <c:ext xmlns:c16="http://schemas.microsoft.com/office/drawing/2014/chart" uri="{C3380CC4-5D6E-409C-BE32-E72D297353CC}">
              <c16:uniqueId val="{0000000B-86E9-4E62-A52B-CEBB989DAF8E}"/>
            </c:ext>
          </c:extLst>
        </c:ser>
        <c:ser>
          <c:idx val="3"/>
          <c:order val="3"/>
          <c:spPr>
            <a:solidFill>
              <a:srgbClr val="5A5A5A"/>
            </a:solidFill>
            <a:ln w="9525" cmpd="sng" algn="ctr">
              <a:solidFill>
                <a:srgbClr val="FFFFFF"/>
              </a:solidFill>
              <a:prstDash val="solid"/>
            </a:ln>
          </c:spPr>
          <c:invertIfNegative val="0"/>
          <c:val>
            <c:numRef>
              <c:f>Sheet1!$A$4:$J$4</c:f>
              <c:numCache>
                <c:formatCode>General</c:formatCode>
                <c:ptCount val="10"/>
                <c:pt idx="0">
                  <c:v>0</c:v>
                </c:pt>
                <c:pt idx="1">
                  <c:v>-111</c:v>
                </c:pt>
                <c:pt idx="2">
                  <c:v>-222</c:v>
                </c:pt>
                <c:pt idx="3">
                  <c:v>-233.10000000000002</c:v>
                </c:pt>
                <c:pt idx="4">
                  <c:v>-231.52499999999998</c:v>
                </c:pt>
                <c:pt idx="5">
                  <c:v>-243.10124999999999</c:v>
                </c:pt>
                <c:pt idx="6">
                  <c:v>-255.25631250000009</c:v>
                </c:pt>
                <c:pt idx="7">
                  <c:v>-268.01912812500007</c:v>
                </c:pt>
                <c:pt idx="8">
                  <c:v>-281.4200845312501</c:v>
                </c:pt>
                <c:pt idx="9">
                  <c:v>-295.49108875781258</c:v>
                </c:pt>
              </c:numCache>
            </c:numRef>
          </c:val>
          <c:extLst>
            <c:ext xmlns:c16="http://schemas.microsoft.com/office/drawing/2014/chart" uri="{C3380CC4-5D6E-409C-BE32-E72D297353CC}">
              <c16:uniqueId val="{0000000C-86E9-4E62-A52B-CEBB989DAF8E}"/>
            </c:ext>
          </c:extLst>
        </c:ser>
        <c:dLbls>
          <c:showLegendKey val="0"/>
          <c:showVal val="0"/>
          <c:showCatName val="0"/>
          <c:showSerName val="0"/>
          <c:showPercent val="0"/>
          <c:showBubbleSize val="0"/>
        </c:dLbls>
        <c:gapWidth val="80"/>
        <c:overlap val="100"/>
        <c:axId val="1315284288"/>
        <c:axId val="1"/>
      </c:barChart>
      <c:lineChart>
        <c:grouping val="standard"/>
        <c:varyColors val="0"/>
        <c:ser>
          <c:idx val="4"/>
          <c:order val="4"/>
          <c:spPr>
            <a:ln w="19050" cmpd="sng" algn="ctr">
              <a:solidFill>
                <a:srgbClr val="000000"/>
              </a:solidFill>
              <a:prstDash val="solid"/>
            </a:ln>
          </c:spPr>
          <c:marker>
            <c:symbol val="none"/>
          </c:marker>
          <c:dPt>
            <c:idx val="0"/>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D-86E9-4E62-A52B-CEBB989DAF8E}"/>
              </c:ext>
            </c:extLst>
          </c:dPt>
          <c:dPt>
            <c:idx val="1"/>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E-86E9-4E62-A52B-CEBB989DAF8E}"/>
              </c:ext>
            </c:extLst>
          </c:dPt>
          <c:dPt>
            <c:idx val="2"/>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0F-86E9-4E62-A52B-CEBB989DAF8E}"/>
              </c:ext>
            </c:extLst>
          </c:dPt>
          <c:dPt>
            <c:idx val="3"/>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0-86E9-4E62-A52B-CEBB989DAF8E}"/>
              </c:ext>
            </c:extLst>
          </c:dPt>
          <c:dPt>
            <c:idx val="4"/>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1-86E9-4E62-A52B-CEBB989DAF8E}"/>
              </c:ext>
            </c:extLst>
          </c:dPt>
          <c:dPt>
            <c:idx val="5"/>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2-86E9-4E62-A52B-CEBB989DAF8E}"/>
              </c:ext>
            </c:extLst>
          </c:dPt>
          <c:dPt>
            <c:idx val="6"/>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3-86E9-4E62-A52B-CEBB989DAF8E}"/>
              </c:ext>
            </c:extLst>
          </c:dPt>
          <c:dPt>
            <c:idx val="7"/>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4-86E9-4E62-A52B-CEBB989DAF8E}"/>
              </c:ext>
            </c:extLst>
          </c:dPt>
          <c:dPt>
            <c:idx val="8"/>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5-86E9-4E62-A52B-CEBB989DAF8E}"/>
              </c:ext>
            </c:extLst>
          </c:dPt>
          <c:dPt>
            <c:idx val="9"/>
            <c:marker>
              <c:symbol val="circle"/>
              <c:size val="4"/>
              <c:spPr>
                <a:solidFill>
                  <a:srgbClr val="000000"/>
                </a:solidFill>
                <a:ln w="9525" cmpd="sng" algn="ctr">
                  <a:solidFill>
                    <a:srgbClr val="000000"/>
                  </a:solidFill>
                  <a:prstDash val="solid"/>
                </a:ln>
              </c:spPr>
            </c:marker>
            <c:bubble3D val="0"/>
            <c:extLst>
              <c:ext xmlns:c16="http://schemas.microsoft.com/office/drawing/2014/chart" uri="{C3380CC4-5D6E-409C-BE32-E72D297353CC}">
                <c16:uniqueId val="{00000016-86E9-4E62-A52B-CEBB989DAF8E}"/>
              </c:ext>
            </c:extLst>
          </c:dPt>
          <c:val>
            <c:numRef>
              <c:f>Sheet1!$A$5:$J$5</c:f>
              <c:numCache>
                <c:formatCode>General</c:formatCode>
                <c:ptCount val="10"/>
                <c:pt idx="0">
                  <c:v>-126.5625</c:v>
                </c:pt>
                <c:pt idx="1">
                  <c:v>-168.75</c:v>
                </c:pt>
                <c:pt idx="2">
                  <c:v>-139.94999999999999</c:v>
                </c:pt>
                <c:pt idx="3">
                  <c:v>-109.70999999999998</c:v>
                </c:pt>
                <c:pt idx="4">
                  <c:v>-70.02000000000001</c:v>
                </c:pt>
                <c:pt idx="5">
                  <c:v>-28.345500000000037</c:v>
                </c:pt>
                <c:pt idx="6">
                  <c:v>15.412724999999952</c:v>
                </c:pt>
                <c:pt idx="7">
                  <c:v>61.35886124999994</c:v>
                </c:pt>
                <c:pt idx="8">
                  <c:v>109.60230431249994</c:v>
                </c:pt>
                <c:pt idx="9">
                  <c:v>160.25791952812492</c:v>
                </c:pt>
              </c:numCache>
            </c:numRef>
          </c:val>
          <c:smooth val="0"/>
          <c:extLst>
            <c:ext xmlns:c16="http://schemas.microsoft.com/office/drawing/2014/chart" uri="{C3380CC4-5D6E-409C-BE32-E72D297353CC}">
              <c16:uniqueId val="{00000017-86E9-4E62-A52B-CEBB989DAF8E}"/>
            </c:ext>
          </c:extLst>
        </c:ser>
        <c:dLbls>
          <c:showLegendKey val="0"/>
          <c:showVal val="0"/>
          <c:showCatName val="0"/>
          <c:showSerName val="0"/>
          <c:showPercent val="0"/>
          <c:showBubbleSize val="0"/>
        </c:dLbls>
        <c:marker val="1"/>
        <c:smooth val="0"/>
        <c:axId val="1315284288"/>
        <c:axId val="1"/>
      </c:lineChart>
      <c:catAx>
        <c:axId val="1315284288"/>
        <c:scaling>
          <c:orientation val="minMax"/>
        </c:scaling>
        <c:delete val="0"/>
        <c:axPos val="b"/>
        <c:majorGridlines>
          <c:spPr>
            <a:ln>
              <a:noFill/>
            </a:ln>
          </c:spPr>
        </c:majorGridlines>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1"/>
        <c:crossesAt val="0"/>
        <c:auto val="0"/>
        <c:lblAlgn val="ctr"/>
        <c:lblOffset val="100"/>
        <c:noMultiLvlLbl val="0"/>
      </c:catAx>
      <c:valAx>
        <c:axId val="1"/>
        <c:scaling>
          <c:orientation val="minMax"/>
          <c:max val="1000"/>
          <c:min val="-80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900" kern="1200">
                <a:latin typeface="Fund Light"/>
                <a:ea typeface="+mn-ea"/>
                <a:cs typeface="Fund Light"/>
              </a:defRPr>
            </a:pPr>
            <a:endParaRPr lang="en-US"/>
          </a:p>
        </c:txPr>
        <c:crossAx val="1315284288"/>
        <c:crosses val="min"/>
        <c:crossBetween val="between"/>
        <c:majorUnit val="200"/>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B78A46-05D5-4828-A078-6CC70945EABF}"/>
              </a:ext>
            </a:extLst>
          </p:cNvPr>
          <p:cNvSpPr>
            <a:spLocks noGrp="1"/>
          </p:cNvSpPr>
          <p:nvPr>
            <p:ph type="hdr" sz="quarter"/>
          </p:nvPr>
        </p:nvSpPr>
        <p:spPr>
          <a:xfrm>
            <a:off x="1" y="0"/>
            <a:ext cx="4307734" cy="34162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AC5BE0E-A76D-420C-B51B-F48F5D507C29}"/>
              </a:ext>
            </a:extLst>
          </p:cNvPr>
          <p:cNvSpPr>
            <a:spLocks noGrp="1"/>
          </p:cNvSpPr>
          <p:nvPr>
            <p:ph type="dt" sz="quarter" idx="1"/>
          </p:nvPr>
        </p:nvSpPr>
        <p:spPr>
          <a:xfrm>
            <a:off x="5630891" y="0"/>
            <a:ext cx="4307734" cy="341622"/>
          </a:xfrm>
          <a:prstGeom prst="rect">
            <a:avLst/>
          </a:prstGeom>
        </p:spPr>
        <p:txBody>
          <a:bodyPr vert="horz" lIns="91440" tIns="45720" rIns="91440" bIns="45720" rtlCol="0"/>
          <a:lstStyle>
            <a:lvl1pPr algn="r">
              <a:defRPr sz="1200"/>
            </a:lvl1pPr>
          </a:lstStyle>
          <a:p>
            <a:fld id="{EF02B10F-161E-4F08-9DC1-652867C51019}" type="datetimeFigureOut">
              <a:rPr lang="en-US" smtClean="0"/>
              <a:t>5/4/2026</a:t>
            </a:fld>
            <a:endParaRPr lang="en-US"/>
          </a:p>
        </p:txBody>
      </p:sp>
      <p:sp>
        <p:nvSpPr>
          <p:cNvPr id="4" name="Footer Placeholder 3">
            <a:extLst>
              <a:ext uri="{FF2B5EF4-FFF2-40B4-BE49-F238E27FC236}">
                <a16:creationId xmlns:a16="http://schemas.microsoft.com/office/drawing/2014/main" id="{9E6E95D1-72F1-4E6E-B2C3-9D1D5A5A9139}"/>
              </a:ext>
            </a:extLst>
          </p:cNvPr>
          <p:cNvSpPr>
            <a:spLocks noGrp="1"/>
          </p:cNvSpPr>
          <p:nvPr>
            <p:ph type="ftr" sz="quarter" idx="2"/>
          </p:nvPr>
        </p:nvSpPr>
        <p:spPr>
          <a:xfrm>
            <a:off x="1" y="6467167"/>
            <a:ext cx="4307734" cy="34162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A73BE6A-2581-4BD8-9467-070601EFABE5}"/>
              </a:ext>
            </a:extLst>
          </p:cNvPr>
          <p:cNvSpPr>
            <a:spLocks noGrp="1"/>
          </p:cNvSpPr>
          <p:nvPr>
            <p:ph type="sldNum" sz="quarter" idx="3"/>
          </p:nvPr>
        </p:nvSpPr>
        <p:spPr>
          <a:xfrm>
            <a:off x="5630891" y="6467167"/>
            <a:ext cx="4307734" cy="341621"/>
          </a:xfrm>
          <a:prstGeom prst="rect">
            <a:avLst/>
          </a:prstGeom>
        </p:spPr>
        <p:txBody>
          <a:bodyPr vert="horz" lIns="91440" tIns="45720" rIns="91440" bIns="45720" rtlCol="0" anchor="b"/>
          <a:lstStyle>
            <a:lvl1pPr algn="r">
              <a:defRPr sz="1200"/>
            </a:lvl1pPr>
          </a:lstStyle>
          <a:p>
            <a:fld id="{EAF09336-974B-44EE-A749-15402D550E97}" type="slidenum">
              <a:rPr lang="en-US" smtClean="0"/>
              <a:t>‹#›</a:t>
            </a:fld>
            <a:endParaRPr lang="en-US"/>
          </a:p>
        </p:txBody>
      </p:sp>
    </p:spTree>
    <p:extLst>
      <p:ext uri="{BB962C8B-B14F-4D97-AF65-F5344CB8AC3E}">
        <p14:creationId xmlns:p14="http://schemas.microsoft.com/office/powerpoint/2010/main" val="392534288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44" userDrawn="1">
          <p15:clr>
            <a:srgbClr val="F26B43"/>
          </p15:clr>
        </p15:guide>
        <p15:guide id="2" pos="313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734" cy="34162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30891" y="0"/>
            <a:ext cx="4307734" cy="341622"/>
          </a:xfrm>
          <a:prstGeom prst="rect">
            <a:avLst/>
          </a:prstGeom>
        </p:spPr>
        <p:txBody>
          <a:bodyPr vert="horz" lIns="91440" tIns="45720" rIns="91440" bIns="45720" rtlCol="0"/>
          <a:lstStyle>
            <a:lvl1pPr algn="r">
              <a:defRPr sz="1200"/>
            </a:lvl1pPr>
          </a:lstStyle>
          <a:p>
            <a:fld id="{E8CA3FC4-3778-4467-AC35-D42F9ABB9948}" type="datetimeFigureOut">
              <a:rPr lang="en-US" smtClean="0"/>
              <a:t>5/4/2026</a:t>
            </a:fld>
            <a:endParaRPr lang="en-US"/>
          </a:p>
        </p:txBody>
      </p:sp>
      <p:sp>
        <p:nvSpPr>
          <p:cNvPr id="4" name="Slide Image Placeholder 3"/>
          <p:cNvSpPr>
            <a:spLocks noGrp="1" noRot="1" noChangeAspect="1"/>
          </p:cNvSpPr>
          <p:nvPr>
            <p:ph type="sldImg" idx="2"/>
          </p:nvPr>
        </p:nvSpPr>
        <p:spPr>
          <a:xfrm>
            <a:off x="2927350" y="850900"/>
            <a:ext cx="4086225" cy="22987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4093" y="3276730"/>
            <a:ext cx="7952739" cy="268096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467167"/>
            <a:ext cx="4307734" cy="3416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30891" y="6467167"/>
            <a:ext cx="4307734" cy="341621"/>
          </a:xfrm>
          <a:prstGeom prst="rect">
            <a:avLst/>
          </a:prstGeom>
        </p:spPr>
        <p:txBody>
          <a:bodyPr vert="horz" lIns="91440" tIns="45720" rIns="91440" bIns="45720" rtlCol="0" anchor="b"/>
          <a:lstStyle>
            <a:lvl1pPr algn="r">
              <a:defRPr sz="1200"/>
            </a:lvl1pPr>
          </a:lstStyle>
          <a:p>
            <a:fld id="{24225740-DA80-4C5C-B7C3-AD8FEE724F6C}" type="slidenum">
              <a:rPr lang="en-US" smtClean="0"/>
              <a:t>‹#›</a:t>
            </a:fld>
            <a:endParaRPr lang="en-US"/>
          </a:p>
        </p:txBody>
      </p:sp>
    </p:spTree>
    <p:extLst>
      <p:ext uri="{BB962C8B-B14F-4D97-AF65-F5344CB8AC3E}">
        <p14:creationId xmlns:p14="http://schemas.microsoft.com/office/powerpoint/2010/main" val="1240688596"/>
      </p:ext>
    </p:extLst>
  </p:cSld>
  <p:clrMap bg1="lt1" tx1="dk1" bg2="lt2" tx2="dk2" accent1="accent1" accent2="accent2" accent3="accent3" accent4="accent4" accent5="accent5" accent6="accent6" hlink="hlink" folHlink="folHlink"/>
  <p:hf dt="0"/>
  <p:notesStyle>
    <a:lvl1pPr marL="0" algn="l" defTabSz="779252" rtl="0" eaLnBrk="1" latinLnBrk="0" hangingPunct="1">
      <a:defRPr sz="1023" kern="1200">
        <a:solidFill>
          <a:schemeClr val="tx1"/>
        </a:solidFill>
        <a:latin typeface="+mn-lt"/>
        <a:ea typeface="+mn-ea"/>
        <a:cs typeface="+mn-cs"/>
      </a:defRPr>
    </a:lvl1pPr>
    <a:lvl2pPr marL="389626" algn="l" defTabSz="779252" rtl="0" eaLnBrk="1" latinLnBrk="0" hangingPunct="1">
      <a:defRPr sz="1023" kern="1200">
        <a:solidFill>
          <a:schemeClr val="tx1"/>
        </a:solidFill>
        <a:latin typeface="+mn-lt"/>
        <a:ea typeface="+mn-ea"/>
        <a:cs typeface="+mn-cs"/>
      </a:defRPr>
    </a:lvl2pPr>
    <a:lvl3pPr marL="779252" algn="l" defTabSz="779252" rtl="0" eaLnBrk="1" latinLnBrk="0" hangingPunct="1">
      <a:defRPr sz="1023" kern="1200">
        <a:solidFill>
          <a:schemeClr val="tx1"/>
        </a:solidFill>
        <a:latin typeface="+mn-lt"/>
        <a:ea typeface="+mn-ea"/>
        <a:cs typeface="+mn-cs"/>
      </a:defRPr>
    </a:lvl3pPr>
    <a:lvl4pPr marL="1168878" algn="l" defTabSz="779252" rtl="0" eaLnBrk="1" latinLnBrk="0" hangingPunct="1">
      <a:defRPr sz="1023" kern="1200">
        <a:solidFill>
          <a:schemeClr val="tx1"/>
        </a:solidFill>
        <a:latin typeface="+mn-lt"/>
        <a:ea typeface="+mn-ea"/>
        <a:cs typeface="+mn-cs"/>
      </a:defRPr>
    </a:lvl4pPr>
    <a:lvl5pPr marL="1558503" algn="l" defTabSz="779252" rtl="0" eaLnBrk="1" latinLnBrk="0" hangingPunct="1">
      <a:defRPr sz="1023" kern="1200">
        <a:solidFill>
          <a:schemeClr val="tx1"/>
        </a:solidFill>
        <a:latin typeface="+mn-lt"/>
        <a:ea typeface="+mn-ea"/>
        <a:cs typeface="+mn-cs"/>
      </a:defRPr>
    </a:lvl5pPr>
    <a:lvl6pPr marL="1948129" algn="l" defTabSz="779252" rtl="0" eaLnBrk="1" latinLnBrk="0" hangingPunct="1">
      <a:defRPr sz="1023" kern="1200">
        <a:solidFill>
          <a:schemeClr val="tx1"/>
        </a:solidFill>
        <a:latin typeface="+mn-lt"/>
        <a:ea typeface="+mn-ea"/>
        <a:cs typeface="+mn-cs"/>
      </a:defRPr>
    </a:lvl6pPr>
    <a:lvl7pPr marL="2337755" algn="l" defTabSz="779252" rtl="0" eaLnBrk="1" latinLnBrk="0" hangingPunct="1">
      <a:defRPr sz="1023" kern="1200">
        <a:solidFill>
          <a:schemeClr val="tx1"/>
        </a:solidFill>
        <a:latin typeface="+mn-lt"/>
        <a:ea typeface="+mn-ea"/>
        <a:cs typeface="+mn-cs"/>
      </a:defRPr>
    </a:lvl7pPr>
    <a:lvl8pPr marL="2727381" algn="l" defTabSz="779252" rtl="0" eaLnBrk="1" latinLnBrk="0" hangingPunct="1">
      <a:defRPr sz="1023" kern="1200">
        <a:solidFill>
          <a:schemeClr val="tx1"/>
        </a:solidFill>
        <a:latin typeface="+mn-lt"/>
        <a:ea typeface="+mn-ea"/>
        <a:cs typeface="+mn-cs"/>
      </a:defRPr>
    </a:lvl8pPr>
    <a:lvl9pPr marL="3117007" algn="l" defTabSz="779252" rtl="0" eaLnBrk="1" latinLnBrk="0" hangingPunct="1">
      <a:defRPr sz="102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50900"/>
            <a:ext cx="4086225" cy="22987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1</a:t>
            </a:fld>
            <a:endParaRPr lang="en-US"/>
          </a:p>
        </p:txBody>
      </p:sp>
    </p:spTree>
    <p:extLst>
      <p:ext uri="{BB962C8B-B14F-4D97-AF65-F5344CB8AC3E}">
        <p14:creationId xmlns:p14="http://schemas.microsoft.com/office/powerpoint/2010/main" val="199381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00257E-D6D6-4DF2-B714-190EFB91200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0272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3</a:t>
            </a:fld>
            <a:endParaRPr lang="en-US"/>
          </a:p>
        </p:txBody>
      </p:sp>
    </p:spTree>
    <p:extLst>
      <p:ext uri="{BB962C8B-B14F-4D97-AF65-F5344CB8AC3E}">
        <p14:creationId xmlns:p14="http://schemas.microsoft.com/office/powerpoint/2010/main" val="1091686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4</a:t>
            </a:fld>
            <a:endParaRPr lang="en-US"/>
          </a:p>
        </p:txBody>
      </p:sp>
    </p:spTree>
    <p:extLst>
      <p:ext uri="{BB962C8B-B14F-4D97-AF65-F5344CB8AC3E}">
        <p14:creationId xmlns:p14="http://schemas.microsoft.com/office/powerpoint/2010/main" val="3548298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5</a:t>
            </a:fld>
            <a:endParaRPr lang="en-US"/>
          </a:p>
        </p:txBody>
      </p:sp>
    </p:spTree>
    <p:extLst>
      <p:ext uri="{BB962C8B-B14F-4D97-AF65-F5344CB8AC3E}">
        <p14:creationId xmlns:p14="http://schemas.microsoft.com/office/powerpoint/2010/main" val="1976112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6</a:t>
            </a:fld>
            <a:endParaRPr lang="en-US"/>
          </a:p>
        </p:txBody>
      </p:sp>
    </p:spTree>
    <p:extLst>
      <p:ext uri="{BB962C8B-B14F-4D97-AF65-F5344CB8AC3E}">
        <p14:creationId xmlns:p14="http://schemas.microsoft.com/office/powerpoint/2010/main" val="3388943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0976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696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056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6481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8693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70514D-F94D-4966-B430-D2893B16451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12676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435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3630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118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20</a:t>
            </a:fld>
            <a:endParaRPr lang="en-US"/>
          </a:p>
        </p:txBody>
      </p:sp>
    </p:spTree>
    <p:extLst>
      <p:ext uri="{BB962C8B-B14F-4D97-AF65-F5344CB8AC3E}">
        <p14:creationId xmlns:p14="http://schemas.microsoft.com/office/powerpoint/2010/main" val="1428949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855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004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1580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816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1136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2036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75435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26769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2304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67018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2527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33</a:t>
            </a:fld>
            <a:endParaRPr lang="en-US"/>
          </a:p>
        </p:txBody>
      </p:sp>
    </p:spTree>
    <p:extLst>
      <p:ext uri="{BB962C8B-B14F-4D97-AF65-F5344CB8AC3E}">
        <p14:creationId xmlns:p14="http://schemas.microsoft.com/office/powerpoint/2010/main" val="677154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298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4011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014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66379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66700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20870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70514D-F94D-4966-B430-D2893B16451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80322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32872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51</a:t>
            </a:fld>
            <a:endParaRPr lang="en-US"/>
          </a:p>
        </p:txBody>
      </p:sp>
    </p:spTree>
    <p:extLst>
      <p:ext uri="{BB962C8B-B14F-4D97-AF65-F5344CB8AC3E}">
        <p14:creationId xmlns:p14="http://schemas.microsoft.com/office/powerpoint/2010/main" val="16962893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41997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57</a:t>
            </a:fld>
            <a:endParaRPr lang="en-US"/>
          </a:p>
        </p:txBody>
      </p:sp>
    </p:spTree>
    <p:extLst>
      <p:ext uri="{BB962C8B-B14F-4D97-AF65-F5344CB8AC3E}">
        <p14:creationId xmlns:p14="http://schemas.microsoft.com/office/powerpoint/2010/main" val="21381378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64</a:t>
            </a:fld>
            <a:endParaRPr lang="en-US"/>
          </a:p>
        </p:txBody>
      </p:sp>
    </p:spTree>
    <p:extLst>
      <p:ext uri="{BB962C8B-B14F-4D97-AF65-F5344CB8AC3E}">
        <p14:creationId xmlns:p14="http://schemas.microsoft.com/office/powerpoint/2010/main" val="4208904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68471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73773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9812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68</a:t>
            </a:fld>
            <a:endParaRPr lang="en-US"/>
          </a:p>
        </p:txBody>
      </p:sp>
    </p:spTree>
    <p:extLst>
      <p:ext uri="{BB962C8B-B14F-4D97-AF65-F5344CB8AC3E}">
        <p14:creationId xmlns:p14="http://schemas.microsoft.com/office/powerpoint/2010/main" val="24849631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69</a:t>
            </a:fld>
            <a:endParaRPr lang="en-US"/>
          </a:p>
        </p:txBody>
      </p:sp>
    </p:spTree>
    <p:extLst>
      <p:ext uri="{BB962C8B-B14F-4D97-AF65-F5344CB8AC3E}">
        <p14:creationId xmlns:p14="http://schemas.microsoft.com/office/powerpoint/2010/main" val="32531168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70</a:t>
            </a:fld>
            <a:endParaRPr lang="en-US"/>
          </a:p>
        </p:txBody>
      </p:sp>
    </p:spTree>
    <p:extLst>
      <p:ext uri="{BB962C8B-B14F-4D97-AF65-F5344CB8AC3E}">
        <p14:creationId xmlns:p14="http://schemas.microsoft.com/office/powerpoint/2010/main" val="28397653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71</a:t>
            </a:fld>
            <a:endParaRPr lang="en-US"/>
          </a:p>
        </p:txBody>
      </p:sp>
    </p:spTree>
    <p:extLst>
      <p:ext uri="{BB962C8B-B14F-4D97-AF65-F5344CB8AC3E}">
        <p14:creationId xmlns:p14="http://schemas.microsoft.com/office/powerpoint/2010/main" val="29331485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97034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73</a:t>
            </a:fld>
            <a:endParaRPr lang="en-US"/>
          </a:p>
        </p:txBody>
      </p:sp>
    </p:spTree>
    <p:extLst>
      <p:ext uri="{BB962C8B-B14F-4D97-AF65-F5344CB8AC3E}">
        <p14:creationId xmlns:p14="http://schemas.microsoft.com/office/powerpoint/2010/main" val="1005310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74</a:t>
            </a:fld>
            <a:endParaRPr lang="en-US"/>
          </a:p>
        </p:txBody>
      </p:sp>
    </p:spTree>
    <p:extLst>
      <p:ext uri="{BB962C8B-B14F-4D97-AF65-F5344CB8AC3E}">
        <p14:creationId xmlns:p14="http://schemas.microsoft.com/office/powerpoint/2010/main" val="29650804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75</a:t>
            </a:fld>
            <a:endParaRPr lang="en-US"/>
          </a:p>
        </p:txBody>
      </p:sp>
    </p:spTree>
    <p:extLst>
      <p:ext uri="{BB962C8B-B14F-4D97-AF65-F5344CB8AC3E}">
        <p14:creationId xmlns:p14="http://schemas.microsoft.com/office/powerpoint/2010/main" val="28180393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76</a:t>
            </a:fld>
            <a:endParaRPr lang="en-US"/>
          </a:p>
        </p:txBody>
      </p:sp>
    </p:spTree>
    <p:extLst>
      <p:ext uri="{BB962C8B-B14F-4D97-AF65-F5344CB8AC3E}">
        <p14:creationId xmlns:p14="http://schemas.microsoft.com/office/powerpoint/2010/main" val="24035655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77</a:t>
            </a:fld>
            <a:endParaRPr lang="en-US"/>
          </a:p>
        </p:txBody>
      </p:sp>
    </p:spTree>
    <p:extLst>
      <p:ext uri="{BB962C8B-B14F-4D97-AF65-F5344CB8AC3E}">
        <p14:creationId xmlns:p14="http://schemas.microsoft.com/office/powerpoint/2010/main" val="5938181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78</a:t>
            </a:fld>
            <a:endParaRPr lang="en-US"/>
          </a:p>
        </p:txBody>
      </p:sp>
    </p:spTree>
    <p:extLst>
      <p:ext uri="{BB962C8B-B14F-4D97-AF65-F5344CB8AC3E}">
        <p14:creationId xmlns:p14="http://schemas.microsoft.com/office/powerpoint/2010/main" val="25369213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79</a:t>
            </a:fld>
            <a:endParaRPr lang="en-US"/>
          </a:p>
        </p:txBody>
      </p:sp>
    </p:spTree>
    <p:extLst>
      <p:ext uri="{BB962C8B-B14F-4D97-AF65-F5344CB8AC3E}">
        <p14:creationId xmlns:p14="http://schemas.microsoft.com/office/powerpoint/2010/main" val="928111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80</a:t>
            </a:fld>
            <a:endParaRPr lang="en-US"/>
          </a:p>
        </p:txBody>
      </p:sp>
    </p:spTree>
    <p:extLst>
      <p:ext uri="{BB962C8B-B14F-4D97-AF65-F5344CB8AC3E}">
        <p14:creationId xmlns:p14="http://schemas.microsoft.com/office/powerpoint/2010/main" val="6237981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922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86</a:t>
            </a:fld>
            <a:endParaRPr lang="en-US"/>
          </a:p>
        </p:txBody>
      </p:sp>
    </p:spTree>
    <p:extLst>
      <p:ext uri="{BB962C8B-B14F-4D97-AF65-F5344CB8AC3E}">
        <p14:creationId xmlns:p14="http://schemas.microsoft.com/office/powerpoint/2010/main" val="32710342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56124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4924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4225740-DA80-4C5C-B7C3-AD8FEE724F6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95961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24225740-DA80-4C5C-B7C3-AD8FEE724F6C}" type="slidenum">
              <a:rPr lang="en-US" smtClean="0"/>
              <a:t>91</a:t>
            </a:fld>
            <a:endParaRPr lang="en-US"/>
          </a:p>
        </p:txBody>
      </p:sp>
    </p:spTree>
    <p:extLst>
      <p:ext uri="{BB962C8B-B14F-4D97-AF65-F5344CB8AC3E}">
        <p14:creationId xmlns:p14="http://schemas.microsoft.com/office/powerpoint/2010/main" val="23284350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10.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4.xml"/><Relationship Id="rId1" Type="http://schemas.openxmlformats.org/officeDocument/2006/relationships/tags" Target="../tags/tag11.xml"/><Relationship Id="rId4" Type="http://schemas.openxmlformats.org/officeDocument/2006/relationships/image" Target="../media/image10.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12.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1.emf"/><Relationship Id="rId5" Type="http://schemas.openxmlformats.org/officeDocument/2006/relationships/oleObject" Target="../embeddings/oleObject11.bin"/><Relationship Id="rId4" Type="http://schemas.openxmlformats.org/officeDocument/2006/relationships/image" Target="../media/image6.jpeg"/></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12.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4.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B6D32245-77E8-2D96-C535-3DF3DFEFEE9E}"/>
              </a:ext>
            </a:extLst>
          </p:cNvPr>
          <p:cNvGrpSpPr/>
          <p:nvPr userDrawn="1"/>
        </p:nvGrpSpPr>
        <p:grpSpPr>
          <a:xfrm>
            <a:off x="6608244" y="381428"/>
            <a:ext cx="2708731" cy="583736"/>
            <a:chOff x="2362988" y="6307591"/>
            <a:chExt cx="5789932" cy="328352"/>
          </a:xfrm>
        </p:grpSpPr>
        <p:sp>
          <p:nvSpPr>
            <p:cNvPr id="5" name="TextBox 4">
              <a:extLst>
                <a:ext uri="{FF2B5EF4-FFF2-40B4-BE49-F238E27FC236}">
                  <a16:creationId xmlns:a16="http://schemas.microsoft.com/office/drawing/2014/main" id="{8A81A974-F690-4436-3920-D6C7201E7686}"/>
                </a:ext>
              </a:extLst>
            </p:cNvPr>
            <p:cNvSpPr txBox="1"/>
            <p:nvPr/>
          </p:nvSpPr>
          <p:spPr>
            <a:xfrm>
              <a:off x="2686686" y="6307591"/>
              <a:ext cx="5258430" cy="138500"/>
            </a:xfrm>
            <a:prstGeom prst="rect">
              <a:avLst/>
            </a:prstGeom>
            <a:noFill/>
          </p:spPr>
          <p:txBody>
            <a:bodyPr wrap="square">
              <a:spAutoFit/>
            </a:bodyPr>
            <a:lstStyle/>
            <a:p>
              <a:pPr marR="44023" algn="ctr" rtl="1">
                <a:spcBef>
                  <a:spcPts val="144"/>
                </a:spcBef>
              </a:pPr>
              <a:r>
                <a:rPr lang="ar-SA" sz="1000">
                  <a:solidFill>
                    <a:srgbClr val="FFFFFF"/>
                  </a:solidFill>
                  <a:latin typeface="Fund Light" pitchFamily="2" charset="-78"/>
                  <a:cs typeface="Fund Light" pitchFamily="2" charset="-78"/>
                </a:rPr>
                <a:t>إدارة التنمية الوطنية</a:t>
              </a:r>
            </a:p>
          </p:txBody>
        </p:sp>
        <p:sp>
          <p:nvSpPr>
            <p:cNvPr id="7" name="TextBox 6">
              <a:extLst>
                <a:ext uri="{FF2B5EF4-FFF2-40B4-BE49-F238E27FC236}">
                  <a16:creationId xmlns:a16="http://schemas.microsoft.com/office/drawing/2014/main" id="{C531E4EE-CCD1-D62C-BAF1-630338855C76}"/>
                </a:ext>
              </a:extLst>
            </p:cNvPr>
            <p:cNvSpPr txBox="1"/>
            <p:nvPr/>
          </p:nvSpPr>
          <p:spPr>
            <a:xfrm>
              <a:off x="2362988" y="6506100"/>
              <a:ext cx="5789932" cy="129843"/>
            </a:xfrm>
            <a:prstGeom prst="rect">
              <a:avLst/>
            </a:prstGeom>
            <a:noFill/>
          </p:spPr>
          <p:txBody>
            <a:bodyPr wrap="square">
              <a:spAutoFit/>
            </a:bodyPr>
            <a:lstStyle/>
            <a:p>
              <a:pPr marR="44023" algn="ctr" rtl="0">
                <a:spcBef>
                  <a:spcPts val="144"/>
                </a:spcBef>
              </a:pPr>
              <a:r>
                <a:rPr lang="en-US" sz="900" spc="89">
                  <a:solidFill>
                    <a:srgbClr val="FFFFFF"/>
                  </a:solidFill>
                  <a:latin typeface="Fund Light" pitchFamily="2" charset="-78"/>
                  <a:cs typeface="Fund Light" pitchFamily="2" charset="-78"/>
                </a:rPr>
                <a:t>National Development Division</a:t>
              </a:r>
            </a:p>
          </p:txBody>
        </p:sp>
        <p:cxnSp>
          <p:nvCxnSpPr>
            <p:cNvPr id="8" name="Straight Connector 7">
              <a:extLst>
                <a:ext uri="{FF2B5EF4-FFF2-40B4-BE49-F238E27FC236}">
                  <a16:creationId xmlns:a16="http://schemas.microsoft.com/office/drawing/2014/main" id="{40F817EC-FCF1-2E1B-D84F-EB59B0CF4E56}"/>
                </a:ext>
              </a:extLst>
            </p:cNvPr>
            <p:cNvCxnSpPr>
              <a:cxnSpLocks/>
            </p:cNvCxnSpPr>
            <p:nvPr/>
          </p:nvCxnSpPr>
          <p:spPr>
            <a:xfrm>
              <a:off x="2686687" y="6490676"/>
              <a:ext cx="5015236" cy="0"/>
            </a:xfrm>
            <a:prstGeom prst="line">
              <a:avLst/>
            </a:prstGeom>
            <a:ln w="12700">
              <a:solidFill>
                <a:srgbClr val="C39A5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246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Title\Numb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F00D66-D3F6-F303-8036-4E7F9D44468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945" y="-9304"/>
            <a:ext cx="9303891" cy="5162108"/>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chemeClr val="bg1"/>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chemeClr val="bg1"/>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chemeClr val="bg1"/>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07709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 Title\Numb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AE17A9-2F69-41CA-CC7F-53A04C9107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549" y="-6865"/>
            <a:ext cx="9295099" cy="5157230"/>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rgbClr val="C3984D"/>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rgbClr val="C3984D"/>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rgbClr val="C3984D"/>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3234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17F7C8E-0E14-42FE-B7B2-BE11F50634C5}"/>
              </a:ext>
            </a:extLst>
          </p:cNvPr>
          <p:cNvGraphicFramePr>
            <a:graphicFrameLocks noChangeAspect="1"/>
          </p:cNvGraphicFramePr>
          <p:nvPr userDrawn="1">
            <p:custDataLst>
              <p:tags r:id="rId1"/>
            </p:custDataLst>
            <p:extLst>
              <p:ext uri="{D42A27DB-BD31-4B8C-83A1-F6EECF244321}">
                <p14:modId xmlns:p14="http://schemas.microsoft.com/office/powerpoint/2010/main" val="1274314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3" name="think-cell data - do not delete" hidden="1">
                        <a:extLst>
                          <a:ext uri="{FF2B5EF4-FFF2-40B4-BE49-F238E27FC236}">
                            <a16:creationId xmlns:a16="http://schemas.microsoft.com/office/drawing/2014/main" id="{317F7C8E-0E14-42FE-B7B2-BE11F50634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BB3782ED-1309-4043-890E-56CEB6220A56}"/>
              </a:ext>
            </a:extLst>
          </p:cNvPr>
          <p:cNvSpPr/>
          <p:nvPr userDrawn="1"/>
        </p:nvSpPr>
        <p:spPr>
          <a:xfrm>
            <a:off x="0" y="0"/>
            <a:ext cx="3670299" cy="5143500"/>
          </a:xfrm>
          <a:prstGeom prst="rect">
            <a:avLst/>
          </a:prstGeom>
          <a:solidFill>
            <a:srgbClr val="C4995B">
              <a:alpha val="20000"/>
            </a:srgbClr>
          </a:solidFill>
          <a:ln w="9525" cap="flat" cmpd="sng" algn="ctr">
            <a:noFill/>
            <a:prstDash val="sysDot"/>
            <a:round/>
            <a:headEnd type="none" w="med" len="med"/>
            <a:tailEnd type="none" w="med" len="med"/>
          </a:ln>
          <a:effectLst/>
        </p:spPr>
        <p:txBody>
          <a:bodyPr rot="0" spcFirstLastPara="0" vertOverflow="overflow" horzOverflow="overflow" vert="horz" wrap="square" lIns="69333" tIns="346667" rIns="69333" bIns="346667" numCol="1" spcCol="0" rtlCol="0" fromWordArt="0" anchor="t" anchorCtr="0" forceAA="0" compatLnSpc="1">
            <a:prstTxWarp prst="textNoShape">
              <a:avLst/>
            </a:prstTxWarp>
            <a:noAutofit/>
          </a:bodyPr>
          <a:lstStyle/>
          <a:p>
            <a:pPr marL="623966" lvl="1" indent="-415976" algn="justLow" defTabSz="1760968" fontAlgn="base">
              <a:spcBef>
                <a:spcPts val="1156"/>
              </a:spcBef>
              <a:buClr>
                <a:schemeClr val="tx1">
                  <a:lumMod val="75000"/>
                  <a:lumOff val="25000"/>
                </a:schemeClr>
              </a:buClr>
              <a:buSzPct val="100000"/>
              <a:buFont typeface="Trebuchet MS" panose="020B0603020202020204" pitchFamily="34" charset="0"/>
              <a:buChar char="•"/>
              <a:defRPr/>
            </a:pPr>
            <a:endParaRPr lang="en-US" sz="933" kern="0">
              <a:solidFill>
                <a:srgbClr val="656565"/>
              </a:solidFill>
              <a:latin typeface="Fund Regular" pitchFamily="2" charset="-78"/>
              <a:cs typeface="Fund Regular" pitchFamily="2" charset="-78"/>
              <a:sym typeface="Sakkal Majalla" panose="02000000000000000000" pitchFamily="2" charset="-78"/>
            </a:endParaRPr>
          </a:p>
        </p:txBody>
      </p:sp>
      <p:cxnSp>
        <p:nvCxnSpPr>
          <p:cNvPr id="4" name="Straight Connector 3">
            <a:extLst>
              <a:ext uri="{FF2B5EF4-FFF2-40B4-BE49-F238E27FC236}">
                <a16:creationId xmlns:a16="http://schemas.microsoft.com/office/drawing/2014/main" id="{93322416-FFB4-6DD8-9CC8-5AE62F7B3A22}"/>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vert="horz"/>
          <a:lstStyle/>
          <a:p>
            <a:r>
              <a:rPr lang="en-US"/>
              <a:t>CLICK TO EDIT MASTER TITLE STYLE</a:t>
            </a:r>
            <a:endParaRPr lang="en-SA"/>
          </a:p>
        </p:txBody>
      </p:sp>
    </p:spTree>
    <p:extLst>
      <p:ext uri="{BB962C8B-B14F-4D97-AF65-F5344CB8AC3E}">
        <p14:creationId xmlns:p14="http://schemas.microsoft.com/office/powerpoint/2010/main" val="2715370511"/>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 with Tit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3322416-FFB4-6DD8-9CC8-5AE62F7B3A22}"/>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3111484523"/>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out Ti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Tree>
    <p:extLst>
      <p:ext uri="{BB962C8B-B14F-4D97-AF65-F5344CB8AC3E}">
        <p14:creationId xmlns:p14="http://schemas.microsoft.com/office/powerpoint/2010/main" val="724249911"/>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6" userDrawn="1">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B7142C7-127E-4389-ABCA-32407101FC12}"/>
              </a:ext>
            </a:extLst>
          </p:cNvPr>
          <p:cNvGraphicFramePr>
            <a:graphicFrameLocks noChangeAspect="1"/>
          </p:cNvGraphicFramePr>
          <p:nvPr userDrawn="1">
            <p:custDataLst>
              <p:tags r:id="rId1"/>
            </p:custDataLst>
            <p:extLst>
              <p:ext uri="{D42A27DB-BD31-4B8C-83A1-F6EECF244321}">
                <p14:modId xmlns:p14="http://schemas.microsoft.com/office/powerpoint/2010/main" val="40137690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4" name="think-cell data - do not delete" hidden="1">
                        <a:extLst>
                          <a:ext uri="{FF2B5EF4-FFF2-40B4-BE49-F238E27FC236}">
                            <a16:creationId xmlns:a16="http://schemas.microsoft.com/office/drawing/2014/main" id="{EB7142C7-127E-4389-ABCA-32407101FC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6" name="Rectangle 5">
            <a:extLst>
              <a:ext uri="{FF2B5EF4-FFF2-40B4-BE49-F238E27FC236}">
                <a16:creationId xmlns:a16="http://schemas.microsoft.com/office/drawing/2014/main" id="{0206E74F-1AAD-4229-BF05-461F57996D79}"/>
              </a:ext>
            </a:extLst>
          </p:cNvPr>
          <p:cNvSpPr/>
          <p:nvPr userDrawn="1"/>
        </p:nvSpPr>
        <p:spPr>
          <a:xfrm>
            <a:off x="0" y="0"/>
            <a:ext cx="3454399" cy="5143500"/>
          </a:xfrm>
          <a:prstGeom prst="rect">
            <a:avLst/>
          </a:prstGeom>
          <a:solidFill>
            <a:srgbClr val="C4995B">
              <a:alpha val="20000"/>
            </a:srgbClr>
          </a:solidFill>
          <a:ln w="9525" cap="flat" cmpd="sng" algn="ctr">
            <a:noFill/>
            <a:prstDash val="sysDot"/>
            <a:round/>
            <a:headEnd type="none" w="med" len="med"/>
            <a:tailEnd type="none" w="med" len="med"/>
          </a:ln>
          <a:effectLst/>
        </p:spPr>
        <p:txBody>
          <a:bodyPr rot="0" spcFirstLastPara="0" vertOverflow="overflow" horzOverflow="overflow" vert="horz" wrap="square" lIns="69333" tIns="346667" rIns="69333" bIns="346667" numCol="1" spcCol="0" rtlCol="0" fromWordArt="0" anchor="t" anchorCtr="0" forceAA="0" compatLnSpc="1">
            <a:prstTxWarp prst="textNoShape">
              <a:avLst/>
            </a:prstTxWarp>
            <a:noAutofit/>
          </a:bodyPr>
          <a:lstStyle/>
          <a:p>
            <a:pPr marL="623966" lvl="1" indent="-415976" algn="justLow" defTabSz="1760968" fontAlgn="base">
              <a:spcBef>
                <a:spcPts val="1156"/>
              </a:spcBef>
              <a:buClr>
                <a:schemeClr val="tx1">
                  <a:lumMod val="75000"/>
                  <a:lumOff val="25000"/>
                </a:schemeClr>
              </a:buClr>
              <a:buSzPct val="100000"/>
              <a:buFont typeface="Trebuchet MS" panose="020B0603020202020204" pitchFamily="34" charset="0"/>
              <a:buChar char="•"/>
              <a:defRPr/>
            </a:pPr>
            <a:endParaRPr lang="en-US" sz="933" kern="0">
              <a:solidFill>
                <a:srgbClr val="656565"/>
              </a:solidFill>
              <a:latin typeface="Fund Regular" pitchFamily="2" charset="-78"/>
              <a:cs typeface="Fund Regular" pitchFamily="2" charset="-78"/>
              <a:sym typeface="Sakkal Majalla" panose="02000000000000000000" pitchFamily="2" charset="-78"/>
            </a:endParaRPr>
          </a:p>
        </p:txBody>
      </p:sp>
    </p:spTree>
    <p:extLst>
      <p:ext uri="{BB962C8B-B14F-4D97-AF65-F5344CB8AC3E}">
        <p14:creationId xmlns:p14="http://schemas.microsoft.com/office/powerpoint/2010/main" val="736979124"/>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vider slide 2">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B7142C7-127E-4389-ABCA-32407101FC12}"/>
              </a:ext>
            </a:extLst>
          </p:cNvPr>
          <p:cNvGraphicFramePr>
            <a:graphicFrameLocks noChangeAspect="1"/>
          </p:cNvGraphicFramePr>
          <p:nvPr userDrawn="1">
            <p:custDataLst>
              <p:tags r:id="rId1"/>
            </p:custDataLst>
            <p:extLst>
              <p:ext uri="{D42A27DB-BD31-4B8C-83A1-F6EECF244321}">
                <p14:modId xmlns:p14="http://schemas.microsoft.com/office/powerpoint/2010/main" val="3187435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4" name="think-cell data - do not delete" hidden="1">
                        <a:extLst>
                          <a:ext uri="{FF2B5EF4-FFF2-40B4-BE49-F238E27FC236}">
                            <a16:creationId xmlns:a16="http://schemas.microsoft.com/office/drawing/2014/main" id="{EB7142C7-127E-4389-ABCA-32407101FC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6" name="Rectangle 5">
            <a:extLst>
              <a:ext uri="{FF2B5EF4-FFF2-40B4-BE49-F238E27FC236}">
                <a16:creationId xmlns:a16="http://schemas.microsoft.com/office/drawing/2014/main" id="{0206E74F-1AAD-4229-BF05-461F57996D79}"/>
              </a:ext>
            </a:extLst>
          </p:cNvPr>
          <p:cNvSpPr/>
          <p:nvPr userDrawn="1"/>
        </p:nvSpPr>
        <p:spPr>
          <a:xfrm>
            <a:off x="1" y="0"/>
            <a:ext cx="2857500" cy="5143500"/>
          </a:xfrm>
          <a:prstGeom prst="rect">
            <a:avLst/>
          </a:prstGeom>
          <a:solidFill>
            <a:srgbClr val="C4995B">
              <a:alpha val="20000"/>
            </a:srgbClr>
          </a:solidFill>
          <a:ln w="9525" cap="flat" cmpd="sng" algn="ctr">
            <a:noFill/>
            <a:prstDash val="sysDot"/>
            <a:round/>
            <a:headEnd type="none" w="med" len="med"/>
            <a:tailEnd type="none" w="med" len="med"/>
          </a:ln>
          <a:effectLst/>
        </p:spPr>
        <p:txBody>
          <a:bodyPr rot="0" spcFirstLastPara="0" vertOverflow="overflow" horzOverflow="overflow" vert="horz" wrap="square" lIns="69333" tIns="346667" rIns="69333" bIns="346667" numCol="1" spcCol="0" rtlCol="0" fromWordArt="0" anchor="t" anchorCtr="0" forceAA="0" compatLnSpc="1">
            <a:prstTxWarp prst="textNoShape">
              <a:avLst/>
            </a:prstTxWarp>
            <a:noAutofit/>
          </a:bodyPr>
          <a:lstStyle/>
          <a:p>
            <a:pPr marL="623966" lvl="1" indent="-415976" algn="justLow" defTabSz="1760968" fontAlgn="base">
              <a:spcBef>
                <a:spcPts val="1156"/>
              </a:spcBef>
              <a:buClr>
                <a:schemeClr val="tx1">
                  <a:lumMod val="75000"/>
                  <a:lumOff val="25000"/>
                </a:schemeClr>
              </a:buClr>
              <a:buSzPct val="100000"/>
              <a:buFont typeface="Trebuchet MS" panose="020B0603020202020204" pitchFamily="34" charset="0"/>
              <a:buChar char="•"/>
              <a:defRPr/>
            </a:pPr>
            <a:endParaRPr lang="en-US" sz="933" kern="0">
              <a:solidFill>
                <a:srgbClr val="656565"/>
              </a:solidFill>
              <a:latin typeface="Fund Regular" pitchFamily="2" charset="-78"/>
              <a:cs typeface="Fund Regular" pitchFamily="2" charset="-78"/>
              <a:sym typeface="Sakkal Majalla" panose="02000000000000000000" pitchFamily="2" charset="-78"/>
            </a:endParaRPr>
          </a:p>
        </p:txBody>
      </p:sp>
    </p:spTree>
    <p:extLst>
      <p:ext uri="{BB962C8B-B14F-4D97-AF65-F5344CB8AC3E}">
        <p14:creationId xmlns:p14="http://schemas.microsoft.com/office/powerpoint/2010/main" val="1253031601"/>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B7142C7-127E-4389-ABCA-32407101FC12}"/>
              </a:ext>
            </a:extLst>
          </p:cNvPr>
          <p:cNvGraphicFramePr>
            <a:graphicFrameLocks noChangeAspect="1"/>
          </p:cNvGraphicFramePr>
          <p:nvPr userDrawn="1">
            <p:custDataLst>
              <p:tags r:id="rId1"/>
            </p:custDataLst>
            <p:extLst>
              <p:ext uri="{D42A27DB-BD31-4B8C-83A1-F6EECF244321}">
                <p14:modId xmlns:p14="http://schemas.microsoft.com/office/powerpoint/2010/main" val="3216547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4" name="think-cell data - do not delete" hidden="1">
                        <a:extLst>
                          <a:ext uri="{FF2B5EF4-FFF2-40B4-BE49-F238E27FC236}">
                            <a16:creationId xmlns:a16="http://schemas.microsoft.com/office/drawing/2014/main" id="{EB7142C7-127E-4389-ABCA-32407101FC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3" name="Rectangle 2">
            <a:extLst>
              <a:ext uri="{FF2B5EF4-FFF2-40B4-BE49-F238E27FC236}">
                <a16:creationId xmlns:a16="http://schemas.microsoft.com/office/drawing/2014/main" id="{ABFF3628-D4D8-4389-B913-4729FECFBBFE}"/>
              </a:ext>
            </a:extLst>
          </p:cNvPr>
          <p:cNvSpPr/>
          <p:nvPr userDrawn="1"/>
        </p:nvSpPr>
        <p:spPr>
          <a:xfrm>
            <a:off x="4572001" y="0"/>
            <a:ext cx="4571999" cy="5143500"/>
          </a:xfrm>
          <a:prstGeom prst="rect">
            <a:avLst/>
          </a:prstGeom>
          <a:solidFill>
            <a:srgbClr val="C4995B">
              <a:alpha val="20000"/>
            </a:srgbClr>
          </a:solidFill>
          <a:ln w="9525" cap="flat" cmpd="sng" algn="ctr">
            <a:noFill/>
            <a:prstDash val="sysDot"/>
            <a:round/>
            <a:headEnd type="none" w="med" len="med"/>
            <a:tailEnd type="none" w="med" len="med"/>
          </a:ln>
          <a:effectLst/>
        </p:spPr>
        <p:txBody>
          <a:bodyPr rot="0" spcFirstLastPara="0" vertOverflow="overflow" horzOverflow="overflow" vert="horz" wrap="square" lIns="69333" tIns="346667" rIns="69333" bIns="346667" numCol="1" spcCol="0" rtlCol="0" fromWordArt="0" anchor="t" anchorCtr="0" forceAA="0" compatLnSpc="1">
            <a:prstTxWarp prst="textNoShape">
              <a:avLst/>
            </a:prstTxWarp>
            <a:noAutofit/>
          </a:bodyPr>
          <a:lstStyle/>
          <a:p>
            <a:pPr marL="623966" lvl="1" indent="-415976" algn="justLow" defTabSz="1760968" fontAlgn="base">
              <a:spcBef>
                <a:spcPts val="1156"/>
              </a:spcBef>
              <a:buClr>
                <a:schemeClr val="tx1">
                  <a:lumMod val="75000"/>
                  <a:lumOff val="25000"/>
                </a:schemeClr>
              </a:buClr>
              <a:buSzPct val="100000"/>
              <a:buFont typeface="Trebuchet MS" panose="020B0603020202020204" pitchFamily="34" charset="0"/>
              <a:buChar char="•"/>
              <a:defRPr/>
            </a:pPr>
            <a:endParaRPr lang="en-US" sz="933" kern="0">
              <a:solidFill>
                <a:srgbClr val="656565"/>
              </a:solidFill>
              <a:latin typeface="Fund Regular" pitchFamily="2" charset="-78"/>
              <a:cs typeface="Fund Regular" pitchFamily="2" charset="-78"/>
              <a:sym typeface="Sakkal Majalla" panose="02000000000000000000" pitchFamily="2" charset="-78"/>
            </a:endParaRPr>
          </a:p>
        </p:txBody>
      </p:sp>
    </p:spTree>
    <p:extLst>
      <p:ext uri="{BB962C8B-B14F-4D97-AF65-F5344CB8AC3E}">
        <p14:creationId xmlns:p14="http://schemas.microsoft.com/office/powerpoint/2010/main" val="330728521"/>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5520">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ld Photo">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5E63D79-F6F7-439B-48FC-E42AFDA3BCF2}"/>
              </a:ext>
            </a:extLst>
          </p:cNvPr>
          <p:cNvSpPr>
            <a:spLocks noGrp="1"/>
          </p:cNvSpPr>
          <p:nvPr>
            <p:ph type="pic" sz="quarter" idx="11"/>
          </p:nvPr>
        </p:nvSpPr>
        <p:spPr>
          <a:xfrm>
            <a:off x="323850" y="781676"/>
            <a:ext cx="8496300" cy="194627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0" name="Text Placeholder 15">
            <a:extLst>
              <a:ext uri="{FF2B5EF4-FFF2-40B4-BE49-F238E27FC236}">
                <a16:creationId xmlns:a16="http://schemas.microsoft.com/office/drawing/2014/main" id="{593BAA84-AAE3-47BE-B61F-C606F8B8FFC9}"/>
              </a:ext>
            </a:extLst>
          </p:cNvPr>
          <p:cNvSpPr>
            <a:spLocks noGrp="1"/>
          </p:cNvSpPr>
          <p:nvPr>
            <p:ph type="body" sz="quarter" idx="15" hasCustomPrompt="1"/>
          </p:nvPr>
        </p:nvSpPr>
        <p:spPr>
          <a:xfrm>
            <a:off x="323850" y="2924891"/>
            <a:ext cx="8496299" cy="246752"/>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able Placeholder 14">
            <a:extLst>
              <a:ext uri="{FF2B5EF4-FFF2-40B4-BE49-F238E27FC236}">
                <a16:creationId xmlns:a16="http://schemas.microsoft.com/office/drawing/2014/main" id="{160FE0B8-0092-10F7-C222-248997B2309D}"/>
              </a:ext>
            </a:extLst>
          </p:cNvPr>
          <p:cNvSpPr>
            <a:spLocks noGrp="1"/>
          </p:cNvSpPr>
          <p:nvPr>
            <p:ph type="tbl" sz="quarter" idx="16"/>
          </p:nvPr>
        </p:nvSpPr>
        <p:spPr>
          <a:xfrm>
            <a:off x="323850" y="3379589"/>
            <a:ext cx="8496300" cy="1171773"/>
          </a:xfrm>
          <a:prstGeom prst="rect">
            <a:avLst/>
          </a:prstGeom>
        </p:spPr>
        <p:txBody>
          <a:bodyPr/>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cxnSp>
        <p:nvCxnSpPr>
          <p:cNvPr id="18" name="Straight Connector 17">
            <a:extLst>
              <a:ext uri="{FF2B5EF4-FFF2-40B4-BE49-F238E27FC236}">
                <a16:creationId xmlns:a16="http://schemas.microsoft.com/office/drawing/2014/main" id="{E7ED09B7-3F8C-B556-68F3-6E3D08144C5E}"/>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34481DCD-520F-982D-71E2-7389450C1C08}"/>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1649860776"/>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6" userDrawn="1">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vy Content ">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F3C60F4-E3AA-1F3F-DDB1-3E1512E32193}"/>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ext Placeholder 14">
            <a:extLst>
              <a:ext uri="{FF2B5EF4-FFF2-40B4-BE49-F238E27FC236}">
                <a16:creationId xmlns:a16="http://schemas.microsoft.com/office/drawing/2014/main" id="{EE6A8381-4A00-FD4F-E99A-2B679E9B33FF}"/>
              </a:ext>
            </a:extLst>
          </p:cNvPr>
          <p:cNvSpPr>
            <a:spLocks noGrp="1"/>
          </p:cNvSpPr>
          <p:nvPr>
            <p:ph type="body" sz="quarter" idx="20" hasCustomPrompt="1"/>
          </p:nvPr>
        </p:nvSpPr>
        <p:spPr>
          <a:xfrm>
            <a:off x="319568" y="1508571"/>
            <a:ext cx="8501862" cy="706142"/>
          </a:xfrm>
        </p:spPr>
        <p:txBody>
          <a:bodyPr/>
          <a:lstStyle/>
          <a:p>
            <a:pPr lvl="3"/>
            <a:r>
              <a:rPr lang="en-US"/>
              <a:t>Body text here</a:t>
            </a:r>
          </a:p>
          <a:p>
            <a:pPr lvl="3"/>
            <a:r>
              <a:rPr lang="en-US"/>
              <a:t>Body text here</a:t>
            </a:r>
          </a:p>
          <a:p>
            <a:pPr lvl="3"/>
            <a:r>
              <a:rPr lang="en-US"/>
              <a:t>Body text here</a:t>
            </a:r>
          </a:p>
          <a:p>
            <a:pPr lvl="3"/>
            <a:r>
              <a:rPr lang="en-US"/>
              <a:t>Body text here</a:t>
            </a:r>
          </a:p>
        </p:txBody>
      </p:sp>
      <p:sp>
        <p:nvSpPr>
          <p:cNvPr id="20" name="Text Placeholder 15">
            <a:extLst>
              <a:ext uri="{FF2B5EF4-FFF2-40B4-BE49-F238E27FC236}">
                <a16:creationId xmlns:a16="http://schemas.microsoft.com/office/drawing/2014/main" id="{34AF7102-903E-2E0D-CF4D-AEE7D0606356}"/>
              </a:ext>
            </a:extLst>
          </p:cNvPr>
          <p:cNvSpPr>
            <a:spLocks noGrp="1"/>
          </p:cNvSpPr>
          <p:nvPr>
            <p:ph type="body" sz="quarter" idx="21" hasCustomPrompt="1"/>
          </p:nvPr>
        </p:nvSpPr>
        <p:spPr>
          <a:xfrm>
            <a:off x="323850" y="233277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Text Placeholder 15">
            <a:extLst>
              <a:ext uri="{FF2B5EF4-FFF2-40B4-BE49-F238E27FC236}">
                <a16:creationId xmlns:a16="http://schemas.microsoft.com/office/drawing/2014/main" id="{CA02BEB5-EB10-8F01-2D87-300ACE5E516C}"/>
              </a:ext>
            </a:extLst>
          </p:cNvPr>
          <p:cNvSpPr>
            <a:spLocks noGrp="1"/>
          </p:cNvSpPr>
          <p:nvPr>
            <p:ph type="body" sz="quarter" idx="23" hasCustomPrompt="1"/>
          </p:nvPr>
        </p:nvSpPr>
        <p:spPr>
          <a:xfrm>
            <a:off x="323849" y="31669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7" name="Text Placeholder 26">
            <a:extLst>
              <a:ext uri="{FF2B5EF4-FFF2-40B4-BE49-F238E27FC236}">
                <a16:creationId xmlns:a16="http://schemas.microsoft.com/office/drawing/2014/main" id="{31360F0F-A667-7019-2E37-33DD8B68A971}"/>
              </a:ext>
            </a:extLst>
          </p:cNvPr>
          <p:cNvSpPr>
            <a:spLocks noGrp="1"/>
          </p:cNvSpPr>
          <p:nvPr>
            <p:ph type="body" sz="quarter" idx="25" hasCustomPrompt="1"/>
          </p:nvPr>
        </p:nvSpPr>
        <p:spPr>
          <a:xfrm>
            <a:off x="323849" y="1015020"/>
            <a:ext cx="8496300"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8" name="Text Placeholder 26">
            <a:extLst>
              <a:ext uri="{FF2B5EF4-FFF2-40B4-BE49-F238E27FC236}">
                <a16:creationId xmlns:a16="http://schemas.microsoft.com/office/drawing/2014/main" id="{53DBBEB4-7B3E-DCA7-64CA-BB578A31E44C}"/>
              </a:ext>
            </a:extLst>
          </p:cNvPr>
          <p:cNvSpPr>
            <a:spLocks noGrp="1"/>
          </p:cNvSpPr>
          <p:nvPr>
            <p:ph type="body" sz="quarter" idx="26" hasCustomPrompt="1"/>
          </p:nvPr>
        </p:nvSpPr>
        <p:spPr>
          <a:xfrm>
            <a:off x="323849" y="2578644"/>
            <a:ext cx="8496301"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9" name="Text Placeholder 26">
            <a:extLst>
              <a:ext uri="{FF2B5EF4-FFF2-40B4-BE49-F238E27FC236}">
                <a16:creationId xmlns:a16="http://schemas.microsoft.com/office/drawing/2014/main" id="{C06685A2-318B-C098-6BDF-C4687A7AC986}"/>
              </a:ext>
            </a:extLst>
          </p:cNvPr>
          <p:cNvSpPr>
            <a:spLocks noGrp="1"/>
          </p:cNvSpPr>
          <p:nvPr>
            <p:ph type="body" sz="quarter" idx="27" hasCustomPrompt="1"/>
          </p:nvPr>
        </p:nvSpPr>
        <p:spPr>
          <a:xfrm>
            <a:off x="323850" y="3410748"/>
            <a:ext cx="8496300" cy="1140615"/>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32" name="Title 4">
            <a:extLst>
              <a:ext uri="{FF2B5EF4-FFF2-40B4-BE49-F238E27FC236}">
                <a16:creationId xmlns:a16="http://schemas.microsoft.com/office/drawing/2014/main" id="{134029DC-1981-2D55-218B-23C049E5A225}"/>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533653305"/>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Heavy Content ">
    <p:spTree>
      <p:nvGrpSpPr>
        <p:cNvPr id="1" name=""/>
        <p:cNvGrpSpPr/>
        <p:nvPr/>
      </p:nvGrpSpPr>
      <p:grpSpPr>
        <a:xfrm>
          <a:off x="0" y="0"/>
          <a:ext cx="0" cy="0"/>
          <a:chOff x="0" y="0"/>
          <a:chExt cx="0" cy="0"/>
        </a:xfrm>
      </p:grpSpPr>
      <p:sp>
        <p:nvSpPr>
          <p:cNvPr id="7" name="Text Placeholder 15">
            <a:extLst>
              <a:ext uri="{FF2B5EF4-FFF2-40B4-BE49-F238E27FC236}">
                <a16:creationId xmlns:a16="http://schemas.microsoft.com/office/drawing/2014/main" id="{EE77B192-B893-8971-B271-AC63637A206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8" name="Text Placeholder 26">
            <a:extLst>
              <a:ext uri="{FF2B5EF4-FFF2-40B4-BE49-F238E27FC236}">
                <a16:creationId xmlns:a16="http://schemas.microsoft.com/office/drawing/2014/main" id="{0361BD90-5B42-10E2-969A-B5889292C21C}"/>
              </a:ext>
            </a:extLst>
          </p:cNvPr>
          <p:cNvSpPr>
            <a:spLocks noGrp="1"/>
          </p:cNvSpPr>
          <p:nvPr>
            <p:ph type="body" sz="quarter" idx="25" hasCustomPrompt="1"/>
          </p:nvPr>
        </p:nvSpPr>
        <p:spPr>
          <a:xfrm>
            <a:off x="323849" y="1015020"/>
            <a:ext cx="8496301"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1" name="Title 4">
            <a:extLst>
              <a:ext uri="{FF2B5EF4-FFF2-40B4-BE49-F238E27FC236}">
                <a16:creationId xmlns:a16="http://schemas.microsoft.com/office/drawing/2014/main" id="{2E6A1F2E-D8AD-3208-9C3F-9BD0654DA9F2}"/>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531752828"/>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Heavy Content ">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9740954-8C27-8302-D638-45CFCA778965}"/>
              </a:ext>
            </a:extLst>
          </p:cNvPr>
          <p:cNvSpPr>
            <a:spLocks noGrp="1"/>
          </p:cNvSpPr>
          <p:nvPr>
            <p:ph type="pic" sz="quarter" idx="14"/>
          </p:nvPr>
        </p:nvSpPr>
        <p:spPr>
          <a:xfrm>
            <a:off x="4724401" y="1015020"/>
            <a:ext cx="4095750" cy="3545542"/>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ext Placeholder 15">
            <a:extLst>
              <a:ext uri="{FF2B5EF4-FFF2-40B4-BE49-F238E27FC236}">
                <a16:creationId xmlns:a16="http://schemas.microsoft.com/office/drawing/2014/main" id="{9DEB9C49-F9DD-9E0B-CA20-D228F3BF856C}"/>
              </a:ext>
            </a:extLst>
          </p:cNvPr>
          <p:cNvSpPr>
            <a:spLocks noGrp="1"/>
          </p:cNvSpPr>
          <p:nvPr>
            <p:ph type="body" sz="quarter" idx="11" hasCustomPrompt="1"/>
          </p:nvPr>
        </p:nvSpPr>
        <p:spPr>
          <a:xfrm>
            <a:off x="323849" y="770532"/>
            <a:ext cx="8496301"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6" name="Text Placeholder 26">
            <a:extLst>
              <a:ext uri="{FF2B5EF4-FFF2-40B4-BE49-F238E27FC236}">
                <a16:creationId xmlns:a16="http://schemas.microsoft.com/office/drawing/2014/main" id="{DF34FA57-6720-CCDD-D940-7AFDA13CBF48}"/>
              </a:ext>
            </a:extLst>
          </p:cNvPr>
          <p:cNvSpPr>
            <a:spLocks noGrp="1"/>
          </p:cNvSpPr>
          <p:nvPr>
            <p:ph type="body" sz="quarter" idx="25" hasCustomPrompt="1"/>
          </p:nvPr>
        </p:nvSpPr>
        <p:spPr>
          <a:xfrm>
            <a:off x="323849" y="1015020"/>
            <a:ext cx="4095750"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4" name="Title 4">
            <a:extLst>
              <a:ext uri="{FF2B5EF4-FFF2-40B4-BE49-F238E27FC236}">
                <a16:creationId xmlns:a16="http://schemas.microsoft.com/office/drawing/2014/main" id="{7972ED5C-D7A9-7213-5E4E-7FEEA79C1FC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123530890"/>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Heavy Content ">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8DF0694E-B26D-4C07-3464-889128CF46CC}"/>
              </a:ext>
            </a:extLst>
          </p:cNvPr>
          <p:cNvSpPr>
            <a:spLocks noGrp="1"/>
          </p:cNvSpPr>
          <p:nvPr>
            <p:ph type="body" sz="quarter" idx="11" hasCustomPrompt="1"/>
          </p:nvPr>
        </p:nvSpPr>
        <p:spPr>
          <a:xfrm>
            <a:off x="323851" y="770532"/>
            <a:ext cx="409574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7" name="Text Placeholder 26">
            <a:extLst>
              <a:ext uri="{FF2B5EF4-FFF2-40B4-BE49-F238E27FC236}">
                <a16:creationId xmlns:a16="http://schemas.microsoft.com/office/drawing/2014/main" id="{E4D84FB3-7CB7-EB17-D9F0-978923A22963}"/>
              </a:ext>
            </a:extLst>
          </p:cNvPr>
          <p:cNvSpPr>
            <a:spLocks noGrp="1"/>
          </p:cNvSpPr>
          <p:nvPr>
            <p:ph type="body" sz="quarter" idx="25" hasCustomPrompt="1"/>
          </p:nvPr>
        </p:nvSpPr>
        <p:spPr>
          <a:xfrm>
            <a:off x="323850" y="1015020"/>
            <a:ext cx="4095749" cy="1673316"/>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Picture Placeholder 5">
            <a:extLst>
              <a:ext uri="{FF2B5EF4-FFF2-40B4-BE49-F238E27FC236}">
                <a16:creationId xmlns:a16="http://schemas.microsoft.com/office/drawing/2014/main" id="{2689D924-B573-9F3B-11FD-1A189D0ACA31}"/>
              </a:ext>
            </a:extLst>
          </p:cNvPr>
          <p:cNvSpPr>
            <a:spLocks noGrp="1"/>
          </p:cNvSpPr>
          <p:nvPr>
            <p:ph type="pic" sz="quarter" idx="14"/>
          </p:nvPr>
        </p:nvSpPr>
        <p:spPr>
          <a:xfrm>
            <a:off x="4724401" y="1015020"/>
            <a:ext cx="4095750"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4" name="Picture Placeholder 5">
            <a:extLst>
              <a:ext uri="{FF2B5EF4-FFF2-40B4-BE49-F238E27FC236}">
                <a16:creationId xmlns:a16="http://schemas.microsoft.com/office/drawing/2014/main" id="{37CF3A16-6EF2-45BE-1B4F-3C77259A317E}"/>
              </a:ext>
            </a:extLst>
          </p:cNvPr>
          <p:cNvSpPr>
            <a:spLocks noGrp="1"/>
          </p:cNvSpPr>
          <p:nvPr>
            <p:ph type="pic" sz="quarter" idx="27"/>
          </p:nvPr>
        </p:nvSpPr>
        <p:spPr>
          <a:xfrm>
            <a:off x="318286" y="2942294"/>
            <a:ext cx="4101314"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18" name="Title 4">
            <a:extLst>
              <a:ext uri="{FF2B5EF4-FFF2-40B4-BE49-F238E27FC236}">
                <a16:creationId xmlns:a16="http://schemas.microsoft.com/office/drawing/2014/main" id="{53D343EC-4656-122D-3A78-738663F7AB57}"/>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950146529"/>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Heavy Content ">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999BEE0A-983E-CF6E-3446-3D7EE05835CB}"/>
              </a:ext>
            </a:extLst>
          </p:cNvPr>
          <p:cNvSpPr>
            <a:spLocks noGrp="1"/>
          </p:cNvSpPr>
          <p:nvPr>
            <p:ph type="body" sz="quarter" idx="11" hasCustomPrompt="1"/>
          </p:nvPr>
        </p:nvSpPr>
        <p:spPr>
          <a:xfrm>
            <a:off x="323851"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6" name="Picture Placeholder 5">
            <a:extLst>
              <a:ext uri="{FF2B5EF4-FFF2-40B4-BE49-F238E27FC236}">
                <a16:creationId xmlns:a16="http://schemas.microsoft.com/office/drawing/2014/main" id="{CB929CED-133E-AE9C-4043-4E351A200028}"/>
              </a:ext>
            </a:extLst>
          </p:cNvPr>
          <p:cNvSpPr>
            <a:spLocks noGrp="1"/>
          </p:cNvSpPr>
          <p:nvPr>
            <p:ph type="pic" sz="quarter" idx="14"/>
          </p:nvPr>
        </p:nvSpPr>
        <p:spPr>
          <a:xfrm>
            <a:off x="4724401" y="1015020"/>
            <a:ext cx="4093715"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7" name="Picture Placeholder 5">
            <a:extLst>
              <a:ext uri="{FF2B5EF4-FFF2-40B4-BE49-F238E27FC236}">
                <a16:creationId xmlns:a16="http://schemas.microsoft.com/office/drawing/2014/main" id="{FE3DC04A-A27A-0749-391E-FC16FFFBBF19}"/>
              </a:ext>
            </a:extLst>
          </p:cNvPr>
          <p:cNvSpPr>
            <a:spLocks noGrp="1"/>
          </p:cNvSpPr>
          <p:nvPr>
            <p:ph type="pic" sz="quarter" idx="27"/>
          </p:nvPr>
        </p:nvSpPr>
        <p:spPr>
          <a:xfrm>
            <a:off x="325884" y="2942294"/>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18" name="Picture Placeholder 5">
            <a:extLst>
              <a:ext uri="{FF2B5EF4-FFF2-40B4-BE49-F238E27FC236}">
                <a16:creationId xmlns:a16="http://schemas.microsoft.com/office/drawing/2014/main" id="{750E1692-A5A5-77B1-1F6F-2CFEA35184A1}"/>
              </a:ext>
            </a:extLst>
          </p:cNvPr>
          <p:cNvSpPr>
            <a:spLocks noGrp="1"/>
          </p:cNvSpPr>
          <p:nvPr>
            <p:ph type="pic" sz="quarter" idx="18"/>
          </p:nvPr>
        </p:nvSpPr>
        <p:spPr>
          <a:xfrm>
            <a:off x="325884" y="1016450"/>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4" name="Title 4">
            <a:extLst>
              <a:ext uri="{FF2B5EF4-FFF2-40B4-BE49-F238E27FC236}">
                <a16:creationId xmlns:a16="http://schemas.microsoft.com/office/drawing/2014/main" id="{B34E6867-AD99-2838-8C10-ECFAACFC6CC1}"/>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2547213009"/>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Heavy Content ">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E91A9CE8-D9B8-8207-FFF9-1084438AEA2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Picture Placeholder 5">
            <a:extLst>
              <a:ext uri="{FF2B5EF4-FFF2-40B4-BE49-F238E27FC236}">
                <a16:creationId xmlns:a16="http://schemas.microsoft.com/office/drawing/2014/main" id="{DE209958-14EE-8110-80D6-28C39824E8D4}"/>
              </a:ext>
            </a:extLst>
          </p:cNvPr>
          <p:cNvSpPr>
            <a:spLocks noGrp="1"/>
          </p:cNvSpPr>
          <p:nvPr>
            <p:ph type="pic" sz="quarter" idx="27"/>
          </p:nvPr>
        </p:nvSpPr>
        <p:spPr>
          <a:xfrm>
            <a:off x="32385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5" name="Picture Placeholder 5">
            <a:extLst>
              <a:ext uri="{FF2B5EF4-FFF2-40B4-BE49-F238E27FC236}">
                <a16:creationId xmlns:a16="http://schemas.microsoft.com/office/drawing/2014/main" id="{030635A7-4B2F-AA42-CC6F-4CF4E4C3D7BD}"/>
              </a:ext>
            </a:extLst>
          </p:cNvPr>
          <p:cNvSpPr>
            <a:spLocks noGrp="1"/>
          </p:cNvSpPr>
          <p:nvPr>
            <p:ph type="pic" sz="quarter" idx="18"/>
          </p:nvPr>
        </p:nvSpPr>
        <p:spPr>
          <a:xfrm>
            <a:off x="32385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26" name="Picture Placeholder 5">
            <a:extLst>
              <a:ext uri="{FF2B5EF4-FFF2-40B4-BE49-F238E27FC236}">
                <a16:creationId xmlns:a16="http://schemas.microsoft.com/office/drawing/2014/main" id="{8A74BDD0-A9DE-AF09-A11C-41CCDD567CCE}"/>
              </a:ext>
            </a:extLst>
          </p:cNvPr>
          <p:cNvSpPr>
            <a:spLocks noGrp="1"/>
          </p:cNvSpPr>
          <p:nvPr>
            <p:ph type="pic" sz="quarter" idx="28"/>
          </p:nvPr>
        </p:nvSpPr>
        <p:spPr>
          <a:xfrm>
            <a:off x="472440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7" name="Picture Placeholder 5">
            <a:extLst>
              <a:ext uri="{FF2B5EF4-FFF2-40B4-BE49-F238E27FC236}">
                <a16:creationId xmlns:a16="http://schemas.microsoft.com/office/drawing/2014/main" id="{F001EE93-86CC-1631-6ECC-1A09ECA433E8}"/>
              </a:ext>
            </a:extLst>
          </p:cNvPr>
          <p:cNvSpPr>
            <a:spLocks noGrp="1"/>
          </p:cNvSpPr>
          <p:nvPr>
            <p:ph type="pic" sz="quarter" idx="29"/>
          </p:nvPr>
        </p:nvSpPr>
        <p:spPr>
          <a:xfrm>
            <a:off x="472440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0" name="Title 4">
            <a:extLst>
              <a:ext uri="{FF2B5EF4-FFF2-40B4-BE49-F238E27FC236}">
                <a16:creationId xmlns:a16="http://schemas.microsoft.com/office/drawing/2014/main" id="{732A8086-D40C-0171-EA62-CA630F60A730}"/>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833850847"/>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9" userDrawn="1">
          <p15:clr>
            <a:srgbClr val="FBAE40"/>
          </p15:clr>
        </p15:guide>
        <p15:guide id="7" pos="2976">
          <p15:clr>
            <a:srgbClr val="FBAE40"/>
          </p15:clr>
        </p15:guide>
        <p15:guide id="8" orient="horz" pos="48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Heavy Content ">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F7B5159B-DD76-53E1-A1B7-565EEC39B250}"/>
              </a:ext>
            </a:extLst>
          </p:cNvPr>
          <p:cNvSpPr>
            <a:spLocks noGrp="1"/>
          </p:cNvSpPr>
          <p:nvPr>
            <p:ph type="pic" sz="quarter" idx="11"/>
          </p:nvPr>
        </p:nvSpPr>
        <p:spPr>
          <a:xfrm>
            <a:off x="323823" y="2571751"/>
            <a:ext cx="8496327" cy="1819018"/>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 name="Text Placeholder 15">
            <a:extLst>
              <a:ext uri="{FF2B5EF4-FFF2-40B4-BE49-F238E27FC236}">
                <a16:creationId xmlns:a16="http://schemas.microsoft.com/office/drawing/2014/main" id="{82E5DD3A-DC8C-3C86-99AE-9879313ADA98}"/>
              </a:ext>
            </a:extLst>
          </p:cNvPr>
          <p:cNvSpPr>
            <a:spLocks noGrp="1"/>
          </p:cNvSpPr>
          <p:nvPr>
            <p:ph type="body" sz="quarter" idx="12" hasCustomPrompt="1"/>
          </p:nvPr>
        </p:nvSpPr>
        <p:spPr>
          <a:xfrm>
            <a:off x="323850" y="770532"/>
            <a:ext cx="849629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C87D6031-A671-4CA7-B8CD-855A9E548B71}"/>
              </a:ext>
            </a:extLst>
          </p:cNvPr>
          <p:cNvSpPr>
            <a:spLocks noGrp="1"/>
          </p:cNvSpPr>
          <p:nvPr>
            <p:ph type="body" sz="quarter" idx="25" hasCustomPrompt="1"/>
          </p:nvPr>
        </p:nvSpPr>
        <p:spPr>
          <a:xfrm>
            <a:off x="323850" y="1015020"/>
            <a:ext cx="8496300" cy="1334980"/>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C0E66309-A0FA-530A-0FA7-3F979A9EA203}"/>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832786187"/>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864B2C5F-15A1-0237-E736-B18B7007540E}"/>
              </a:ext>
            </a:extLst>
          </p:cNvPr>
          <p:cNvSpPr>
            <a:spLocks noGrp="1"/>
          </p:cNvSpPr>
          <p:nvPr>
            <p:ph type="body" sz="quarter" idx="11" hasCustomPrompt="1"/>
          </p:nvPr>
        </p:nvSpPr>
        <p:spPr>
          <a:xfrm>
            <a:off x="323850" y="1496532"/>
            <a:ext cx="336308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FIRST NAME LAST NAME</a:t>
            </a:r>
          </a:p>
        </p:txBody>
      </p:sp>
      <p:sp>
        <p:nvSpPr>
          <p:cNvPr id="18" name="Text Placeholder 15">
            <a:extLst>
              <a:ext uri="{FF2B5EF4-FFF2-40B4-BE49-F238E27FC236}">
                <a16:creationId xmlns:a16="http://schemas.microsoft.com/office/drawing/2014/main" id="{5C6495FB-2E37-9EEA-E8C5-67126F522F98}"/>
              </a:ext>
            </a:extLst>
          </p:cNvPr>
          <p:cNvSpPr>
            <a:spLocks noGrp="1"/>
          </p:cNvSpPr>
          <p:nvPr>
            <p:ph type="body" sz="quarter" idx="12" hasCustomPrompt="1"/>
          </p:nvPr>
        </p:nvSpPr>
        <p:spPr>
          <a:xfrm>
            <a:off x="323850" y="1801332"/>
            <a:ext cx="3363084" cy="178502"/>
          </a:xfrm>
          <a:prstGeom prst="rect">
            <a:avLst/>
          </a:prstGeom>
        </p:spPr>
        <p:txBody>
          <a:bodyPr/>
          <a:lstStyle>
            <a:lvl1pPr marL="0" indent="0" algn="l" defTabSz="457200" rtl="0" eaLnBrk="1" latinLnBrk="0" hangingPunct="1">
              <a:lnSpc>
                <a:spcPct val="100000"/>
              </a:lnSpc>
              <a:buNone/>
              <a:defRPr lang="en-SA" sz="800" kern="1200" dirty="0">
                <a:solidFill>
                  <a:schemeClr val="tx2"/>
                </a:solidFill>
                <a:latin typeface="Fund Light" pitchFamily="2" charset="-78"/>
                <a:ea typeface="+mn-ea"/>
                <a:cs typeface="Fund Light" pitchFamily="2" charset="-78"/>
              </a:defRPr>
            </a:lvl1pPr>
          </a:lstStyle>
          <a:p>
            <a:pPr lvl="0"/>
            <a:r>
              <a:rPr lang="en-US"/>
              <a:t>POSITION</a:t>
            </a:r>
            <a:endParaRPr lang="en-SA"/>
          </a:p>
        </p:txBody>
      </p:sp>
      <p:sp>
        <p:nvSpPr>
          <p:cNvPr id="40" name="Picture Placeholder 38">
            <a:extLst>
              <a:ext uri="{FF2B5EF4-FFF2-40B4-BE49-F238E27FC236}">
                <a16:creationId xmlns:a16="http://schemas.microsoft.com/office/drawing/2014/main" id="{936645E6-889A-5051-D79B-F4C7655AD7E6}"/>
              </a:ext>
            </a:extLst>
          </p:cNvPr>
          <p:cNvSpPr>
            <a:spLocks noGrp="1"/>
          </p:cNvSpPr>
          <p:nvPr>
            <p:ph type="pic" sz="quarter" idx="14"/>
          </p:nvPr>
        </p:nvSpPr>
        <p:spPr>
          <a:xfrm>
            <a:off x="5859642" y="1707311"/>
            <a:ext cx="1739312" cy="1739312"/>
          </a:xfrm>
          <a:prstGeom prst="ellipse">
            <a:avLst/>
          </a:prstGeom>
        </p:spPr>
        <p:txBody>
          <a:bodyPr anchor="ctr"/>
          <a:lstStyle>
            <a:lvl1pPr marL="0" indent="0" algn="ctr">
              <a:buNone/>
              <a:defRPr sz="1400">
                <a:latin typeface="Fund Regular" pitchFamily="2" charset="-78"/>
                <a:cs typeface="Fund Regular" pitchFamily="2" charset="-78"/>
              </a:defRPr>
            </a:lvl1pPr>
          </a:lstStyle>
          <a:p>
            <a:endParaRPr lang="en-SA"/>
          </a:p>
        </p:txBody>
      </p:sp>
      <p:sp>
        <p:nvSpPr>
          <p:cNvPr id="41" name="Oval 40">
            <a:extLst>
              <a:ext uri="{FF2B5EF4-FFF2-40B4-BE49-F238E27FC236}">
                <a16:creationId xmlns:a16="http://schemas.microsoft.com/office/drawing/2014/main" id="{5AAC91EF-9292-BEF6-ACFB-00D499714556}"/>
              </a:ext>
            </a:extLst>
          </p:cNvPr>
          <p:cNvSpPr/>
          <p:nvPr userDrawn="1"/>
        </p:nvSpPr>
        <p:spPr>
          <a:xfrm>
            <a:off x="5751845" y="1599514"/>
            <a:ext cx="1954906" cy="1954906"/>
          </a:xfrm>
          <a:prstGeom prst="ellipse">
            <a:avLst/>
          </a:prstGeom>
          <a:noFill/>
          <a:ln w="50800">
            <a:solidFill>
              <a:srgbClr val="C498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latin typeface="Fund Regular" pitchFamily="2" charset="-78"/>
            </a:endParaRPr>
          </a:p>
        </p:txBody>
      </p:sp>
      <p:sp>
        <p:nvSpPr>
          <p:cNvPr id="3" name="Text Placeholder 26">
            <a:extLst>
              <a:ext uri="{FF2B5EF4-FFF2-40B4-BE49-F238E27FC236}">
                <a16:creationId xmlns:a16="http://schemas.microsoft.com/office/drawing/2014/main" id="{A29F6922-69E1-848C-3CCA-641E2B1D80FF}"/>
              </a:ext>
            </a:extLst>
          </p:cNvPr>
          <p:cNvSpPr>
            <a:spLocks noGrp="1"/>
          </p:cNvSpPr>
          <p:nvPr>
            <p:ph type="body" sz="quarter" idx="25" hasCustomPrompt="1"/>
          </p:nvPr>
        </p:nvSpPr>
        <p:spPr>
          <a:xfrm>
            <a:off x="317641" y="2087631"/>
            <a:ext cx="3375518"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139392B3-A5E4-AB28-63E2-C80852AF00CB}"/>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742970504"/>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9" userDrawn="1">
          <p15:clr>
            <a:srgbClr val="FBAE40"/>
          </p15:clr>
        </p15:guide>
        <p15:guide id="7" pos="2976">
          <p15:clr>
            <a:srgbClr val="FBAE40"/>
          </p15:clr>
        </p15:guide>
        <p15:guide id="8" orient="horz" pos="48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rofile">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6BAFF34A-EDD5-AC5C-03F6-4E5B273FAD86}"/>
              </a:ext>
            </a:extLst>
          </p:cNvPr>
          <p:cNvSpPr>
            <a:spLocks noGrp="1"/>
          </p:cNvSpPr>
          <p:nvPr>
            <p:ph type="body" sz="quarter" idx="11" hasCustomPrompt="1"/>
          </p:nvPr>
        </p:nvSpPr>
        <p:spPr>
          <a:xfrm>
            <a:off x="330036" y="1569684"/>
            <a:ext cx="3356898"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28453984-8213-F149-1272-6CB1D89FF1F5}"/>
              </a:ext>
            </a:extLst>
          </p:cNvPr>
          <p:cNvSpPr>
            <a:spLocks noGrp="1"/>
          </p:cNvSpPr>
          <p:nvPr>
            <p:ph type="body" sz="quarter" idx="25" hasCustomPrompt="1"/>
          </p:nvPr>
        </p:nvSpPr>
        <p:spPr>
          <a:xfrm>
            <a:off x="323850" y="1904751"/>
            <a:ext cx="3369309"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A57B1658-19CD-AEC4-A12E-8D62D086CE5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650873774"/>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9" userDrawn="1">
          <p15:clr>
            <a:srgbClr val="FBAE40"/>
          </p15:clr>
        </p15:guide>
        <p15:guide id="7" pos="2976">
          <p15:clr>
            <a:srgbClr val="FBAE40"/>
          </p15:clr>
        </p15:guide>
        <p15:guide id="8" orient="horz" pos="48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umber">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661DDD9-977E-A43B-4A90-ABE38DAD5356}"/>
              </a:ext>
            </a:extLst>
          </p:cNvPr>
          <p:cNvCxnSpPr>
            <a:cxnSpLocks/>
          </p:cNvCxnSpPr>
          <p:nvPr userDrawn="1"/>
        </p:nvCxnSpPr>
        <p:spPr>
          <a:xfrm>
            <a:off x="321858" y="2537955"/>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F65909-14A7-2935-FEB5-DFB0A8192A6D}"/>
              </a:ext>
            </a:extLst>
          </p:cNvPr>
          <p:cNvCxnSpPr>
            <a:cxnSpLocks/>
          </p:cNvCxnSpPr>
          <p:nvPr userDrawn="1"/>
        </p:nvCxnSpPr>
        <p:spPr>
          <a:xfrm>
            <a:off x="321858" y="3719532"/>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sp>
        <p:nvSpPr>
          <p:cNvPr id="48" name="Text Placeholder 15">
            <a:extLst>
              <a:ext uri="{FF2B5EF4-FFF2-40B4-BE49-F238E27FC236}">
                <a16:creationId xmlns:a16="http://schemas.microsoft.com/office/drawing/2014/main" id="{AC6F0ABF-1730-83F6-4BF3-9FF97AE5EAE5}"/>
              </a:ext>
            </a:extLst>
          </p:cNvPr>
          <p:cNvSpPr>
            <a:spLocks noGrp="1"/>
          </p:cNvSpPr>
          <p:nvPr>
            <p:ph type="body" sz="quarter" idx="14" hasCustomPrompt="1"/>
          </p:nvPr>
        </p:nvSpPr>
        <p:spPr>
          <a:xfrm>
            <a:off x="6931889"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49" name="Text Placeholder 15">
            <a:extLst>
              <a:ext uri="{FF2B5EF4-FFF2-40B4-BE49-F238E27FC236}">
                <a16:creationId xmlns:a16="http://schemas.microsoft.com/office/drawing/2014/main" id="{4267A293-ABD0-5AA1-EBE7-F0C1C00CC67E}"/>
              </a:ext>
            </a:extLst>
          </p:cNvPr>
          <p:cNvSpPr>
            <a:spLocks noGrp="1"/>
          </p:cNvSpPr>
          <p:nvPr>
            <p:ph type="body" sz="quarter" idx="15" hasCustomPrompt="1"/>
          </p:nvPr>
        </p:nvSpPr>
        <p:spPr>
          <a:xfrm>
            <a:off x="6931889"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56" name="Text Placeholder 15">
            <a:extLst>
              <a:ext uri="{FF2B5EF4-FFF2-40B4-BE49-F238E27FC236}">
                <a16:creationId xmlns:a16="http://schemas.microsoft.com/office/drawing/2014/main" id="{2D7E3E82-D109-BAE5-A33C-C12AAC8CA330}"/>
              </a:ext>
            </a:extLst>
          </p:cNvPr>
          <p:cNvSpPr>
            <a:spLocks noGrp="1"/>
          </p:cNvSpPr>
          <p:nvPr>
            <p:ph type="body" sz="quarter" idx="16" hasCustomPrompt="1"/>
          </p:nvPr>
        </p:nvSpPr>
        <p:spPr>
          <a:xfrm>
            <a:off x="4955515"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57" name="Text Placeholder 15">
            <a:extLst>
              <a:ext uri="{FF2B5EF4-FFF2-40B4-BE49-F238E27FC236}">
                <a16:creationId xmlns:a16="http://schemas.microsoft.com/office/drawing/2014/main" id="{758AFB6A-B660-04E2-84AD-E45B888A97A5}"/>
              </a:ext>
            </a:extLst>
          </p:cNvPr>
          <p:cNvSpPr>
            <a:spLocks noGrp="1"/>
          </p:cNvSpPr>
          <p:nvPr>
            <p:ph type="body" sz="quarter" idx="17" hasCustomPrompt="1"/>
          </p:nvPr>
        </p:nvSpPr>
        <p:spPr>
          <a:xfrm>
            <a:off x="4955515"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0" name="Text Placeholder 15">
            <a:extLst>
              <a:ext uri="{FF2B5EF4-FFF2-40B4-BE49-F238E27FC236}">
                <a16:creationId xmlns:a16="http://schemas.microsoft.com/office/drawing/2014/main" id="{3F810960-53C9-0AD8-43D9-803A37E6DDD2}"/>
              </a:ext>
            </a:extLst>
          </p:cNvPr>
          <p:cNvSpPr>
            <a:spLocks noGrp="1"/>
          </p:cNvSpPr>
          <p:nvPr>
            <p:ph type="body" sz="quarter" idx="18" hasCustomPrompt="1"/>
          </p:nvPr>
        </p:nvSpPr>
        <p:spPr>
          <a:xfrm>
            <a:off x="2978454"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1" name="Text Placeholder 15">
            <a:extLst>
              <a:ext uri="{FF2B5EF4-FFF2-40B4-BE49-F238E27FC236}">
                <a16:creationId xmlns:a16="http://schemas.microsoft.com/office/drawing/2014/main" id="{36AD7C43-4CE8-C7CB-436A-C20D7ECAEAD8}"/>
              </a:ext>
            </a:extLst>
          </p:cNvPr>
          <p:cNvSpPr>
            <a:spLocks noGrp="1"/>
          </p:cNvSpPr>
          <p:nvPr>
            <p:ph type="body" sz="quarter" idx="19" hasCustomPrompt="1"/>
          </p:nvPr>
        </p:nvSpPr>
        <p:spPr>
          <a:xfrm>
            <a:off x="2978454"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2" name="Text Placeholder 15">
            <a:extLst>
              <a:ext uri="{FF2B5EF4-FFF2-40B4-BE49-F238E27FC236}">
                <a16:creationId xmlns:a16="http://schemas.microsoft.com/office/drawing/2014/main" id="{F0991BFD-A505-06C6-1BCA-EF591B183028}"/>
              </a:ext>
            </a:extLst>
          </p:cNvPr>
          <p:cNvSpPr>
            <a:spLocks noGrp="1"/>
          </p:cNvSpPr>
          <p:nvPr>
            <p:ph type="body" sz="quarter" idx="20" hasCustomPrompt="1"/>
          </p:nvPr>
        </p:nvSpPr>
        <p:spPr>
          <a:xfrm>
            <a:off x="1002080"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3" name="Text Placeholder 15">
            <a:extLst>
              <a:ext uri="{FF2B5EF4-FFF2-40B4-BE49-F238E27FC236}">
                <a16:creationId xmlns:a16="http://schemas.microsoft.com/office/drawing/2014/main" id="{8D1A3567-2F75-025E-E85F-797AEEC96802}"/>
              </a:ext>
            </a:extLst>
          </p:cNvPr>
          <p:cNvSpPr>
            <a:spLocks noGrp="1"/>
          </p:cNvSpPr>
          <p:nvPr>
            <p:ph type="body" sz="quarter" idx="21" hasCustomPrompt="1"/>
          </p:nvPr>
        </p:nvSpPr>
        <p:spPr>
          <a:xfrm>
            <a:off x="1002080"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5" name="Text Placeholder 15">
            <a:extLst>
              <a:ext uri="{FF2B5EF4-FFF2-40B4-BE49-F238E27FC236}">
                <a16:creationId xmlns:a16="http://schemas.microsoft.com/office/drawing/2014/main" id="{DB84D0C2-BD08-2A9C-C094-A95884FDECCD}"/>
              </a:ext>
            </a:extLst>
          </p:cNvPr>
          <p:cNvSpPr>
            <a:spLocks noGrp="1"/>
          </p:cNvSpPr>
          <p:nvPr>
            <p:ph type="body" sz="quarter" idx="22" hasCustomPrompt="1"/>
          </p:nvPr>
        </p:nvSpPr>
        <p:spPr>
          <a:xfrm>
            <a:off x="323850" y="2351854"/>
            <a:ext cx="1529168"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6" name="Text Placeholder 15">
            <a:extLst>
              <a:ext uri="{FF2B5EF4-FFF2-40B4-BE49-F238E27FC236}">
                <a16:creationId xmlns:a16="http://schemas.microsoft.com/office/drawing/2014/main" id="{C98837D2-B7AD-AE89-C07A-28E7E4B36ADD}"/>
              </a:ext>
            </a:extLst>
          </p:cNvPr>
          <p:cNvSpPr>
            <a:spLocks noGrp="1"/>
          </p:cNvSpPr>
          <p:nvPr>
            <p:ph type="body" sz="quarter" idx="23" hasCustomPrompt="1"/>
          </p:nvPr>
        </p:nvSpPr>
        <p:spPr>
          <a:xfrm>
            <a:off x="323850" y="3517204"/>
            <a:ext cx="1519433"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7" name="Text Placeholder 15">
            <a:extLst>
              <a:ext uri="{FF2B5EF4-FFF2-40B4-BE49-F238E27FC236}">
                <a16:creationId xmlns:a16="http://schemas.microsoft.com/office/drawing/2014/main" id="{BA9EE524-38F5-6CAA-C076-6059B2ACC4DC}"/>
              </a:ext>
            </a:extLst>
          </p:cNvPr>
          <p:cNvSpPr>
            <a:spLocks noGrp="1"/>
          </p:cNvSpPr>
          <p:nvPr>
            <p:ph type="body" sz="quarter" idx="24" hasCustomPrompt="1"/>
          </p:nvPr>
        </p:nvSpPr>
        <p:spPr>
          <a:xfrm>
            <a:off x="323850" y="3835866"/>
            <a:ext cx="1129963" cy="508197"/>
          </a:xfrm>
          <a:prstGeom prst="rect">
            <a:avLst/>
          </a:prstGeom>
        </p:spPr>
        <p:txBody>
          <a:bodyPr lIns="0" tIns="0" rIns="0" bIns="0"/>
          <a:lstStyle>
            <a:lvl1pPr marL="0" indent="0" algn="l" defTabSz="457200" rtl="0" eaLnBrk="1" latinLnBrk="0" hangingPunct="1">
              <a:lnSpc>
                <a:spcPct val="100000"/>
              </a:lnSpc>
              <a:buNone/>
              <a:defRPr lang="en-US" sz="3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5" name="Text Placeholder 15">
            <a:extLst>
              <a:ext uri="{FF2B5EF4-FFF2-40B4-BE49-F238E27FC236}">
                <a16:creationId xmlns:a16="http://schemas.microsoft.com/office/drawing/2014/main" id="{7D77703E-9CAE-D8FB-4979-33FD8E5761D1}"/>
              </a:ext>
            </a:extLst>
          </p:cNvPr>
          <p:cNvSpPr>
            <a:spLocks noGrp="1"/>
          </p:cNvSpPr>
          <p:nvPr>
            <p:ph type="body" sz="quarter" idx="25" hasCustomPrompt="1"/>
          </p:nvPr>
        </p:nvSpPr>
        <p:spPr>
          <a:xfrm>
            <a:off x="4113958" y="3835866"/>
            <a:ext cx="1143759"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76" name="Text Placeholder 15">
            <a:extLst>
              <a:ext uri="{FF2B5EF4-FFF2-40B4-BE49-F238E27FC236}">
                <a16:creationId xmlns:a16="http://schemas.microsoft.com/office/drawing/2014/main" id="{B73D3E4A-45DC-7D48-A91D-E4528F3461DE}"/>
              </a:ext>
            </a:extLst>
          </p:cNvPr>
          <p:cNvSpPr>
            <a:spLocks noGrp="1"/>
          </p:cNvSpPr>
          <p:nvPr>
            <p:ph type="body" sz="quarter" idx="26" hasCustomPrompt="1"/>
          </p:nvPr>
        </p:nvSpPr>
        <p:spPr>
          <a:xfrm>
            <a:off x="323850" y="792700"/>
            <a:ext cx="1363114" cy="1072225"/>
          </a:xfrm>
          <a:prstGeom prst="rect">
            <a:avLst/>
          </a:prstGeom>
        </p:spPr>
        <p:txBody>
          <a:bodyPr lIns="0" tIns="0" rIns="0" bIns="0"/>
          <a:lstStyle>
            <a:lvl1pPr marL="0" indent="0" algn="l" defTabSz="457200" rtl="0" eaLnBrk="1" latinLnBrk="0" hangingPunct="1">
              <a:lnSpc>
                <a:spcPct val="100000"/>
              </a:lnSpc>
              <a:buNone/>
              <a:defRPr lang="en-US" sz="7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7" name="Text Placeholder 15">
            <a:extLst>
              <a:ext uri="{FF2B5EF4-FFF2-40B4-BE49-F238E27FC236}">
                <a16:creationId xmlns:a16="http://schemas.microsoft.com/office/drawing/2014/main" id="{8F6EA972-9D94-A23C-C50F-CAA1A5CFCDD6}"/>
              </a:ext>
            </a:extLst>
          </p:cNvPr>
          <p:cNvSpPr>
            <a:spLocks noGrp="1"/>
          </p:cNvSpPr>
          <p:nvPr>
            <p:ph type="body" sz="quarter" idx="27" hasCustomPrompt="1"/>
          </p:nvPr>
        </p:nvSpPr>
        <p:spPr>
          <a:xfrm>
            <a:off x="1738239" y="1103685"/>
            <a:ext cx="550194" cy="608843"/>
          </a:xfrm>
          <a:prstGeom prst="rect">
            <a:avLst/>
          </a:prstGeom>
        </p:spPr>
        <p:txBody>
          <a:bodyPr lIns="36000" tIns="36000" rIns="36000" bIns="36000"/>
          <a:lstStyle>
            <a:lvl1pPr marL="0" indent="0" algn="l" defTabSz="457200" rtl="0" eaLnBrk="1" latinLnBrk="0" hangingPunct="1">
              <a:lnSpc>
                <a:spcPct val="100000"/>
              </a:lnSpc>
              <a:buNone/>
              <a:defRPr lang="en-US" sz="4400" kern="1200" dirty="0" smtClean="0">
                <a:solidFill>
                  <a:schemeClr val="bg2"/>
                </a:solidFill>
                <a:latin typeface="Fund Regular" pitchFamily="2" charset="-78"/>
                <a:ea typeface="+mn-ea"/>
                <a:cs typeface="Fund Regular" pitchFamily="2" charset="-78"/>
              </a:defRPr>
            </a:lvl1pPr>
          </a:lstStyle>
          <a:p>
            <a:pPr lvl="0"/>
            <a:r>
              <a:rPr lang="en-US"/>
              <a:t>K</a:t>
            </a:r>
          </a:p>
        </p:txBody>
      </p:sp>
      <p:sp>
        <p:nvSpPr>
          <p:cNvPr id="78" name="Text Placeholder 15">
            <a:extLst>
              <a:ext uri="{FF2B5EF4-FFF2-40B4-BE49-F238E27FC236}">
                <a16:creationId xmlns:a16="http://schemas.microsoft.com/office/drawing/2014/main" id="{369622A4-8D44-CBB1-A4B4-53006005B5D9}"/>
              </a:ext>
            </a:extLst>
          </p:cNvPr>
          <p:cNvSpPr>
            <a:spLocks noGrp="1"/>
          </p:cNvSpPr>
          <p:nvPr>
            <p:ph type="body" sz="quarter" idx="28" hasCustomPrompt="1"/>
          </p:nvPr>
        </p:nvSpPr>
        <p:spPr>
          <a:xfrm>
            <a:off x="323851" y="1924950"/>
            <a:ext cx="1964582" cy="219494"/>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tx2"/>
                </a:solidFill>
                <a:latin typeface="Fund Regular" pitchFamily="2" charset="-78"/>
                <a:ea typeface="+mn-ea"/>
                <a:cs typeface="Fund Regular" pitchFamily="2" charset="-78"/>
              </a:defRPr>
            </a:lvl1pPr>
          </a:lstStyle>
          <a:p>
            <a:pPr lvl="0"/>
            <a:r>
              <a:rPr lang="en-US"/>
              <a:t>TITLE</a:t>
            </a:r>
          </a:p>
        </p:txBody>
      </p:sp>
      <p:sp>
        <p:nvSpPr>
          <p:cNvPr id="3" name="Text Placeholder 15">
            <a:extLst>
              <a:ext uri="{FF2B5EF4-FFF2-40B4-BE49-F238E27FC236}">
                <a16:creationId xmlns:a16="http://schemas.microsoft.com/office/drawing/2014/main" id="{137D3A14-6950-EAE7-638F-B2D4A63FB0FD}"/>
              </a:ext>
            </a:extLst>
          </p:cNvPr>
          <p:cNvSpPr>
            <a:spLocks noGrp="1"/>
          </p:cNvSpPr>
          <p:nvPr>
            <p:ph type="body" sz="quarter" idx="11" hasCustomPrompt="1"/>
          </p:nvPr>
        </p:nvSpPr>
        <p:spPr>
          <a:xfrm>
            <a:off x="3271146" y="774412"/>
            <a:ext cx="554900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19714FDA-0467-8D40-1595-E528EBA7CBDD}"/>
              </a:ext>
            </a:extLst>
          </p:cNvPr>
          <p:cNvSpPr>
            <a:spLocks noGrp="1"/>
          </p:cNvSpPr>
          <p:nvPr>
            <p:ph type="body" sz="quarter" idx="29" hasCustomPrompt="1"/>
          </p:nvPr>
        </p:nvSpPr>
        <p:spPr>
          <a:xfrm>
            <a:off x="3264922" y="1109480"/>
            <a:ext cx="5555208" cy="1034964"/>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19F4C6B2-460B-0061-75C8-D91DB88B87CD}"/>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2824685505"/>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6" userDrawn="1">
          <p15:clr>
            <a:srgbClr val="FBAE40"/>
          </p15:clr>
        </p15:guide>
        <p15:guide id="4" orient="horz" pos="2867" userDrawn="1">
          <p15:clr>
            <a:srgbClr val="FBAE40"/>
          </p15:clr>
        </p15:guide>
        <p15:guide id="5" pos="204" userDrawn="1">
          <p15:clr>
            <a:srgbClr val="FBAE40"/>
          </p15:clr>
        </p15:guide>
        <p15:guide id="6" pos="2789" userDrawn="1">
          <p15:clr>
            <a:srgbClr val="FBAE40"/>
          </p15:clr>
        </p15:guide>
        <p15:guide id="7" pos="2976">
          <p15:clr>
            <a:srgbClr val="FBAE40"/>
          </p15:clr>
        </p15:guide>
        <p15:guide id="8" orient="horz" pos="48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Title">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99ADD64-F710-373E-44C9-29E181EAC7A0}"/>
              </a:ext>
            </a:extLst>
          </p:cNvPr>
          <p:cNvSpPr/>
          <p:nvPr/>
        </p:nvSpPr>
        <p:spPr>
          <a:xfrm>
            <a:off x="355198"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73" name="Text Placeholder 15">
            <a:extLst>
              <a:ext uri="{FF2B5EF4-FFF2-40B4-BE49-F238E27FC236}">
                <a16:creationId xmlns:a16="http://schemas.microsoft.com/office/drawing/2014/main" id="{5F955A93-28FC-73D1-14F2-B171E0C8D7D4}"/>
              </a:ext>
            </a:extLst>
          </p:cNvPr>
          <p:cNvSpPr>
            <a:spLocks noGrp="1"/>
          </p:cNvSpPr>
          <p:nvPr>
            <p:ph type="body" sz="quarter" idx="14" hasCustomPrompt="1"/>
          </p:nvPr>
        </p:nvSpPr>
        <p:spPr>
          <a:xfrm>
            <a:off x="370742"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75" name="Text Placeholder 15">
            <a:extLst>
              <a:ext uri="{FF2B5EF4-FFF2-40B4-BE49-F238E27FC236}">
                <a16:creationId xmlns:a16="http://schemas.microsoft.com/office/drawing/2014/main" id="{1B8B7915-F4BB-82A6-AE61-7A6F7B962E43}"/>
              </a:ext>
            </a:extLst>
          </p:cNvPr>
          <p:cNvSpPr>
            <a:spLocks noGrp="1"/>
          </p:cNvSpPr>
          <p:nvPr>
            <p:ph type="body" sz="quarter" idx="15" hasCustomPrompt="1"/>
          </p:nvPr>
        </p:nvSpPr>
        <p:spPr>
          <a:xfrm>
            <a:off x="370742"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79" name="Oval 78">
            <a:extLst>
              <a:ext uri="{FF2B5EF4-FFF2-40B4-BE49-F238E27FC236}">
                <a16:creationId xmlns:a16="http://schemas.microsoft.com/office/drawing/2014/main" id="{C405FF7B-5C06-ACC1-11F0-D60ECC8FFF62}"/>
              </a:ext>
            </a:extLst>
          </p:cNvPr>
          <p:cNvSpPr/>
          <p:nvPr userDrawn="1"/>
        </p:nvSpPr>
        <p:spPr>
          <a:xfrm>
            <a:off x="3531104"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0" name="Text Placeholder 15">
            <a:extLst>
              <a:ext uri="{FF2B5EF4-FFF2-40B4-BE49-F238E27FC236}">
                <a16:creationId xmlns:a16="http://schemas.microsoft.com/office/drawing/2014/main" id="{76F536E2-44A4-94EB-6605-A77D27B439AC}"/>
              </a:ext>
            </a:extLst>
          </p:cNvPr>
          <p:cNvSpPr>
            <a:spLocks noGrp="1"/>
          </p:cNvSpPr>
          <p:nvPr>
            <p:ph type="body" sz="quarter" idx="16" hasCustomPrompt="1"/>
          </p:nvPr>
        </p:nvSpPr>
        <p:spPr>
          <a:xfrm>
            <a:off x="3546648"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1" name="Text Placeholder 15">
            <a:extLst>
              <a:ext uri="{FF2B5EF4-FFF2-40B4-BE49-F238E27FC236}">
                <a16:creationId xmlns:a16="http://schemas.microsoft.com/office/drawing/2014/main" id="{36CC5434-AF46-006D-15E3-334ADBF0BC54}"/>
              </a:ext>
            </a:extLst>
          </p:cNvPr>
          <p:cNvSpPr>
            <a:spLocks noGrp="1"/>
          </p:cNvSpPr>
          <p:nvPr>
            <p:ph type="body" sz="quarter" idx="17" hasCustomPrompt="1"/>
          </p:nvPr>
        </p:nvSpPr>
        <p:spPr>
          <a:xfrm>
            <a:off x="3546648"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82" name="Oval 81">
            <a:extLst>
              <a:ext uri="{FF2B5EF4-FFF2-40B4-BE49-F238E27FC236}">
                <a16:creationId xmlns:a16="http://schemas.microsoft.com/office/drawing/2014/main" id="{847E210C-BB3E-A513-EBBB-1A4D988104EF}"/>
              </a:ext>
            </a:extLst>
          </p:cNvPr>
          <p:cNvSpPr/>
          <p:nvPr userDrawn="1"/>
        </p:nvSpPr>
        <p:spPr>
          <a:xfrm>
            <a:off x="6707011" y="2416792"/>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3" name="Text Placeholder 15">
            <a:extLst>
              <a:ext uri="{FF2B5EF4-FFF2-40B4-BE49-F238E27FC236}">
                <a16:creationId xmlns:a16="http://schemas.microsoft.com/office/drawing/2014/main" id="{B2716802-75AE-5B3E-4005-AF177430077D}"/>
              </a:ext>
            </a:extLst>
          </p:cNvPr>
          <p:cNvSpPr>
            <a:spLocks noGrp="1"/>
          </p:cNvSpPr>
          <p:nvPr>
            <p:ph type="body" sz="quarter" idx="18" hasCustomPrompt="1"/>
          </p:nvPr>
        </p:nvSpPr>
        <p:spPr>
          <a:xfrm>
            <a:off x="6722555" y="3158281"/>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4" name="Text Placeholder 15">
            <a:extLst>
              <a:ext uri="{FF2B5EF4-FFF2-40B4-BE49-F238E27FC236}">
                <a16:creationId xmlns:a16="http://schemas.microsoft.com/office/drawing/2014/main" id="{B12A0E62-7182-1C04-0A40-E4B2B510AA68}"/>
              </a:ext>
            </a:extLst>
          </p:cNvPr>
          <p:cNvSpPr>
            <a:spLocks noGrp="1"/>
          </p:cNvSpPr>
          <p:nvPr>
            <p:ph type="body" sz="quarter" idx="19" hasCustomPrompt="1"/>
          </p:nvPr>
        </p:nvSpPr>
        <p:spPr>
          <a:xfrm>
            <a:off x="6722555" y="3631808"/>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3" name="Text Placeholder 15">
            <a:extLst>
              <a:ext uri="{FF2B5EF4-FFF2-40B4-BE49-F238E27FC236}">
                <a16:creationId xmlns:a16="http://schemas.microsoft.com/office/drawing/2014/main" id="{7BE8C802-A888-24D7-D44A-822C5B3B66D7}"/>
              </a:ext>
            </a:extLst>
          </p:cNvPr>
          <p:cNvSpPr>
            <a:spLocks noGrp="1"/>
          </p:cNvSpPr>
          <p:nvPr>
            <p:ph type="body" sz="quarter" idx="11" hasCustomPrompt="1"/>
          </p:nvPr>
        </p:nvSpPr>
        <p:spPr>
          <a:xfrm>
            <a:off x="323852"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5066CE51-FEF5-CB03-9171-CE9A31CC7F5E}"/>
              </a:ext>
            </a:extLst>
          </p:cNvPr>
          <p:cNvSpPr>
            <a:spLocks noGrp="1"/>
          </p:cNvSpPr>
          <p:nvPr>
            <p:ph type="body" sz="quarter" idx="25" hasCustomPrompt="1"/>
          </p:nvPr>
        </p:nvSpPr>
        <p:spPr>
          <a:xfrm>
            <a:off x="323851" y="1015020"/>
            <a:ext cx="8496300" cy="1243548"/>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9A1161F6-A5D5-EEDB-E8A0-949BA1AEDE5E}"/>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537228430"/>
      </p:ext>
    </p:extLst>
  </p:cSld>
  <p:clrMapOvr>
    <a:masterClrMapping/>
  </p:clrMapOvr>
  <p:extLst>
    <p:ext uri="{DCECCB84-F9BA-43D5-87BE-67443E8EF086}">
      <p15:sldGuideLst xmlns:p15="http://schemas.microsoft.com/office/powerpoint/2012/main">
        <p15:guide id="2" pos="5556" userDrawn="1">
          <p15:clr>
            <a:srgbClr val="FBAE40"/>
          </p15:clr>
        </p15:guide>
        <p15:guide id="3" orient="horz" pos="148">
          <p15:clr>
            <a:srgbClr val="FBAE40"/>
          </p15:clr>
        </p15:guide>
        <p15:guide id="4" orient="horz" pos="2867" userDrawn="1">
          <p15:clr>
            <a:srgbClr val="FBAE40"/>
          </p15:clr>
        </p15:guide>
        <p15:guide id="5" pos="204" userDrawn="1">
          <p15:clr>
            <a:srgbClr val="FBAE40"/>
          </p15:clr>
        </p15:guide>
        <p15:guide id="6" pos="2784">
          <p15:clr>
            <a:srgbClr val="FBAE40"/>
          </p15:clr>
        </p15:guide>
        <p15:guide id="7" pos="2976">
          <p15:clr>
            <a:srgbClr val="FBAE40"/>
          </p15:clr>
        </p15:guide>
        <p15:guide id="8" orient="horz" pos="48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grpSp>
        <p:nvGrpSpPr>
          <p:cNvPr id="9" name="Group 8">
            <a:extLst>
              <a:ext uri="{FF2B5EF4-FFF2-40B4-BE49-F238E27FC236}">
                <a16:creationId xmlns:a16="http://schemas.microsoft.com/office/drawing/2014/main" id="{B29F20B4-0153-9552-50BE-C1F1D8793F22}"/>
              </a:ext>
            </a:extLst>
          </p:cNvPr>
          <p:cNvGrpSpPr/>
          <p:nvPr userDrawn="1"/>
        </p:nvGrpSpPr>
        <p:grpSpPr>
          <a:xfrm>
            <a:off x="-95099" y="4361034"/>
            <a:ext cx="3946435" cy="580690"/>
            <a:chOff x="3968905" y="203756"/>
            <a:chExt cx="2959826" cy="1118368"/>
          </a:xfrm>
        </p:grpSpPr>
        <p:sp>
          <p:nvSpPr>
            <p:cNvPr id="10" name="Rectangle 9">
              <a:extLst>
                <a:ext uri="{FF2B5EF4-FFF2-40B4-BE49-F238E27FC236}">
                  <a16:creationId xmlns:a16="http://schemas.microsoft.com/office/drawing/2014/main" id="{38F6CB88-3E34-132B-BA93-1595C8A2B2A9}"/>
                </a:ext>
              </a:extLst>
            </p:cNvPr>
            <p:cNvSpPr/>
            <p:nvPr/>
          </p:nvSpPr>
          <p:spPr>
            <a:xfrm>
              <a:off x="3968905" y="203756"/>
              <a:ext cx="2959826" cy="1118368"/>
            </a:xfrm>
            <a:prstGeom prst="rect">
              <a:avLst/>
            </a:prstGeom>
            <a:solidFill>
              <a:srgbClr val="C49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660380" rtl="0" eaLnBrk="1" latinLnBrk="0" hangingPunct="1"/>
              <a:endParaRPr lang="en-SA" sz="2600" b="0" i="0">
                <a:latin typeface="Fund Regular" pitchFamily="2" charset="-78"/>
              </a:endParaRPr>
            </a:p>
          </p:txBody>
        </p:sp>
        <p:sp>
          <p:nvSpPr>
            <p:cNvPr id="11" name="TextBox 10">
              <a:extLst>
                <a:ext uri="{FF2B5EF4-FFF2-40B4-BE49-F238E27FC236}">
                  <a16:creationId xmlns:a16="http://schemas.microsoft.com/office/drawing/2014/main" id="{46ABF4A3-81EA-8F77-0BA3-DEB142D25465}"/>
                </a:ext>
              </a:extLst>
            </p:cNvPr>
            <p:cNvSpPr txBox="1"/>
            <p:nvPr/>
          </p:nvSpPr>
          <p:spPr>
            <a:xfrm>
              <a:off x="4282482" y="230374"/>
              <a:ext cx="2387641" cy="1057081"/>
            </a:xfrm>
            <a:prstGeom prst="rect">
              <a:avLst/>
            </a:prstGeom>
            <a:noFill/>
          </p:spPr>
          <p:txBody>
            <a:bodyPr wrap="square" lIns="0">
              <a:spAutoFit/>
            </a:bodyPr>
            <a:lstStyle/>
            <a:p>
              <a:pPr marR="24764" algn="just">
                <a:spcBef>
                  <a:spcPts val="81"/>
                </a:spcBef>
              </a:pPr>
              <a:r>
                <a:rPr lang="en-US" sz="800">
                  <a:solidFill>
                    <a:srgbClr val="00342B"/>
                  </a:solidFill>
                  <a:latin typeface="Fund Regular" pitchFamily="2" charset="-78"/>
                  <a:cs typeface="Fund Regular" pitchFamily="2" charset="-78"/>
                </a:rPr>
                <a:t>CONFIDENTIAL</a:t>
              </a:r>
              <a:r>
                <a:rPr lang="en-US" sz="900">
                  <a:solidFill>
                    <a:srgbClr val="00342B"/>
                  </a:solidFill>
                  <a:latin typeface="Fund Regular" pitchFamily="2" charset="-78"/>
                  <a:cs typeface="Fund Regular" pitchFamily="2" charset="-78"/>
                </a:rPr>
                <a:t> </a:t>
              </a:r>
            </a:p>
            <a:p>
              <a:pPr marR="24764" algn="just">
                <a:spcBef>
                  <a:spcPts val="81"/>
                </a:spcBef>
              </a:pPr>
              <a:endParaRPr lang="en-US" sz="300">
                <a:solidFill>
                  <a:srgbClr val="00342B"/>
                </a:solidFill>
                <a:latin typeface="Fund Regular" pitchFamily="2" charset="-78"/>
                <a:cs typeface="Fund Regular" pitchFamily="2" charset="-78"/>
              </a:endParaRPr>
            </a:p>
            <a:p>
              <a:pPr marR="24764" algn="just">
                <a:spcBef>
                  <a:spcPts val="81"/>
                </a:spcBef>
              </a:pPr>
              <a:r>
                <a:rPr lang="en-US" sz="500" b="0" i="0">
                  <a:solidFill>
                    <a:srgbClr val="00342B"/>
                  </a:solidFill>
                  <a:latin typeface="Fund Light" pitchFamily="2" charset="-78"/>
                  <a:cs typeface="Fund Light" pitchFamily="2" charset="-78"/>
                </a:rPr>
                <a:t>The contents of this document are strictly confidential, please do not share, republish,, display or report it for any purpose, in any form or by any means without the prior and express consent of the Public Investment Fund.</a:t>
              </a:r>
            </a:p>
          </p:txBody>
        </p:sp>
      </p:gr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6679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descr="A green background with a white object in the middle&#10;&#10;Description automatically generated">
            <a:extLst>
              <a:ext uri="{FF2B5EF4-FFF2-40B4-BE49-F238E27FC236}">
                <a16:creationId xmlns:a16="http://schemas.microsoft.com/office/drawing/2014/main" id="{EC8EDE26-0BCB-0B0C-5D15-EE614A9EE0C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22636" y="-33120"/>
            <a:ext cx="9389272" cy="5209741"/>
          </a:xfrm>
          <a:prstGeom prst="rect">
            <a:avLst/>
          </a:prstGeom>
        </p:spPr>
      </p:pic>
      <p:sp>
        <p:nvSpPr>
          <p:cNvPr id="3" name="Title 1">
            <a:extLst>
              <a:ext uri="{FF2B5EF4-FFF2-40B4-BE49-F238E27FC236}">
                <a16:creationId xmlns:a16="http://schemas.microsoft.com/office/drawing/2014/main" id="{A4FB2A5B-7EB8-88FA-C5E3-9BCDEC04B651}"/>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11" name="Text Placeholder 2">
            <a:extLst>
              <a:ext uri="{FF2B5EF4-FFF2-40B4-BE49-F238E27FC236}">
                <a16:creationId xmlns:a16="http://schemas.microsoft.com/office/drawing/2014/main" id="{32016A97-8A7A-9E2A-048E-090865A50B19}"/>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sp>
        <p:nvSpPr>
          <p:cNvPr id="13" name="Text Placeholder 11">
            <a:extLst>
              <a:ext uri="{FF2B5EF4-FFF2-40B4-BE49-F238E27FC236}">
                <a16:creationId xmlns:a16="http://schemas.microsoft.com/office/drawing/2014/main" id="{31E393F4-0BDC-8122-6B47-7BC49A7445D6}"/>
              </a:ext>
            </a:extLst>
          </p:cNvPr>
          <p:cNvSpPr>
            <a:spLocks noGrp="1"/>
          </p:cNvSpPr>
          <p:nvPr>
            <p:ph type="body" sz="quarter" idx="10" hasCustomPrompt="1"/>
          </p:nvPr>
        </p:nvSpPr>
        <p:spPr>
          <a:xfrm>
            <a:off x="323004" y="2602261"/>
            <a:ext cx="6338888" cy="333375"/>
          </a:xfrm>
          <a:prstGeom prst="rect">
            <a:avLst/>
          </a:prstGeom>
        </p:spPr>
        <p:txBody>
          <a:bodyPr lIns="0" tIns="0" rIns="0" bIns="0"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14" name="Picture 13">
            <a:extLst>
              <a:ext uri="{FF2B5EF4-FFF2-40B4-BE49-F238E27FC236}">
                <a16:creationId xmlns:a16="http://schemas.microsoft.com/office/drawing/2014/main" id="{12EA520F-ED02-C5ED-722B-63153325F89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15" name="Straight Connector 14">
            <a:extLst>
              <a:ext uri="{FF2B5EF4-FFF2-40B4-BE49-F238E27FC236}">
                <a16:creationId xmlns:a16="http://schemas.microsoft.com/office/drawing/2014/main" id="{20DC47BD-8E5C-1CEB-680C-EDF6B414BFA6}"/>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9733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ver Page">
    <p:spTree>
      <p:nvGrpSpPr>
        <p:cNvPr id="1" name=""/>
        <p:cNvGrpSpPr/>
        <p:nvPr/>
      </p:nvGrpSpPr>
      <p:grpSpPr>
        <a:xfrm>
          <a:off x="0" y="0"/>
          <a:ext cx="0" cy="0"/>
          <a:chOff x="0" y="0"/>
          <a:chExt cx="0" cy="0"/>
        </a:xfrm>
      </p:grpSpPr>
      <p:pic>
        <p:nvPicPr>
          <p:cNvPr id="4" name="Picture 3" descr="A tan and black background&#10;&#10;Description automatically generated with medium confidence">
            <a:extLst>
              <a:ext uri="{FF2B5EF4-FFF2-40B4-BE49-F238E27FC236}">
                <a16:creationId xmlns:a16="http://schemas.microsoft.com/office/drawing/2014/main" id="{1BBE7976-C8AF-A47A-3546-9B1271F9B26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118" y="-22845"/>
            <a:ext cx="9352236" cy="5189191"/>
          </a:xfrm>
          <a:prstGeom prst="rect">
            <a:avLst/>
          </a:prstGeom>
        </p:spPr>
      </p:pic>
      <p:sp>
        <p:nvSpPr>
          <p:cNvPr id="3" name="Title 1">
            <a:extLst>
              <a:ext uri="{FF2B5EF4-FFF2-40B4-BE49-F238E27FC236}">
                <a16:creationId xmlns:a16="http://schemas.microsoft.com/office/drawing/2014/main" id="{00215188-6ED5-76E3-BD92-955BFE992AD2}"/>
              </a:ext>
            </a:extLst>
          </p:cNvPr>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chemeClr val="bg1"/>
                </a:solidFill>
                <a:latin typeface="Fund Light" pitchFamily="2" charset="-78"/>
                <a:ea typeface="+mn-ea"/>
                <a:cs typeface="Fund Light" pitchFamily="2" charset="-78"/>
              </a:defRPr>
            </a:lvl1pPr>
          </a:lstStyle>
          <a:p>
            <a:r>
              <a:rPr lang="en-US"/>
              <a:t>CLICK TO EDIT DIVIDER TITLE </a:t>
            </a:r>
          </a:p>
        </p:txBody>
      </p:sp>
      <p:sp>
        <p:nvSpPr>
          <p:cNvPr id="5" name="Text Placeholder 2">
            <a:extLst>
              <a:ext uri="{FF2B5EF4-FFF2-40B4-BE49-F238E27FC236}">
                <a16:creationId xmlns:a16="http://schemas.microsoft.com/office/drawing/2014/main" id="{CE28DEA3-1671-B277-2F67-5D3E484A970E}"/>
              </a:ext>
            </a:extLst>
          </p:cNvPr>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chemeClr val="bg1"/>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6" name="Text Placeholder 15">
            <a:extLst>
              <a:ext uri="{FF2B5EF4-FFF2-40B4-BE49-F238E27FC236}">
                <a16:creationId xmlns:a16="http://schemas.microsoft.com/office/drawing/2014/main" id="{67FDB226-C1DA-2F86-F621-2BFEB8FF4B9F}"/>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chemeClr val="bg1"/>
                </a:solidFill>
                <a:latin typeface="Fund Regular" pitchFamily="2" charset="-78"/>
                <a:cs typeface="Fund Regular" pitchFamily="2" charset="-78"/>
              </a:defRPr>
            </a:lvl1pPr>
          </a:lstStyle>
          <a:p>
            <a:pPr marL="0" lvl="0" defTabSz="457200"/>
            <a:r>
              <a:rPr lang="en-US"/>
              <a:t>00</a:t>
            </a:r>
            <a:endParaRPr lang="en-SA"/>
          </a:p>
        </p:txBody>
      </p:sp>
      <p:cxnSp>
        <p:nvCxnSpPr>
          <p:cNvPr id="7" name="Straight Connector 6">
            <a:extLst>
              <a:ext uri="{FF2B5EF4-FFF2-40B4-BE49-F238E27FC236}">
                <a16:creationId xmlns:a16="http://schemas.microsoft.com/office/drawing/2014/main" id="{60465126-13A6-484D-D583-23F5C0BCCB26}"/>
              </a:ext>
            </a:extLst>
          </p:cNvPr>
          <p:cNvCxnSpPr>
            <a:cxnSpLocks/>
          </p:cNvCxnSpPr>
          <p:nvPr userDrawn="1"/>
        </p:nvCxnSpPr>
        <p:spPr>
          <a:xfrm>
            <a:off x="-24884" y="3239076"/>
            <a:ext cx="7106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3048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over P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B8FE5F-281B-0816-8566-09DB8F4C1A9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370" y="8579"/>
            <a:ext cx="9236740" cy="5126343"/>
          </a:xfrm>
          <a:prstGeom prst="rect">
            <a:avLst/>
          </a:prstGeom>
        </p:spPr>
      </p:pic>
      <p:sp>
        <p:nvSpPr>
          <p:cNvPr id="3" name="Title 1">
            <a:extLst>
              <a:ext uri="{FF2B5EF4-FFF2-40B4-BE49-F238E27FC236}">
                <a16:creationId xmlns:a16="http://schemas.microsoft.com/office/drawing/2014/main" id="{638B1DDC-83A0-8973-F6C1-87604A2F0618}"/>
              </a:ext>
            </a:extLst>
          </p:cNvPr>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rgbClr val="C3984D"/>
                </a:solidFill>
                <a:latin typeface="Fund Light" pitchFamily="2" charset="-78"/>
                <a:ea typeface="+mn-ea"/>
                <a:cs typeface="Fund Light" pitchFamily="2" charset="-78"/>
              </a:defRPr>
            </a:lvl1pPr>
          </a:lstStyle>
          <a:p>
            <a:r>
              <a:rPr lang="en-US"/>
              <a:t>CLICK TO EDIT DIVIDER TITLE </a:t>
            </a:r>
          </a:p>
        </p:txBody>
      </p:sp>
      <p:sp>
        <p:nvSpPr>
          <p:cNvPr id="4" name="Text Placeholder 2">
            <a:extLst>
              <a:ext uri="{FF2B5EF4-FFF2-40B4-BE49-F238E27FC236}">
                <a16:creationId xmlns:a16="http://schemas.microsoft.com/office/drawing/2014/main" id="{884B823C-ED9D-9A50-81B6-7BAE114D5F50}"/>
              </a:ext>
            </a:extLst>
          </p:cNvPr>
          <p:cNvSpPr>
            <a:spLocks noGrp="1"/>
          </p:cNvSpPr>
          <p:nvPr>
            <p:ph type="body" idx="1" hasCustomPrompt="1"/>
          </p:nvPr>
        </p:nvSpPr>
        <p:spPr>
          <a:xfrm>
            <a:off x="323850" y="3355859"/>
            <a:ext cx="7886700" cy="1125140"/>
          </a:xfrm>
          <a:prstGeom prst="rect">
            <a:avLst/>
          </a:prstGeom>
        </p:spPr>
        <p:txBody>
          <a:bodyPr lIns="0" tIns="0" rIns="0" bIns="0">
            <a:normAutofit/>
          </a:bodyPr>
          <a:lstStyle>
            <a:lvl1pPr marL="0" indent="0" algn="l" rtl="0">
              <a:buClr>
                <a:srgbClr val="C3984D"/>
              </a:buClr>
              <a:buFont typeface="Courier New" panose="02070309020205020404" pitchFamily="49" charset="0"/>
              <a:buNone/>
              <a:defRPr sz="1000" b="0" i="0">
                <a:solidFill>
                  <a:srgbClr val="C3984D"/>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5" name="Text Placeholder 15">
            <a:extLst>
              <a:ext uri="{FF2B5EF4-FFF2-40B4-BE49-F238E27FC236}">
                <a16:creationId xmlns:a16="http://schemas.microsoft.com/office/drawing/2014/main" id="{7BF249F0-01FE-FA67-7E55-32A6FA79D9EF}"/>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rgbClr val="C3984D"/>
                </a:solidFill>
                <a:latin typeface="Fund Regular" pitchFamily="2" charset="-78"/>
                <a:cs typeface="Fund Regular" pitchFamily="2" charset="-78"/>
              </a:defRPr>
            </a:lvl1pPr>
          </a:lstStyle>
          <a:p>
            <a:pPr marL="0" lvl="0" defTabSz="457200"/>
            <a:r>
              <a:rPr lang="en-US"/>
              <a:t>00</a:t>
            </a:r>
            <a:endParaRPr lang="en-SA"/>
          </a:p>
        </p:txBody>
      </p:sp>
      <p:cxnSp>
        <p:nvCxnSpPr>
          <p:cNvPr id="6" name="Straight Connector 5">
            <a:extLst>
              <a:ext uri="{FF2B5EF4-FFF2-40B4-BE49-F238E27FC236}">
                <a16:creationId xmlns:a16="http://schemas.microsoft.com/office/drawing/2014/main" id="{AFA487CA-B7C7-F623-1580-3D0D1A7C6C96}"/>
              </a:ext>
            </a:extLst>
          </p:cNvPr>
          <p:cNvCxnSpPr>
            <a:cxnSpLocks/>
          </p:cNvCxnSpPr>
          <p:nvPr userDrawn="1"/>
        </p:nvCxnSpPr>
        <p:spPr>
          <a:xfrm>
            <a:off x="-24884" y="3239076"/>
            <a:ext cx="7106170"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123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07274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Title\Numb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F00D66-D3F6-F303-8036-4E7F9D44468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945" y="-9304"/>
            <a:ext cx="9303891" cy="5162108"/>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chemeClr val="bg1"/>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chemeClr val="bg1"/>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chemeClr val="bg1"/>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3300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Divider Title\Numb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AE17A9-2F69-41CA-CC7F-53A04C9107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549" y="-6865"/>
            <a:ext cx="9295099" cy="5157230"/>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rgbClr val="C3984D"/>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rgbClr val="C3984D"/>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rgbClr val="C3984D"/>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79839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with 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8514B8C-BB44-4BBD-AFEC-BB05FED7486F}"/>
              </a:ext>
            </a:extLst>
          </p:cNvPr>
          <p:cNvGraphicFramePr>
            <a:graphicFrameLocks noChangeAspect="1"/>
          </p:cNvGraphicFramePr>
          <p:nvPr userDrawn="1">
            <p:custDataLst>
              <p:tags r:id="rId1"/>
            </p:custDataLst>
            <p:extLst>
              <p:ext uri="{D42A27DB-BD31-4B8C-83A1-F6EECF244321}">
                <p14:modId xmlns:p14="http://schemas.microsoft.com/office/powerpoint/2010/main" val="14536377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think-cell data - do not delete" hidden="1">
                        <a:extLst>
                          <a:ext uri="{FF2B5EF4-FFF2-40B4-BE49-F238E27FC236}">
                            <a16:creationId xmlns:a16="http://schemas.microsoft.com/office/drawing/2014/main" id="{98514B8C-BB44-4BBD-AFEC-BB05FED748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93322416-FFB4-6DD8-9CC8-5AE62F7B3A22}"/>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vert="horz">
            <a:noAutofit/>
          </a:bodyPr>
          <a:lstStyle>
            <a:lvl1pPr>
              <a:defRPr sz="1100"/>
            </a:lvl1pPr>
          </a:lstStyle>
          <a:p>
            <a:r>
              <a:rPr lang="en-US"/>
              <a:t>CLICK TO EDIT MASTER TITLE STYLE</a:t>
            </a:r>
            <a:endParaRPr lang="en-SA"/>
          </a:p>
        </p:txBody>
      </p:sp>
    </p:spTree>
    <p:extLst>
      <p:ext uri="{BB962C8B-B14F-4D97-AF65-F5344CB8AC3E}">
        <p14:creationId xmlns:p14="http://schemas.microsoft.com/office/powerpoint/2010/main" val="2560374558"/>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out Ti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Tree>
    <p:extLst>
      <p:ext uri="{BB962C8B-B14F-4D97-AF65-F5344CB8AC3E}">
        <p14:creationId xmlns:p14="http://schemas.microsoft.com/office/powerpoint/2010/main" val="4172413084"/>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ild Photo">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5E63D79-F6F7-439B-48FC-E42AFDA3BCF2}"/>
              </a:ext>
            </a:extLst>
          </p:cNvPr>
          <p:cNvSpPr>
            <a:spLocks noGrp="1"/>
          </p:cNvSpPr>
          <p:nvPr>
            <p:ph type="pic" sz="quarter" idx="11"/>
          </p:nvPr>
        </p:nvSpPr>
        <p:spPr>
          <a:xfrm>
            <a:off x="323850" y="781676"/>
            <a:ext cx="8496300" cy="194627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0" name="Text Placeholder 15">
            <a:extLst>
              <a:ext uri="{FF2B5EF4-FFF2-40B4-BE49-F238E27FC236}">
                <a16:creationId xmlns:a16="http://schemas.microsoft.com/office/drawing/2014/main" id="{593BAA84-AAE3-47BE-B61F-C606F8B8FFC9}"/>
              </a:ext>
            </a:extLst>
          </p:cNvPr>
          <p:cNvSpPr>
            <a:spLocks noGrp="1"/>
          </p:cNvSpPr>
          <p:nvPr>
            <p:ph type="body" sz="quarter" idx="15" hasCustomPrompt="1"/>
          </p:nvPr>
        </p:nvSpPr>
        <p:spPr>
          <a:xfrm>
            <a:off x="323850" y="2924891"/>
            <a:ext cx="8496299" cy="246752"/>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able Placeholder 14">
            <a:extLst>
              <a:ext uri="{FF2B5EF4-FFF2-40B4-BE49-F238E27FC236}">
                <a16:creationId xmlns:a16="http://schemas.microsoft.com/office/drawing/2014/main" id="{160FE0B8-0092-10F7-C222-248997B2309D}"/>
              </a:ext>
            </a:extLst>
          </p:cNvPr>
          <p:cNvSpPr>
            <a:spLocks noGrp="1"/>
          </p:cNvSpPr>
          <p:nvPr>
            <p:ph type="tbl" sz="quarter" idx="16"/>
          </p:nvPr>
        </p:nvSpPr>
        <p:spPr>
          <a:xfrm>
            <a:off x="323850" y="3379589"/>
            <a:ext cx="8496300" cy="1171773"/>
          </a:xfrm>
          <a:prstGeom prst="rect">
            <a:avLst/>
          </a:prstGeom>
        </p:spPr>
        <p:txBody>
          <a:bodyPr/>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cxnSp>
        <p:nvCxnSpPr>
          <p:cNvPr id="18" name="Straight Connector 17">
            <a:extLst>
              <a:ext uri="{FF2B5EF4-FFF2-40B4-BE49-F238E27FC236}">
                <a16:creationId xmlns:a16="http://schemas.microsoft.com/office/drawing/2014/main" id="{E7ED09B7-3F8C-B556-68F3-6E3D08144C5E}"/>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34481DCD-520F-982D-71E2-7389450C1C08}"/>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840999993"/>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vy Content ">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F3C60F4-E3AA-1F3F-DDB1-3E1512E32193}"/>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ext Placeholder 14">
            <a:extLst>
              <a:ext uri="{FF2B5EF4-FFF2-40B4-BE49-F238E27FC236}">
                <a16:creationId xmlns:a16="http://schemas.microsoft.com/office/drawing/2014/main" id="{EE6A8381-4A00-FD4F-E99A-2B679E9B33FF}"/>
              </a:ext>
            </a:extLst>
          </p:cNvPr>
          <p:cNvSpPr>
            <a:spLocks noGrp="1"/>
          </p:cNvSpPr>
          <p:nvPr>
            <p:ph type="body" sz="quarter" idx="20" hasCustomPrompt="1"/>
          </p:nvPr>
        </p:nvSpPr>
        <p:spPr>
          <a:xfrm>
            <a:off x="319568" y="1508571"/>
            <a:ext cx="8501862" cy="706142"/>
          </a:xfrm>
        </p:spPr>
        <p:txBody>
          <a:bodyPr/>
          <a:lstStyle/>
          <a:p>
            <a:pPr lvl="3"/>
            <a:r>
              <a:rPr lang="en-US"/>
              <a:t>Body text here</a:t>
            </a:r>
          </a:p>
          <a:p>
            <a:pPr lvl="3"/>
            <a:r>
              <a:rPr lang="en-US"/>
              <a:t>Body text here</a:t>
            </a:r>
          </a:p>
          <a:p>
            <a:pPr lvl="3"/>
            <a:r>
              <a:rPr lang="en-US"/>
              <a:t>Body text here</a:t>
            </a:r>
          </a:p>
          <a:p>
            <a:pPr lvl="3"/>
            <a:r>
              <a:rPr lang="en-US"/>
              <a:t>Body text here</a:t>
            </a:r>
          </a:p>
        </p:txBody>
      </p:sp>
      <p:sp>
        <p:nvSpPr>
          <p:cNvPr id="20" name="Text Placeholder 15">
            <a:extLst>
              <a:ext uri="{FF2B5EF4-FFF2-40B4-BE49-F238E27FC236}">
                <a16:creationId xmlns:a16="http://schemas.microsoft.com/office/drawing/2014/main" id="{34AF7102-903E-2E0D-CF4D-AEE7D0606356}"/>
              </a:ext>
            </a:extLst>
          </p:cNvPr>
          <p:cNvSpPr>
            <a:spLocks noGrp="1"/>
          </p:cNvSpPr>
          <p:nvPr>
            <p:ph type="body" sz="quarter" idx="21" hasCustomPrompt="1"/>
          </p:nvPr>
        </p:nvSpPr>
        <p:spPr>
          <a:xfrm>
            <a:off x="323850" y="233277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Text Placeholder 15">
            <a:extLst>
              <a:ext uri="{FF2B5EF4-FFF2-40B4-BE49-F238E27FC236}">
                <a16:creationId xmlns:a16="http://schemas.microsoft.com/office/drawing/2014/main" id="{CA02BEB5-EB10-8F01-2D87-300ACE5E516C}"/>
              </a:ext>
            </a:extLst>
          </p:cNvPr>
          <p:cNvSpPr>
            <a:spLocks noGrp="1"/>
          </p:cNvSpPr>
          <p:nvPr>
            <p:ph type="body" sz="quarter" idx="23" hasCustomPrompt="1"/>
          </p:nvPr>
        </p:nvSpPr>
        <p:spPr>
          <a:xfrm>
            <a:off x="323849" y="31669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7" name="Text Placeholder 26">
            <a:extLst>
              <a:ext uri="{FF2B5EF4-FFF2-40B4-BE49-F238E27FC236}">
                <a16:creationId xmlns:a16="http://schemas.microsoft.com/office/drawing/2014/main" id="{31360F0F-A667-7019-2E37-33DD8B68A971}"/>
              </a:ext>
            </a:extLst>
          </p:cNvPr>
          <p:cNvSpPr>
            <a:spLocks noGrp="1"/>
          </p:cNvSpPr>
          <p:nvPr>
            <p:ph type="body" sz="quarter" idx="25" hasCustomPrompt="1"/>
          </p:nvPr>
        </p:nvSpPr>
        <p:spPr>
          <a:xfrm>
            <a:off x="323849" y="1015020"/>
            <a:ext cx="8496300"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8" name="Text Placeholder 26">
            <a:extLst>
              <a:ext uri="{FF2B5EF4-FFF2-40B4-BE49-F238E27FC236}">
                <a16:creationId xmlns:a16="http://schemas.microsoft.com/office/drawing/2014/main" id="{53DBBEB4-7B3E-DCA7-64CA-BB578A31E44C}"/>
              </a:ext>
            </a:extLst>
          </p:cNvPr>
          <p:cNvSpPr>
            <a:spLocks noGrp="1"/>
          </p:cNvSpPr>
          <p:nvPr>
            <p:ph type="body" sz="quarter" idx="26" hasCustomPrompt="1"/>
          </p:nvPr>
        </p:nvSpPr>
        <p:spPr>
          <a:xfrm>
            <a:off x="323849" y="2578644"/>
            <a:ext cx="8496301"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9" name="Text Placeholder 26">
            <a:extLst>
              <a:ext uri="{FF2B5EF4-FFF2-40B4-BE49-F238E27FC236}">
                <a16:creationId xmlns:a16="http://schemas.microsoft.com/office/drawing/2014/main" id="{C06685A2-318B-C098-6BDF-C4687A7AC986}"/>
              </a:ext>
            </a:extLst>
          </p:cNvPr>
          <p:cNvSpPr>
            <a:spLocks noGrp="1"/>
          </p:cNvSpPr>
          <p:nvPr>
            <p:ph type="body" sz="quarter" idx="27" hasCustomPrompt="1"/>
          </p:nvPr>
        </p:nvSpPr>
        <p:spPr>
          <a:xfrm>
            <a:off x="323850" y="3410748"/>
            <a:ext cx="8496300" cy="1140615"/>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32" name="Title 4">
            <a:extLst>
              <a:ext uri="{FF2B5EF4-FFF2-40B4-BE49-F238E27FC236}">
                <a16:creationId xmlns:a16="http://schemas.microsoft.com/office/drawing/2014/main" id="{134029DC-1981-2D55-218B-23C049E5A225}"/>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883252602"/>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Heavy Content ">
    <p:spTree>
      <p:nvGrpSpPr>
        <p:cNvPr id="1" name=""/>
        <p:cNvGrpSpPr/>
        <p:nvPr/>
      </p:nvGrpSpPr>
      <p:grpSpPr>
        <a:xfrm>
          <a:off x="0" y="0"/>
          <a:ext cx="0" cy="0"/>
          <a:chOff x="0" y="0"/>
          <a:chExt cx="0" cy="0"/>
        </a:xfrm>
      </p:grpSpPr>
      <p:sp>
        <p:nvSpPr>
          <p:cNvPr id="7" name="Text Placeholder 15">
            <a:extLst>
              <a:ext uri="{FF2B5EF4-FFF2-40B4-BE49-F238E27FC236}">
                <a16:creationId xmlns:a16="http://schemas.microsoft.com/office/drawing/2014/main" id="{EE77B192-B893-8971-B271-AC63637A206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8" name="Text Placeholder 26">
            <a:extLst>
              <a:ext uri="{FF2B5EF4-FFF2-40B4-BE49-F238E27FC236}">
                <a16:creationId xmlns:a16="http://schemas.microsoft.com/office/drawing/2014/main" id="{0361BD90-5B42-10E2-969A-B5889292C21C}"/>
              </a:ext>
            </a:extLst>
          </p:cNvPr>
          <p:cNvSpPr>
            <a:spLocks noGrp="1"/>
          </p:cNvSpPr>
          <p:nvPr>
            <p:ph type="body" sz="quarter" idx="25" hasCustomPrompt="1"/>
          </p:nvPr>
        </p:nvSpPr>
        <p:spPr>
          <a:xfrm>
            <a:off x="323849" y="1015020"/>
            <a:ext cx="8496301"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1" name="Title 4">
            <a:extLst>
              <a:ext uri="{FF2B5EF4-FFF2-40B4-BE49-F238E27FC236}">
                <a16:creationId xmlns:a16="http://schemas.microsoft.com/office/drawing/2014/main" id="{2E6A1F2E-D8AD-3208-9C3F-9BD0654DA9F2}"/>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855467287"/>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Heavy Content ">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9740954-8C27-8302-D638-45CFCA778965}"/>
              </a:ext>
            </a:extLst>
          </p:cNvPr>
          <p:cNvSpPr>
            <a:spLocks noGrp="1"/>
          </p:cNvSpPr>
          <p:nvPr>
            <p:ph type="pic" sz="quarter" idx="14"/>
          </p:nvPr>
        </p:nvSpPr>
        <p:spPr>
          <a:xfrm>
            <a:off x="4724401" y="1015020"/>
            <a:ext cx="4095750" cy="3545542"/>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5" name="Text Placeholder 15">
            <a:extLst>
              <a:ext uri="{FF2B5EF4-FFF2-40B4-BE49-F238E27FC236}">
                <a16:creationId xmlns:a16="http://schemas.microsoft.com/office/drawing/2014/main" id="{9DEB9C49-F9DD-9E0B-CA20-D228F3BF856C}"/>
              </a:ext>
            </a:extLst>
          </p:cNvPr>
          <p:cNvSpPr>
            <a:spLocks noGrp="1"/>
          </p:cNvSpPr>
          <p:nvPr>
            <p:ph type="body" sz="quarter" idx="11" hasCustomPrompt="1"/>
          </p:nvPr>
        </p:nvSpPr>
        <p:spPr>
          <a:xfrm>
            <a:off x="323849" y="770532"/>
            <a:ext cx="8496301"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6" name="Text Placeholder 26">
            <a:extLst>
              <a:ext uri="{FF2B5EF4-FFF2-40B4-BE49-F238E27FC236}">
                <a16:creationId xmlns:a16="http://schemas.microsoft.com/office/drawing/2014/main" id="{DF34FA57-6720-CCDD-D940-7AFDA13CBF48}"/>
              </a:ext>
            </a:extLst>
          </p:cNvPr>
          <p:cNvSpPr>
            <a:spLocks noGrp="1"/>
          </p:cNvSpPr>
          <p:nvPr>
            <p:ph type="body" sz="quarter" idx="25" hasCustomPrompt="1"/>
          </p:nvPr>
        </p:nvSpPr>
        <p:spPr>
          <a:xfrm>
            <a:off x="323849" y="1015020"/>
            <a:ext cx="4095750"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4" name="Title 4">
            <a:extLst>
              <a:ext uri="{FF2B5EF4-FFF2-40B4-BE49-F238E27FC236}">
                <a16:creationId xmlns:a16="http://schemas.microsoft.com/office/drawing/2014/main" id="{7972ED5C-D7A9-7213-5E4E-7FEEA79C1FC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97073627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Heavy Content ">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8DF0694E-B26D-4C07-3464-889128CF46CC}"/>
              </a:ext>
            </a:extLst>
          </p:cNvPr>
          <p:cNvSpPr>
            <a:spLocks noGrp="1"/>
          </p:cNvSpPr>
          <p:nvPr>
            <p:ph type="body" sz="quarter" idx="11" hasCustomPrompt="1"/>
          </p:nvPr>
        </p:nvSpPr>
        <p:spPr>
          <a:xfrm>
            <a:off x="323851" y="770532"/>
            <a:ext cx="409574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7" name="Text Placeholder 26">
            <a:extLst>
              <a:ext uri="{FF2B5EF4-FFF2-40B4-BE49-F238E27FC236}">
                <a16:creationId xmlns:a16="http://schemas.microsoft.com/office/drawing/2014/main" id="{E4D84FB3-7CB7-EB17-D9F0-978923A22963}"/>
              </a:ext>
            </a:extLst>
          </p:cNvPr>
          <p:cNvSpPr>
            <a:spLocks noGrp="1"/>
          </p:cNvSpPr>
          <p:nvPr>
            <p:ph type="body" sz="quarter" idx="25" hasCustomPrompt="1"/>
          </p:nvPr>
        </p:nvSpPr>
        <p:spPr>
          <a:xfrm>
            <a:off x="323850" y="1015020"/>
            <a:ext cx="4095749" cy="1673316"/>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Picture Placeholder 5">
            <a:extLst>
              <a:ext uri="{FF2B5EF4-FFF2-40B4-BE49-F238E27FC236}">
                <a16:creationId xmlns:a16="http://schemas.microsoft.com/office/drawing/2014/main" id="{2689D924-B573-9F3B-11FD-1A189D0ACA31}"/>
              </a:ext>
            </a:extLst>
          </p:cNvPr>
          <p:cNvSpPr>
            <a:spLocks noGrp="1"/>
          </p:cNvSpPr>
          <p:nvPr>
            <p:ph type="pic" sz="quarter" idx="14"/>
          </p:nvPr>
        </p:nvSpPr>
        <p:spPr>
          <a:xfrm>
            <a:off x="4724401" y="1015020"/>
            <a:ext cx="4095750"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4" name="Picture Placeholder 5">
            <a:extLst>
              <a:ext uri="{FF2B5EF4-FFF2-40B4-BE49-F238E27FC236}">
                <a16:creationId xmlns:a16="http://schemas.microsoft.com/office/drawing/2014/main" id="{37CF3A16-6EF2-45BE-1B4F-3C77259A317E}"/>
              </a:ext>
            </a:extLst>
          </p:cNvPr>
          <p:cNvSpPr>
            <a:spLocks noGrp="1"/>
          </p:cNvSpPr>
          <p:nvPr>
            <p:ph type="pic" sz="quarter" idx="27"/>
          </p:nvPr>
        </p:nvSpPr>
        <p:spPr>
          <a:xfrm>
            <a:off x="318286" y="2942294"/>
            <a:ext cx="4101314"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18" name="Title 4">
            <a:extLst>
              <a:ext uri="{FF2B5EF4-FFF2-40B4-BE49-F238E27FC236}">
                <a16:creationId xmlns:a16="http://schemas.microsoft.com/office/drawing/2014/main" id="{53D343EC-4656-122D-3A78-738663F7AB57}"/>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288698550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Heavy Content ">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999BEE0A-983E-CF6E-3446-3D7EE05835CB}"/>
              </a:ext>
            </a:extLst>
          </p:cNvPr>
          <p:cNvSpPr>
            <a:spLocks noGrp="1"/>
          </p:cNvSpPr>
          <p:nvPr>
            <p:ph type="body" sz="quarter" idx="11" hasCustomPrompt="1"/>
          </p:nvPr>
        </p:nvSpPr>
        <p:spPr>
          <a:xfrm>
            <a:off x="323851"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6" name="Picture Placeholder 5">
            <a:extLst>
              <a:ext uri="{FF2B5EF4-FFF2-40B4-BE49-F238E27FC236}">
                <a16:creationId xmlns:a16="http://schemas.microsoft.com/office/drawing/2014/main" id="{CB929CED-133E-AE9C-4043-4E351A200028}"/>
              </a:ext>
            </a:extLst>
          </p:cNvPr>
          <p:cNvSpPr>
            <a:spLocks noGrp="1"/>
          </p:cNvSpPr>
          <p:nvPr>
            <p:ph type="pic" sz="quarter" idx="14"/>
          </p:nvPr>
        </p:nvSpPr>
        <p:spPr>
          <a:xfrm>
            <a:off x="4724401" y="1015020"/>
            <a:ext cx="4093715"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17" name="Picture Placeholder 5">
            <a:extLst>
              <a:ext uri="{FF2B5EF4-FFF2-40B4-BE49-F238E27FC236}">
                <a16:creationId xmlns:a16="http://schemas.microsoft.com/office/drawing/2014/main" id="{FE3DC04A-A27A-0749-391E-FC16FFFBBF19}"/>
              </a:ext>
            </a:extLst>
          </p:cNvPr>
          <p:cNvSpPr>
            <a:spLocks noGrp="1"/>
          </p:cNvSpPr>
          <p:nvPr>
            <p:ph type="pic" sz="quarter" idx="27"/>
          </p:nvPr>
        </p:nvSpPr>
        <p:spPr>
          <a:xfrm>
            <a:off x="325884" y="2942294"/>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18" name="Picture Placeholder 5">
            <a:extLst>
              <a:ext uri="{FF2B5EF4-FFF2-40B4-BE49-F238E27FC236}">
                <a16:creationId xmlns:a16="http://schemas.microsoft.com/office/drawing/2014/main" id="{750E1692-A5A5-77B1-1F6F-2CFEA35184A1}"/>
              </a:ext>
            </a:extLst>
          </p:cNvPr>
          <p:cNvSpPr>
            <a:spLocks noGrp="1"/>
          </p:cNvSpPr>
          <p:nvPr>
            <p:ph type="pic" sz="quarter" idx="18"/>
          </p:nvPr>
        </p:nvSpPr>
        <p:spPr>
          <a:xfrm>
            <a:off x="325884" y="1016450"/>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4" name="Title 4">
            <a:extLst>
              <a:ext uri="{FF2B5EF4-FFF2-40B4-BE49-F238E27FC236}">
                <a16:creationId xmlns:a16="http://schemas.microsoft.com/office/drawing/2014/main" id="{B34E6867-AD99-2838-8C10-ECFAACFC6CC1}"/>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688013290"/>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Heavy Content ">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E91A9CE8-D9B8-8207-FFF9-1084438AEA2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Picture Placeholder 5">
            <a:extLst>
              <a:ext uri="{FF2B5EF4-FFF2-40B4-BE49-F238E27FC236}">
                <a16:creationId xmlns:a16="http://schemas.microsoft.com/office/drawing/2014/main" id="{DE209958-14EE-8110-80D6-28C39824E8D4}"/>
              </a:ext>
            </a:extLst>
          </p:cNvPr>
          <p:cNvSpPr>
            <a:spLocks noGrp="1"/>
          </p:cNvSpPr>
          <p:nvPr>
            <p:ph type="pic" sz="quarter" idx="27"/>
          </p:nvPr>
        </p:nvSpPr>
        <p:spPr>
          <a:xfrm>
            <a:off x="32385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5" name="Picture Placeholder 5">
            <a:extLst>
              <a:ext uri="{FF2B5EF4-FFF2-40B4-BE49-F238E27FC236}">
                <a16:creationId xmlns:a16="http://schemas.microsoft.com/office/drawing/2014/main" id="{030635A7-4B2F-AA42-CC6F-4CF4E4C3D7BD}"/>
              </a:ext>
            </a:extLst>
          </p:cNvPr>
          <p:cNvSpPr>
            <a:spLocks noGrp="1"/>
          </p:cNvSpPr>
          <p:nvPr>
            <p:ph type="pic" sz="quarter" idx="18"/>
          </p:nvPr>
        </p:nvSpPr>
        <p:spPr>
          <a:xfrm>
            <a:off x="32385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26" name="Picture Placeholder 5">
            <a:extLst>
              <a:ext uri="{FF2B5EF4-FFF2-40B4-BE49-F238E27FC236}">
                <a16:creationId xmlns:a16="http://schemas.microsoft.com/office/drawing/2014/main" id="{8A74BDD0-A9DE-AF09-A11C-41CCDD567CCE}"/>
              </a:ext>
            </a:extLst>
          </p:cNvPr>
          <p:cNvSpPr>
            <a:spLocks noGrp="1"/>
          </p:cNvSpPr>
          <p:nvPr>
            <p:ph type="pic" sz="quarter" idx="28"/>
          </p:nvPr>
        </p:nvSpPr>
        <p:spPr>
          <a:xfrm>
            <a:off x="472440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endParaRPr lang="en-SA"/>
          </a:p>
        </p:txBody>
      </p:sp>
      <p:sp>
        <p:nvSpPr>
          <p:cNvPr id="27" name="Picture Placeholder 5">
            <a:extLst>
              <a:ext uri="{FF2B5EF4-FFF2-40B4-BE49-F238E27FC236}">
                <a16:creationId xmlns:a16="http://schemas.microsoft.com/office/drawing/2014/main" id="{F001EE93-86CC-1631-6ECC-1A09ECA433E8}"/>
              </a:ext>
            </a:extLst>
          </p:cNvPr>
          <p:cNvSpPr>
            <a:spLocks noGrp="1"/>
          </p:cNvSpPr>
          <p:nvPr>
            <p:ph type="pic" sz="quarter" idx="29"/>
          </p:nvPr>
        </p:nvSpPr>
        <p:spPr>
          <a:xfrm>
            <a:off x="472440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0" name="Title 4">
            <a:extLst>
              <a:ext uri="{FF2B5EF4-FFF2-40B4-BE49-F238E27FC236}">
                <a16:creationId xmlns:a16="http://schemas.microsoft.com/office/drawing/2014/main" id="{732A8086-D40C-0171-EA62-CA630F60A730}"/>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128820951"/>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Heavy Content ">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F7B5159B-DD76-53E1-A1B7-565EEC39B250}"/>
              </a:ext>
            </a:extLst>
          </p:cNvPr>
          <p:cNvSpPr>
            <a:spLocks noGrp="1"/>
          </p:cNvSpPr>
          <p:nvPr>
            <p:ph type="pic" sz="quarter" idx="11"/>
          </p:nvPr>
        </p:nvSpPr>
        <p:spPr>
          <a:xfrm>
            <a:off x="323823" y="2571751"/>
            <a:ext cx="8496327" cy="1819018"/>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endParaRPr lang="en-SA"/>
          </a:p>
        </p:txBody>
      </p:sp>
      <p:sp>
        <p:nvSpPr>
          <p:cNvPr id="3" name="Text Placeholder 15">
            <a:extLst>
              <a:ext uri="{FF2B5EF4-FFF2-40B4-BE49-F238E27FC236}">
                <a16:creationId xmlns:a16="http://schemas.microsoft.com/office/drawing/2014/main" id="{82E5DD3A-DC8C-3C86-99AE-9879313ADA98}"/>
              </a:ext>
            </a:extLst>
          </p:cNvPr>
          <p:cNvSpPr>
            <a:spLocks noGrp="1"/>
          </p:cNvSpPr>
          <p:nvPr>
            <p:ph type="body" sz="quarter" idx="12" hasCustomPrompt="1"/>
          </p:nvPr>
        </p:nvSpPr>
        <p:spPr>
          <a:xfrm>
            <a:off x="323850" y="770532"/>
            <a:ext cx="849629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C87D6031-A671-4CA7-B8CD-855A9E548B71}"/>
              </a:ext>
            </a:extLst>
          </p:cNvPr>
          <p:cNvSpPr>
            <a:spLocks noGrp="1"/>
          </p:cNvSpPr>
          <p:nvPr>
            <p:ph type="body" sz="quarter" idx="25" hasCustomPrompt="1"/>
          </p:nvPr>
        </p:nvSpPr>
        <p:spPr>
          <a:xfrm>
            <a:off x="323850" y="1015020"/>
            <a:ext cx="8496300" cy="1334980"/>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C0E66309-A0FA-530A-0FA7-3F979A9EA203}"/>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89048047"/>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864B2C5F-15A1-0237-E736-B18B7007540E}"/>
              </a:ext>
            </a:extLst>
          </p:cNvPr>
          <p:cNvSpPr>
            <a:spLocks noGrp="1"/>
          </p:cNvSpPr>
          <p:nvPr>
            <p:ph type="body" sz="quarter" idx="11" hasCustomPrompt="1"/>
          </p:nvPr>
        </p:nvSpPr>
        <p:spPr>
          <a:xfrm>
            <a:off x="323850" y="1496532"/>
            <a:ext cx="336308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FIRST NAME LAST NAME</a:t>
            </a:r>
          </a:p>
        </p:txBody>
      </p:sp>
      <p:sp>
        <p:nvSpPr>
          <p:cNvPr id="18" name="Text Placeholder 15">
            <a:extLst>
              <a:ext uri="{FF2B5EF4-FFF2-40B4-BE49-F238E27FC236}">
                <a16:creationId xmlns:a16="http://schemas.microsoft.com/office/drawing/2014/main" id="{5C6495FB-2E37-9EEA-E8C5-67126F522F98}"/>
              </a:ext>
            </a:extLst>
          </p:cNvPr>
          <p:cNvSpPr>
            <a:spLocks noGrp="1"/>
          </p:cNvSpPr>
          <p:nvPr>
            <p:ph type="body" sz="quarter" idx="12" hasCustomPrompt="1"/>
          </p:nvPr>
        </p:nvSpPr>
        <p:spPr>
          <a:xfrm>
            <a:off x="323850" y="1801332"/>
            <a:ext cx="3363084" cy="178502"/>
          </a:xfrm>
          <a:prstGeom prst="rect">
            <a:avLst/>
          </a:prstGeom>
        </p:spPr>
        <p:txBody>
          <a:bodyPr/>
          <a:lstStyle>
            <a:lvl1pPr marL="0" indent="0" algn="l" defTabSz="457200" rtl="0" eaLnBrk="1" latinLnBrk="0" hangingPunct="1">
              <a:lnSpc>
                <a:spcPct val="100000"/>
              </a:lnSpc>
              <a:buNone/>
              <a:defRPr lang="en-SA" sz="800" kern="1200" dirty="0">
                <a:solidFill>
                  <a:schemeClr val="tx2"/>
                </a:solidFill>
                <a:latin typeface="Fund Light" pitchFamily="2" charset="-78"/>
                <a:ea typeface="+mn-ea"/>
                <a:cs typeface="Fund Light" pitchFamily="2" charset="-78"/>
              </a:defRPr>
            </a:lvl1pPr>
          </a:lstStyle>
          <a:p>
            <a:pPr lvl="0"/>
            <a:r>
              <a:rPr lang="en-US"/>
              <a:t>POSITION</a:t>
            </a:r>
            <a:endParaRPr lang="en-SA"/>
          </a:p>
        </p:txBody>
      </p:sp>
      <p:sp>
        <p:nvSpPr>
          <p:cNvPr id="40" name="Picture Placeholder 38">
            <a:extLst>
              <a:ext uri="{FF2B5EF4-FFF2-40B4-BE49-F238E27FC236}">
                <a16:creationId xmlns:a16="http://schemas.microsoft.com/office/drawing/2014/main" id="{936645E6-889A-5051-D79B-F4C7655AD7E6}"/>
              </a:ext>
            </a:extLst>
          </p:cNvPr>
          <p:cNvSpPr>
            <a:spLocks noGrp="1"/>
          </p:cNvSpPr>
          <p:nvPr>
            <p:ph type="pic" sz="quarter" idx="14"/>
          </p:nvPr>
        </p:nvSpPr>
        <p:spPr>
          <a:xfrm>
            <a:off x="5859642" y="1707311"/>
            <a:ext cx="1739312" cy="1739312"/>
          </a:xfrm>
          <a:prstGeom prst="ellipse">
            <a:avLst/>
          </a:prstGeom>
        </p:spPr>
        <p:txBody>
          <a:bodyPr anchor="ctr"/>
          <a:lstStyle>
            <a:lvl1pPr marL="0" indent="0" algn="ctr">
              <a:buNone/>
              <a:defRPr sz="1400">
                <a:latin typeface="Fund Regular" pitchFamily="2" charset="-78"/>
                <a:cs typeface="Fund Regular" pitchFamily="2" charset="-78"/>
              </a:defRPr>
            </a:lvl1pPr>
          </a:lstStyle>
          <a:p>
            <a:endParaRPr lang="en-SA"/>
          </a:p>
        </p:txBody>
      </p:sp>
      <p:sp>
        <p:nvSpPr>
          <p:cNvPr id="41" name="Oval 40">
            <a:extLst>
              <a:ext uri="{FF2B5EF4-FFF2-40B4-BE49-F238E27FC236}">
                <a16:creationId xmlns:a16="http://schemas.microsoft.com/office/drawing/2014/main" id="{5AAC91EF-9292-BEF6-ACFB-00D499714556}"/>
              </a:ext>
            </a:extLst>
          </p:cNvPr>
          <p:cNvSpPr/>
          <p:nvPr userDrawn="1"/>
        </p:nvSpPr>
        <p:spPr>
          <a:xfrm>
            <a:off x="5751845" y="1599514"/>
            <a:ext cx="1954906" cy="1954906"/>
          </a:xfrm>
          <a:prstGeom prst="ellipse">
            <a:avLst/>
          </a:prstGeom>
          <a:noFill/>
          <a:ln w="50800">
            <a:solidFill>
              <a:srgbClr val="C498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latin typeface="Fund Regular" pitchFamily="2" charset="-78"/>
            </a:endParaRPr>
          </a:p>
        </p:txBody>
      </p:sp>
      <p:sp>
        <p:nvSpPr>
          <p:cNvPr id="3" name="Text Placeholder 26">
            <a:extLst>
              <a:ext uri="{FF2B5EF4-FFF2-40B4-BE49-F238E27FC236}">
                <a16:creationId xmlns:a16="http://schemas.microsoft.com/office/drawing/2014/main" id="{A29F6922-69E1-848C-3CCA-641E2B1D80FF}"/>
              </a:ext>
            </a:extLst>
          </p:cNvPr>
          <p:cNvSpPr>
            <a:spLocks noGrp="1"/>
          </p:cNvSpPr>
          <p:nvPr>
            <p:ph type="body" sz="quarter" idx="25" hasCustomPrompt="1"/>
          </p:nvPr>
        </p:nvSpPr>
        <p:spPr>
          <a:xfrm>
            <a:off x="317641" y="2087631"/>
            <a:ext cx="3375518"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139392B3-A5E4-AB28-63E2-C80852AF00CB}"/>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4193089520"/>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rofile">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6BAFF34A-EDD5-AC5C-03F6-4E5B273FAD86}"/>
              </a:ext>
            </a:extLst>
          </p:cNvPr>
          <p:cNvSpPr>
            <a:spLocks noGrp="1"/>
          </p:cNvSpPr>
          <p:nvPr>
            <p:ph type="body" sz="quarter" idx="11" hasCustomPrompt="1"/>
          </p:nvPr>
        </p:nvSpPr>
        <p:spPr>
          <a:xfrm>
            <a:off x="330036" y="1569684"/>
            <a:ext cx="3356898"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28453984-8213-F149-1272-6CB1D89FF1F5}"/>
              </a:ext>
            </a:extLst>
          </p:cNvPr>
          <p:cNvSpPr>
            <a:spLocks noGrp="1"/>
          </p:cNvSpPr>
          <p:nvPr>
            <p:ph type="body" sz="quarter" idx="25" hasCustomPrompt="1"/>
          </p:nvPr>
        </p:nvSpPr>
        <p:spPr>
          <a:xfrm>
            <a:off x="323850" y="1904751"/>
            <a:ext cx="3369309"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A57B1658-19CD-AEC4-A12E-8D62D086CE5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419181773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661DDD9-977E-A43B-4A90-ABE38DAD5356}"/>
              </a:ext>
            </a:extLst>
          </p:cNvPr>
          <p:cNvCxnSpPr>
            <a:cxnSpLocks/>
          </p:cNvCxnSpPr>
          <p:nvPr userDrawn="1"/>
        </p:nvCxnSpPr>
        <p:spPr>
          <a:xfrm>
            <a:off x="321858" y="2537955"/>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F65909-14A7-2935-FEB5-DFB0A8192A6D}"/>
              </a:ext>
            </a:extLst>
          </p:cNvPr>
          <p:cNvCxnSpPr>
            <a:cxnSpLocks/>
          </p:cNvCxnSpPr>
          <p:nvPr userDrawn="1"/>
        </p:nvCxnSpPr>
        <p:spPr>
          <a:xfrm>
            <a:off x="321858" y="3719532"/>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sp>
        <p:nvSpPr>
          <p:cNvPr id="48" name="Text Placeholder 15">
            <a:extLst>
              <a:ext uri="{FF2B5EF4-FFF2-40B4-BE49-F238E27FC236}">
                <a16:creationId xmlns:a16="http://schemas.microsoft.com/office/drawing/2014/main" id="{AC6F0ABF-1730-83F6-4BF3-9FF97AE5EAE5}"/>
              </a:ext>
            </a:extLst>
          </p:cNvPr>
          <p:cNvSpPr>
            <a:spLocks noGrp="1"/>
          </p:cNvSpPr>
          <p:nvPr>
            <p:ph type="body" sz="quarter" idx="14" hasCustomPrompt="1"/>
          </p:nvPr>
        </p:nvSpPr>
        <p:spPr>
          <a:xfrm>
            <a:off x="6931889"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49" name="Text Placeholder 15">
            <a:extLst>
              <a:ext uri="{FF2B5EF4-FFF2-40B4-BE49-F238E27FC236}">
                <a16:creationId xmlns:a16="http://schemas.microsoft.com/office/drawing/2014/main" id="{4267A293-ABD0-5AA1-EBE7-F0C1C00CC67E}"/>
              </a:ext>
            </a:extLst>
          </p:cNvPr>
          <p:cNvSpPr>
            <a:spLocks noGrp="1"/>
          </p:cNvSpPr>
          <p:nvPr>
            <p:ph type="body" sz="quarter" idx="15" hasCustomPrompt="1"/>
          </p:nvPr>
        </p:nvSpPr>
        <p:spPr>
          <a:xfrm>
            <a:off x="6931889"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56" name="Text Placeholder 15">
            <a:extLst>
              <a:ext uri="{FF2B5EF4-FFF2-40B4-BE49-F238E27FC236}">
                <a16:creationId xmlns:a16="http://schemas.microsoft.com/office/drawing/2014/main" id="{2D7E3E82-D109-BAE5-A33C-C12AAC8CA330}"/>
              </a:ext>
            </a:extLst>
          </p:cNvPr>
          <p:cNvSpPr>
            <a:spLocks noGrp="1"/>
          </p:cNvSpPr>
          <p:nvPr>
            <p:ph type="body" sz="quarter" idx="16" hasCustomPrompt="1"/>
          </p:nvPr>
        </p:nvSpPr>
        <p:spPr>
          <a:xfrm>
            <a:off x="4955515"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57" name="Text Placeholder 15">
            <a:extLst>
              <a:ext uri="{FF2B5EF4-FFF2-40B4-BE49-F238E27FC236}">
                <a16:creationId xmlns:a16="http://schemas.microsoft.com/office/drawing/2014/main" id="{758AFB6A-B660-04E2-84AD-E45B888A97A5}"/>
              </a:ext>
            </a:extLst>
          </p:cNvPr>
          <p:cNvSpPr>
            <a:spLocks noGrp="1"/>
          </p:cNvSpPr>
          <p:nvPr>
            <p:ph type="body" sz="quarter" idx="17" hasCustomPrompt="1"/>
          </p:nvPr>
        </p:nvSpPr>
        <p:spPr>
          <a:xfrm>
            <a:off x="4955515"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0" name="Text Placeholder 15">
            <a:extLst>
              <a:ext uri="{FF2B5EF4-FFF2-40B4-BE49-F238E27FC236}">
                <a16:creationId xmlns:a16="http://schemas.microsoft.com/office/drawing/2014/main" id="{3F810960-53C9-0AD8-43D9-803A37E6DDD2}"/>
              </a:ext>
            </a:extLst>
          </p:cNvPr>
          <p:cNvSpPr>
            <a:spLocks noGrp="1"/>
          </p:cNvSpPr>
          <p:nvPr>
            <p:ph type="body" sz="quarter" idx="18" hasCustomPrompt="1"/>
          </p:nvPr>
        </p:nvSpPr>
        <p:spPr>
          <a:xfrm>
            <a:off x="2978454"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1" name="Text Placeholder 15">
            <a:extLst>
              <a:ext uri="{FF2B5EF4-FFF2-40B4-BE49-F238E27FC236}">
                <a16:creationId xmlns:a16="http://schemas.microsoft.com/office/drawing/2014/main" id="{36AD7C43-4CE8-C7CB-436A-C20D7ECAEAD8}"/>
              </a:ext>
            </a:extLst>
          </p:cNvPr>
          <p:cNvSpPr>
            <a:spLocks noGrp="1"/>
          </p:cNvSpPr>
          <p:nvPr>
            <p:ph type="body" sz="quarter" idx="19" hasCustomPrompt="1"/>
          </p:nvPr>
        </p:nvSpPr>
        <p:spPr>
          <a:xfrm>
            <a:off x="2978454"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2" name="Text Placeholder 15">
            <a:extLst>
              <a:ext uri="{FF2B5EF4-FFF2-40B4-BE49-F238E27FC236}">
                <a16:creationId xmlns:a16="http://schemas.microsoft.com/office/drawing/2014/main" id="{F0991BFD-A505-06C6-1BCA-EF591B183028}"/>
              </a:ext>
            </a:extLst>
          </p:cNvPr>
          <p:cNvSpPr>
            <a:spLocks noGrp="1"/>
          </p:cNvSpPr>
          <p:nvPr>
            <p:ph type="body" sz="quarter" idx="20" hasCustomPrompt="1"/>
          </p:nvPr>
        </p:nvSpPr>
        <p:spPr>
          <a:xfrm>
            <a:off x="1002080"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3" name="Text Placeholder 15">
            <a:extLst>
              <a:ext uri="{FF2B5EF4-FFF2-40B4-BE49-F238E27FC236}">
                <a16:creationId xmlns:a16="http://schemas.microsoft.com/office/drawing/2014/main" id="{8D1A3567-2F75-025E-E85F-797AEEC96802}"/>
              </a:ext>
            </a:extLst>
          </p:cNvPr>
          <p:cNvSpPr>
            <a:spLocks noGrp="1"/>
          </p:cNvSpPr>
          <p:nvPr>
            <p:ph type="body" sz="quarter" idx="21" hasCustomPrompt="1"/>
          </p:nvPr>
        </p:nvSpPr>
        <p:spPr>
          <a:xfrm>
            <a:off x="1002080"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5" name="Text Placeholder 15">
            <a:extLst>
              <a:ext uri="{FF2B5EF4-FFF2-40B4-BE49-F238E27FC236}">
                <a16:creationId xmlns:a16="http://schemas.microsoft.com/office/drawing/2014/main" id="{DB84D0C2-BD08-2A9C-C094-A95884FDECCD}"/>
              </a:ext>
            </a:extLst>
          </p:cNvPr>
          <p:cNvSpPr>
            <a:spLocks noGrp="1"/>
          </p:cNvSpPr>
          <p:nvPr>
            <p:ph type="body" sz="quarter" idx="22" hasCustomPrompt="1"/>
          </p:nvPr>
        </p:nvSpPr>
        <p:spPr>
          <a:xfrm>
            <a:off x="323850" y="2351854"/>
            <a:ext cx="1529168"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6" name="Text Placeholder 15">
            <a:extLst>
              <a:ext uri="{FF2B5EF4-FFF2-40B4-BE49-F238E27FC236}">
                <a16:creationId xmlns:a16="http://schemas.microsoft.com/office/drawing/2014/main" id="{C98837D2-B7AD-AE89-C07A-28E7E4B36ADD}"/>
              </a:ext>
            </a:extLst>
          </p:cNvPr>
          <p:cNvSpPr>
            <a:spLocks noGrp="1"/>
          </p:cNvSpPr>
          <p:nvPr>
            <p:ph type="body" sz="quarter" idx="23" hasCustomPrompt="1"/>
          </p:nvPr>
        </p:nvSpPr>
        <p:spPr>
          <a:xfrm>
            <a:off x="323850" y="3517204"/>
            <a:ext cx="1519433"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7" name="Text Placeholder 15">
            <a:extLst>
              <a:ext uri="{FF2B5EF4-FFF2-40B4-BE49-F238E27FC236}">
                <a16:creationId xmlns:a16="http://schemas.microsoft.com/office/drawing/2014/main" id="{BA9EE524-38F5-6CAA-C076-6059B2ACC4DC}"/>
              </a:ext>
            </a:extLst>
          </p:cNvPr>
          <p:cNvSpPr>
            <a:spLocks noGrp="1"/>
          </p:cNvSpPr>
          <p:nvPr>
            <p:ph type="body" sz="quarter" idx="24" hasCustomPrompt="1"/>
          </p:nvPr>
        </p:nvSpPr>
        <p:spPr>
          <a:xfrm>
            <a:off x="323850" y="3835866"/>
            <a:ext cx="1129963" cy="508197"/>
          </a:xfrm>
          <a:prstGeom prst="rect">
            <a:avLst/>
          </a:prstGeom>
        </p:spPr>
        <p:txBody>
          <a:bodyPr lIns="0" tIns="0" rIns="0" bIns="0"/>
          <a:lstStyle>
            <a:lvl1pPr marL="0" indent="0" algn="l" defTabSz="457200" rtl="0" eaLnBrk="1" latinLnBrk="0" hangingPunct="1">
              <a:lnSpc>
                <a:spcPct val="100000"/>
              </a:lnSpc>
              <a:buNone/>
              <a:defRPr lang="en-US" sz="3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5" name="Text Placeholder 15">
            <a:extLst>
              <a:ext uri="{FF2B5EF4-FFF2-40B4-BE49-F238E27FC236}">
                <a16:creationId xmlns:a16="http://schemas.microsoft.com/office/drawing/2014/main" id="{7D77703E-9CAE-D8FB-4979-33FD8E5761D1}"/>
              </a:ext>
            </a:extLst>
          </p:cNvPr>
          <p:cNvSpPr>
            <a:spLocks noGrp="1"/>
          </p:cNvSpPr>
          <p:nvPr>
            <p:ph type="body" sz="quarter" idx="25" hasCustomPrompt="1"/>
          </p:nvPr>
        </p:nvSpPr>
        <p:spPr>
          <a:xfrm>
            <a:off x="4113958" y="3835866"/>
            <a:ext cx="1143759"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76" name="Text Placeholder 15">
            <a:extLst>
              <a:ext uri="{FF2B5EF4-FFF2-40B4-BE49-F238E27FC236}">
                <a16:creationId xmlns:a16="http://schemas.microsoft.com/office/drawing/2014/main" id="{B73D3E4A-45DC-7D48-A91D-E4528F3461DE}"/>
              </a:ext>
            </a:extLst>
          </p:cNvPr>
          <p:cNvSpPr>
            <a:spLocks noGrp="1"/>
          </p:cNvSpPr>
          <p:nvPr>
            <p:ph type="body" sz="quarter" idx="26" hasCustomPrompt="1"/>
          </p:nvPr>
        </p:nvSpPr>
        <p:spPr>
          <a:xfrm>
            <a:off x="323850" y="792700"/>
            <a:ext cx="1363114" cy="1072225"/>
          </a:xfrm>
          <a:prstGeom prst="rect">
            <a:avLst/>
          </a:prstGeom>
        </p:spPr>
        <p:txBody>
          <a:bodyPr lIns="0" tIns="0" rIns="0" bIns="0"/>
          <a:lstStyle>
            <a:lvl1pPr marL="0" indent="0" algn="l" defTabSz="457200" rtl="0" eaLnBrk="1" latinLnBrk="0" hangingPunct="1">
              <a:lnSpc>
                <a:spcPct val="100000"/>
              </a:lnSpc>
              <a:buNone/>
              <a:defRPr lang="en-US" sz="7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7" name="Text Placeholder 15">
            <a:extLst>
              <a:ext uri="{FF2B5EF4-FFF2-40B4-BE49-F238E27FC236}">
                <a16:creationId xmlns:a16="http://schemas.microsoft.com/office/drawing/2014/main" id="{8F6EA972-9D94-A23C-C50F-CAA1A5CFCDD6}"/>
              </a:ext>
            </a:extLst>
          </p:cNvPr>
          <p:cNvSpPr>
            <a:spLocks noGrp="1"/>
          </p:cNvSpPr>
          <p:nvPr>
            <p:ph type="body" sz="quarter" idx="27" hasCustomPrompt="1"/>
          </p:nvPr>
        </p:nvSpPr>
        <p:spPr>
          <a:xfrm>
            <a:off x="1738239" y="1103685"/>
            <a:ext cx="550194" cy="608843"/>
          </a:xfrm>
          <a:prstGeom prst="rect">
            <a:avLst/>
          </a:prstGeom>
        </p:spPr>
        <p:txBody>
          <a:bodyPr lIns="36000" tIns="36000" rIns="36000" bIns="36000"/>
          <a:lstStyle>
            <a:lvl1pPr marL="0" indent="0" algn="l" defTabSz="457200" rtl="0" eaLnBrk="1" latinLnBrk="0" hangingPunct="1">
              <a:lnSpc>
                <a:spcPct val="100000"/>
              </a:lnSpc>
              <a:buNone/>
              <a:defRPr lang="en-US" sz="4400" kern="1200" dirty="0" smtClean="0">
                <a:solidFill>
                  <a:schemeClr val="bg2"/>
                </a:solidFill>
                <a:latin typeface="Fund Regular" pitchFamily="2" charset="-78"/>
                <a:ea typeface="+mn-ea"/>
                <a:cs typeface="Fund Regular" pitchFamily="2" charset="-78"/>
              </a:defRPr>
            </a:lvl1pPr>
          </a:lstStyle>
          <a:p>
            <a:pPr lvl="0"/>
            <a:r>
              <a:rPr lang="en-US"/>
              <a:t>K</a:t>
            </a:r>
          </a:p>
        </p:txBody>
      </p:sp>
      <p:sp>
        <p:nvSpPr>
          <p:cNvPr id="78" name="Text Placeholder 15">
            <a:extLst>
              <a:ext uri="{FF2B5EF4-FFF2-40B4-BE49-F238E27FC236}">
                <a16:creationId xmlns:a16="http://schemas.microsoft.com/office/drawing/2014/main" id="{369622A4-8D44-CBB1-A4B4-53006005B5D9}"/>
              </a:ext>
            </a:extLst>
          </p:cNvPr>
          <p:cNvSpPr>
            <a:spLocks noGrp="1"/>
          </p:cNvSpPr>
          <p:nvPr>
            <p:ph type="body" sz="quarter" idx="28" hasCustomPrompt="1"/>
          </p:nvPr>
        </p:nvSpPr>
        <p:spPr>
          <a:xfrm>
            <a:off x="323851" y="1924950"/>
            <a:ext cx="1964582" cy="219494"/>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tx2"/>
                </a:solidFill>
                <a:latin typeface="Fund Regular" pitchFamily="2" charset="-78"/>
                <a:ea typeface="+mn-ea"/>
                <a:cs typeface="Fund Regular" pitchFamily="2" charset="-78"/>
              </a:defRPr>
            </a:lvl1pPr>
          </a:lstStyle>
          <a:p>
            <a:pPr lvl="0"/>
            <a:r>
              <a:rPr lang="en-US"/>
              <a:t>TITLE</a:t>
            </a:r>
          </a:p>
        </p:txBody>
      </p:sp>
      <p:sp>
        <p:nvSpPr>
          <p:cNvPr id="3" name="Text Placeholder 15">
            <a:extLst>
              <a:ext uri="{FF2B5EF4-FFF2-40B4-BE49-F238E27FC236}">
                <a16:creationId xmlns:a16="http://schemas.microsoft.com/office/drawing/2014/main" id="{137D3A14-6950-EAE7-638F-B2D4A63FB0FD}"/>
              </a:ext>
            </a:extLst>
          </p:cNvPr>
          <p:cNvSpPr>
            <a:spLocks noGrp="1"/>
          </p:cNvSpPr>
          <p:nvPr>
            <p:ph type="body" sz="quarter" idx="11" hasCustomPrompt="1"/>
          </p:nvPr>
        </p:nvSpPr>
        <p:spPr>
          <a:xfrm>
            <a:off x="3271146" y="774412"/>
            <a:ext cx="554900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19714FDA-0467-8D40-1595-E528EBA7CBDD}"/>
              </a:ext>
            </a:extLst>
          </p:cNvPr>
          <p:cNvSpPr>
            <a:spLocks noGrp="1"/>
          </p:cNvSpPr>
          <p:nvPr>
            <p:ph type="body" sz="quarter" idx="29" hasCustomPrompt="1"/>
          </p:nvPr>
        </p:nvSpPr>
        <p:spPr>
          <a:xfrm>
            <a:off x="3264922" y="1109480"/>
            <a:ext cx="5555208" cy="1034964"/>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19F4C6B2-460B-0061-75C8-D91DB88B87CD}"/>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4044518039"/>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with Title">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99ADD64-F710-373E-44C9-29E181EAC7A0}"/>
              </a:ext>
            </a:extLst>
          </p:cNvPr>
          <p:cNvSpPr/>
          <p:nvPr/>
        </p:nvSpPr>
        <p:spPr>
          <a:xfrm>
            <a:off x="355198"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73" name="Text Placeholder 15">
            <a:extLst>
              <a:ext uri="{FF2B5EF4-FFF2-40B4-BE49-F238E27FC236}">
                <a16:creationId xmlns:a16="http://schemas.microsoft.com/office/drawing/2014/main" id="{5F955A93-28FC-73D1-14F2-B171E0C8D7D4}"/>
              </a:ext>
            </a:extLst>
          </p:cNvPr>
          <p:cNvSpPr>
            <a:spLocks noGrp="1"/>
          </p:cNvSpPr>
          <p:nvPr>
            <p:ph type="body" sz="quarter" idx="14" hasCustomPrompt="1"/>
          </p:nvPr>
        </p:nvSpPr>
        <p:spPr>
          <a:xfrm>
            <a:off x="370742"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75" name="Text Placeholder 15">
            <a:extLst>
              <a:ext uri="{FF2B5EF4-FFF2-40B4-BE49-F238E27FC236}">
                <a16:creationId xmlns:a16="http://schemas.microsoft.com/office/drawing/2014/main" id="{1B8B7915-F4BB-82A6-AE61-7A6F7B962E43}"/>
              </a:ext>
            </a:extLst>
          </p:cNvPr>
          <p:cNvSpPr>
            <a:spLocks noGrp="1"/>
          </p:cNvSpPr>
          <p:nvPr>
            <p:ph type="body" sz="quarter" idx="15" hasCustomPrompt="1"/>
          </p:nvPr>
        </p:nvSpPr>
        <p:spPr>
          <a:xfrm>
            <a:off x="370742"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79" name="Oval 78">
            <a:extLst>
              <a:ext uri="{FF2B5EF4-FFF2-40B4-BE49-F238E27FC236}">
                <a16:creationId xmlns:a16="http://schemas.microsoft.com/office/drawing/2014/main" id="{C405FF7B-5C06-ACC1-11F0-D60ECC8FFF62}"/>
              </a:ext>
            </a:extLst>
          </p:cNvPr>
          <p:cNvSpPr/>
          <p:nvPr userDrawn="1"/>
        </p:nvSpPr>
        <p:spPr>
          <a:xfrm>
            <a:off x="3531104"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0" name="Text Placeholder 15">
            <a:extLst>
              <a:ext uri="{FF2B5EF4-FFF2-40B4-BE49-F238E27FC236}">
                <a16:creationId xmlns:a16="http://schemas.microsoft.com/office/drawing/2014/main" id="{76F536E2-44A4-94EB-6605-A77D27B439AC}"/>
              </a:ext>
            </a:extLst>
          </p:cNvPr>
          <p:cNvSpPr>
            <a:spLocks noGrp="1"/>
          </p:cNvSpPr>
          <p:nvPr>
            <p:ph type="body" sz="quarter" idx="16" hasCustomPrompt="1"/>
          </p:nvPr>
        </p:nvSpPr>
        <p:spPr>
          <a:xfrm>
            <a:off x="3546648"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1" name="Text Placeholder 15">
            <a:extLst>
              <a:ext uri="{FF2B5EF4-FFF2-40B4-BE49-F238E27FC236}">
                <a16:creationId xmlns:a16="http://schemas.microsoft.com/office/drawing/2014/main" id="{36CC5434-AF46-006D-15E3-334ADBF0BC54}"/>
              </a:ext>
            </a:extLst>
          </p:cNvPr>
          <p:cNvSpPr>
            <a:spLocks noGrp="1"/>
          </p:cNvSpPr>
          <p:nvPr>
            <p:ph type="body" sz="quarter" idx="17" hasCustomPrompt="1"/>
          </p:nvPr>
        </p:nvSpPr>
        <p:spPr>
          <a:xfrm>
            <a:off x="3546648"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82" name="Oval 81">
            <a:extLst>
              <a:ext uri="{FF2B5EF4-FFF2-40B4-BE49-F238E27FC236}">
                <a16:creationId xmlns:a16="http://schemas.microsoft.com/office/drawing/2014/main" id="{847E210C-BB3E-A513-EBBB-1A4D988104EF}"/>
              </a:ext>
            </a:extLst>
          </p:cNvPr>
          <p:cNvSpPr/>
          <p:nvPr userDrawn="1"/>
        </p:nvSpPr>
        <p:spPr>
          <a:xfrm>
            <a:off x="6707011" y="2416792"/>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3" name="Text Placeholder 15">
            <a:extLst>
              <a:ext uri="{FF2B5EF4-FFF2-40B4-BE49-F238E27FC236}">
                <a16:creationId xmlns:a16="http://schemas.microsoft.com/office/drawing/2014/main" id="{B2716802-75AE-5B3E-4005-AF177430077D}"/>
              </a:ext>
            </a:extLst>
          </p:cNvPr>
          <p:cNvSpPr>
            <a:spLocks noGrp="1"/>
          </p:cNvSpPr>
          <p:nvPr>
            <p:ph type="body" sz="quarter" idx="18" hasCustomPrompt="1"/>
          </p:nvPr>
        </p:nvSpPr>
        <p:spPr>
          <a:xfrm>
            <a:off x="6722555" y="3158281"/>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4" name="Text Placeholder 15">
            <a:extLst>
              <a:ext uri="{FF2B5EF4-FFF2-40B4-BE49-F238E27FC236}">
                <a16:creationId xmlns:a16="http://schemas.microsoft.com/office/drawing/2014/main" id="{B12A0E62-7182-1C04-0A40-E4B2B510AA68}"/>
              </a:ext>
            </a:extLst>
          </p:cNvPr>
          <p:cNvSpPr>
            <a:spLocks noGrp="1"/>
          </p:cNvSpPr>
          <p:nvPr>
            <p:ph type="body" sz="quarter" idx="19" hasCustomPrompt="1"/>
          </p:nvPr>
        </p:nvSpPr>
        <p:spPr>
          <a:xfrm>
            <a:off x="6722555" y="3631808"/>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3" name="Text Placeholder 15">
            <a:extLst>
              <a:ext uri="{FF2B5EF4-FFF2-40B4-BE49-F238E27FC236}">
                <a16:creationId xmlns:a16="http://schemas.microsoft.com/office/drawing/2014/main" id="{7BE8C802-A888-24D7-D44A-822C5B3B66D7}"/>
              </a:ext>
            </a:extLst>
          </p:cNvPr>
          <p:cNvSpPr>
            <a:spLocks noGrp="1"/>
          </p:cNvSpPr>
          <p:nvPr>
            <p:ph type="body" sz="quarter" idx="11" hasCustomPrompt="1"/>
          </p:nvPr>
        </p:nvSpPr>
        <p:spPr>
          <a:xfrm>
            <a:off x="323852"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5066CE51-FEF5-CB03-9171-CE9A31CC7F5E}"/>
              </a:ext>
            </a:extLst>
          </p:cNvPr>
          <p:cNvSpPr>
            <a:spLocks noGrp="1"/>
          </p:cNvSpPr>
          <p:nvPr>
            <p:ph type="body" sz="quarter" idx="25" hasCustomPrompt="1"/>
          </p:nvPr>
        </p:nvSpPr>
        <p:spPr>
          <a:xfrm>
            <a:off x="323851" y="1015020"/>
            <a:ext cx="8496300" cy="1243548"/>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9A1161F6-A5D5-EEDB-E8A0-949BA1AEDE5E}"/>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045322629"/>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grpSp>
        <p:nvGrpSpPr>
          <p:cNvPr id="9" name="Group 8">
            <a:extLst>
              <a:ext uri="{FF2B5EF4-FFF2-40B4-BE49-F238E27FC236}">
                <a16:creationId xmlns:a16="http://schemas.microsoft.com/office/drawing/2014/main" id="{B29F20B4-0153-9552-50BE-C1F1D8793F22}"/>
              </a:ext>
            </a:extLst>
          </p:cNvPr>
          <p:cNvGrpSpPr/>
          <p:nvPr userDrawn="1"/>
        </p:nvGrpSpPr>
        <p:grpSpPr>
          <a:xfrm>
            <a:off x="-95099" y="4361034"/>
            <a:ext cx="3946435" cy="580690"/>
            <a:chOff x="3968905" y="203756"/>
            <a:chExt cx="2959826" cy="1118368"/>
          </a:xfrm>
        </p:grpSpPr>
        <p:sp>
          <p:nvSpPr>
            <p:cNvPr id="10" name="Rectangle 9">
              <a:extLst>
                <a:ext uri="{FF2B5EF4-FFF2-40B4-BE49-F238E27FC236}">
                  <a16:creationId xmlns:a16="http://schemas.microsoft.com/office/drawing/2014/main" id="{38F6CB88-3E34-132B-BA93-1595C8A2B2A9}"/>
                </a:ext>
              </a:extLst>
            </p:cNvPr>
            <p:cNvSpPr/>
            <p:nvPr/>
          </p:nvSpPr>
          <p:spPr>
            <a:xfrm>
              <a:off x="3968905" y="203756"/>
              <a:ext cx="2959826" cy="1118368"/>
            </a:xfrm>
            <a:prstGeom prst="rect">
              <a:avLst/>
            </a:prstGeom>
            <a:solidFill>
              <a:srgbClr val="C49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660380" rtl="0" eaLnBrk="1" latinLnBrk="0" hangingPunct="1"/>
              <a:endParaRPr lang="en-SA" sz="2600" b="0" i="0">
                <a:latin typeface="Fund Regular" pitchFamily="2" charset="-78"/>
              </a:endParaRPr>
            </a:p>
          </p:txBody>
        </p:sp>
        <p:sp>
          <p:nvSpPr>
            <p:cNvPr id="11" name="TextBox 10">
              <a:extLst>
                <a:ext uri="{FF2B5EF4-FFF2-40B4-BE49-F238E27FC236}">
                  <a16:creationId xmlns:a16="http://schemas.microsoft.com/office/drawing/2014/main" id="{46ABF4A3-81EA-8F77-0BA3-DEB142D25465}"/>
                </a:ext>
              </a:extLst>
            </p:cNvPr>
            <p:cNvSpPr txBox="1"/>
            <p:nvPr/>
          </p:nvSpPr>
          <p:spPr>
            <a:xfrm>
              <a:off x="4282482" y="230374"/>
              <a:ext cx="2387641" cy="1057081"/>
            </a:xfrm>
            <a:prstGeom prst="rect">
              <a:avLst/>
            </a:prstGeom>
            <a:noFill/>
          </p:spPr>
          <p:txBody>
            <a:bodyPr wrap="square" lIns="0">
              <a:spAutoFit/>
            </a:bodyPr>
            <a:lstStyle/>
            <a:p>
              <a:pPr marR="24764" algn="just">
                <a:spcBef>
                  <a:spcPts val="81"/>
                </a:spcBef>
              </a:pPr>
              <a:r>
                <a:rPr lang="en-US" sz="800">
                  <a:solidFill>
                    <a:srgbClr val="00342B"/>
                  </a:solidFill>
                  <a:latin typeface="Fund Regular" pitchFamily="2" charset="-78"/>
                  <a:cs typeface="Fund Regular" pitchFamily="2" charset="-78"/>
                </a:rPr>
                <a:t>CONFIDENTIAL</a:t>
              </a:r>
              <a:r>
                <a:rPr lang="en-US" sz="900">
                  <a:solidFill>
                    <a:srgbClr val="00342B"/>
                  </a:solidFill>
                  <a:latin typeface="Fund Regular" pitchFamily="2" charset="-78"/>
                  <a:cs typeface="Fund Regular" pitchFamily="2" charset="-78"/>
                </a:rPr>
                <a:t> </a:t>
              </a:r>
            </a:p>
            <a:p>
              <a:pPr marR="24764" algn="just">
                <a:spcBef>
                  <a:spcPts val="81"/>
                </a:spcBef>
              </a:pPr>
              <a:endParaRPr lang="en-US" sz="300">
                <a:solidFill>
                  <a:srgbClr val="00342B"/>
                </a:solidFill>
                <a:latin typeface="Fund Regular" pitchFamily="2" charset="-78"/>
                <a:cs typeface="Fund Regular" pitchFamily="2" charset="-78"/>
              </a:endParaRPr>
            </a:p>
            <a:p>
              <a:pPr marR="24764" algn="just">
                <a:spcBef>
                  <a:spcPts val="81"/>
                </a:spcBef>
              </a:pPr>
              <a:r>
                <a:rPr lang="en-US" sz="500" b="0" i="0">
                  <a:solidFill>
                    <a:srgbClr val="00342B"/>
                  </a:solidFill>
                  <a:latin typeface="Fund Light" pitchFamily="2" charset="-78"/>
                  <a:cs typeface="Fund Light" pitchFamily="2" charset="-78"/>
                </a:rPr>
                <a:t>The contents of this document are strictly confidential, please do not share, republish,, display or report it for any purpose, in any form or by any means without the prior and express consent of the Public Investment Fund.</a:t>
              </a:r>
            </a:p>
          </p:txBody>
        </p:sp>
      </p:gr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0868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4041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Title\Numb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F00D66-D3F6-F303-8036-4E7F9D44468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945" y="-9304"/>
            <a:ext cx="9303891" cy="5162108"/>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chemeClr val="bg1"/>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chemeClr val="bg1"/>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chemeClr val="bg1"/>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599605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vider Title\Numb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AE17A9-2F69-41CA-CC7F-53A04C9107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549" y="-6865"/>
            <a:ext cx="9295099" cy="5157230"/>
          </a:xfrm>
          <a:prstGeom prst="rect">
            <a:avLst/>
          </a:prstGeom>
        </p:spPr>
      </p:pic>
      <p:sp>
        <p:nvSpPr>
          <p:cNvPr id="2" name="Title 1"/>
          <p:cNvSpPr>
            <a:spLocks noGrp="1"/>
          </p:cNvSpPr>
          <p:nvPr>
            <p:ph type="title" hasCustomPrompt="1"/>
          </p:nvPr>
        </p:nvSpPr>
        <p:spPr>
          <a:xfrm>
            <a:off x="323849" y="2554972"/>
            <a:ext cx="7886700" cy="669590"/>
          </a:xfrm>
          <a:prstGeom prst="rect">
            <a:avLst/>
          </a:prstGeom>
        </p:spPr>
        <p:txBody>
          <a:bodyPr lIns="0" rIns="0" anchor="b"/>
          <a:lstStyle>
            <a:lvl1pPr>
              <a:defRPr lang="en-US" sz="2400" b="0" i="0" kern="1200" dirty="0">
                <a:solidFill>
                  <a:srgbClr val="C3984D"/>
                </a:solidFill>
                <a:latin typeface="Fund Light" pitchFamily="2" charset="-78"/>
                <a:ea typeface="+mn-ea"/>
                <a:cs typeface="Fund Light" pitchFamily="2" charset="-78"/>
              </a:defRPr>
            </a:lvl1pPr>
          </a:lstStyle>
          <a:p>
            <a:r>
              <a:rPr lang="en-US"/>
              <a:t>CLICK TO EDIT DIVIDER TITLE </a:t>
            </a:r>
          </a:p>
        </p:txBody>
      </p:sp>
      <p:sp>
        <p:nvSpPr>
          <p:cNvPr id="3" name="Text Placeholder 2"/>
          <p:cNvSpPr>
            <a:spLocks noGrp="1"/>
          </p:cNvSpPr>
          <p:nvPr>
            <p:ph type="body" idx="1" hasCustomPrompt="1"/>
          </p:nvPr>
        </p:nvSpPr>
        <p:spPr>
          <a:xfrm>
            <a:off x="323850" y="3355859"/>
            <a:ext cx="7886700" cy="1125140"/>
          </a:xfrm>
          <a:prstGeom prst="rect">
            <a:avLst/>
          </a:prstGeom>
        </p:spPr>
        <p:txBody>
          <a:bodyPr>
            <a:normAutofit/>
          </a:bodyPr>
          <a:lstStyle>
            <a:lvl1pPr marL="0" indent="0" algn="l" rtl="0">
              <a:buFont typeface="Courier New" panose="02070309020205020404" pitchFamily="49" charset="0"/>
              <a:buNone/>
              <a:defRPr sz="1000" b="0" i="0">
                <a:solidFill>
                  <a:srgbClr val="C3984D"/>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a:t>Click to edit sub-divider</a:t>
            </a:r>
          </a:p>
          <a:p>
            <a:pPr marL="412737" marR="0" lvl="0" indent="-412737" algn="l" defTabSz="685800" rtl="0" eaLnBrk="1" fontAlgn="auto" latinLnBrk="0" hangingPunct="1">
              <a:lnSpc>
                <a:spcPct val="90000"/>
              </a:lnSpc>
              <a:spcBef>
                <a:spcPts val="750"/>
              </a:spcBef>
              <a:spcAft>
                <a:spcPts val="0"/>
              </a:spcAft>
              <a:buClr>
                <a:schemeClr val="bg2"/>
              </a:buClr>
              <a:buSzTx/>
              <a:buFont typeface="Arial" panose="020B0604020202020204" pitchFamily="34" charset="0"/>
              <a:buChar char="•"/>
              <a:tabLst/>
              <a:defRPr/>
            </a:pPr>
            <a:r>
              <a:rPr lang="en-US"/>
              <a:t>Click to edit sub-divider</a:t>
            </a:r>
          </a:p>
          <a:p>
            <a:pPr marL="412737" lvl="0" indent="-412737" algn="l" defTabSz="685800" rtl="0" eaLnBrk="1" latinLnBrk="0" hangingPunct="1">
              <a:lnSpc>
                <a:spcPct val="90000"/>
              </a:lnSpc>
              <a:spcBef>
                <a:spcPts val="750"/>
              </a:spcBef>
              <a:buFont typeface="Arial" panose="020B0604020202020204" pitchFamily="34" charset="0"/>
              <a:buChar char="•"/>
            </a:pPr>
            <a:endParaRPr lang="en-US"/>
          </a:p>
        </p:txBody>
      </p:sp>
      <p:sp>
        <p:nvSpPr>
          <p:cNvPr id="7" name="TextBox 6">
            <a:extLst>
              <a:ext uri="{FF2B5EF4-FFF2-40B4-BE49-F238E27FC236}">
                <a16:creationId xmlns:a16="http://schemas.microsoft.com/office/drawing/2014/main" id="{DD05B2DC-7D83-A860-7C13-00BB39EA523B}"/>
              </a:ext>
            </a:extLst>
          </p:cNvPr>
          <p:cNvSpPr txBox="1"/>
          <p:nvPr userDrawn="1"/>
        </p:nvSpPr>
        <p:spPr>
          <a:xfrm>
            <a:off x="3507611" y="326424"/>
            <a:ext cx="7167462" cy="261610"/>
          </a:xfrm>
          <a:prstGeom prst="rect">
            <a:avLst/>
          </a:prstGeom>
          <a:noFill/>
        </p:spPr>
        <p:txBody>
          <a:bodyPr wrap="square" rtlCol="0">
            <a:spAutoFit/>
          </a:bodyPr>
          <a:lstStyle/>
          <a:p>
            <a:endParaRPr lang="en-US" sz="1100">
              <a:solidFill>
                <a:schemeClr val="bg1"/>
              </a:solidFill>
              <a:latin typeface="Fund Light" pitchFamily="2" charset="-78"/>
              <a:cs typeface="Fund Light" pitchFamily="2" charset="-78"/>
            </a:endParaRPr>
          </a:p>
        </p:txBody>
      </p:sp>
      <p:sp>
        <p:nvSpPr>
          <p:cNvPr id="17" name="Text Placeholder 15">
            <a:extLst>
              <a:ext uri="{FF2B5EF4-FFF2-40B4-BE49-F238E27FC236}">
                <a16:creationId xmlns:a16="http://schemas.microsoft.com/office/drawing/2014/main" id="{771A02D3-3A72-AE2D-F241-D08961DA8B76}"/>
              </a:ext>
            </a:extLst>
          </p:cNvPr>
          <p:cNvSpPr>
            <a:spLocks noGrp="1"/>
          </p:cNvSpPr>
          <p:nvPr>
            <p:ph type="body" sz="quarter" idx="10" hasCustomPrompt="1"/>
          </p:nvPr>
        </p:nvSpPr>
        <p:spPr>
          <a:xfrm>
            <a:off x="323849" y="1427862"/>
            <a:ext cx="3897557" cy="1107996"/>
          </a:xfrm>
          <a:prstGeom prst="rect">
            <a:avLst/>
          </a:prstGeom>
          <a:noFill/>
        </p:spPr>
        <p:txBody>
          <a:bodyPr wrap="square" lIns="0" tIns="0" rIns="0" bIns="0" rtlCol="0">
            <a:spAutoFit/>
          </a:bodyPr>
          <a:lstStyle>
            <a:lvl1pPr marL="0" indent="0">
              <a:lnSpc>
                <a:spcPct val="100000"/>
              </a:lnSpc>
              <a:buNone/>
              <a:defRPr lang="en-SA" sz="7200" spc="300" dirty="0">
                <a:solidFill>
                  <a:srgbClr val="C3984D"/>
                </a:solidFill>
                <a:latin typeface="Fund Regular" pitchFamily="2" charset="-78"/>
                <a:cs typeface="Fund Regular" pitchFamily="2" charset="-78"/>
              </a:defRPr>
            </a:lvl1pPr>
          </a:lstStyle>
          <a:p>
            <a:pPr marL="0" lvl="0" defTabSz="457200"/>
            <a:r>
              <a:rPr lang="en-US"/>
              <a:t>00</a:t>
            </a:r>
            <a:endParaRPr lang="en-SA"/>
          </a:p>
        </p:txBody>
      </p:sp>
      <p:cxnSp>
        <p:nvCxnSpPr>
          <p:cNvPr id="5" name="Straight Connector 4">
            <a:extLst>
              <a:ext uri="{FF2B5EF4-FFF2-40B4-BE49-F238E27FC236}">
                <a16:creationId xmlns:a16="http://schemas.microsoft.com/office/drawing/2014/main" id="{E6B69000-5F59-E0B1-1847-F635C9755B5F}"/>
              </a:ext>
            </a:extLst>
          </p:cNvPr>
          <p:cNvCxnSpPr>
            <a:cxnSpLocks/>
          </p:cNvCxnSpPr>
          <p:nvPr userDrawn="1"/>
        </p:nvCxnSpPr>
        <p:spPr>
          <a:xfrm>
            <a:off x="-24884" y="3239076"/>
            <a:ext cx="7106170"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6539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ontent with 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1E93DAE-0DFE-4F74-B3EE-F43F34588E1C}"/>
              </a:ext>
            </a:extLst>
          </p:cNvPr>
          <p:cNvGraphicFramePr>
            <a:graphicFrameLocks noChangeAspect="1"/>
          </p:cNvGraphicFramePr>
          <p:nvPr userDrawn="1">
            <p:custDataLst>
              <p:tags r:id="rId1"/>
            </p:custDataLst>
            <p:extLst>
              <p:ext uri="{D42A27DB-BD31-4B8C-83A1-F6EECF244321}">
                <p14:modId xmlns:p14="http://schemas.microsoft.com/office/powerpoint/2010/main" val="4111530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63" progId="TCLayout.ActiveDocument.1">
                  <p:embed/>
                </p:oleObj>
              </mc:Choice>
              <mc:Fallback>
                <p:oleObj name="think-cell Slide" r:id="rId3" imgW="353" imgH="363" progId="TCLayout.ActiveDocument.1">
                  <p:embed/>
                  <p:pic>
                    <p:nvPicPr>
                      <p:cNvPr id="3" name="think-cell data - do not delete" hidden="1">
                        <a:extLst>
                          <a:ext uri="{FF2B5EF4-FFF2-40B4-BE49-F238E27FC236}">
                            <a16:creationId xmlns:a16="http://schemas.microsoft.com/office/drawing/2014/main" id="{E1E93DAE-0DFE-4F74-B3EE-F43F34588E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4" name="Straight Connector 3">
            <a:extLst>
              <a:ext uri="{FF2B5EF4-FFF2-40B4-BE49-F238E27FC236}">
                <a16:creationId xmlns:a16="http://schemas.microsoft.com/office/drawing/2014/main" id="{93322416-FFB4-6DD8-9CC8-5AE62F7B3A22}"/>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vert="horz">
            <a:noAutofit/>
          </a:bodyPr>
          <a:lstStyle>
            <a:lvl1pPr>
              <a:defRPr sz="1100"/>
            </a:lvl1pPr>
          </a:lstStyle>
          <a:p>
            <a:r>
              <a:rPr lang="en-US"/>
              <a:t>CLICK TO EDIT MASTER TITLE STYLE</a:t>
            </a:r>
            <a:endParaRPr lang="en-SA"/>
          </a:p>
        </p:txBody>
      </p:sp>
    </p:spTree>
    <p:extLst>
      <p:ext uri="{BB962C8B-B14F-4D97-AF65-F5344CB8AC3E}">
        <p14:creationId xmlns:p14="http://schemas.microsoft.com/office/powerpoint/2010/main" val="3257543672"/>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Content with Tit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3322416-FFB4-6DD8-9CC8-5AE62F7B3A22}"/>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27" name="Title 26">
            <a:extLst>
              <a:ext uri="{FF2B5EF4-FFF2-40B4-BE49-F238E27FC236}">
                <a16:creationId xmlns:a16="http://schemas.microsoft.com/office/drawing/2014/main" id="{0A0E9E74-CC82-3BEF-55D6-A5FDC3A84101}"/>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472359434"/>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45">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out Ti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Tree>
    <p:extLst>
      <p:ext uri="{BB962C8B-B14F-4D97-AF65-F5344CB8AC3E}">
        <p14:creationId xmlns:p14="http://schemas.microsoft.com/office/powerpoint/2010/main" val="2797214154"/>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Wild Photo">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C5E63D79-F6F7-439B-48FC-E42AFDA3BCF2}"/>
              </a:ext>
            </a:extLst>
          </p:cNvPr>
          <p:cNvSpPr>
            <a:spLocks noGrp="1"/>
          </p:cNvSpPr>
          <p:nvPr>
            <p:ph type="pic" sz="quarter" idx="11"/>
          </p:nvPr>
        </p:nvSpPr>
        <p:spPr>
          <a:xfrm>
            <a:off x="323850" y="781676"/>
            <a:ext cx="8496300" cy="194627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10" name="Text Placeholder 15">
            <a:extLst>
              <a:ext uri="{FF2B5EF4-FFF2-40B4-BE49-F238E27FC236}">
                <a16:creationId xmlns:a16="http://schemas.microsoft.com/office/drawing/2014/main" id="{593BAA84-AAE3-47BE-B61F-C606F8B8FFC9}"/>
              </a:ext>
            </a:extLst>
          </p:cNvPr>
          <p:cNvSpPr>
            <a:spLocks noGrp="1"/>
          </p:cNvSpPr>
          <p:nvPr>
            <p:ph type="body" sz="quarter" idx="15" hasCustomPrompt="1"/>
          </p:nvPr>
        </p:nvSpPr>
        <p:spPr>
          <a:xfrm>
            <a:off x="323850" y="2924891"/>
            <a:ext cx="8496299" cy="246752"/>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able Placeholder 14">
            <a:extLst>
              <a:ext uri="{FF2B5EF4-FFF2-40B4-BE49-F238E27FC236}">
                <a16:creationId xmlns:a16="http://schemas.microsoft.com/office/drawing/2014/main" id="{160FE0B8-0092-10F7-C222-248997B2309D}"/>
              </a:ext>
            </a:extLst>
          </p:cNvPr>
          <p:cNvSpPr>
            <a:spLocks noGrp="1"/>
          </p:cNvSpPr>
          <p:nvPr>
            <p:ph type="tbl" sz="quarter" idx="16"/>
          </p:nvPr>
        </p:nvSpPr>
        <p:spPr>
          <a:xfrm>
            <a:off x="323850" y="3379589"/>
            <a:ext cx="8496300" cy="1171773"/>
          </a:xfrm>
          <a:prstGeom prst="rect">
            <a:avLst/>
          </a:prstGeom>
        </p:spPr>
        <p:txBody>
          <a:bodyPr/>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table</a:t>
            </a:r>
            <a:endParaRPr lang="en-SA"/>
          </a:p>
        </p:txBody>
      </p:sp>
      <p:cxnSp>
        <p:nvCxnSpPr>
          <p:cNvPr id="18" name="Straight Connector 17">
            <a:extLst>
              <a:ext uri="{FF2B5EF4-FFF2-40B4-BE49-F238E27FC236}">
                <a16:creationId xmlns:a16="http://schemas.microsoft.com/office/drawing/2014/main" id="{E7ED09B7-3F8C-B556-68F3-6E3D08144C5E}"/>
              </a:ext>
            </a:extLst>
          </p:cNvPr>
          <p:cNvCxnSpPr>
            <a:cxnSpLocks/>
          </p:cNvCxnSpPr>
          <p:nvPr userDrawn="1"/>
        </p:nvCxnSpPr>
        <p:spPr>
          <a:xfrm>
            <a:off x="1256371" y="513934"/>
            <a:ext cx="758282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34481DCD-520F-982D-71E2-7389450C1C08}"/>
              </a:ext>
            </a:extLst>
          </p:cNvPr>
          <p:cNvSpPr>
            <a:spLocks noGrp="1"/>
          </p:cNvSpPr>
          <p:nvPr>
            <p:ph type="title" hasCustomPrompt="1"/>
          </p:nvPr>
        </p:nvSpPr>
        <p:spPr/>
        <p:txBody>
          <a:bodyPr/>
          <a:lstStyle/>
          <a:p>
            <a:r>
              <a:rPr lang="en-US"/>
              <a:t>CLICK TO EDIT MASTER TITLE STYLE</a:t>
            </a:r>
            <a:endParaRPr lang="en-SA"/>
          </a:p>
        </p:txBody>
      </p:sp>
    </p:spTree>
    <p:extLst>
      <p:ext uri="{BB962C8B-B14F-4D97-AF65-F5344CB8AC3E}">
        <p14:creationId xmlns:p14="http://schemas.microsoft.com/office/powerpoint/2010/main" val="1398485719"/>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vy Content ">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F3C60F4-E3AA-1F3F-DDB1-3E1512E32193}"/>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5" name="Text Placeholder 14">
            <a:extLst>
              <a:ext uri="{FF2B5EF4-FFF2-40B4-BE49-F238E27FC236}">
                <a16:creationId xmlns:a16="http://schemas.microsoft.com/office/drawing/2014/main" id="{EE6A8381-4A00-FD4F-E99A-2B679E9B33FF}"/>
              </a:ext>
            </a:extLst>
          </p:cNvPr>
          <p:cNvSpPr>
            <a:spLocks noGrp="1"/>
          </p:cNvSpPr>
          <p:nvPr>
            <p:ph type="body" sz="quarter" idx="20" hasCustomPrompt="1"/>
          </p:nvPr>
        </p:nvSpPr>
        <p:spPr>
          <a:xfrm>
            <a:off x="319568" y="1508571"/>
            <a:ext cx="8501862" cy="706142"/>
          </a:xfrm>
        </p:spPr>
        <p:txBody>
          <a:bodyPr/>
          <a:lstStyle/>
          <a:p>
            <a:pPr lvl="3"/>
            <a:r>
              <a:rPr lang="en-US"/>
              <a:t>Body text here</a:t>
            </a:r>
          </a:p>
          <a:p>
            <a:pPr lvl="3"/>
            <a:r>
              <a:rPr lang="en-US"/>
              <a:t>Body text here</a:t>
            </a:r>
          </a:p>
          <a:p>
            <a:pPr lvl="3"/>
            <a:r>
              <a:rPr lang="en-US"/>
              <a:t>Body text here</a:t>
            </a:r>
          </a:p>
          <a:p>
            <a:pPr lvl="3"/>
            <a:r>
              <a:rPr lang="en-US"/>
              <a:t>Body text here</a:t>
            </a:r>
          </a:p>
        </p:txBody>
      </p:sp>
      <p:sp>
        <p:nvSpPr>
          <p:cNvPr id="20" name="Text Placeholder 15">
            <a:extLst>
              <a:ext uri="{FF2B5EF4-FFF2-40B4-BE49-F238E27FC236}">
                <a16:creationId xmlns:a16="http://schemas.microsoft.com/office/drawing/2014/main" id="{34AF7102-903E-2E0D-CF4D-AEE7D0606356}"/>
              </a:ext>
            </a:extLst>
          </p:cNvPr>
          <p:cNvSpPr>
            <a:spLocks noGrp="1"/>
          </p:cNvSpPr>
          <p:nvPr>
            <p:ph type="body" sz="quarter" idx="21" hasCustomPrompt="1"/>
          </p:nvPr>
        </p:nvSpPr>
        <p:spPr>
          <a:xfrm>
            <a:off x="323850" y="233277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Text Placeholder 15">
            <a:extLst>
              <a:ext uri="{FF2B5EF4-FFF2-40B4-BE49-F238E27FC236}">
                <a16:creationId xmlns:a16="http://schemas.microsoft.com/office/drawing/2014/main" id="{CA02BEB5-EB10-8F01-2D87-300ACE5E516C}"/>
              </a:ext>
            </a:extLst>
          </p:cNvPr>
          <p:cNvSpPr>
            <a:spLocks noGrp="1"/>
          </p:cNvSpPr>
          <p:nvPr>
            <p:ph type="body" sz="quarter" idx="23" hasCustomPrompt="1"/>
          </p:nvPr>
        </p:nvSpPr>
        <p:spPr>
          <a:xfrm>
            <a:off x="323849" y="31669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7" name="Text Placeholder 26">
            <a:extLst>
              <a:ext uri="{FF2B5EF4-FFF2-40B4-BE49-F238E27FC236}">
                <a16:creationId xmlns:a16="http://schemas.microsoft.com/office/drawing/2014/main" id="{31360F0F-A667-7019-2E37-33DD8B68A971}"/>
              </a:ext>
            </a:extLst>
          </p:cNvPr>
          <p:cNvSpPr>
            <a:spLocks noGrp="1"/>
          </p:cNvSpPr>
          <p:nvPr>
            <p:ph type="body" sz="quarter" idx="25" hasCustomPrompt="1"/>
          </p:nvPr>
        </p:nvSpPr>
        <p:spPr>
          <a:xfrm>
            <a:off x="323849" y="1015020"/>
            <a:ext cx="8496300"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8" name="Text Placeholder 26">
            <a:extLst>
              <a:ext uri="{FF2B5EF4-FFF2-40B4-BE49-F238E27FC236}">
                <a16:creationId xmlns:a16="http://schemas.microsoft.com/office/drawing/2014/main" id="{53DBBEB4-7B3E-DCA7-64CA-BB578A31E44C}"/>
              </a:ext>
            </a:extLst>
          </p:cNvPr>
          <p:cNvSpPr>
            <a:spLocks noGrp="1"/>
          </p:cNvSpPr>
          <p:nvPr>
            <p:ph type="body" sz="quarter" idx="26" hasCustomPrompt="1"/>
          </p:nvPr>
        </p:nvSpPr>
        <p:spPr>
          <a:xfrm>
            <a:off x="323849" y="2578644"/>
            <a:ext cx="8496301" cy="47771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29" name="Text Placeholder 26">
            <a:extLst>
              <a:ext uri="{FF2B5EF4-FFF2-40B4-BE49-F238E27FC236}">
                <a16:creationId xmlns:a16="http://schemas.microsoft.com/office/drawing/2014/main" id="{C06685A2-318B-C098-6BDF-C4687A7AC986}"/>
              </a:ext>
            </a:extLst>
          </p:cNvPr>
          <p:cNvSpPr>
            <a:spLocks noGrp="1"/>
          </p:cNvSpPr>
          <p:nvPr>
            <p:ph type="body" sz="quarter" idx="27" hasCustomPrompt="1"/>
          </p:nvPr>
        </p:nvSpPr>
        <p:spPr>
          <a:xfrm>
            <a:off x="323850" y="3410748"/>
            <a:ext cx="8496300" cy="1140615"/>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32" name="Title 4">
            <a:extLst>
              <a:ext uri="{FF2B5EF4-FFF2-40B4-BE49-F238E27FC236}">
                <a16:creationId xmlns:a16="http://schemas.microsoft.com/office/drawing/2014/main" id="{134029DC-1981-2D55-218B-23C049E5A225}"/>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992370572"/>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Heavy Content ">
    <p:spTree>
      <p:nvGrpSpPr>
        <p:cNvPr id="1" name=""/>
        <p:cNvGrpSpPr/>
        <p:nvPr/>
      </p:nvGrpSpPr>
      <p:grpSpPr>
        <a:xfrm>
          <a:off x="0" y="0"/>
          <a:ext cx="0" cy="0"/>
          <a:chOff x="0" y="0"/>
          <a:chExt cx="0" cy="0"/>
        </a:xfrm>
      </p:grpSpPr>
      <p:sp>
        <p:nvSpPr>
          <p:cNvPr id="7" name="Text Placeholder 15">
            <a:extLst>
              <a:ext uri="{FF2B5EF4-FFF2-40B4-BE49-F238E27FC236}">
                <a16:creationId xmlns:a16="http://schemas.microsoft.com/office/drawing/2014/main" id="{EE77B192-B893-8971-B271-AC63637A206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8" name="Text Placeholder 26">
            <a:extLst>
              <a:ext uri="{FF2B5EF4-FFF2-40B4-BE49-F238E27FC236}">
                <a16:creationId xmlns:a16="http://schemas.microsoft.com/office/drawing/2014/main" id="{0361BD90-5B42-10E2-969A-B5889292C21C}"/>
              </a:ext>
            </a:extLst>
          </p:cNvPr>
          <p:cNvSpPr>
            <a:spLocks noGrp="1"/>
          </p:cNvSpPr>
          <p:nvPr>
            <p:ph type="body" sz="quarter" idx="25" hasCustomPrompt="1"/>
          </p:nvPr>
        </p:nvSpPr>
        <p:spPr>
          <a:xfrm>
            <a:off x="323849" y="1015020"/>
            <a:ext cx="8496301"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1" name="Title 4">
            <a:extLst>
              <a:ext uri="{FF2B5EF4-FFF2-40B4-BE49-F238E27FC236}">
                <a16:creationId xmlns:a16="http://schemas.microsoft.com/office/drawing/2014/main" id="{2E6A1F2E-D8AD-3208-9C3F-9BD0654DA9F2}"/>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43334648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Heavy Content ">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09740954-8C27-8302-D638-45CFCA778965}"/>
              </a:ext>
            </a:extLst>
          </p:cNvPr>
          <p:cNvSpPr>
            <a:spLocks noGrp="1"/>
          </p:cNvSpPr>
          <p:nvPr>
            <p:ph type="pic" sz="quarter" idx="14"/>
          </p:nvPr>
        </p:nvSpPr>
        <p:spPr>
          <a:xfrm>
            <a:off x="4724401" y="1015020"/>
            <a:ext cx="4095750" cy="3545542"/>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5" name="Text Placeholder 15">
            <a:extLst>
              <a:ext uri="{FF2B5EF4-FFF2-40B4-BE49-F238E27FC236}">
                <a16:creationId xmlns:a16="http://schemas.microsoft.com/office/drawing/2014/main" id="{9DEB9C49-F9DD-9E0B-CA20-D228F3BF856C}"/>
              </a:ext>
            </a:extLst>
          </p:cNvPr>
          <p:cNvSpPr>
            <a:spLocks noGrp="1"/>
          </p:cNvSpPr>
          <p:nvPr>
            <p:ph type="body" sz="quarter" idx="11" hasCustomPrompt="1"/>
          </p:nvPr>
        </p:nvSpPr>
        <p:spPr>
          <a:xfrm>
            <a:off x="323849" y="770532"/>
            <a:ext cx="8496301"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6" name="Text Placeholder 26">
            <a:extLst>
              <a:ext uri="{FF2B5EF4-FFF2-40B4-BE49-F238E27FC236}">
                <a16:creationId xmlns:a16="http://schemas.microsoft.com/office/drawing/2014/main" id="{DF34FA57-6720-CCDD-D940-7AFDA13CBF48}"/>
              </a:ext>
            </a:extLst>
          </p:cNvPr>
          <p:cNvSpPr>
            <a:spLocks noGrp="1"/>
          </p:cNvSpPr>
          <p:nvPr>
            <p:ph type="body" sz="quarter" idx="25" hasCustomPrompt="1"/>
          </p:nvPr>
        </p:nvSpPr>
        <p:spPr>
          <a:xfrm>
            <a:off x="323849" y="1015020"/>
            <a:ext cx="4095750" cy="353634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14" name="Title 4">
            <a:extLst>
              <a:ext uri="{FF2B5EF4-FFF2-40B4-BE49-F238E27FC236}">
                <a16:creationId xmlns:a16="http://schemas.microsoft.com/office/drawing/2014/main" id="{7972ED5C-D7A9-7213-5E4E-7FEEA79C1FC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03771400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Heavy Content ">
    <p:spTree>
      <p:nvGrpSpPr>
        <p:cNvPr id="1" name=""/>
        <p:cNvGrpSpPr/>
        <p:nvPr/>
      </p:nvGrpSpPr>
      <p:grpSpPr>
        <a:xfrm>
          <a:off x="0" y="0"/>
          <a:ext cx="0" cy="0"/>
          <a:chOff x="0" y="0"/>
          <a:chExt cx="0" cy="0"/>
        </a:xfrm>
      </p:grpSpPr>
      <p:sp>
        <p:nvSpPr>
          <p:cNvPr id="4" name="Text Placeholder 15">
            <a:extLst>
              <a:ext uri="{FF2B5EF4-FFF2-40B4-BE49-F238E27FC236}">
                <a16:creationId xmlns:a16="http://schemas.microsoft.com/office/drawing/2014/main" id="{8DF0694E-B26D-4C07-3464-889128CF46CC}"/>
              </a:ext>
            </a:extLst>
          </p:cNvPr>
          <p:cNvSpPr>
            <a:spLocks noGrp="1"/>
          </p:cNvSpPr>
          <p:nvPr>
            <p:ph type="body" sz="quarter" idx="11" hasCustomPrompt="1"/>
          </p:nvPr>
        </p:nvSpPr>
        <p:spPr>
          <a:xfrm>
            <a:off x="323851" y="770532"/>
            <a:ext cx="409574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7" name="Text Placeholder 26">
            <a:extLst>
              <a:ext uri="{FF2B5EF4-FFF2-40B4-BE49-F238E27FC236}">
                <a16:creationId xmlns:a16="http://schemas.microsoft.com/office/drawing/2014/main" id="{E4D84FB3-7CB7-EB17-D9F0-978923A22963}"/>
              </a:ext>
            </a:extLst>
          </p:cNvPr>
          <p:cNvSpPr>
            <a:spLocks noGrp="1"/>
          </p:cNvSpPr>
          <p:nvPr>
            <p:ph type="body" sz="quarter" idx="25" hasCustomPrompt="1"/>
          </p:nvPr>
        </p:nvSpPr>
        <p:spPr>
          <a:xfrm>
            <a:off x="323850" y="1015020"/>
            <a:ext cx="4095749" cy="1673316"/>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Picture Placeholder 5">
            <a:extLst>
              <a:ext uri="{FF2B5EF4-FFF2-40B4-BE49-F238E27FC236}">
                <a16:creationId xmlns:a16="http://schemas.microsoft.com/office/drawing/2014/main" id="{2689D924-B573-9F3B-11FD-1A189D0ACA31}"/>
              </a:ext>
            </a:extLst>
          </p:cNvPr>
          <p:cNvSpPr>
            <a:spLocks noGrp="1"/>
          </p:cNvSpPr>
          <p:nvPr>
            <p:ph type="pic" sz="quarter" idx="14"/>
          </p:nvPr>
        </p:nvSpPr>
        <p:spPr>
          <a:xfrm>
            <a:off x="4724401" y="1015020"/>
            <a:ext cx="4095750"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14" name="Picture Placeholder 5">
            <a:extLst>
              <a:ext uri="{FF2B5EF4-FFF2-40B4-BE49-F238E27FC236}">
                <a16:creationId xmlns:a16="http://schemas.microsoft.com/office/drawing/2014/main" id="{37CF3A16-6EF2-45BE-1B4F-3C77259A317E}"/>
              </a:ext>
            </a:extLst>
          </p:cNvPr>
          <p:cNvSpPr>
            <a:spLocks noGrp="1"/>
          </p:cNvSpPr>
          <p:nvPr>
            <p:ph type="pic" sz="quarter" idx="27"/>
          </p:nvPr>
        </p:nvSpPr>
        <p:spPr>
          <a:xfrm>
            <a:off x="318286" y="2942294"/>
            <a:ext cx="4101314"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r>
              <a:rPr lang="en-US"/>
              <a:t>Click icon to add picture</a:t>
            </a:r>
            <a:endParaRPr lang="en-SA"/>
          </a:p>
        </p:txBody>
      </p:sp>
      <p:sp>
        <p:nvSpPr>
          <p:cNvPr id="18" name="Title 4">
            <a:extLst>
              <a:ext uri="{FF2B5EF4-FFF2-40B4-BE49-F238E27FC236}">
                <a16:creationId xmlns:a16="http://schemas.microsoft.com/office/drawing/2014/main" id="{53D343EC-4656-122D-3A78-738663F7AB57}"/>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2356475092"/>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Heavy Content ">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999BEE0A-983E-CF6E-3446-3D7EE05835CB}"/>
              </a:ext>
            </a:extLst>
          </p:cNvPr>
          <p:cNvSpPr>
            <a:spLocks noGrp="1"/>
          </p:cNvSpPr>
          <p:nvPr>
            <p:ph type="body" sz="quarter" idx="11" hasCustomPrompt="1"/>
          </p:nvPr>
        </p:nvSpPr>
        <p:spPr>
          <a:xfrm>
            <a:off x="323851"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16" name="Picture Placeholder 5">
            <a:extLst>
              <a:ext uri="{FF2B5EF4-FFF2-40B4-BE49-F238E27FC236}">
                <a16:creationId xmlns:a16="http://schemas.microsoft.com/office/drawing/2014/main" id="{CB929CED-133E-AE9C-4043-4E351A200028}"/>
              </a:ext>
            </a:extLst>
          </p:cNvPr>
          <p:cNvSpPr>
            <a:spLocks noGrp="1"/>
          </p:cNvSpPr>
          <p:nvPr>
            <p:ph type="pic" sz="quarter" idx="14"/>
          </p:nvPr>
        </p:nvSpPr>
        <p:spPr>
          <a:xfrm>
            <a:off x="4724401" y="1015020"/>
            <a:ext cx="4093715" cy="3536343"/>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17" name="Picture Placeholder 5">
            <a:extLst>
              <a:ext uri="{FF2B5EF4-FFF2-40B4-BE49-F238E27FC236}">
                <a16:creationId xmlns:a16="http://schemas.microsoft.com/office/drawing/2014/main" id="{FE3DC04A-A27A-0749-391E-FC16FFFBBF19}"/>
              </a:ext>
            </a:extLst>
          </p:cNvPr>
          <p:cNvSpPr>
            <a:spLocks noGrp="1"/>
          </p:cNvSpPr>
          <p:nvPr>
            <p:ph type="pic" sz="quarter" idx="27"/>
          </p:nvPr>
        </p:nvSpPr>
        <p:spPr>
          <a:xfrm>
            <a:off x="325884" y="2942294"/>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r>
              <a:rPr lang="en-US"/>
              <a:t>Click icon to add picture</a:t>
            </a:r>
            <a:endParaRPr lang="en-SA"/>
          </a:p>
        </p:txBody>
      </p:sp>
      <p:sp>
        <p:nvSpPr>
          <p:cNvPr id="18" name="Picture Placeholder 5">
            <a:extLst>
              <a:ext uri="{FF2B5EF4-FFF2-40B4-BE49-F238E27FC236}">
                <a16:creationId xmlns:a16="http://schemas.microsoft.com/office/drawing/2014/main" id="{750E1692-A5A5-77B1-1F6F-2CFEA35184A1}"/>
              </a:ext>
            </a:extLst>
          </p:cNvPr>
          <p:cNvSpPr>
            <a:spLocks noGrp="1"/>
          </p:cNvSpPr>
          <p:nvPr>
            <p:ph type="pic" sz="quarter" idx="18"/>
          </p:nvPr>
        </p:nvSpPr>
        <p:spPr>
          <a:xfrm>
            <a:off x="325884" y="1016450"/>
            <a:ext cx="4093716"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r>
              <a:rPr lang="en-US"/>
              <a:t>Click icon to add picture</a:t>
            </a:r>
            <a:endParaRPr lang="en-SA"/>
          </a:p>
        </p:txBody>
      </p:sp>
      <p:sp>
        <p:nvSpPr>
          <p:cNvPr id="24" name="Title 4">
            <a:extLst>
              <a:ext uri="{FF2B5EF4-FFF2-40B4-BE49-F238E27FC236}">
                <a16:creationId xmlns:a16="http://schemas.microsoft.com/office/drawing/2014/main" id="{B34E6867-AD99-2838-8C10-ECFAACFC6CC1}"/>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249683636"/>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Heavy Content ">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E91A9CE8-D9B8-8207-FFF9-1084438AEA25}"/>
              </a:ext>
            </a:extLst>
          </p:cNvPr>
          <p:cNvSpPr>
            <a:spLocks noGrp="1"/>
          </p:cNvSpPr>
          <p:nvPr>
            <p:ph type="body" sz="quarter" idx="11" hasCustomPrompt="1"/>
          </p:nvPr>
        </p:nvSpPr>
        <p:spPr>
          <a:xfrm>
            <a:off x="323850"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24" name="Picture Placeholder 5">
            <a:extLst>
              <a:ext uri="{FF2B5EF4-FFF2-40B4-BE49-F238E27FC236}">
                <a16:creationId xmlns:a16="http://schemas.microsoft.com/office/drawing/2014/main" id="{DE209958-14EE-8110-80D6-28C39824E8D4}"/>
              </a:ext>
            </a:extLst>
          </p:cNvPr>
          <p:cNvSpPr>
            <a:spLocks noGrp="1"/>
          </p:cNvSpPr>
          <p:nvPr>
            <p:ph type="pic" sz="quarter" idx="27"/>
          </p:nvPr>
        </p:nvSpPr>
        <p:spPr>
          <a:xfrm>
            <a:off x="32385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r>
              <a:rPr lang="en-US"/>
              <a:t>Click icon to add picture</a:t>
            </a:r>
            <a:endParaRPr lang="en-SA"/>
          </a:p>
        </p:txBody>
      </p:sp>
      <p:sp>
        <p:nvSpPr>
          <p:cNvPr id="25" name="Picture Placeholder 5">
            <a:extLst>
              <a:ext uri="{FF2B5EF4-FFF2-40B4-BE49-F238E27FC236}">
                <a16:creationId xmlns:a16="http://schemas.microsoft.com/office/drawing/2014/main" id="{030635A7-4B2F-AA42-CC6F-4CF4E4C3D7BD}"/>
              </a:ext>
            </a:extLst>
          </p:cNvPr>
          <p:cNvSpPr>
            <a:spLocks noGrp="1"/>
          </p:cNvSpPr>
          <p:nvPr>
            <p:ph type="pic" sz="quarter" idx="18"/>
          </p:nvPr>
        </p:nvSpPr>
        <p:spPr>
          <a:xfrm>
            <a:off x="32385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26" name="Picture Placeholder 5">
            <a:extLst>
              <a:ext uri="{FF2B5EF4-FFF2-40B4-BE49-F238E27FC236}">
                <a16:creationId xmlns:a16="http://schemas.microsoft.com/office/drawing/2014/main" id="{8A74BDD0-A9DE-AF09-A11C-41CCDD567CCE}"/>
              </a:ext>
            </a:extLst>
          </p:cNvPr>
          <p:cNvSpPr>
            <a:spLocks noGrp="1"/>
          </p:cNvSpPr>
          <p:nvPr>
            <p:ph type="pic" sz="quarter" idx="28"/>
          </p:nvPr>
        </p:nvSpPr>
        <p:spPr>
          <a:xfrm>
            <a:off x="4724400" y="2942294"/>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r>
              <a:rPr lang="en-US"/>
              <a:t>Click icon to add picture</a:t>
            </a:r>
            <a:endParaRPr lang="en-SA"/>
          </a:p>
        </p:txBody>
      </p:sp>
      <p:sp>
        <p:nvSpPr>
          <p:cNvPr id="27" name="Picture Placeholder 5">
            <a:extLst>
              <a:ext uri="{FF2B5EF4-FFF2-40B4-BE49-F238E27FC236}">
                <a16:creationId xmlns:a16="http://schemas.microsoft.com/office/drawing/2014/main" id="{F001EE93-86CC-1631-6ECC-1A09ECA433E8}"/>
              </a:ext>
            </a:extLst>
          </p:cNvPr>
          <p:cNvSpPr>
            <a:spLocks noGrp="1"/>
          </p:cNvSpPr>
          <p:nvPr>
            <p:ph type="pic" sz="quarter" idx="29"/>
          </p:nvPr>
        </p:nvSpPr>
        <p:spPr>
          <a:xfrm>
            <a:off x="4724400" y="1016450"/>
            <a:ext cx="4095750" cy="1608605"/>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30" name="Title 4">
            <a:extLst>
              <a:ext uri="{FF2B5EF4-FFF2-40B4-BE49-F238E27FC236}">
                <a16:creationId xmlns:a16="http://schemas.microsoft.com/office/drawing/2014/main" id="{732A8086-D40C-0171-EA62-CA630F60A730}"/>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702791272"/>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Heavy Content ">
    <p:spTree>
      <p:nvGrpSpPr>
        <p:cNvPr id="1" name=""/>
        <p:cNvGrpSpPr/>
        <p:nvPr/>
      </p:nvGrpSpPr>
      <p:grpSpPr>
        <a:xfrm>
          <a:off x="0" y="0"/>
          <a:ext cx="0" cy="0"/>
          <a:chOff x="0" y="0"/>
          <a:chExt cx="0" cy="0"/>
        </a:xfrm>
      </p:grpSpPr>
      <p:sp>
        <p:nvSpPr>
          <p:cNvPr id="12" name="Picture Placeholder 5">
            <a:extLst>
              <a:ext uri="{FF2B5EF4-FFF2-40B4-BE49-F238E27FC236}">
                <a16:creationId xmlns:a16="http://schemas.microsoft.com/office/drawing/2014/main" id="{F7B5159B-DD76-53E1-A1B7-565EEC39B250}"/>
              </a:ext>
            </a:extLst>
          </p:cNvPr>
          <p:cNvSpPr>
            <a:spLocks noGrp="1"/>
          </p:cNvSpPr>
          <p:nvPr>
            <p:ph type="pic" sz="quarter" idx="11"/>
          </p:nvPr>
        </p:nvSpPr>
        <p:spPr>
          <a:xfrm>
            <a:off x="323823" y="2571751"/>
            <a:ext cx="8496327" cy="1819018"/>
          </a:xfrm>
          <a:prstGeom prst="rect">
            <a:avLst/>
          </a:prstGeom>
        </p:spPr>
        <p:txBody>
          <a:bodyPr anchor="t"/>
          <a:lstStyle>
            <a:lvl1pPr marL="0" indent="0" algn="ctr">
              <a:buNone/>
              <a:defRPr sz="1200">
                <a:solidFill>
                  <a:schemeClr val="tx1"/>
                </a:solidFill>
                <a:latin typeface="Fund Regular" pitchFamily="2" charset="-78"/>
                <a:cs typeface="Fund Regular" pitchFamily="2" charset="-78"/>
              </a:defRPr>
            </a:lvl1pPr>
          </a:lstStyle>
          <a:p>
            <a:pPr marL="0" indent="0" algn="ctr" defTabSz="685800" rtl="1" eaLnBrk="1" latinLnBrk="0" hangingPunct="1">
              <a:lnSpc>
                <a:spcPct val="150000"/>
              </a:lnSpc>
              <a:spcBef>
                <a:spcPts val="0"/>
              </a:spcBef>
              <a:buClr>
                <a:schemeClr val="bg2"/>
              </a:buClr>
              <a:buFont typeface="Arial" panose="020B0604020202020204" pitchFamily="34" charset="0"/>
              <a:buNone/>
            </a:pPr>
            <a:r>
              <a:rPr lang="en-US"/>
              <a:t>Click icon to add picture</a:t>
            </a:r>
            <a:endParaRPr lang="en-SA"/>
          </a:p>
        </p:txBody>
      </p:sp>
      <p:sp>
        <p:nvSpPr>
          <p:cNvPr id="3" name="Text Placeholder 15">
            <a:extLst>
              <a:ext uri="{FF2B5EF4-FFF2-40B4-BE49-F238E27FC236}">
                <a16:creationId xmlns:a16="http://schemas.microsoft.com/office/drawing/2014/main" id="{82E5DD3A-DC8C-3C86-99AE-9879313ADA98}"/>
              </a:ext>
            </a:extLst>
          </p:cNvPr>
          <p:cNvSpPr>
            <a:spLocks noGrp="1"/>
          </p:cNvSpPr>
          <p:nvPr>
            <p:ph type="body" sz="quarter" idx="12" hasCustomPrompt="1"/>
          </p:nvPr>
        </p:nvSpPr>
        <p:spPr>
          <a:xfrm>
            <a:off x="323850" y="770532"/>
            <a:ext cx="8496299"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C87D6031-A671-4CA7-B8CD-855A9E548B71}"/>
              </a:ext>
            </a:extLst>
          </p:cNvPr>
          <p:cNvSpPr>
            <a:spLocks noGrp="1"/>
          </p:cNvSpPr>
          <p:nvPr>
            <p:ph type="body" sz="quarter" idx="25" hasCustomPrompt="1"/>
          </p:nvPr>
        </p:nvSpPr>
        <p:spPr>
          <a:xfrm>
            <a:off x="323850" y="1015020"/>
            <a:ext cx="8496300" cy="1334980"/>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C0E66309-A0FA-530A-0FA7-3F979A9EA203}"/>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747304315"/>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17" name="Text Placeholder 15">
            <a:extLst>
              <a:ext uri="{FF2B5EF4-FFF2-40B4-BE49-F238E27FC236}">
                <a16:creationId xmlns:a16="http://schemas.microsoft.com/office/drawing/2014/main" id="{864B2C5F-15A1-0237-E736-B18B7007540E}"/>
              </a:ext>
            </a:extLst>
          </p:cNvPr>
          <p:cNvSpPr>
            <a:spLocks noGrp="1"/>
          </p:cNvSpPr>
          <p:nvPr>
            <p:ph type="body" sz="quarter" idx="11" hasCustomPrompt="1"/>
          </p:nvPr>
        </p:nvSpPr>
        <p:spPr>
          <a:xfrm>
            <a:off x="323850" y="1496532"/>
            <a:ext cx="336308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FIRST NAME LAST NAME</a:t>
            </a:r>
          </a:p>
        </p:txBody>
      </p:sp>
      <p:sp>
        <p:nvSpPr>
          <p:cNvPr id="18" name="Text Placeholder 15">
            <a:extLst>
              <a:ext uri="{FF2B5EF4-FFF2-40B4-BE49-F238E27FC236}">
                <a16:creationId xmlns:a16="http://schemas.microsoft.com/office/drawing/2014/main" id="{5C6495FB-2E37-9EEA-E8C5-67126F522F98}"/>
              </a:ext>
            </a:extLst>
          </p:cNvPr>
          <p:cNvSpPr>
            <a:spLocks noGrp="1"/>
          </p:cNvSpPr>
          <p:nvPr>
            <p:ph type="body" sz="quarter" idx="12" hasCustomPrompt="1"/>
          </p:nvPr>
        </p:nvSpPr>
        <p:spPr>
          <a:xfrm>
            <a:off x="323850" y="1801332"/>
            <a:ext cx="3363084" cy="178502"/>
          </a:xfrm>
          <a:prstGeom prst="rect">
            <a:avLst/>
          </a:prstGeom>
        </p:spPr>
        <p:txBody>
          <a:bodyPr/>
          <a:lstStyle>
            <a:lvl1pPr marL="0" indent="0" algn="l" defTabSz="457200" rtl="0" eaLnBrk="1" latinLnBrk="0" hangingPunct="1">
              <a:lnSpc>
                <a:spcPct val="100000"/>
              </a:lnSpc>
              <a:buNone/>
              <a:defRPr lang="en-SA" sz="800" kern="1200" dirty="0">
                <a:solidFill>
                  <a:schemeClr val="tx2"/>
                </a:solidFill>
                <a:latin typeface="Fund Light" pitchFamily="2" charset="-78"/>
                <a:ea typeface="+mn-ea"/>
                <a:cs typeface="Fund Light" pitchFamily="2" charset="-78"/>
              </a:defRPr>
            </a:lvl1pPr>
          </a:lstStyle>
          <a:p>
            <a:pPr lvl="0"/>
            <a:r>
              <a:rPr lang="en-US"/>
              <a:t>POSITION</a:t>
            </a:r>
            <a:endParaRPr lang="en-SA"/>
          </a:p>
        </p:txBody>
      </p:sp>
      <p:sp>
        <p:nvSpPr>
          <p:cNvPr id="40" name="Picture Placeholder 38">
            <a:extLst>
              <a:ext uri="{FF2B5EF4-FFF2-40B4-BE49-F238E27FC236}">
                <a16:creationId xmlns:a16="http://schemas.microsoft.com/office/drawing/2014/main" id="{936645E6-889A-5051-D79B-F4C7655AD7E6}"/>
              </a:ext>
            </a:extLst>
          </p:cNvPr>
          <p:cNvSpPr>
            <a:spLocks noGrp="1"/>
          </p:cNvSpPr>
          <p:nvPr>
            <p:ph type="pic" sz="quarter" idx="14"/>
          </p:nvPr>
        </p:nvSpPr>
        <p:spPr>
          <a:xfrm>
            <a:off x="5859642" y="1707311"/>
            <a:ext cx="1739312" cy="1739312"/>
          </a:xfrm>
          <a:prstGeom prst="ellipse">
            <a:avLst/>
          </a:prstGeom>
        </p:spPr>
        <p:txBody>
          <a:bodyPr anchor="ctr"/>
          <a:lstStyle>
            <a:lvl1pPr marL="0" indent="0" algn="ctr">
              <a:buNone/>
              <a:defRPr sz="1400">
                <a:latin typeface="Fund Regular" pitchFamily="2" charset="-78"/>
                <a:cs typeface="Fund Regular" pitchFamily="2" charset="-78"/>
              </a:defRPr>
            </a:lvl1pPr>
          </a:lstStyle>
          <a:p>
            <a:r>
              <a:rPr lang="en-US"/>
              <a:t>Click icon to add picture</a:t>
            </a:r>
            <a:endParaRPr lang="en-SA"/>
          </a:p>
        </p:txBody>
      </p:sp>
      <p:sp>
        <p:nvSpPr>
          <p:cNvPr id="41" name="Oval 40">
            <a:extLst>
              <a:ext uri="{FF2B5EF4-FFF2-40B4-BE49-F238E27FC236}">
                <a16:creationId xmlns:a16="http://schemas.microsoft.com/office/drawing/2014/main" id="{5AAC91EF-9292-BEF6-ACFB-00D499714556}"/>
              </a:ext>
            </a:extLst>
          </p:cNvPr>
          <p:cNvSpPr/>
          <p:nvPr userDrawn="1"/>
        </p:nvSpPr>
        <p:spPr>
          <a:xfrm>
            <a:off x="5751845" y="1599514"/>
            <a:ext cx="1954906" cy="1954906"/>
          </a:xfrm>
          <a:prstGeom prst="ellipse">
            <a:avLst/>
          </a:prstGeom>
          <a:noFill/>
          <a:ln w="50800">
            <a:solidFill>
              <a:srgbClr val="C498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latin typeface="Fund Regular" pitchFamily="2" charset="-78"/>
            </a:endParaRPr>
          </a:p>
        </p:txBody>
      </p:sp>
      <p:sp>
        <p:nvSpPr>
          <p:cNvPr id="3" name="Text Placeholder 26">
            <a:extLst>
              <a:ext uri="{FF2B5EF4-FFF2-40B4-BE49-F238E27FC236}">
                <a16:creationId xmlns:a16="http://schemas.microsoft.com/office/drawing/2014/main" id="{A29F6922-69E1-848C-3CCA-641E2B1D80FF}"/>
              </a:ext>
            </a:extLst>
          </p:cNvPr>
          <p:cNvSpPr>
            <a:spLocks noGrp="1"/>
          </p:cNvSpPr>
          <p:nvPr>
            <p:ph type="body" sz="quarter" idx="25" hasCustomPrompt="1"/>
          </p:nvPr>
        </p:nvSpPr>
        <p:spPr>
          <a:xfrm>
            <a:off x="317641" y="2087631"/>
            <a:ext cx="3375518"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139392B3-A5E4-AB28-63E2-C80852AF00CB}"/>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479119677"/>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Profile">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6BAFF34A-EDD5-AC5C-03F6-4E5B273FAD86}"/>
              </a:ext>
            </a:extLst>
          </p:cNvPr>
          <p:cNvSpPr>
            <a:spLocks noGrp="1"/>
          </p:cNvSpPr>
          <p:nvPr>
            <p:ph type="body" sz="quarter" idx="11" hasCustomPrompt="1"/>
          </p:nvPr>
        </p:nvSpPr>
        <p:spPr>
          <a:xfrm>
            <a:off x="330036" y="1569684"/>
            <a:ext cx="3356898"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28453984-8213-F149-1272-6CB1D89FF1F5}"/>
              </a:ext>
            </a:extLst>
          </p:cNvPr>
          <p:cNvSpPr>
            <a:spLocks noGrp="1"/>
          </p:cNvSpPr>
          <p:nvPr>
            <p:ph type="body" sz="quarter" idx="25" hasCustomPrompt="1"/>
          </p:nvPr>
        </p:nvSpPr>
        <p:spPr>
          <a:xfrm>
            <a:off x="323850" y="1904751"/>
            <a:ext cx="3369309" cy="1954903"/>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A57B1658-19CD-AEC4-A12E-8D62D086CE5F}"/>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075674648"/>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umber">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661DDD9-977E-A43B-4A90-ABE38DAD5356}"/>
              </a:ext>
            </a:extLst>
          </p:cNvPr>
          <p:cNvCxnSpPr>
            <a:cxnSpLocks/>
          </p:cNvCxnSpPr>
          <p:nvPr userDrawn="1"/>
        </p:nvCxnSpPr>
        <p:spPr>
          <a:xfrm>
            <a:off x="321858" y="2537955"/>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F65909-14A7-2935-FEB5-DFB0A8192A6D}"/>
              </a:ext>
            </a:extLst>
          </p:cNvPr>
          <p:cNvCxnSpPr>
            <a:cxnSpLocks/>
          </p:cNvCxnSpPr>
          <p:nvPr userDrawn="1"/>
        </p:nvCxnSpPr>
        <p:spPr>
          <a:xfrm>
            <a:off x="321858" y="3719532"/>
            <a:ext cx="8498272" cy="0"/>
          </a:xfrm>
          <a:prstGeom prst="line">
            <a:avLst/>
          </a:prstGeom>
          <a:ln>
            <a:solidFill>
              <a:srgbClr val="C4984E"/>
            </a:solidFill>
          </a:ln>
        </p:spPr>
        <p:style>
          <a:lnRef idx="1">
            <a:schemeClr val="accent1"/>
          </a:lnRef>
          <a:fillRef idx="0">
            <a:schemeClr val="accent1"/>
          </a:fillRef>
          <a:effectRef idx="0">
            <a:schemeClr val="accent1"/>
          </a:effectRef>
          <a:fontRef idx="minor">
            <a:schemeClr val="tx1"/>
          </a:fontRef>
        </p:style>
      </p:cxnSp>
      <p:sp>
        <p:nvSpPr>
          <p:cNvPr id="48" name="Text Placeholder 15">
            <a:extLst>
              <a:ext uri="{FF2B5EF4-FFF2-40B4-BE49-F238E27FC236}">
                <a16:creationId xmlns:a16="http://schemas.microsoft.com/office/drawing/2014/main" id="{AC6F0ABF-1730-83F6-4BF3-9FF97AE5EAE5}"/>
              </a:ext>
            </a:extLst>
          </p:cNvPr>
          <p:cNvSpPr>
            <a:spLocks noGrp="1"/>
          </p:cNvSpPr>
          <p:nvPr>
            <p:ph type="body" sz="quarter" idx="14" hasCustomPrompt="1"/>
          </p:nvPr>
        </p:nvSpPr>
        <p:spPr>
          <a:xfrm>
            <a:off x="6931889"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49" name="Text Placeholder 15">
            <a:extLst>
              <a:ext uri="{FF2B5EF4-FFF2-40B4-BE49-F238E27FC236}">
                <a16:creationId xmlns:a16="http://schemas.microsoft.com/office/drawing/2014/main" id="{4267A293-ABD0-5AA1-EBE7-F0C1C00CC67E}"/>
              </a:ext>
            </a:extLst>
          </p:cNvPr>
          <p:cNvSpPr>
            <a:spLocks noGrp="1"/>
          </p:cNvSpPr>
          <p:nvPr>
            <p:ph type="body" sz="quarter" idx="15" hasCustomPrompt="1"/>
          </p:nvPr>
        </p:nvSpPr>
        <p:spPr>
          <a:xfrm>
            <a:off x="6931889"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56" name="Text Placeholder 15">
            <a:extLst>
              <a:ext uri="{FF2B5EF4-FFF2-40B4-BE49-F238E27FC236}">
                <a16:creationId xmlns:a16="http://schemas.microsoft.com/office/drawing/2014/main" id="{2D7E3E82-D109-BAE5-A33C-C12AAC8CA330}"/>
              </a:ext>
            </a:extLst>
          </p:cNvPr>
          <p:cNvSpPr>
            <a:spLocks noGrp="1"/>
          </p:cNvSpPr>
          <p:nvPr>
            <p:ph type="body" sz="quarter" idx="16" hasCustomPrompt="1"/>
          </p:nvPr>
        </p:nvSpPr>
        <p:spPr>
          <a:xfrm>
            <a:off x="4955515"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57" name="Text Placeholder 15">
            <a:extLst>
              <a:ext uri="{FF2B5EF4-FFF2-40B4-BE49-F238E27FC236}">
                <a16:creationId xmlns:a16="http://schemas.microsoft.com/office/drawing/2014/main" id="{758AFB6A-B660-04E2-84AD-E45B888A97A5}"/>
              </a:ext>
            </a:extLst>
          </p:cNvPr>
          <p:cNvSpPr>
            <a:spLocks noGrp="1"/>
          </p:cNvSpPr>
          <p:nvPr>
            <p:ph type="body" sz="quarter" idx="17" hasCustomPrompt="1"/>
          </p:nvPr>
        </p:nvSpPr>
        <p:spPr>
          <a:xfrm>
            <a:off x="4955515"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0" name="Text Placeholder 15">
            <a:extLst>
              <a:ext uri="{FF2B5EF4-FFF2-40B4-BE49-F238E27FC236}">
                <a16:creationId xmlns:a16="http://schemas.microsoft.com/office/drawing/2014/main" id="{3F810960-53C9-0AD8-43D9-803A37E6DDD2}"/>
              </a:ext>
            </a:extLst>
          </p:cNvPr>
          <p:cNvSpPr>
            <a:spLocks noGrp="1"/>
          </p:cNvSpPr>
          <p:nvPr>
            <p:ph type="body" sz="quarter" idx="18" hasCustomPrompt="1"/>
          </p:nvPr>
        </p:nvSpPr>
        <p:spPr>
          <a:xfrm>
            <a:off x="2978454"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1" name="Text Placeholder 15">
            <a:extLst>
              <a:ext uri="{FF2B5EF4-FFF2-40B4-BE49-F238E27FC236}">
                <a16:creationId xmlns:a16="http://schemas.microsoft.com/office/drawing/2014/main" id="{36AD7C43-4CE8-C7CB-436A-C20D7ECAEAD8}"/>
              </a:ext>
            </a:extLst>
          </p:cNvPr>
          <p:cNvSpPr>
            <a:spLocks noGrp="1"/>
          </p:cNvSpPr>
          <p:nvPr>
            <p:ph type="body" sz="quarter" idx="19" hasCustomPrompt="1"/>
          </p:nvPr>
        </p:nvSpPr>
        <p:spPr>
          <a:xfrm>
            <a:off x="2978454"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2" name="Text Placeholder 15">
            <a:extLst>
              <a:ext uri="{FF2B5EF4-FFF2-40B4-BE49-F238E27FC236}">
                <a16:creationId xmlns:a16="http://schemas.microsoft.com/office/drawing/2014/main" id="{F0991BFD-A505-06C6-1BCA-EF591B183028}"/>
              </a:ext>
            </a:extLst>
          </p:cNvPr>
          <p:cNvSpPr>
            <a:spLocks noGrp="1"/>
          </p:cNvSpPr>
          <p:nvPr>
            <p:ph type="body" sz="quarter" idx="20" hasCustomPrompt="1"/>
          </p:nvPr>
        </p:nvSpPr>
        <p:spPr>
          <a:xfrm>
            <a:off x="1002080" y="2621585"/>
            <a:ext cx="1535765"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63" name="Text Placeholder 15">
            <a:extLst>
              <a:ext uri="{FF2B5EF4-FFF2-40B4-BE49-F238E27FC236}">
                <a16:creationId xmlns:a16="http://schemas.microsoft.com/office/drawing/2014/main" id="{8D1A3567-2F75-025E-E85F-797AEEC96802}"/>
              </a:ext>
            </a:extLst>
          </p:cNvPr>
          <p:cNvSpPr>
            <a:spLocks noGrp="1"/>
          </p:cNvSpPr>
          <p:nvPr>
            <p:ph type="body" sz="quarter" idx="21" hasCustomPrompt="1"/>
          </p:nvPr>
        </p:nvSpPr>
        <p:spPr>
          <a:xfrm>
            <a:off x="1002080" y="3150396"/>
            <a:ext cx="1535765" cy="249940"/>
          </a:xfrm>
          <a:prstGeom prst="rect">
            <a:avLst/>
          </a:prstGeom>
        </p:spPr>
        <p:txBody>
          <a:bodyPr/>
          <a:lstStyle>
            <a:lvl1pPr marL="0" indent="0" algn="just" defTabSz="457200" rtl="0" eaLnBrk="1" latinLnBrk="0" hangingPunct="1">
              <a:lnSpc>
                <a:spcPct val="100000"/>
              </a:lnSpc>
              <a:buNone/>
              <a:defRPr lang="en-US" sz="800" b="0" i="0" kern="1200" dirty="0" smtClean="0">
                <a:solidFill>
                  <a:schemeClr val="bg1">
                    <a:lumMod val="50000"/>
                  </a:schemeClr>
                </a:solidFill>
                <a:latin typeface="Fund Light" pitchFamily="2" charset="-78"/>
                <a:ea typeface="+mn-ea"/>
                <a:cs typeface="Fund Light" pitchFamily="2" charset="-78"/>
              </a:defRPr>
            </a:lvl1pPr>
          </a:lstStyle>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a:t>Text Goes Here</a:t>
            </a:r>
          </a:p>
          <a:p>
            <a:pPr marL="0" marR="0" lvl="0" indent="0" algn="l" defTabSz="457200" rtl="0" eaLnBrk="1" fontAlgn="auto" latinLnBrk="0" hangingPunct="1">
              <a:lnSpc>
                <a:spcPct val="100000"/>
              </a:lnSpc>
              <a:spcBef>
                <a:spcPts val="750"/>
              </a:spcBef>
              <a:spcAft>
                <a:spcPts val="0"/>
              </a:spcAft>
              <a:buClrTx/>
              <a:buSzTx/>
              <a:buFont typeface="Arial" panose="020B0604020202020204" pitchFamily="34" charset="0"/>
              <a:buNone/>
              <a:tabLst/>
              <a:defRPr/>
            </a:pPr>
            <a:endParaRPr lang="en-US"/>
          </a:p>
        </p:txBody>
      </p:sp>
      <p:sp>
        <p:nvSpPr>
          <p:cNvPr id="65" name="Text Placeholder 15">
            <a:extLst>
              <a:ext uri="{FF2B5EF4-FFF2-40B4-BE49-F238E27FC236}">
                <a16:creationId xmlns:a16="http://schemas.microsoft.com/office/drawing/2014/main" id="{DB84D0C2-BD08-2A9C-C094-A95884FDECCD}"/>
              </a:ext>
            </a:extLst>
          </p:cNvPr>
          <p:cNvSpPr>
            <a:spLocks noGrp="1"/>
          </p:cNvSpPr>
          <p:nvPr>
            <p:ph type="body" sz="quarter" idx="22" hasCustomPrompt="1"/>
          </p:nvPr>
        </p:nvSpPr>
        <p:spPr>
          <a:xfrm>
            <a:off x="323850" y="2351854"/>
            <a:ext cx="1529168"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6" name="Text Placeholder 15">
            <a:extLst>
              <a:ext uri="{FF2B5EF4-FFF2-40B4-BE49-F238E27FC236}">
                <a16:creationId xmlns:a16="http://schemas.microsoft.com/office/drawing/2014/main" id="{C98837D2-B7AD-AE89-C07A-28E7E4B36ADD}"/>
              </a:ext>
            </a:extLst>
          </p:cNvPr>
          <p:cNvSpPr>
            <a:spLocks noGrp="1"/>
          </p:cNvSpPr>
          <p:nvPr>
            <p:ph type="body" sz="quarter" idx="23" hasCustomPrompt="1"/>
          </p:nvPr>
        </p:nvSpPr>
        <p:spPr>
          <a:xfrm>
            <a:off x="323850" y="3517204"/>
            <a:ext cx="1519433" cy="173876"/>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bg2"/>
                </a:solidFill>
                <a:latin typeface="Fund Regular" pitchFamily="2" charset="-78"/>
                <a:ea typeface="+mn-ea"/>
                <a:cs typeface="Fund Regular" pitchFamily="2" charset="-78"/>
              </a:defRPr>
            </a:lvl1pPr>
          </a:lstStyle>
          <a:p>
            <a:pPr lvl="0"/>
            <a:r>
              <a:rPr lang="en-US"/>
              <a:t>TITLE</a:t>
            </a:r>
          </a:p>
        </p:txBody>
      </p:sp>
      <p:sp>
        <p:nvSpPr>
          <p:cNvPr id="67" name="Text Placeholder 15">
            <a:extLst>
              <a:ext uri="{FF2B5EF4-FFF2-40B4-BE49-F238E27FC236}">
                <a16:creationId xmlns:a16="http://schemas.microsoft.com/office/drawing/2014/main" id="{BA9EE524-38F5-6CAA-C076-6059B2ACC4DC}"/>
              </a:ext>
            </a:extLst>
          </p:cNvPr>
          <p:cNvSpPr>
            <a:spLocks noGrp="1"/>
          </p:cNvSpPr>
          <p:nvPr>
            <p:ph type="body" sz="quarter" idx="24" hasCustomPrompt="1"/>
          </p:nvPr>
        </p:nvSpPr>
        <p:spPr>
          <a:xfrm>
            <a:off x="323850" y="3835866"/>
            <a:ext cx="1129963" cy="508197"/>
          </a:xfrm>
          <a:prstGeom prst="rect">
            <a:avLst/>
          </a:prstGeom>
        </p:spPr>
        <p:txBody>
          <a:bodyPr lIns="0" tIns="0" rIns="0" bIns="0"/>
          <a:lstStyle>
            <a:lvl1pPr marL="0" indent="0" algn="l" defTabSz="457200" rtl="0" eaLnBrk="1" latinLnBrk="0" hangingPunct="1">
              <a:lnSpc>
                <a:spcPct val="100000"/>
              </a:lnSpc>
              <a:buNone/>
              <a:defRPr lang="en-US" sz="3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5" name="Text Placeholder 15">
            <a:extLst>
              <a:ext uri="{FF2B5EF4-FFF2-40B4-BE49-F238E27FC236}">
                <a16:creationId xmlns:a16="http://schemas.microsoft.com/office/drawing/2014/main" id="{7D77703E-9CAE-D8FB-4979-33FD8E5761D1}"/>
              </a:ext>
            </a:extLst>
          </p:cNvPr>
          <p:cNvSpPr>
            <a:spLocks noGrp="1"/>
          </p:cNvSpPr>
          <p:nvPr>
            <p:ph type="body" sz="quarter" idx="25" hasCustomPrompt="1"/>
          </p:nvPr>
        </p:nvSpPr>
        <p:spPr>
          <a:xfrm>
            <a:off x="4113958" y="3835866"/>
            <a:ext cx="1143759" cy="508197"/>
          </a:xfrm>
          <a:prstGeom prst="rect">
            <a:avLst/>
          </a:prstGeom>
        </p:spPr>
        <p:txBody>
          <a:bodyPr lIns="36000" tIns="36000" rIns="36000" bIns="36000"/>
          <a:lstStyle>
            <a:lvl1pPr marL="0" indent="0" algn="l" defTabSz="457200" rtl="0" eaLnBrk="1" latinLnBrk="0" hangingPunct="1">
              <a:lnSpc>
                <a:spcPct val="100000"/>
              </a:lnSpc>
              <a:buNone/>
              <a:defRPr lang="en-US" sz="3200" kern="1200" dirty="0" smtClean="0">
                <a:solidFill>
                  <a:schemeClr val="tx2"/>
                </a:solidFill>
                <a:latin typeface="Fund Regular" pitchFamily="2" charset="-78"/>
                <a:ea typeface="+mn-ea"/>
                <a:cs typeface="Fund Regular" pitchFamily="2" charset="-78"/>
              </a:defRPr>
            </a:lvl1pPr>
          </a:lstStyle>
          <a:p>
            <a:pPr lvl="0"/>
            <a:r>
              <a:rPr lang="en-US"/>
              <a:t>00%</a:t>
            </a:r>
          </a:p>
        </p:txBody>
      </p:sp>
      <p:sp>
        <p:nvSpPr>
          <p:cNvPr id="76" name="Text Placeholder 15">
            <a:extLst>
              <a:ext uri="{FF2B5EF4-FFF2-40B4-BE49-F238E27FC236}">
                <a16:creationId xmlns:a16="http://schemas.microsoft.com/office/drawing/2014/main" id="{B73D3E4A-45DC-7D48-A91D-E4528F3461DE}"/>
              </a:ext>
            </a:extLst>
          </p:cNvPr>
          <p:cNvSpPr>
            <a:spLocks noGrp="1"/>
          </p:cNvSpPr>
          <p:nvPr>
            <p:ph type="body" sz="quarter" idx="26" hasCustomPrompt="1"/>
          </p:nvPr>
        </p:nvSpPr>
        <p:spPr>
          <a:xfrm>
            <a:off x="323850" y="792700"/>
            <a:ext cx="1363114" cy="1072225"/>
          </a:xfrm>
          <a:prstGeom prst="rect">
            <a:avLst/>
          </a:prstGeom>
        </p:spPr>
        <p:txBody>
          <a:bodyPr lIns="0" tIns="0" rIns="0" bIns="0"/>
          <a:lstStyle>
            <a:lvl1pPr marL="0" indent="0" algn="l" defTabSz="457200" rtl="0" eaLnBrk="1" latinLnBrk="0" hangingPunct="1">
              <a:lnSpc>
                <a:spcPct val="100000"/>
              </a:lnSpc>
              <a:buNone/>
              <a:defRPr lang="en-US" sz="7200" kern="1200" dirty="0" smtClean="0">
                <a:solidFill>
                  <a:schemeClr val="bg2"/>
                </a:solidFill>
                <a:latin typeface="Fund Regular" pitchFamily="2" charset="-78"/>
                <a:ea typeface="+mn-ea"/>
                <a:cs typeface="Fund Regular" pitchFamily="2" charset="-78"/>
              </a:defRPr>
            </a:lvl1pPr>
          </a:lstStyle>
          <a:p>
            <a:pPr lvl="0"/>
            <a:r>
              <a:rPr lang="en-US"/>
              <a:t>00</a:t>
            </a:r>
          </a:p>
        </p:txBody>
      </p:sp>
      <p:sp>
        <p:nvSpPr>
          <p:cNvPr id="77" name="Text Placeholder 15">
            <a:extLst>
              <a:ext uri="{FF2B5EF4-FFF2-40B4-BE49-F238E27FC236}">
                <a16:creationId xmlns:a16="http://schemas.microsoft.com/office/drawing/2014/main" id="{8F6EA972-9D94-A23C-C50F-CAA1A5CFCDD6}"/>
              </a:ext>
            </a:extLst>
          </p:cNvPr>
          <p:cNvSpPr>
            <a:spLocks noGrp="1"/>
          </p:cNvSpPr>
          <p:nvPr>
            <p:ph type="body" sz="quarter" idx="27" hasCustomPrompt="1"/>
          </p:nvPr>
        </p:nvSpPr>
        <p:spPr>
          <a:xfrm>
            <a:off x="1738239" y="1103685"/>
            <a:ext cx="550194" cy="608843"/>
          </a:xfrm>
          <a:prstGeom prst="rect">
            <a:avLst/>
          </a:prstGeom>
        </p:spPr>
        <p:txBody>
          <a:bodyPr lIns="36000" tIns="36000" rIns="36000" bIns="36000"/>
          <a:lstStyle>
            <a:lvl1pPr marL="0" indent="0" algn="l" defTabSz="457200" rtl="0" eaLnBrk="1" latinLnBrk="0" hangingPunct="1">
              <a:lnSpc>
                <a:spcPct val="100000"/>
              </a:lnSpc>
              <a:buNone/>
              <a:defRPr lang="en-US" sz="4400" kern="1200" dirty="0" smtClean="0">
                <a:solidFill>
                  <a:schemeClr val="bg2"/>
                </a:solidFill>
                <a:latin typeface="Fund Regular" pitchFamily="2" charset="-78"/>
                <a:ea typeface="+mn-ea"/>
                <a:cs typeface="Fund Regular" pitchFamily="2" charset="-78"/>
              </a:defRPr>
            </a:lvl1pPr>
          </a:lstStyle>
          <a:p>
            <a:pPr lvl="0"/>
            <a:r>
              <a:rPr lang="en-US"/>
              <a:t>K</a:t>
            </a:r>
          </a:p>
        </p:txBody>
      </p:sp>
      <p:sp>
        <p:nvSpPr>
          <p:cNvPr id="78" name="Text Placeholder 15">
            <a:extLst>
              <a:ext uri="{FF2B5EF4-FFF2-40B4-BE49-F238E27FC236}">
                <a16:creationId xmlns:a16="http://schemas.microsoft.com/office/drawing/2014/main" id="{369622A4-8D44-CBB1-A4B4-53006005B5D9}"/>
              </a:ext>
            </a:extLst>
          </p:cNvPr>
          <p:cNvSpPr>
            <a:spLocks noGrp="1"/>
          </p:cNvSpPr>
          <p:nvPr>
            <p:ph type="body" sz="quarter" idx="28" hasCustomPrompt="1"/>
          </p:nvPr>
        </p:nvSpPr>
        <p:spPr>
          <a:xfrm>
            <a:off x="323851" y="1924950"/>
            <a:ext cx="1964582" cy="219494"/>
          </a:xfrm>
          <a:prstGeom prst="rect">
            <a:avLst/>
          </a:prstGeom>
        </p:spPr>
        <p:txBody>
          <a:bodyPr lIns="0" tIns="0" rIns="0" bIns="0"/>
          <a:lstStyle>
            <a:lvl1pPr marL="0" indent="0" algn="l" defTabSz="457200" rtl="0" eaLnBrk="1" latinLnBrk="0" hangingPunct="1">
              <a:lnSpc>
                <a:spcPct val="100000"/>
              </a:lnSpc>
              <a:buNone/>
              <a:defRPr lang="en-US" sz="700" kern="1200" spc="300" dirty="0" smtClean="0">
                <a:solidFill>
                  <a:schemeClr val="tx2"/>
                </a:solidFill>
                <a:latin typeface="Fund Regular" pitchFamily="2" charset="-78"/>
                <a:ea typeface="+mn-ea"/>
                <a:cs typeface="Fund Regular" pitchFamily="2" charset="-78"/>
              </a:defRPr>
            </a:lvl1pPr>
          </a:lstStyle>
          <a:p>
            <a:pPr lvl="0"/>
            <a:r>
              <a:rPr lang="en-US"/>
              <a:t>TITLE</a:t>
            </a:r>
          </a:p>
        </p:txBody>
      </p:sp>
      <p:sp>
        <p:nvSpPr>
          <p:cNvPr id="3" name="Text Placeholder 15">
            <a:extLst>
              <a:ext uri="{FF2B5EF4-FFF2-40B4-BE49-F238E27FC236}">
                <a16:creationId xmlns:a16="http://schemas.microsoft.com/office/drawing/2014/main" id="{137D3A14-6950-EAE7-638F-B2D4A63FB0FD}"/>
              </a:ext>
            </a:extLst>
          </p:cNvPr>
          <p:cNvSpPr>
            <a:spLocks noGrp="1"/>
          </p:cNvSpPr>
          <p:nvPr>
            <p:ph type="body" sz="quarter" idx="11" hasCustomPrompt="1"/>
          </p:nvPr>
        </p:nvSpPr>
        <p:spPr>
          <a:xfrm>
            <a:off x="3271146" y="774412"/>
            <a:ext cx="5549004" cy="243561"/>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19714FDA-0467-8D40-1595-E528EBA7CBDD}"/>
              </a:ext>
            </a:extLst>
          </p:cNvPr>
          <p:cNvSpPr>
            <a:spLocks noGrp="1"/>
          </p:cNvSpPr>
          <p:nvPr>
            <p:ph type="body" sz="quarter" idx="29" hasCustomPrompt="1"/>
          </p:nvPr>
        </p:nvSpPr>
        <p:spPr>
          <a:xfrm>
            <a:off x="3264922" y="1109480"/>
            <a:ext cx="5555208" cy="1034964"/>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7" name="Title 4">
            <a:extLst>
              <a:ext uri="{FF2B5EF4-FFF2-40B4-BE49-F238E27FC236}">
                <a16:creationId xmlns:a16="http://schemas.microsoft.com/office/drawing/2014/main" id="{19F4C6B2-460B-0061-75C8-D91DB88B87CD}"/>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3641085233"/>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5" pos="204">
          <p15:clr>
            <a:srgbClr val="FBAE40"/>
          </p15:clr>
        </p15:guide>
        <p15:guide id="6" pos="2789">
          <p15:clr>
            <a:srgbClr val="FBAE40"/>
          </p15:clr>
        </p15:guide>
        <p15:guide id="7" pos="2976">
          <p15:clr>
            <a:srgbClr val="FBAE40"/>
          </p15:clr>
        </p15:guide>
        <p15:guide id="8" orient="horz" pos="486">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Content with Title">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F99ADD64-F710-373E-44C9-29E181EAC7A0}"/>
              </a:ext>
            </a:extLst>
          </p:cNvPr>
          <p:cNvSpPr/>
          <p:nvPr/>
        </p:nvSpPr>
        <p:spPr>
          <a:xfrm>
            <a:off x="355198"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73" name="Text Placeholder 15">
            <a:extLst>
              <a:ext uri="{FF2B5EF4-FFF2-40B4-BE49-F238E27FC236}">
                <a16:creationId xmlns:a16="http://schemas.microsoft.com/office/drawing/2014/main" id="{5F955A93-28FC-73D1-14F2-B171E0C8D7D4}"/>
              </a:ext>
            </a:extLst>
          </p:cNvPr>
          <p:cNvSpPr>
            <a:spLocks noGrp="1"/>
          </p:cNvSpPr>
          <p:nvPr>
            <p:ph type="body" sz="quarter" idx="14" hasCustomPrompt="1"/>
          </p:nvPr>
        </p:nvSpPr>
        <p:spPr>
          <a:xfrm>
            <a:off x="370742"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75" name="Text Placeholder 15">
            <a:extLst>
              <a:ext uri="{FF2B5EF4-FFF2-40B4-BE49-F238E27FC236}">
                <a16:creationId xmlns:a16="http://schemas.microsoft.com/office/drawing/2014/main" id="{1B8B7915-F4BB-82A6-AE61-7A6F7B962E43}"/>
              </a:ext>
            </a:extLst>
          </p:cNvPr>
          <p:cNvSpPr>
            <a:spLocks noGrp="1"/>
          </p:cNvSpPr>
          <p:nvPr>
            <p:ph type="body" sz="quarter" idx="15" hasCustomPrompt="1"/>
          </p:nvPr>
        </p:nvSpPr>
        <p:spPr>
          <a:xfrm>
            <a:off x="370742"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79" name="Oval 78">
            <a:extLst>
              <a:ext uri="{FF2B5EF4-FFF2-40B4-BE49-F238E27FC236}">
                <a16:creationId xmlns:a16="http://schemas.microsoft.com/office/drawing/2014/main" id="{C405FF7B-5C06-ACC1-11F0-D60ECC8FFF62}"/>
              </a:ext>
            </a:extLst>
          </p:cNvPr>
          <p:cNvSpPr/>
          <p:nvPr userDrawn="1"/>
        </p:nvSpPr>
        <p:spPr>
          <a:xfrm>
            <a:off x="3531104" y="2424957"/>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0" name="Text Placeholder 15">
            <a:extLst>
              <a:ext uri="{FF2B5EF4-FFF2-40B4-BE49-F238E27FC236}">
                <a16:creationId xmlns:a16="http://schemas.microsoft.com/office/drawing/2014/main" id="{76F536E2-44A4-94EB-6605-A77D27B439AC}"/>
              </a:ext>
            </a:extLst>
          </p:cNvPr>
          <p:cNvSpPr>
            <a:spLocks noGrp="1"/>
          </p:cNvSpPr>
          <p:nvPr>
            <p:ph type="body" sz="quarter" idx="16" hasCustomPrompt="1"/>
          </p:nvPr>
        </p:nvSpPr>
        <p:spPr>
          <a:xfrm>
            <a:off x="3546648" y="3166446"/>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1" name="Text Placeholder 15">
            <a:extLst>
              <a:ext uri="{FF2B5EF4-FFF2-40B4-BE49-F238E27FC236}">
                <a16:creationId xmlns:a16="http://schemas.microsoft.com/office/drawing/2014/main" id="{36CC5434-AF46-006D-15E3-334ADBF0BC54}"/>
              </a:ext>
            </a:extLst>
          </p:cNvPr>
          <p:cNvSpPr>
            <a:spLocks noGrp="1"/>
          </p:cNvSpPr>
          <p:nvPr>
            <p:ph type="body" sz="quarter" idx="17" hasCustomPrompt="1"/>
          </p:nvPr>
        </p:nvSpPr>
        <p:spPr>
          <a:xfrm>
            <a:off x="3546648" y="3639973"/>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82" name="Oval 81">
            <a:extLst>
              <a:ext uri="{FF2B5EF4-FFF2-40B4-BE49-F238E27FC236}">
                <a16:creationId xmlns:a16="http://schemas.microsoft.com/office/drawing/2014/main" id="{847E210C-BB3E-A513-EBBB-1A4D988104EF}"/>
              </a:ext>
            </a:extLst>
          </p:cNvPr>
          <p:cNvSpPr/>
          <p:nvPr userDrawn="1"/>
        </p:nvSpPr>
        <p:spPr>
          <a:xfrm>
            <a:off x="6707011" y="2416792"/>
            <a:ext cx="2093921" cy="2093920"/>
          </a:xfrm>
          <a:prstGeom prst="ellipse">
            <a:avLst/>
          </a:prstGeom>
          <a:solidFill>
            <a:schemeClr val="bg1">
              <a:lumMod val="65000"/>
              <a:alpha val="8247"/>
            </a:schemeClr>
          </a:solidFill>
          <a:ln w="19050">
            <a:solidFill>
              <a:srgbClr val="01CD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a:latin typeface="Fund Regular" pitchFamily="2" charset="-78"/>
              <a:cs typeface="Fund Regular" pitchFamily="2" charset="-78"/>
            </a:endParaRPr>
          </a:p>
        </p:txBody>
      </p:sp>
      <p:sp>
        <p:nvSpPr>
          <p:cNvPr id="83" name="Text Placeholder 15">
            <a:extLst>
              <a:ext uri="{FF2B5EF4-FFF2-40B4-BE49-F238E27FC236}">
                <a16:creationId xmlns:a16="http://schemas.microsoft.com/office/drawing/2014/main" id="{B2716802-75AE-5B3E-4005-AF177430077D}"/>
              </a:ext>
            </a:extLst>
          </p:cNvPr>
          <p:cNvSpPr>
            <a:spLocks noGrp="1"/>
          </p:cNvSpPr>
          <p:nvPr>
            <p:ph type="body" sz="quarter" idx="18" hasCustomPrompt="1"/>
          </p:nvPr>
        </p:nvSpPr>
        <p:spPr>
          <a:xfrm>
            <a:off x="6722555" y="3158281"/>
            <a:ext cx="2078375" cy="401637"/>
          </a:xfrm>
          <a:prstGeom prst="rect">
            <a:avLst/>
          </a:prstGeom>
        </p:spPr>
        <p:txBody>
          <a:bodyPr/>
          <a:lstStyle>
            <a:lvl1pPr marL="0" indent="0" algn="ctr" defTabSz="457200" rtl="0" eaLnBrk="1" latinLnBrk="0" hangingPunct="1">
              <a:lnSpc>
                <a:spcPct val="100000"/>
              </a:lnSpc>
              <a:buNone/>
              <a:defRPr lang="en-US" sz="2800" kern="1200" dirty="0" smtClean="0">
                <a:solidFill>
                  <a:schemeClr val="tx2"/>
                </a:solidFill>
                <a:latin typeface="Fund Regular" pitchFamily="2" charset="-78"/>
                <a:ea typeface="+mn-ea"/>
                <a:cs typeface="Fund Regular" pitchFamily="2" charset="-78"/>
              </a:defRPr>
            </a:lvl1pPr>
          </a:lstStyle>
          <a:p>
            <a:pPr lvl="0"/>
            <a:r>
              <a:rPr lang="en-US"/>
              <a:t>0000</a:t>
            </a:r>
          </a:p>
        </p:txBody>
      </p:sp>
      <p:sp>
        <p:nvSpPr>
          <p:cNvPr id="84" name="Text Placeholder 15">
            <a:extLst>
              <a:ext uri="{FF2B5EF4-FFF2-40B4-BE49-F238E27FC236}">
                <a16:creationId xmlns:a16="http://schemas.microsoft.com/office/drawing/2014/main" id="{B12A0E62-7182-1C04-0A40-E4B2B510AA68}"/>
              </a:ext>
            </a:extLst>
          </p:cNvPr>
          <p:cNvSpPr>
            <a:spLocks noGrp="1"/>
          </p:cNvSpPr>
          <p:nvPr>
            <p:ph type="body" sz="quarter" idx="19" hasCustomPrompt="1"/>
          </p:nvPr>
        </p:nvSpPr>
        <p:spPr>
          <a:xfrm>
            <a:off x="6722555" y="3631808"/>
            <a:ext cx="2078375" cy="401637"/>
          </a:xfrm>
          <a:prstGeom prst="rect">
            <a:avLst/>
          </a:prstGeom>
        </p:spPr>
        <p:txBody>
          <a:bodyPr/>
          <a:lstStyle>
            <a:lvl1pPr marL="0" indent="0" algn="ctr" defTabSz="457200" rtl="0" eaLnBrk="1" latinLnBrk="0" hangingPunct="1">
              <a:lnSpc>
                <a:spcPct val="100000"/>
              </a:lnSpc>
              <a:buNone/>
              <a:defRPr lang="en-US" sz="1400" b="0" i="0" kern="1200" dirty="0" smtClean="0">
                <a:solidFill>
                  <a:schemeClr val="bg2"/>
                </a:solidFill>
                <a:latin typeface="Fund Light" pitchFamily="2" charset="-78"/>
                <a:ea typeface="+mn-ea"/>
                <a:cs typeface="Fund Light" pitchFamily="2" charset="-78"/>
              </a:defRPr>
            </a:lvl1pPr>
          </a:lstStyle>
          <a:p>
            <a:pPr lvl="0"/>
            <a:r>
              <a:rPr lang="en-US"/>
              <a:t>0000</a:t>
            </a:r>
          </a:p>
        </p:txBody>
      </p:sp>
      <p:sp>
        <p:nvSpPr>
          <p:cNvPr id="3" name="Text Placeholder 15">
            <a:extLst>
              <a:ext uri="{FF2B5EF4-FFF2-40B4-BE49-F238E27FC236}">
                <a16:creationId xmlns:a16="http://schemas.microsoft.com/office/drawing/2014/main" id="{7BE8C802-A888-24D7-D44A-822C5B3B66D7}"/>
              </a:ext>
            </a:extLst>
          </p:cNvPr>
          <p:cNvSpPr>
            <a:spLocks noGrp="1"/>
          </p:cNvSpPr>
          <p:nvPr>
            <p:ph type="body" sz="quarter" idx="11" hasCustomPrompt="1"/>
          </p:nvPr>
        </p:nvSpPr>
        <p:spPr>
          <a:xfrm>
            <a:off x="323852" y="770532"/>
            <a:ext cx="8496300" cy="232737"/>
          </a:xfrm>
          <a:prstGeom prst="rect">
            <a:avLst/>
          </a:prstGeom>
        </p:spPr>
        <p:txBody>
          <a:bodyPr/>
          <a:lstStyle>
            <a:lvl1pPr marL="0" indent="0" algn="l" defTabSz="457200" rtl="0" eaLnBrk="1" latinLnBrk="0" hangingPunct="1">
              <a:lnSpc>
                <a:spcPct val="100000"/>
              </a:lnSpc>
              <a:buNone/>
              <a:defRPr lang="en-US" sz="1200" b="0" i="0" kern="1200" dirty="0" smtClean="0">
                <a:solidFill>
                  <a:schemeClr val="bg2"/>
                </a:solidFill>
                <a:latin typeface="Fund Light" pitchFamily="2" charset="-78"/>
                <a:ea typeface="+mn-ea"/>
                <a:cs typeface="Fund Light" pitchFamily="2" charset="-78"/>
              </a:defRPr>
            </a:lvl1pPr>
          </a:lstStyle>
          <a:p>
            <a:pPr lvl="0"/>
            <a:r>
              <a:rPr lang="en-US"/>
              <a:t>TITLE</a:t>
            </a:r>
          </a:p>
        </p:txBody>
      </p:sp>
      <p:sp>
        <p:nvSpPr>
          <p:cNvPr id="4" name="Text Placeholder 26">
            <a:extLst>
              <a:ext uri="{FF2B5EF4-FFF2-40B4-BE49-F238E27FC236}">
                <a16:creationId xmlns:a16="http://schemas.microsoft.com/office/drawing/2014/main" id="{5066CE51-FEF5-CB03-9171-CE9A31CC7F5E}"/>
              </a:ext>
            </a:extLst>
          </p:cNvPr>
          <p:cNvSpPr>
            <a:spLocks noGrp="1"/>
          </p:cNvSpPr>
          <p:nvPr>
            <p:ph type="body" sz="quarter" idx="25" hasCustomPrompt="1"/>
          </p:nvPr>
        </p:nvSpPr>
        <p:spPr>
          <a:xfrm>
            <a:off x="323851" y="1015020"/>
            <a:ext cx="8496300" cy="1243548"/>
          </a:xfrm>
        </p:spPr>
        <p:txBody>
          <a:bodyPr/>
          <a:lstStyle>
            <a:lvl1pPr algn="just">
              <a:defRPr/>
            </a:lvl1pPr>
          </a:lstStyle>
          <a:p>
            <a:pPr lvl="0"/>
            <a:r>
              <a:rPr lang="en-US"/>
              <a:t>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 Body text here</a:t>
            </a:r>
          </a:p>
        </p:txBody>
      </p:sp>
      <p:sp>
        <p:nvSpPr>
          <p:cNvPr id="9" name="Title 4">
            <a:extLst>
              <a:ext uri="{FF2B5EF4-FFF2-40B4-BE49-F238E27FC236}">
                <a16:creationId xmlns:a16="http://schemas.microsoft.com/office/drawing/2014/main" id="{9A1161F6-A5D5-EEDB-E8A0-949BA1AEDE5E}"/>
              </a:ext>
            </a:extLst>
          </p:cNvPr>
          <p:cNvSpPr>
            <a:spLocks noGrp="1"/>
          </p:cNvSpPr>
          <p:nvPr>
            <p:ph type="title" hasCustomPrompt="1"/>
          </p:nvPr>
        </p:nvSpPr>
        <p:spPr>
          <a:xfrm>
            <a:off x="1255078" y="255973"/>
            <a:ext cx="5689419" cy="241824"/>
          </a:xfrm>
        </p:spPr>
        <p:txBody>
          <a:bodyPr/>
          <a:lstStyle/>
          <a:p>
            <a:r>
              <a:rPr lang="en-US"/>
              <a:t>CLICK TO EDIT MASTER TITLE STYLE</a:t>
            </a:r>
            <a:endParaRPr lang="en-SA"/>
          </a:p>
        </p:txBody>
      </p:sp>
    </p:spTree>
    <p:extLst>
      <p:ext uri="{BB962C8B-B14F-4D97-AF65-F5344CB8AC3E}">
        <p14:creationId xmlns:p14="http://schemas.microsoft.com/office/powerpoint/2010/main" val="1559880679"/>
      </p:ext>
    </p:extLst>
  </p:cSld>
  <p:clrMapOvr>
    <a:masterClrMapping/>
  </p:clrMapOvr>
  <p:extLst>
    <p:ext uri="{DCECCB84-F9BA-43D5-87BE-67443E8EF086}">
      <p15:sldGuideLst xmlns:p15="http://schemas.microsoft.com/office/powerpoint/2012/main">
        <p15:guide id="2" pos="5556">
          <p15:clr>
            <a:srgbClr val="FBAE40"/>
          </p15:clr>
        </p15:guide>
        <p15:guide id="3" orient="horz" pos="148">
          <p15:clr>
            <a:srgbClr val="FBAE40"/>
          </p15:clr>
        </p15:guide>
        <p15:guide id="4" orient="horz" pos="2867">
          <p15:clr>
            <a:srgbClr val="FBAE40"/>
          </p15:clr>
        </p15:guide>
        <p15:guide id="5" pos="204">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ver P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D6B0F-6DB3-E619-4600-423682A4AC4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6715" y="-17644"/>
            <a:ext cx="9337431" cy="5180717"/>
          </a:xfrm>
          <a:prstGeom prst="rect">
            <a:avLst/>
          </a:prstGeom>
        </p:spPr>
      </p:pic>
      <p:sp>
        <p:nvSpPr>
          <p:cNvPr id="16" name="Title 1">
            <a:extLst>
              <a:ext uri="{FF2B5EF4-FFF2-40B4-BE49-F238E27FC236}">
                <a16:creationId xmlns:a16="http://schemas.microsoft.com/office/drawing/2014/main" id="{B65040FB-31E1-5D93-5295-7CD079E2CDD5}"/>
              </a:ext>
            </a:extLst>
          </p:cNvPr>
          <p:cNvSpPr>
            <a:spLocks noGrp="1"/>
          </p:cNvSpPr>
          <p:nvPr>
            <p:ph type="title" hasCustomPrompt="1"/>
          </p:nvPr>
        </p:nvSpPr>
        <p:spPr>
          <a:xfrm>
            <a:off x="323004" y="1896113"/>
            <a:ext cx="6349692" cy="642239"/>
          </a:xfrm>
          <a:prstGeom prst="rect">
            <a:avLst/>
          </a:prstGeom>
        </p:spPr>
        <p:txBody>
          <a:bodyPr lIns="0" rIns="0" anchor="b">
            <a:noAutofit/>
          </a:bodyPr>
          <a:lstStyle>
            <a:lvl1pPr>
              <a:defRPr sz="2400" b="0" i="0">
                <a:solidFill>
                  <a:schemeClr val="bg1"/>
                </a:solidFill>
                <a:latin typeface="Fund Regular" pitchFamily="2" charset="-78"/>
                <a:cs typeface="Fund Regular" pitchFamily="2" charset="-78"/>
              </a:defRPr>
            </a:lvl1pPr>
          </a:lstStyle>
          <a:p>
            <a:r>
              <a:rPr lang="en-US"/>
              <a:t>CLICK TO EDIT TITLE</a:t>
            </a:r>
          </a:p>
        </p:txBody>
      </p:sp>
      <p:sp>
        <p:nvSpPr>
          <p:cNvPr id="20" name="Text Placeholder 2">
            <a:extLst>
              <a:ext uri="{FF2B5EF4-FFF2-40B4-BE49-F238E27FC236}">
                <a16:creationId xmlns:a16="http://schemas.microsoft.com/office/drawing/2014/main" id="{C6ACD20B-0006-5BAC-04AE-0868A0A7ABEA}"/>
              </a:ext>
            </a:extLst>
          </p:cNvPr>
          <p:cNvSpPr>
            <a:spLocks noGrp="1"/>
          </p:cNvSpPr>
          <p:nvPr>
            <p:ph type="body" idx="1" hasCustomPrompt="1"/>
          </p:nvPr>
        </p:nvSpPr>
        <p:spPr>
          <a:xfrm>
            <a:off x="323832" y="3198967"/>
            <a:ext cx="2592857" cy="324402"/>
          </a:xfrm>
          <a:prstGeom prst="rect">
            <a:avLst/>
          </a:prstGeom>
        </p:spPr>
        <p:txBody>
          <a:bodyPr>
            <a:normAutofit/>
          </a:bodyPr>
          <a:lstStyle>
            <a:lvl1pPr marL="0" indent="0">
              <a:buNone/>
              <a:defRPr sz="1100" b="0" i="0">
                <a:solidFill>
                  <a:srgbClr val="C4995B"/>
                </a:solidFill>
                <a:latin typeface="Fund Light" pitchFamily="2" charset="-78"/>
                <a:cs typeface="Fund Light" pitchFamily="2" charset="-78"/>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a:t>00 Month 0000</a:t>
            </a:r>
          </a:p>
        </p:txBody>
      </p:sp>
      <p:grpSp>
        <p:nvGrpSpPr>
          <p:cNvPr id="9" name="Group 8">
            <a:extLst>
              <a:ext uri="{FF2B5EF4-FFF2-40B4-BE49-F238E27FC236}">
                <a16:creationId xmlns:a16="http://schemas.microsoft.com/office/drawing/2014/main" id="{B29F20B4-0153-9552-50BE-C1F1D8793F22}"/>
              </a:ext>
            </a:extLst>
          </p:cNvPr>
          <p:cNvGrpSpPr/>
          <p:nvPr userDrawn="1"/>
        </p:nvGrpSpPr>
        <p:grpSpPr>
          <a:xfrm>
            <a:off x="-95099" y="4361034"/>
            <a:ext cx="3946435" cy="580690"/>
            <a:chOff x="3968905" y="203756"/>
            <a:chExt cx="2959826" cy="1118368"/>
          </a:xfrm>
        </p:grpSpPr>
        <p:sp>
          <p:nvSpPr>
            <p:cNvPr id="10" name="Rectangle 9">
              <a:extLst>
                <a:ext uri="{FF2B5EF4-FFF2-40B4-BE49-F238E27FC236}">
                  <a16:creationId xmlns:a16="http://schemas.microsoft.com/office/drawing/2014/main" id="{38F6CB88-3E34-132B-BA93-1595C8A2B2A9}"/>
                </a:ext>
              </a:extLst>
            </p:cNvPr>
            <p:cNvSpPr/>
            <p:nvPr/>
          </p:nvSpPr>
          <p:spPr>
            <a:xfrm>
              <a:off x="3968905" y="203756"/>
              <a:ext cx="2959826" cy="1118368"/>
            </a:xfrm>
            <a:prstGeom prst="rect">
              <a:avLst/>
            </a:prstGeom>
            <a:solidFill>
              <a:srgbClr val="C499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660380" rtl="0" eaLnBrk="1" latinLnBrk="0" hangingPunct="1"/>
              <a:endParaRPr lang="en-SA" sz="2600" b="0" i="0">
                <a:latin typeface="Fund Regular" pitchFamily="2" charset="-78"/>
              </a:endParaRPr>
            </a:p>
          </p:txBody>
        </p:sp>
        <p:sp>
          <p:nvSpPr>
            <p:cNvPr id="11" name="TextBox 10">
              <a:extLst>
                <a:ext uri="{FF2B5EF4-FFF2-40B4-BE49-F238E27FC236}">
                  <a16:creationId xmlns:a16="http://schemas.microsoft.com/office/drawing/2014/main" id="{46ABF4A3-81EA-8F77-0BA3-DEB142D25465}"/>
                </a:ext>
              </a:extLst>
            </p:cNvPr>
            <p:cNvSpPr txBox="1"/>
            <p:nvPr/>
          </p:nvSpPr>
          <p:spPr>
            <a:xfrm>
              <a:off x="4282482" y="230374"/>
              <a:ext cx="2387641" cy="1057081"/>
            </a:xfrm>
            <a:prstGeom prst="rect">
              <a:avLst/>
            </a:prstGeom>
            <a:noFill/>
          </p:spPr>
          <p:txBody>
            <a:bodyPr wrap="square" lIns="0">
              <a:spAutoFit/>
            </a:bodyPr>
            <a:lstStyle/>
            <a:p>
              <a:pPr marR="24764" algn="just">
                <a:spcBef>
                  <a:spcPts val="81"/>
                </a:spcBef>
              </a:pPr>
              <a:r>
                <a:rPr lang="en-US" sz="800">
                  <a:solidFill>
                    <a:srgbClr val="00342B"/>
                  </a:solidFill>
                  <a:latin typeface="Fund Regular" pitchFamily="2" charset="-78"/>
                  <a:cs typeface="Fund Regular" pitchFamily="2" charset="-78"/>
                </a:rPr>
                <a:t>CONFIDENTIAL</a:t>
              </a:r>
              <a:r>
                <a:rPr lang="en-US" sz="900">
                  <a:solidFill>
                    <a:srgbClr val="00342B"/>
                  </a:solidFill>
                  <a:latin typeface="Fund Regular" pitchFamily="2" charset="-78"/>
                  <a:cs typeface="Fund Regular" pitchFamily="2" charset="-78"/>
                </a:rPr>
                <a:t> </a:t>
              </a:r>
            </a:p>
            <a:p>
              <a:pPr marR="24764" algn="just">
                <a:spcBef>
                  <a:spcPts val="81"/>
                </a:spcBef>
              </a:pPr>
              <a:endParaRPr lang="en-US" sz="300">
                <a:solidFill>
                  <a:srgbClr val="00342B"/>
                </a:solidFill>
                <a:latin typeface="Fund Regular" pitchFamily="2" charset="-78"/>
                <a:cs typeface="Fund Regular" pitchFamily="2" charset="-78"/>
              </a:endParaRPr>
            </a:p>
            <a:p>
              <a:pPr marR="24764" algn="just">
                <a:spcBef>
                  <a:spcPts val="81"/>
                </a:spcBef>
              </a:pPr>
              <a:r>
                <a:rPr lang="en-US" sz="500" b="0" i="0">
                  <a:solidFill>
                    <a:srgbClr val="00342B"/>
                  </a:solidFill>
                  <a:latin typeface="Fund Light" pitchFamily="2" charset="-78"/>
                  <a:cs typeface="Fund Light" pitchFamily="2" charset="-78"/>
                </a:rPr>
                <a:t>The contents of this document are strictly confidential, please do not share, republish,, display or report it for any purpose, in any form or by any means without the prior and express consent of the Public Investment Fund.</a:t>
              </a:r>
            </a:p>
          </p:txBody>
        </p:sp>
      </p:grpSp>
      <p:sp>
        <p:nvSpPr>
          <p:cNvPr id="12" name="Text Placeholder 11">
            <a:extLst>
              <a:ext uri="{FF2B5EF4-FFF2-40B4-BE49-F238E27FC236}">
                <a16:creationId xmlns:a16="http://schemas.microsoft.com/office/drawing/2014/main" id="{BC302950-FB60-4DA3-02CF-413967A087F3}"/>
              </a:ext>
            </a:extLst>
          </p:cNvPr>
          <p:cNvSpPr>
            <a:spLocks noGrp="1"/>
          </p:cNvSpPr>
          <p:nvPr>
            <p:ph type="body" sz="quarter" idx="10" hasCustomPrompt="1"/>
          </p:nvPr>
        </p:nvSpPr>
        <p:spPr>
          <a:xfrm>
            <a:off x="323004" y="2602261"/>
            <a:ext cx="6338888" cy="333375"/>
          </a:xfrm>
          <a:prstGeom prst="rect">
            <a:avLst/>
          </a:prstGeom>
        </p:spPr>
        <p:txBody>
          <a:bodyPr anchor="b">
            <a:noAutofit/>
          </a:bodyPr>
          <a:lstStyle>
            <a:lvl1pPr marL="0" indent="0">
              <a:buNone/>
              <a:defRPr lang="en-US" sz="1600" b="0" i="0" smtClean="0">
                <a:solidFill>
                  <a:schemeClr val="bg1"/>
                </a:solidFill>
                <a:latin typeface="Fund Light" pitchFamily="2" charset="-78"/>
                <a:ea typeface="+mj-ea"/>
                <a:cs typeface="Fund Light" pitchFamily="2" charset="-78"/>
              </a:defRPr>
            </a:lvl1pPr>
            <a:lvl2pPr>
              <a:defRPr lang="en-US" smtClean="0"/>
            </a:lvl2pPr>
            <a:lvl3pPr>
              <a:defRPr lang="en-US" smtClean="0"/>
            </a:lvl3pPr>
            <a:lvl4pPr>
              <a:defRPr lang="en-US" smtClean="0"/>
            </a:lvl4pPr>
            <a:lvl5pPr>
              <a:defRPr lang="en-SA"/>
            </a:lvl5pPr>
          </a:lstStyle>
          <a:p>
            <a:pPr marL="171450" lvl="0" indent="-171450">
              <a:spcBef>
                <a:spcPct val="0"/>
              </a:spcBef>
            </a:pPr>
            <a:r>
              <a:rPr lang="en-US"/>
              <a:t>CLICK TO EDIT SUB-TITLE</a:t>
            </a:r>
          </a:p>
        </p:txBody>
      </p:sp>
      <p:pic>
        <p:nvPicPr>
          <p:cNvPr id="3" name="Picture 2">
            <a:extLst>
              <a:ext uri="{FF2B5EF4-FFF2-40B4-BE49-F238E27FC236}">
                <a16:creationId xmlns:a16="http://schemas.microsoft.com/office/drawing/2014/main" id="{08BC50B4-BDD5-F41D-CCE7-57F57748C26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31364" y="222250"/>
            <a:ext cx="1453723" cy="650586"/>
          </a:xfrm>
          <a:prstGeom prst="rect">
            <a:avLst/>
          </a:prstGeom>
        </p:spPr>
      </p:pic>
      <p:cxnSp>
        <p:nvCxnSpPr>
          <p:cNvPr id="6" name="Straight Connector 5">
            <a:extLst>
              <a:ext uri="{FF2B5EF4-FFF2-40B4-BE49-F238E27FC236}">
                <a16:creationId xmlns:a16="http://schemas.microsoft.com/office/drawing/2014/main" id="{C87CE1C5-20BE-9FC6-C363-F16A24B3B26B}"/>
              </a:ext>
            </a:extLst>
          </p:cNvPr>
          <p:cNvCxnSpPr/>
          <p:nvPr userDrawn="1"/>
        </p:nvCxnSpPr>
        <p:spPr>
          <a:xfrm>
            <a:off x="-106267" y="3055257"/>
            <a:ext cx="7187553" cy="0"/>
          </a:xfrm>
          <a:prstGeom prst="line">
            <a:avLst/>
          </a:prstGeom>
          <a:ln w="12700">
            <a:solidFill>
              <a:srgbClr val="C3984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25272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E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E22E47-4020-4FF2-83F0-FCDCCEE1152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5549" y="-6865"/>
            <a:ext cx="9295099" cy="5157230"/>
          </a:xfrm>
          <a:prstGeom prst="rect">
            <a:avLst/>
          </a:prstGeom>
        </p:spPr>
      </p:pic>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1503043048"/>
              </p:ext>
            </p:extLst>
          </p:nvPr>
        </p:nvGraphicFramePr>
        <p:xfrm>
          <a:off x="1192" y="1191"/>
          <a:ext cx="1191" cy="1191"/>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192" y="1191"/>
                        <a:ext cx="1191" cy="1191"/>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416052" y="4876252"/>
            <a:ext cx="5458396" cy="92333"/>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600"/>
              <a:t>Source: …</a:t>
            </a:r>
          </a:p>
        </p:txBody>
      </p:sp>
      <p:pic>
        <p:nvPicPr>
          <p:cNvPr id="5" name="Picture 4">
            <a:extLst>
              <a:ext uri="{FF2B5EF4-FFF2-40B4-BE49-F238E27FC236}">
                <a16:creationId xmlns:a16="http://schemas.microsoft.com/office/drawing/2014/main" id="{01CF40AB-EDF2-482A-8434-78EFD3CB604C}"/>
              </a:ext>
            </a:extLst>
          </p:cNvPr>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bwMode="ltGray">
          <a:xfrm>
            <a:off x="3189604" y="2328864"/>
            <a:ext cx="2764793" cy="485775"/>
          </a:xfrm>
          <a:prstGeom prst="rect">
            <a:avLst/>
          </a:prstGeom>
        </p:spPr>
      </p:pic>
    </p:spTree>
    <p:extLst>
      <p:ext uri="{BB962C8B-B14F-4D97-AF65-F5344CB8AC3E}">
        <p14:creationId xmlns:p14="http://schemas.microsoft.com/office/powerpoint/2010/main" val="33474694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Divider slide 2">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B7142C7-127E-4389-ABCA-32407101FC1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7" progId="TCLayout.ActiveDocument.1">
                  <p:embed/>
                </p:oleObj>
              </mc:Choice>
              <mc:Fallback>
                <p:oleObj name="think-cell Slide" r:id="rId3" imgW="353" imgH="357" progId="TCLayout.ActiveDocument.1">
                  <p:embed/>
                  <p:pic>
                    <p:nvPicPr>
                      <p:cNvPr id="4" name="think-cell data - do not delete" hidden="1">
                        <a:extLst>
                          <a:ext uri="{FF2B5EF4-FFF2-40B4-BE49-F238E27FC236}">
                            <a16:creationId xmlns:a16="http://schemas.microsoft.com/office/drawing/2014/main" id="{EB7142C7-127E-4389-ABCA-32407101FC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E2F3B61-E1FD-20CC-014F-1907BC220378}"/>
              </a:ext>
            </a:extLst>
          </p:cNvPr>
          <p:cNvSpPr/>
          <p:nvPr userDrawn="1"/>
        </p:nvSpPr>
        <p:spPr>
          <a:xfrm>
            <a:off x="1210491" y="383177"/>
            <a:ext cx="7707086" cy="24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A"/>
          </a:p>
        </p:txBody>
      </p:sp>
      <p:sp>
        <p:nvSpPr>
          <p:cNvPr id="6" name="Rectangle 5">
            <a:extLst>
              <a:ext uri="{FF2B5EF4-FFF2-40B4-BE49-F238E27FC236}">
                <a16:creationId xmlns:a16="http://schemas.microsoft.com/office/drawing/2014/main" id="{0206E74F-1AAD-4229-BF05-461F57996D79}"/>
              </a:ext>
            </a:extLst>
          </p:cNvPr>
          <p:cNvSpPr/>
          <p:nvPr userDrawn="1"/>
        </p:nvSpPr>
        <p:spPr>
          <a:xfrm>
            <a:off x="1" y="0"/>
            <a:ext cx="2857500" cy="5143500"/>
          </a:xfrm>
          <a:prstGeom prst="rect">
            <a:avLst/>
          </a:prstGeom>
          <a:solidFill>
            <a:srgbClr val="C4995B">
              <a:alpha val="20000"/>
            </a:srgbClr>
          </a:solidFill>
          <a:ln w="9525" cap="flat" cmpd="sng" algn="ctr">
            <a:noFill/>
            <a:prstDash val="sysDot"/>
            <a:round/>
            <a:headEnd type="none" w="med" len="med"/>
            <a:tailEnd type="none" w="med" len="med"/>
          </a:ln>
          <a:effectLst/>
        </p:spPr>
        <p:txBody>
          <a:bodyPr rot="0" spcFirstLastPara="0" vertOverflow="overflow" horzOverflow="overflow" vert="horz" wrap="square" lIns="69333" tIns="346667" rIns="69333" bIns="346667" numCol="1" spcCol="0" rtlCol="0" fromWordArt="0" anchor="t" anchorCtr="0" forceAA="0" compatLnSpc="1">
            <a:prstTxWarp prst="textNoShape">
              <a:avLst/>
            </a:prstTxWarp>
            <a:noAutofit/>
          </a:bodyPr>
          <a:lstStyle/>
          <a:p>
            <a:pPr marL="623966" lvl="1" indent="-415976" algn="justLow" defTabSz="1760968" fontAlgn="base">
              <a:spcBef>
                <a:spcPts val="1156"/>
              </a:spcBef>
              <a:buClr>
                <a:schemeClr val="tx1">
                  <a:lumMod val="75000"/>
                  <a:lumOff val="25000"/>
                </a:schemeClr>
              </a:buClr>
              <a:buSzPct val="100000"/>
              <a:buFont typeface="Trebuchet MS" panose="020B0603020202020204" pitchFamily="34" charset="0"/>
              <a:buChar char="•"/>
              <a:defRPr/>
            </a:pPr>
            <a:endParaRPr lang="en-US" sz="933" kern="0">
              <a:solidFill>
                <a:srgbClr val="656565"/>
              </a:solidFill>
              <a:latin typeface="Fund Regular" pitchFamily="2" charset="-78"/>
              <a:cs typeface="Fund Regular" pitchFamily="2" charset="-78"/>
              <a:sym typeface="Sakkal Majalla" panose="02000000000000000000" pitchFamily="2" charset="-78"/>
            </a:endParaRPr>
          </a:p>
        </p:txBody>
      </p:sp>
    </p:spTree>
    <p:extLst>
      <p:ext uri="{BB962C8B-B14F-4D97-AF65-F5344CB8AC3E}">
        <p14:creationId xmlns:p14="http://schemas.microsoft.com/office/powerpoint/2010/main" val="1299596848"/>
      </p:ext>
    </p:extLst>
  </p:cSld>
  <p:clrMapOvr>
    <a:masterClrMapping/>
  </p:clrMapOvr>
  <p:extLst>
    <p:ext uri="{DCECCB84-F9BA-43D5-87BE-67443E8EF086}">
      <p15:sldGuideLst xmlns:p15="http://schemas.microsoft.com/office/powerpoint/2012/main">
        <p15:guide id="2" pos="5556">
          <p15:clr>
            <a:srgbClr val="FBAE40"/>
          </p15:clr>
        </p15:guide>
        <p15:guide id="3" orient="horz" pos="146">
          <p15:clr>
            <a:srgbClr val="FBAE40"/>
          </p15:clr>
        </p15:guide>
        <p15:guide id="4" orient="horz" pos="2867">
          <p15:clr>
            <a:srgbClr val="FBAE40"/>
          </p15:clr>
        </p15:guide>
        <p15:guide id="6" pos="2784">
          <p15:clr>
            <a:srgbClr val="FBAE40"/>
          </p15:clr>
        </p15:guide>
        <p15:guide id="7" pos="2976">
          <p15:clr>
            <a:srgbClr val="FBAE40"/>
          </p15:clr>
        </p15:guide>
        <p15:guide id="8" orient="horz" pos="48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bg2"/>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DB086568-D59C-7F07-855C-1A45E16EB5B1}"/>
              </a:ext>
            </a:extLst>
          </p:cNvPr>
          <p:cNvSpPr txBox="1"/>
          <p:nvPr userDrawn="1"/>
        </p:nvSpPr>
        <p:spPr>
          <a:xfrm>
            <a:off x="4199012" y="4842361"/>
            <a:ext cx="713319" cy="230833"/>
          </a:xfrm>
          <a:prstGeom prst="rect">
            <a:avLst/>
          </a:prstGeom>
          <a:noFill/>
        </p:spPr>
        <p:txBody>
          <a:bodyPr wrap="none" rtlCol="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fld id="{5525E088-7B0E-ED40-8BD8-41AA11BA7E69}" type="slidenum">
              <a:rPr kumimoji="0" lang="en-US" sz="1050" b="0" i="0" u="none" strike="noStrike" kern="1200" cap="none" spc="0" normalizeH="0" baseline="0" noProof="0" smtClean="0">
                <a:ln>
                  <a:noFill/>
                </a:ln>
                <a:solidFill>
                  <a:srgbClr val="C2995A"/>
                </a:solidFill>
                <a:effectLst/>
                <a:uLnTx/>
                <a:uFillTx/>
                <a:latin typeface="Sakkal Majalla" panose="02000000000000000000" pitchFamily="2" charset="-78"/>
                <a:ea typeface="+mn-ea"/>
                <a:cs typeface="Sakkal Majalla" panose="02000000000000000000" pitchFamily="2" charset="-78"/>
              </a:rPr>
              <a:pPr marL="0" marR="0" lvl="0" indent="0" algn="ctr" defTabSz="685800" rtl="0" eaLnBrk="1" fontAlgn="auto" latinLnBrk="0" hangingPunct="1">
                <a:lnSpc>
                  <a:spcPct val="100000"/>
                </a:lnSpc>
                <a:spcBef>
                  <a:spcPts val="0"/>
                </a:spcBef>
                <a:spcAft>
                  <a:spcPts val="0"/>
                </a:spcAft>
                <a:buClrTx/>
                <a:buSzTx/>
                <a:buFontTx/>
                <a:buNone/>
                <a:tabLst/>
                <a:defRPr/>
              </a:pPr>
              <a:t>‹#›</a:t>
            </a:fld>
            <a:endParaRPr kumimoji="0" lang="en-SA" sz="2400" b="0" i="0" u="none" strike="noStrike" kern="1200" cap="none" spc="0" normalizeH="0" baseline="0" noProof="0">
              <a:ln>
                <a:noFill/>
              </a:ln>
              <a:solidFill>
                <a:srgbClr val="C2995A"/>
              </a:solidFill>
              <a:effectLst/>
              <a:uLnTx/>
              <a:uFillTx/>
              <a:latin typeface="Sakkal Majalla" panose="02000000000000000000" pitchFamily="2" charset="-78"/>
              <a:ea typeface="+mn-ea"/>
              <a:cs typeface="Sakkal Majalla" panose="02000000000000000000" pitchFamily="2" charset="-78"/>
            </a:endParaRPr>
          </a:p>
        </p:txBody>
      </p:sp>
    </p:spTree>
    <p:extLst>
      <p:ext uri="{BB962C8B-B14F-4D97-AF65-F5344CB8AC3E}">
        <p14:creationId xmlns:p14="http://schemas.microsoft.com/office/powerpoint/2010/main" val="230787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Only">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81619851"/>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19063" cy="119063"/>
          </a:xfrm>
          <a:prstGeom prst="rect">
            <a:avLst/>
          </a:prstGeom>
          <a:solidFill>
            <a:srgbClr val="EFE2C9"/>
          </a:solidFill>
          <a:ln w="9525" cap="rnd" cmpd="sng" algn="ctr">
            <a:solidFill>
              <a:srgbClr val="EFE2C9"/>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400" b="0" i="0" baseline="0">
              <a:solidFill>
                <a:srgbClr val="575757"/>
              </a:solidFill>
              <a:latin typeface="Sakkal Majalla" panose="02000000000000000000" pitchFamily="2" charset="-78"/>
              <a:ea typeface="+mj-ea"/>
              <a:cs typeface="Sakkal Majalla" panose="02000000000000000000" pitchFamily="2" charset="-78"/>
              <a:sym typeface="Sakkal Majalla" panose="02000000000000000000" pitchFamily="2" charset="-78"/>
            </a:endParaRPr>
          </a:p>
        </p:txBody>
      </p:sp>
      <p:sp>
        <p:nvSpPr>
          <p:cNvPr id="11" name="Title 4"/>
          <p:cNvSpPr>
            <a:spLocks noGrp="1"/>
          </p:cNvSpPr>
          <p:nvPr>
            <p:ph type="title" hasCustomPrompt="1"/>
          </p:nvPr>
        </p:nvSpPr>
        <p:spPr>
          <a:xfrm>
            <a:off x="376237" y="229791"/>
            <a:ext cx="8415338" cy="378598"/>
          </a:xfrm>
          <a:prstGeom prst="rect">
            <a:avLst/>
          </a:prstGeom>
        </p:spPr>
        <p:txBody>
          <a:bodyPr vert="horz" wrap="square" lIns="91440" tIns="45720" rIns="91440" bIns="45720" anchor="t" anchorCtr="0">
            <a:noAutofit/>
          </a:bodyPr>
          <a:lstStyle>
            <a:lvl1pPr marL="0" indent="0" algn="l">
              <a:lnSpc>
                <a:spcPct val="100000"/>
              </a:lnSpc>
              <a:spcBef>
                <a:spcPct val="0"/>
              </a:spcBef>
              <a:spcAft>
                <a:spcPts val="0"/>
              </a:spcAft>
              <a:defRPr sz="2400" b="0" i="0" u="none" kern="1200" spc="0">
                <a:solidFill>
                  <a:schemeClr val="tx1"/>
                </a:solidFill>
                <a:latin typeface="Sakkal Majalla" panose="02000000000000000000" pitchFamily="2" charset="-78"/>
                <a:sym typeface="Sakkal Majalla" panose="02000000000000000000" pitchFamily="2" charset="-78"/>
              </a:defRPr>
            </a:lvl1pPr>
          </a:lstStyle>
          <a:p>
            <a:pPr lvl="0"/>
            <a:r>
              <a:rPr lang="en-US"/>
              <a:t>Click to add title</a:t>
            </a:r>
          </a:p>
        </p:txBody>
      </p:sp>
      <p:pic>
        <p:nvPicPr>
          <p:cNvPr id="12" name="Picture 11">
            <a:extLst>
              <a:ext uri="{FF2B5EF4-FFF2-40B4-BE49-F238E27FC236}">
                <a16:creationId xmlns:a16="http://schemas.microsoft.com/office/drawing/2014/main" id="{CE80F0CA-AE3E-AD40-BC06-F8671DC5FA95}"/>
              </a:ext>
            </a:extLst>
          </p:cNvPr>
          <p:cNvPicPr>
            <a:picLocks noChangeAspect="1"/>
          </p:cNvPicPr>
          <p:nvPr userDrawn="1"/>
        </p:nvPicPr>
        <p:blipFill>
          <a:blip r:embed="rId6"/>
          <a:stretch>
            <a:fillRect/>
          </a:stretch>
        </p:blipFill>
        <p:spPr>
          <a:xfrm>
            <a:off x="0" y="583615"/>
            <a:ext cx="3778869" cy="53349"/>
          </a:xfrm>
          <a:prstGeom prst="rect">
            <a:avLst/>
          </a:prstGeom>
        </p:spPr>
      </p:pic>
      <p:pic>
        <p:nvPicPr>
          <p:cNvPr id="10" name="Picture 9"/>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7029" y="4839529"/>
            <a:ext cx="1253363" cy="220217"/>
          </a:xfrm>
          <a:prstGeom prst="rect">
            <a:avLst/>
          </a:prstGeom>
        </p:spPr>
      </p:pic>
    </p:spTree>
    <p:extLst>
      <p:ext uri="{BB962C8B-B14F-4D97-AF65-F5344CB8AC3E}">
        <p14:creationId xmlns:p14="http://schemas.microsoft.com/office/powerpoint/2010/main" val="3217408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1.emf"/><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oleObject" Target="../embeddings/oleObject6.bin"/><Relationship Id="rId5" Type="http://schemas.openxmlformats.org/officeDocument/2006/relationships/tags" Target="../tags/tag7.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3" Type="http://schemas.openxmlformats.org/officeDocument/2006/relationships/slideLayout" Target="../slideLayouts/slideLayout28.xml"/><Relationship Id="rId21" Type="http://schemas.openxmlformats.org/officeDocument/2006/relationships/oleObject" Target="../embeddings/oleObject7.bin"/><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tags" Target="../tags/tag8.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image" Target="../media/image2.emf"/><Relationship Id="rId10" Type="http://schemas.openxmlformats.org/officeDocument/2006/relationships/slideLayout" Target="../slideLayouts/slideLayout35.xml"/><Relationship Id="rId19" Type="http://schemas.openxmlformats.org/officeDocument/2006/relationships/theme" Target="../theme/theme3.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image" Target="../media/image2.emf"/><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image" Target="../media/image1.emf"/><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oleObject" Target="../embeddings/oleObject9.bin"/><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tags" Target="../tags/tag10.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image" Target="../media/image13.emf"/><Relationship Id="rId5" Type="http://schemas.openxmlformats.org/officeDocument/2006/relationships/oleObject" Target="../embeddings/oleObject13.bin"/><Relationship Id="rId4" Type="http://schemas.openxmlformats.org/officeDocument/2006/relationships/tags" Target="../tags/tag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1E67525-C104-4F5D-8291-4A8D02868D19}"/>
              </a:ext>
            </a:extLst>
          </p:cNvPr>
          <p:cNvGraphicFramePr>
            <a:graphicFrameLocks noChangeAspect="1"/>
          </p:cNvGraphicFramePr>
          <p:nvPr userDrawn="1">
            <p:custDataLst>
              <p:tags r:id="rId24"/>
            </p:custDataLst>
            <p:extLst>
              <p:ext uri="{D42A27DB-BD31-4B8C-83A1-F6EECF244321}">
                <p14:modId xmlns:p14="http://schemas.microsoft.com/office/powerpoint/2010/main" val="1667293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53" imgH="357" progId="TCLayout.ActiveDocument.1">
                  <p:embed/>
                </p:oleObj>
              </mc:Choice>
              <mc:Fallback>
                <p:oleObj name="think-cell Slide" r:id="rId25" imgW="353" imgH="357" progId="TCLayout.ActiveDocument.1">
                  <p:embed/>
                  <p:pic>
                    <p:nvPicPr>
                      <p:cNvPr id="3" name="think-cell data - do not delete" hidden="1">
                        <a:extLst>
                          <a:ext uri="{FF2B5EF4-FFF2-40B4-BE49-F238E27FC236}">
                            <a16:creationId xmlns:a16="http://schemas.microsoft.com/office/drawing/2014/main" id="{61E67525-C104-4F5D-8291-4A8D02868D19}"/>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38C105A4-D9ED-AB7A-1812-A3D4127631C0}"/>
              </a:ext>
            </a:extLst>
          </p:cNvPr>
          <p:cNvSpPr>
            <a:spLocks noGrp="1"/>
          </p:cNvSpPr>
          <p:nvPr>
            <p:ph type="body" idx="1"/>
          </p:nvPr>
        </p:nvSpPr>
        <p:spPr>
          <a:xfrm>
            <a:off x="325113" y="766091"/>
            <a:ext cx="8495037" cy="378175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Rectangle 6">
            <a:extLst>
              <a:ext uri="{FF2B5EF4-FFF2-40B4-BE49-F238E27FC236}">
                <a16:creationId xmlns:a16="http://schemas.microsoft.com/office/drawing/2014/main" id="{4C499882-CCF4-8FA3-C88D-CD1017B97C35}"/>
              </a:ext>
            </a:extLst>
          </p:cNvPr>
          <p:cNvSpPr/>
          <p:nvPr userDrawn="1"/>
        </p:nvSpPr>
        <p:spPr>
          <a:xfrm>
            <a:off x="8544597" y="4835285"/>
            <a:ext cx="278482" cy="314544"/>
          </a:xfrm>
          <a:prstGeom prst="rect">
            <a:avLst/>
          </a:prstGeom>
          <a:solidFill>
            <a:srgbClr val="C39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SA" sz="2600" b="0" i="0">
              <a:latin typeface="Fund Regular" pitchFamily="2" charset="-78"/>
            </a:endParaRPr>
          </a:p>
        </p:txBody>
      </p:sp>
      <p:sp>
        <p:nvSpPr>
          <p:cNvPr id="8" name="Slide Number Placeholder 5">
            <a:extLst>
              <a:ext uri="{FF2B5EF4-FFF2-40B4-BE49-F238E27FC236}">
                <a16:creationId xmlns:a16="http://schemas.microsoft.com/office/drawing/2014/main" id="{B5C1A698-F038-E1AD-DFC6-C68C84796BA3}"/>
              </a:ext>
            </a:extLst>
          </p:cNvPr>
          <p:cNvSpPr txBox="1">
            <a:spLocks/>
          </p:cNvSpPr>
          <p:nvPr userDrawn="1"/>
        </p:nvSpPr>
        <p:spPr>
          <a:xfrm>
            <a:off x="8480380" y="4816149"/>
            <a:ext cx="413021" cy="274834"/>
          </a:xfrm>
          <a:prstGeom prst="rect">
            <a:avLst/>
          </a:prstGeom>
        </p:spPr>
        <p:txBody>
          <a:bodyPr vert="horz" lIns="132080" tIns="66040" rIns="132080" bIns="6604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AC772F9-7580-D04B-8498-0071C6CB6CB4}" type="slidenum">
              <a:rPr lang="en-SA" sz="700" b="0" i="0" smtClean="0">
                <a:solidFill>
                  <a:schemeClr val="bg1"/>
                </a:solidFill>
                <a:latin typeface="Fund Regular" pitchFamily="2" charset="-78"/>
                <a:cs typeface="Fund Regular" pitchFamily="2" charset="-78"/>
              </a:rPr>
              <a:pPr algn="ctr"/>
              <a:t>‹#›</a:t>
            </a:fld>
            <a:endParaRPr lang="en-SA" sz="800" b="0" i="0">
              <a:solidFill>
                <a:schemeClr val="bg1"/>
              </a:solidFill>
              <a:latin typeface="Fund Regular" pitchFamily="2" charset="-78"/>
              <a:cs typeface="Fund Regular" pitchFamily="2" charset="-78"/>
            </a:endParaRPr>
          </a:p>
        </p:txBody>
      </p:sp>
      <p:pic>
        <p:nvPicPr>
          <p:cNvPr id="5" name="Picture 4">
            <a:extLst>
              <a:ext uri="{FF2B5EF4-FFF2-40B4-BE49-F238E27FC236}">
                <a16:creationId xmlns:a16="http://schemas.microsoft.com/office/drawing/2014/main" id="{897F3E5C-A1D4-DC9A-C2DA-AEB1672211A8}"/>
              </a:ext>
            </a:extLst>
          </p:cNvPr>
          <p:cNvPicPr>
            <a:picLocks noChangeAspect="1"/>
          </p:cNvPicPr>
          <p:nvPr userDrawn="1"/>
        </p:nvPicPr>
        <p:blipFill>
          <a:blip r:embed="rId27" cstate="screen">
            <a:extLst>
              <a:ext uri="{28A0092B-C50C-407E-A947-70E740481C1C}">
                <a14:useLocalDpi xmlns:a14="http://schemas.microsoft.com/office/drawing/2010/main"/>
              </a:ext>
            </a:extLst>
          </a:blip>
          <a:stretch>
            <a:fillRect/>
          </a:stretch>
        </p:blipFill>
        <p:spPr>
          <a:xfrm>
            <a:off x="325113" y="218812"/>
            <a:ext cx="762822" cy="340545"/>
          </a:xfrm>
          <a:prstGeom prst="rect">
            <a:avLst/>
          </a:prstGeom>
        </p:spPr>
      </p:pic>
      <p:cxnSp>
        <p:nvCxnSpPr>
          <p:cNvPr id="6" name="Straight Connector 5">
            <a:extLst>
              <a:ext uri="{FF2B5EF4-FFF2-40B4-BE49-F238E27FC236}">
                <a16:creationId xmlns:a16="http://schemas.microsoft.com/office/drawing/2014/main" id="{6CB8FC6B-89A4-1741-3BF5-C8C987A733A0}"/>
              </a:ext>
            </a:extLst>
          </p:cNvPr>
          <p:cNvCxnSpPr>
            <a:cxnSpLocks/>
          </p:cNvCxnSpPr>
          <p:nvPr userDrawn="1"/>
        </p:nvCxnSpPr>
        <p:spPr>
          <a:xfrm>
            <a:off x="1256371" y="513934"/>
            <a:ext cx="756377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10" name="Title Placeholder 8">
            <a:extLst>
              <a:ext uri="{FF2B5EF4-FFF2-40B4-BE49-F238E27FC236}">
                <a16:creationId xmlns:a16="http://schemas.microsoft.com/office/drawing/2014/main" id="{558AB54F-7DFB-6D96-51AD-A1E9D6C5254A}"/>
              </a:ext>
            </a:extLst>
          </p:cNvPr>
          <p:cNvSpPr>
            <a:spLocks noGrp="1"/>
          </p:cNvSpPr>
          <p:nvPr>
            <p:ph type="title"/>
          </p:nvPr>
        </p:nvSpPr>
        <p:spPr>
          <a:xfrm>
            <a:off x="1255078" y="255973"/>
            <a:ext cx="5689419" cy="241824"/>
          </a:xfrm>
          <a:prstGeom prst="rect">
            <a:avLst/>
          </a:prstGeom>
        </p:spPr>
        <p:txBody>
          <a:bodyPr vert="horz" lIns="91440" tIns="45720" rIns="91440" bIns="45720" rtlCol="0" anchor="ctr">
            <a:normAutofit/>
          </a:bodyPr>
          <a:lstStyle/>
          <a:p>
            <a:r>
              <a:rPr lang="en-US"/>
              <a:t>CLICK TO EDIT MASTER TITLE STYLE</a:t>
            </a:r>
            <a:endParaRPr lang="en-SA"/>
          </a:p>
        </p:txBody>
      </p:sp>
      <p:graphicFrame>
        <p:nvGraphicFramePr>
          <p:cNvPr id="2" name="Table 1">
            <a:extLst>
              <a:ext uri="{FF2B5EF4-FFF2-40B4-BE49-F238E27FC236}">
                <a16:creationId xmlns:a16="http://schemas.microsoft.com/office/drawing/2014/main" id="{0F0AAB14-9176-27F7-21F1-95C1B519E54B}"/>
              </a:ext>
            </a:extLst>
          </p:cNvPr>
          <p:cNvGraphicFramePr>
            <a:graphicFrameLocks noGrp="1"/>
          </p:cNvGraphicFramePr>
          <p:nvPr userDrawn="1">
            <p:extLst>
              <p:ext uri="{D42A27DB-BD31-4B8C-83A1-F6EECF244321}">
                <p14:modId xmlns:p14="http://schemas.microsoft.com/office/powerpoint/2010/main" val="2869548885"/>
              </p:ext>
            </p:extLst>
          </p:nvPr>
        </p:nvGraphicFramePr>
        <p:xfrm>
          <a:off x="197916" y="4664263"/>
          <a:ext cx="1255817" cy="326880"/>
        </p:xfrm>
        <a:graphic>
          <a:graphicData uri="http://schemas.openxmlformats.org/drawingml/2006/table">
            <a:tbl>
              <a:tblPr firstRow="1" bandRow="1">
                <a:tableStyleId>{5C22544A-7EE6-4342-B048-85BDC9FD1C3A}</a:tableStyleId>
              </a:tblPr>
              <a:tblGrid>
                <a:gridCol w="1255817">
                  <a:extLst>
                    <a:ext uri="{9D8B030D-6E8A-4147-A177-3AD203B41FA5}">
                      <a16:colId xmlns:a16="http://schemas.microsoft.com/office/drawing/2014/main" val="322093334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ar-SA" sz="700" b="0" i="0" spc="0" baseline="0">
                          <a:solidFill>
                            <a:srgbClr val="C4995B"/>
                          </a:solidFill>
                          <a:latin typeface="Fund Light" pitchFamily="2" charset="-78"/>
                          <a:cs typeface="Fund Light" pitchFamily="2" charset="-78"/>
                        </a:rPr>
                        <a:t>إدارة التنمية الوطنية</a:t>
                      </a:r>
                    </a:p>
                  </a:txBody>
                  <a:tcPr marL="0" marR="0" marT="36000" marB="36000">
                    <a:lnL w="12700" cmpd="sng">
                      <a:noFill/>
                    </a:lnL>
                    <a:lnR w="12700" cmpd="sng">
                      <a:noFill/>
                    </a:lnR>
                    <a:lnT w="127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386325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500" b="0" i="0" spc="0" baseline="0">
                          <a:solidFill>
                            <a:srgbClr val="C4995B"/>
                          </a:solidFill>
                          <a:latin typeface="Fund Light" pitchFamily="2" charset="-78"/>
                          <a:cs typeface="Fund Light" pitchFamily="2" charset="-78"/>
                        </a:rPr>
                        <a:t>NATIONAL DEVELOPMENT DIVISION</a:t>
                      </a:r>
                    </a:p>
                  </a:txBody>
                  <a:tcPr marL="0" marR="0" marT="36000" marB="36000">
                    <a:lnL w="12700" cmpd="sng">
                      <a:noFill/>
                    </a:lnL>
                    <a:lnR w="12700" cmpd="sng">
                      <a:noFill/>
                    </a:lnR>
                    <a:lnT w="3175"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36452140"/>
                  </a:ext>
                </a:extLst>
              </a:tr>
            </a:tbl>
          </a:graphicData>
        </a:graphic>
      </p:graphicFrame>
    </p:spTree>
    <p:extLst>
      <p:ext uri="{BB962C8B-B14F-4D97-AF65-F5344CB8AC3E}">
        <p14:creationId xmlns:p14="http://schemas.microsoft.com/office/powerpoint/2010/main" val="1095885902"/>
      </p:ext>
    </p:extLst>
  </p:cSld>
  <p:clrMap bg1="lt1" tx1="dk1" bg2="lt2" tx2="dk2" accent1="accent1" accent2="accent2" accent3="accent3" accent4="accent4" accent5="accent5" accent6="accent6" hlink="hlink" folHlink="folHlink"/>
  <p:sldLayoutIdLst>
    <p:sldLayoutId id="2147483661" r:id="rId1"/>
    <p:sldLayoutId id="2147483694" r:id="rId2"/>
    <p:sldLayoutId id="2147483710" r:id="rId3"/>
    <p:sldLayoutId id="2147483730" r:id="rId4"/>
    <p:sldLayoutId id="2147483728" r:id="rId5"/>
    <p:sldLayoutId id="2147483693" r:id="rId6"/>
    <p:sldLayoutId id="2147483729" r:id="rId7"/>
    <p:sldLayoutId id="2147483732" r:id="rId8"/>
    <p:sldLayoutId id="2147483731" r:id="rId9"/>
    <p:sldLayoutId id="2147483702" r:id="rId10"/>
    <p:sldLayoutId id="2147483700" r:id="rId11"/>
    <p:sldLayoutId id="2147483701" r:id="rId12"/>
    <p:sldLayoutId id="2147483706" r:id="rId13"/>
    <p:sldLayoutId id="2147483707" r:id="rId14"/>
    <p:sldLayoutId id="2147483708" r:id="rId15"/>
    <p:sldLayoutId id="2147483709" r:id="rId16"/>
    <p:sldLayoutId id="2147483704" r:id="rId17"/>
    <p:sldLayoutId id="2147483696" r:id="rId18"/>
    <p:sldLayoutId id="2147483698" r:id="rId19"/>
    <p:sldLayoutId id="2147483699" r:id="rId20"/>
    <p:sldLayoutId id="2147483703" r:id="rId21"/>
    <p:sldLayoutId id="2147483711" r:id="rId22"/>
  </p:sldLayoutIdLst>
  <p:txStyles>
    <p:titleStyle>
      <a:lvl1pPr algn="l" defTabSz="685800" rtl="0" eaLnBrk="1" latinLnBrk="0" hangingPunct="1">
        <a:lnSpc>
          <a:spcPct val="90000"/>
        </a:lnSpc>
        <a:spcBef>
          <a:spcPct val="0"/>
        </a:spcBef>
        <a:buNone/>
        <a:defRPr sz="1200" b="0" i="0" kern="1200">
          <a:solidFill>
            <a:schemeClr val="bg2"/>
          </a:solidFill>
          <a:latin typeface="Fund Light" pitchFamily="2" charset="-78"/>
          <a:ea typeface="+mj-ea"/>
          <a:cs typeface="Fund Light" pitchFamily="2" charset="-78"/>
        </a:defRPr>
      </a:lvl1pPr>
    </p:titleStyle>
    <p:body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204" userDrawn="1">
          <p15:clr>
            <a:srgbClr val="F26B43"/>
          </p15:clr>
        </p15:guide>
        <p15:guide id="4" pos="555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0CBA423-33D0-48A2-B914-564C929994D7}"/>
              </a:ext>
            </a:extLst>
          </p:cNvPr>
          <p:cNvGraphicFramePr>
            <a:graphicFrameLocks noChangeAspect="1"/>
          </p:cNvGraphicFramePr>
          <p:nvPr userDrawn="1">
            <p:custDataLst>
              <p:tags r:id="rId5"/>
            </p:custDataLst>
            <p:extLst>
              <p:ext uri="{D42A27DB-BD31-4B8C-83A1-F6EECF244321}">
                <p14:modId xmlns:p14="http://schemas.microsoft.com/office/powerpoint/2010/main" val="2295629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2" name="think-cell data - do not delete" hidden="1">
                        <a:extLst>
                          <a:ext uri="{FF2B5EF4-FFF2-40B4-BE49-F238E27FC236}">
                            <a16:creationId xmlns:a16="http://schemas.microsoft.com/office/drawing/2014/main" id="{10CBA423-33D0-48A2-B914-564C929994D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86696304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EA7FD54-3EC0-4EB7-99C0-F871B4601C8D}"/>
              </a:ext>
            </a:extLst>
          </p:cNvPr>
          <p:cNvGraphicFramePr>
            <a:graphicFrameLocks noChangeAspect="1"/>
          </p:cNvGraphicFramePr>
          <p:nvPr userDrawn="1">
            <p:custDataLst>
              <p:tags r:id="rId20"/>
            </p:custDataLst>
            <p:extLst>
              <p:ext uri="{D42A27DB-BD31-4B8C-83A1-F6EECF244321}">
                <p14:modId xmlns:p14="http://schemas.microsoft.com/office/powerpoint/2010/main" val="19642031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53" imgH="357" progId="TCLayout.ActiveDocument.1">
                  <p:embed/>
                </p:oleObj>
              </mc:Choice>
              <mc:Fallback>
                <p:oleObj name="think-cell Slide" r:id="rId21" imgW="353" imgH="357" progId="TCLayout.ActiveDocument.1">
                  <p:embed/>
                  <p:pic>
                    <p:nvPicPr>
                      <p:cNvPr id="3" name="think-cell data - do not delete" hidden="1">
                        <a:extLst>
                          <a:ext uri="{FF2B5EF4-FFF2-40B4-BE49-F238E27FC236}">
                            <a16:creationId xmlns:a16="http://schemas.microsoft.com/office/drawing/2014/main" id="{8EA7FD54-3EC0-4EB7-99C0-F871B4601C8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38C105A4-D9ED-AB7A-1812-A3D4127631C0}"/>
              </a:ext>
            </a:extLst>
          </p:cNvPr>
          <p:cNvSpPr>
            <a:spLocks noGrp="1"/>
          </p:cNvSpPr>
          <p:nvPr>
            <p:ph type="body" idx="1"/>
          </p:nvPr>
        </p:nvSpPr>
        <p:spPr>
          <a:xfrm>
            <a:off x="325113" y="766091"/>
            <a:ext cx="8495037" cy="378175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Rectangle 6">
            <a:extLst>
              <a:ext uri="{FF2B5EF4-FFF2-40B4-BE49-F238E27FC236}">
                <a16:creationId xmlns:a16="http://schemas.microsoft.com/office/drawing/2014/main" id="{4C499882-CCF4-8FA3-C88D-CD1017B97C35}"/>
              </a:ext>
            </a:extLst>
          </p:cNvPr>
          <p:cNvSpPr/>
          <p:nvPr userDrawn="1"/>
        </p:nvSpPr>
        <p:spPr>
          <a:xfrm>
            <a:off x="8544597" y="4835285"/>
            <a:ext cx="278482" cy="314544"/>
          </a:xfrm>
          <a:prstGeom prst="rect">
            <a:avLst/>
          </a:prstGeom>
          <a:solidFill>
            <a:srgbClr val="C39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SA" sz="2600" b="0" i="0">
              <a:latin typeface="Fund Regular" pitchFamily="2" charset="-78"/>
            </a:endParaRPr>
          </a:p>
        </p:txBody>
      </p:sp>
      <p:sp>
        <p:nvSpPr>
          <p:cNvPr id="8" name="Slide Number Placeholder 5">
            <a:extLst>
              <a:ext uri="{FF2B5EF4-FFF2-40B4-BE49-F238E27FC236}">
                <a16:creationId xmlns:a16="http://schemas.microsoft.com/office/drawing/2014/main" id="{B5C1A698-F038-E1AD-DFC6-C68C84796BA3}"/>
              </a:ext>
            </a:extLst>
          </p:cNvPr>
          <p:cNvSpPr txBox="1">
            <a:spLocks/>
          </p:cNvSpPr>
          <p:nvPr userDrawn="1"/>
        </p:nvSpPr>
        <p:spPr>
          <a:xfrm>
            <a:off x="8480380" y="4816149"/>
            <a:ext cx="413021" cy="274834"/>
          </a:xfrm>
          <a:prstGeom prst="rect">
            <a:avLst/>
          </a:prstGeom>
        </p:spPr>
        <p:txBody>
          <a:bodyPr vert="horz" lIns="132080" tIns="66040" rIns="132080" bIns="6604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AC772F9-7580-D04B-8498-0071C6CB6CB4}" type="slidenum">
              <a:rPr lang="en-SA" sz="700" b="0" i="0" smtClean="0">
                <a:solidFill>
                  <a:schemeClr val="bg1"/>
                </a:solidFill>
                <a:latin typeface="Fund Regular" pitchFamily="2" charset="-78"/>
                <a:cs typeface="Fund Regular" pitchFamily="2" charset="-78"/>
              </a:rPr>
              <a:pPr algn="ctr"/>
              <a:t>‹#›</a:t>
            </a:fld>
            <a:endParaRPr lang="en-SA" sz="800" b="0" i="0">
              <a:solidFill>
                <a:schemeClr val="bg1"/>
              </a:solidFill>
              <a:latin typeface="Fund Regular" pitchFamily="2" charset="-78"/>
              <a:cs typeface="Fund Regular" pitchFamily="2" charset="-78"/>
            </a:endParaRPr>
          </a:p>
        </p:txBody>
      </p:sp>
      <p:pic>
        <p:nvPicPr>
          <p:cNvPr id="5" name="Picture 4">
            <a:extLst>
              <a:ext uri="{FF2B5EF4-FFF2-40B4-BE49-F238E27FC236}">
                <a16:creationId xmlns:a16="http://schemas.microsoft.com/office/drawing/2014/main" id="{897F3E5C-A1D4-DC9A-C2DA-AEB1672211A8}"/>
              </a:ext>
            </a:extLst>
          </p:cNvPr>
          <p:cNvPicPr>
            <a:picLocks noChangeAspect="1"/>
          </p:cNvPicPr>
          <p:nvPr userDrawn="1"/>
        </p:nvPicPr>
        <p:blipFill>
          <a:blip r:embed="rId23" cstate="screen">
            <a:extLst>
              <a:ext uri="{28A0092B-C50C-407E-A947-70E740481C1C}">
                <a14:useLocalDpi xmlns:a14="http://schemas.microsoft.com/office/drawing/2010/main"/>
              </a:ext>
            </a:extLst>
          </a:blip>
          <a:stretch>
            <a:fillRect/>
          </a:stretch>
        </p:blipFill>
        <p:spPr>
          <a:xfrm>
            <a:off x="325113" y="218812"/>
            <a:ext cx="762822" cy="340545"/>
          </a:xfrm>
          <a:prstGeom prst="rect">
            <a:avLst/>
          </a:prstGeom>
        </p:spPr>
      </p:pic>
      <p:cxnSp>
        <p:nvCxnSpPr>
          <p:cNvPr id="6" name="Straight Connector 5">
            <a:extLst>
              <a:ext uri="{FF2B5EF4-FFF2-40B4-BE49-F238E27FC236}">
                <a16:creationId xmlns:a16="http://schemas.microsoft.com/office/drawing/2014/main" id="{6CB8FC6B-89A4-1741-3BF5-C8C987A733A0}"/>
              </a:ext>
            </a:extLst>
          </p:cNvPr>
          <p:cNvCxnSpPr>
            <a:cxnSpLocks/>
          </p:cNvCxnSpPr>
          <p:nvPr userDrawn="1"/>
        </p:nvCxnSpPr>
        <p:spPr>
          <a:xfrm>
            <a:off x="1256371" y="513934"/>
            <a:ext cx="756377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10" name="Title Placeholder 8">
            <a:extLst>
              <a:ext uri="{FF2B5EF4-FFF2-40B4-BE49-F238E27FC236}">
                <a16:creationId xmlns:a16="http://schemas.microsoft.com/office/drawing/2014/main" id="{558AB54F-7DFB-6D96-51AD-A1E9D6C5254A}"/>
              </a:ext>
            </a:extLst>
          </p:cNvPr>
          <p:cNvSpPr>
            <a:spLocks noGrp="1"/>
          </p:cNvSpPr>
          <p:nvPr>
            <p:ph type="title"/>
          </p:nvPr>
        </p:nvSpPr>
        <p:spPr>
          <a:xfrm>
            <a:off x="1255078" y="255973"/>
            <a:ext cx="5689419" cy="241824"/>
          </a:xfrm>
          <a:prstGeom prst="rect">
            <a:avLst/>
          </a:prstGeom>
        </p:spPr>
        <p:txBody>
          <a:bodyPr vert="horz" lIns="91440" tIns="45720" rIns="91440" bIns="45720" rtlCol="0" anchor="ctr">
            <a:normAutofit/>
          </a:bodyPr>
          <a:lstStyle/>
          <a:p>
            <a:r>
              <a:rPr lang="en-US"/>
              <a:t>CLICK TO EDIT MASTER TITLE STYLE</a:t>
            </a:r>
            <a:endParaRPr lang="en-SA"/>
          </a:p>
        </p:txBody>
      </p:sp>
      <p:graphicFrame>
        <p:nvGraphicFramePr>
          <p:cNvPr id="2" name="Table 1">
            <a:extLst>
              <a:ext uri="{FF2B5EF4-FFF2-40B4-BE49-F238E27FC236}">
                <a16:creationId xmlns:a16="http://schemas.microsoft.com/office/drawing/2014/main" id="{F7D5147C-06A2-1253-784C-24D7EB24F4C3}"/>
              </a:ext>
            </a:extLst>
          </p:cNvPr>
          <p:cNvGraphicFramePr>
            <a:graphicFrameLocks noGrp="1"/>
          </p:cNvGraphicFramePr>
          <p:nvPr userDrawn="1">
            <p:extLst>
              <p:ext uri="{D42A27DB-BD31-4B8C-83A1-F6EECF244321}">
                <p14:modId xmlns:p14="http://schemas.microsoft.com/office/powerpoint/2010/main" val="2032978983"/>
              </p:ext>
            </p:extLst>
          </p:nvPr>
        </p:nvGraphicFramePr>
        <p:xfrm>
          <a:off x="197916" y="4664263"/>
          <a:ext cx="1255817" cy="326880"/>
        </p:xfrm>
        <a:graphic>
          <a:graphicData uri="http://schemas.openxmlformats.org/drawingml/2006/table">
            <a:tbl>
              <a:tblPr firstRow="1" bandRow="1">
                <a:tableStyleId>{5C22544A-7EE6-4342-B048-85BDC9FD1C3A}</a:tableStyleId>
              </a:tblPr>
              <a:tblGrid>
                <a:gridCol w="1255817">
                  <a:extLst>
                    <a:ext uri="{9D8B030D-6E8A-4147-A177-3AD203B41FA5}">
                      <a16:colId xmlns:a16="http://schemas.microsoft.com/office/drawing/2014/main" val="322093334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ar-SA" sz="700" b="0" i="0" spc="0" baseline="0">
                          <a:solidFill>
                            <a:srgbClr val="C4995B"/>
                          </a:solidFill>
                          <a:latin typeface="Fund Light" pitchFamily="2" charset="-78"/>
                          <a:cs typeface="Fund Light" pitchFamily="2" charset="-78"/>
                        </a:rPr>
                        <a:t>إدارة التنمية الوطنية</a:t>
                      </a:r>
                    </a:p>
                  </a:txBody>
                  <a:tcPr marL="0" marR="0" marT="36000" marB="36000">
                    <a:lnL w="12700" cmpd="sng">
                      <a:noFill/>
                    </a:lnL>
                    <a:lnR w="12700" cmpd="sng">
                      <a:noFill/>
                    </a:lnR>
                    <a:lnT w="127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386325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500" b="0" i="0" spc="0" baseline="0">
                          <a:solidFill>
                            <a:srgbClr val="C4995B"/>
                          </a:solidFill>
                          <a:latin typeface="Fund Light" pitchFamily="2" charset="-78"/>
                          <a:cs typeface="Fund Light" pitchFamily="2" charset="-78"/>
                        </a:rPr>
                        <a:t>NATIONAL DEVELOPMENT DIVISION</a:t>
                      </a:r>
                    </a:p>
                  </a:txBody>
                  <a:tcPr marL="0" marR="0" marT="36000" marB="36000">
                    <a:lnL w="12700" cmpd="sng">
                      <a:noFill/>
                    </a:lnL>
                    <a:lnR w="12700" cmpd="sng">
                      <a:noFill/>
                    </a:lnR>
                    <a:lnT w="3175"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36452140"/>
                  </a:ext>
                </a:extLst>
              </a:tr>
            </a:tbl>
          </a:graphicData>
        </a:graphic>
      </p:graphicFrame>
    </p:spTree>
    <p:extLst>
      <p:ext uri="{BB962C8B-B14F-4D97-AF65-F5344CB8AC3E}">
        <p14:creationId xmlns:p14="http://schemas.microsoft.com/office/powerpoint/2010/main" val="405640926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l" defTabSz="685800" rtl="0" eaLnBrk="1" latinLnBrk="0" hangingPunct="1">
        <a:lnSpc>
          <a:spcPct val="90000"/>
        </a:lnSpc>
        <a:spcBef>
          <a:spcPct val="0"/>
        </a:spcBef>
        <a:buNone/>
        <a:defRPr sz="1200" b="0" i="0" kern="1200">
          <a:solidFill>
            <a:schemeClr val="bg2"/>
          </a:solidFill>
          <a:latin typeface="Fund Light" pitchFamily="2" charset="-78"/>
          <a:ea typeface="+mj-ea"/>
          <a:cs typeface="Fund Light" pitchFamily="2" charset="-78"/>
        </a:defRPr>
      </a:lvl1pPr>
    </p:titleStyle>
    <p:body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204">
          <p15:clr>
            <a:srgbClr val="F26B43"/>
          </p15:clr>
        </p15:guide>
        <p15:guide id="4" pos="555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1E67525-C104-4F5D-8291-4A8D02868D19}"/>
              </a:ext>
            </a:extLst>
          </p:cNvPr>
          <p:cNvGraphicFramePr>
            <a:graphicFrameLocks noChangeAspect="1"/>
          </p:cNvGraphicFramePr>
          <p:nvPr userDrawn="1">
            <p:custDataLst>
              <p:tags r:id="rId2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53" imgH="357" progId="TCLayout.ActiveDocument.1">
                  <p:embed/>
                </p:oleObj>
              </mc:Choice>
              <mc:Fallback>
                <p:oleObj name="think-cell Slide" r:id="rId24" imgW="353" imgH="357" progId="TCLayout.ActiveDocument.1">
                  <p:embed/>
                  <p:pic>
                    <p:nvPicPr>
                      <p:cNvPr id="3" name="think-cell data - do not delete" hidden="1">
                        <a:extLst>
                          <a:ext uri="{FF2B5EF4-FFF2-40B4-BE49-F238E27FC236}">
                            <a16:creationId xmlns:a16="http://schemas.microsoft.com/office/drawing/2014/main" id="{61E67525-C104-4F5D-8291-4A8D02868D1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38C105A4-D9ED-AB7A-1812-A3D4127631C0}"/>
              </a:ext>
            </a:extLst>
          </p:cNvPr>
          <p:cNvSpPr>
            <a:spLocks noGrp="1"/>
          </p:cNvSpPr>
          <p:nvPr>
            <p:ph type="body" idx="1"/>
          </p:nvPr>
        </p:nvSpPr>
        <p:spPr>
          <a:xfrm>
            <a:off x="325113" y="766091"/>
            <a:ext cx="8495037" cy="378175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7" name="Rectangle 6">
            <a:extLst>
              <a:ext uri="{FF2B5EF4-FFF2-40B4-BE49-F238E27FC236}">
                <a16:creationId xmlns:a16="http://schemas.microsoft.com/office/drawing/2014/main" id="{4C499882-CCF4-8FA3-C88D-CD1017B97C35}"/>
              </a:ext>
            </a:extLst>
          </p:cNvPr>
          <p:cNvSpPr/>
          <p:nvPr userDrawn="1"/>
        </p:nvSpPr>
        <p:spPr>
          <a:xfrm>
            <a:off x="8544597" y="4835285"/>
            <a:ext cx="278482" cy="314544"/>
          </a:xfrm>
          <a:prstGeom prst="rect">
            <a:avLst/>
          </a:prstGeom>
          <a:solidFill>
            <a:srgbClr val="C39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SA" sz="2600" b="0" i="0">
              <a:latin typeface="Fund Regular" pitchFamily="2" charset="-78"/>
            </a:endParaRPr>
          </a:p>
        </p:txBody>
      </p:sp>
      <p:sp>
        <p:nvSpPr>
          <p:cNvPr id="8" name="Slide Number Placeholder 5">
            <a:extLst>
              <a:ext uri="{FF2B5EF4-FFF2-40B4-BE49-F238E27FC236}">
                <a16:creationId xmlns:a16="http://schemas.microsoft.com/office/drawing/2014/main" id="{B5C1A698-F038-E1AD-DFC6-C68C84796BA3}"/>
              </a:ext>
            </a:extLst>
          </p:cNvPr>
          <p:cNvSpPr txBox="1">
            <a:spLocks/>
          </p:cNvSpPr>
          <p:nvPr userDrawn="1"/>
        </p:nvSpPr>
        <p:spPr>
          <a:xfrm>
            <a:off x="8480380" y="4816149"/>
            <a:ext cx="413021" cy="274834"/>
          </a:xfrm>
          <a:prstGeom prst="rect">
            <a:avLst/>
          </a:prstGeom>
        </p:spPr>
        <p:txBody>
          <a:bodyPr vert="horz" lIns="132080" tIns="66040" rIns="132080" bIns="6604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AC772F9-7580-D04B-8498-0071C6CB6CB4}" type="slidenum">
              <a:rPr lang="en-SA" sz="700" b="0" i="0" smtClean="0">
                <a:solidFill>
                  <a:schemeClr val="bg1"/>
                </a:solidFill>
                <a:latin typeface="Fund Regular" pitchFamily="2" charset="-78"/>
                <a:cs typeface="Fund Regular" pitchFamily="2" charset="-78"/>
              </a:rPr>
              <a:pPr algn="ctr"/>
              <a:t>‹#›</a:t>
            </a:fld>
            <a:endParaRPr lang="en-SA" sz="800" b="0" i="0">
              <a:solidFill>
                <a:schemeClr val="bg1"/>
              </a:solidFill>
              <a:latin typeface="Fund Regular" pitchFamily="2" charset="-78"/>
              <a:cs typeface="Fund Regular" pitchFamily="2" charset="-78"/>
            </a:endParaRPr>
          </a:p>
        </p:txBody>
      </p:sp>
      <p:pic>
        <p:nvPicPr>
          <p:cNvPr id="5" name="Picture 4">
            <a:extLst>
              <a:ext uri="{FF2B5EF4-FFF2-40B4-BE49-F238E27FC236}">
                <a16:creationId xmlns:a16="http://schemas.microsoft.com/office/drawing/2014/main" id="{897F3E5C-A1D4-DC9A-C2DA-AEB1672211A8}"/>
              </a:ext>
            </a:extLst>
          </p:cNvPr>
          <p:cNvPicPr>
            <a:picLocks noChangeAspect="1"/>
          </p:cNvPicPr>
          <p:nvPr userDrawn="1"/>
        </p:nvPicPr>
        <p:blipFill>
          <a:blip r:embed="rId26" cstate="screen">
            <a:extLst>
              <a:ext uri="{28A0092B-C50C-407E-A947-70E740481C1C}">
                <a14:useLocalDpi xmlns:a14="http://schemas.microsoft.com/office/drawing/2010/main"/>
              </a:ext>
            </a:extLst>
          </a:blip>
          <a:stretch>
            <a:fillRect/>
          </a:stretch>
        </p:blipFill>
        <p:spPr>
          <a:xfrm>
            <a:off x="325113" y="218812"/>
            <a:ext cx="762822" cy="340545"/>
          </a:xfrm>
          <a:prstGeom prst="rect">
            <a:avLst/>
          </a:prstGeom>
        </p:spPr>
      </p:pic>
      <p:cxnSp>
        <p:nvCxnSpPr>
          <p:cNvPr id="6" name="Straight Connector 5">
            <a:extLst>
              <a:ext uri="{FF2B5EF4-FFF2-40B4-BE49-F238E27FC236}">
                <a16:creationId xmlns:a16="http://schemas.microsoft.com/office/drawing/2014/main" id="{6CB8FC6B-89A4-1741-3BF5-C8C987A733A0}"/>
              </a:ext>
            </a:extLst>
          </p:cNvPr>
          <p:cNvCxnSpPr>
            <a:cxnSpLocks/>
          </p:cNvCxnSpPr>
          <p:nvPr userDrawn="1"/>
        </p:nvCxnSpPr>
        <p:spPr>
          <a:xfrm>
            <a:off x="1256371" y="513934"/>
            <a:ext cx="7563779" cy="0"/>
          </a:xfrm>
          <a:prstGeom prst="line">
            <a:avLst/>
          </a:prstGeom>
          <a:ln>
            <a:solidFill>
              <a:srgbClr val="C4995B"/>
            </a:solidFill>
          </a:ln>
        </p:spPr>
        <p:style>
          <a:lnRef idx="1">
            <a:schemeClr val="accent1"/>
          </a:lnRef>
          <a:fillRef idx="0">
            <a:schemeClr val="accent1"/>
          </a:fillRef>
          <a:effectRef idx="0">
            <a:schemeClr val="accent1"/>
          </a:effectRef>
          <a:fontRef idx="minor">
            <a:schemeClr val="tx1"/>
          </a:fontRef>
        </p:style>
      </p:cxnSp>
      <p:sp>
        <p:nvSpPr>
          <p:cNvPr id="10" name="Title Placeholder 8">
            <a:extLst>
              <a:ext uri="{FF2B5EF4-FFF2-40B4-BE49-F238E27FC236}">
                <a16:creationId xmlns:a16="http://schemas.microsoft.com/office/drawing/2014/main" id="{558AB54F-7DFB-6D96-51AD-A1E9D6C5254A}"/>
              </a:ext>
            </a:extLst>
          </p:cNvPr>
          <p:cNvSpPr>
            <a:spLocks noGrp="1"/>
          </p:cNvSpPr>
          <p:nvPr>
            <p:ph type="title"/>
          </p:nvPr>
        </p:nvSpPr>
        <p:spPr>
          <a:xfrm>
            <a:off x="1255078" y="255973"/>
            <a:ext cx="5689419" cy="241824"/>
          </a:xfrm>
          <a:prstGeom prst="rect">
            <a:avLst/>
          </a:prstGeom>
        </p:spPr>
        <p:txBody>
          <a:bodyPr vert="horz" lIns="91440" tIns="45720" rIns="91440" bIns="45720" rtlCol="0" anchor="ctr">
            <a:normAutofit/>
          </a:bodyPr>
          <a:lstStyle/>
          <a:p>
            <a:r>
              <a:rPr lang="en-US"/>
              <a:t>Click to edit Master title style</a:t>
            </a:r>
            <a:endParaRPr lang="en-SA"/>
          </a:p>
        </p:txBody>
      </p:sp>
      <p:graphicFrame>
        <p:nvGraphicFramePr>
          <p:cNvPr id="9" name="Table 8">
            <a:extLst>
              <a:ext uri="{FF2B5EF4-FFF2-40B4-BE49-F238E27FC236}">
                <a16:creationId xmlns:a16="http://schemas.microsoft.com/office/drawing/2014/main" id="{76FA180F-241E-B7C8-DFC3-810DC360FD94}"/>
              </a:ext>
            </a:extLst>
          </p:cNvPr>
          <p:cNvGraphicFramePr>
            <a:graphicFrameLocks noGrp="1"/>
          </p:cNvGraphicFramePr>
          <p:nvPr userDrawn="1">
            <p:extLst>
              <p:ext uri="{D42A27DB-BD31-4B8C-83A1-F6EECF244321}">
                <p14:modId xmlns:p14="http://schemas.microsoft.com/office/powerpoint/2010/main" val="2032978983"/>
              </p:ext>
            </p:extLst>
          </p:nvPr>
        </p:nvGraphicFramePr>
        <p:xfrm>
          <a:off x="197916" y="4664263"/>
          <a:ext cx="1255817" cy="326880"/>
        </p:xfrm>
        <a:graphic>
          <a:graphicData uri="http://schemas.openxmlformats.org/drawingml/2006/table">
            <a:tbl>
              <a:tblPr firstRow="1" bandRow="1">
                <a:tableStyleId>{5C22544A-7EE6-4342-B048-85BDC9FD1C3A}</a:tableStyleId>
              </a:tblPr>
              <a:tblGrid>
                <a:gridCol w="1255817">
                  <a:extLst>
                    <a:ext uri="{9D8B030D-6E8A-4147-A177-3AD203B41FA5}">
                      <a16:colId xmlns:a16="http://schemas.microsoft.com/office/drawing/2014/main" val="322093334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ar-SA" sz="700" b="0" i="0" spc="0" baseline="0">
                          <a:solidFill>
                            <a:srgbClr val="C4995B"/>
                          </a:solidFill>
                          <a:latin typeface="Fund Light" pitchFamily="2" charset="-78"/>
                          <a:cs typeface="Fund Light" pitchFamily="2" charset="-78"/>
                        </a:rPr>
                        <a:t>إدارة التنمية الوطنية</a:t>
                      </a:r>
                    </a:p>
                  </a:txBody>
                  <a:tcPr marL="0" marR="0" marT="36000" marB="36000">
                    <a:lnL w="12700" cmpd="sng">
                      <a:noFill/>
                    </a:lnL>
                    <a:lnR w="12700" cmpd="sng">
                      <a:noFill/>
                    </a:lnR>
                    <a:lnT w="127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386325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500" b="0" i="0" spc="0" baseline="0">
                          <a:solidFill>
                            <a:srgbClr val="C4995B"/>
                          </a:solidFill>
                          <a:latin typeface="Fund Light" pitchFamily="2" charset="-78"/>
                          <a:cs typeface="Fund Light" pitchFamily="2" charset="-78"/>
                        </a:rPr>
                        <a:t>NATIONAL DEVELOPMENT DIVISION</a:t>
                      </a:r>
                    </a:p>
                  </a:txBody>
                  <a:tcPr marL="0" marR="0" marT="36000" marB="36000">
                    <a:lnL w="12700" cmpd="sng">
                      <a:noFill/>
                    </a:lnL>
                    <a:lnR w="12700" cmpd="sng">
                      <a:noFill/>
                    </a:lnR>
                    <a:lnT w="3175"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36452140"/>
                  </a:ext>
                </a:extLst>
              </a:tr>
            </a:tbl>
          </a:graphicData>
        </a:graphic>
      </p:graphicFrame>
    </p:spTree>
    <p:extLst>
      <p:ext uri="{BB962C8B-B14F-4D97-AF65-F5344CB8AC3E}">
        <p14:creationId xmlns:p14="http://schemas.microsoft.com/office/powerpoint/2010/main" val="270828793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3" r:id="rId20"/>
    <p:sldLayoutId id="2147483774" r:id="rId21"/>
  </p:sldLayoutIdLst>
  <p:txStyles>
    <p:titleStyle>
      <a:lvl1pPr algn="l" defTabSz="685800" rtl="0" eaLnBrk="1" latinLnBrk="0" hangingPunct="1">
        <a:lnSpc>
          <a:spcPct val="90000"/>
        </a:lnSpc>
        <a:spcBef>
          <a:spcPct val="0"/>
        </a:spcBef>
        <a:buNone/>
        <a:defRPr sz="1200" b="0" i="0" kern="1200">
          <a:solidFill>
            <a:schemeClr val="bg2"/>
          </a:solidFill>
          <a:latin typeface="Fund Light" pitchFamily="2" charset="-78"/>
          <a:ea typeface="+mj-ea"/>
          <a:cs typeface="Fund Light" pitchFamily="2" charset="-78"/>
        </a:defRPr>
      </a:lvl1pPr>
    </p:titleStyle>
    <p:body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204">
          <p15:clr>
            <a:srgbClr val="F26B43"/>
          </p15:clr>
        </p15:guide>
        <p15:guide id="4" pos="555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6EFDE"/>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4"/>
            </p:custDataLst>
            <p:extLst>
              <p:ext uri="{D42A27DB-BD31-4B8C-83A1-F6EECF244321}">
                <p14:modId xmlns:p14="http://schemas.microsoft.com/office/powerpoint/2010/main" val="401193444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2" name="Object 1" hidden="1"/>
                      <p:cNvPicPr/>
                      <p:nvPr/>
                    </p:nvPicPr>
                    <p:blipFill>
                      <a:blip r:embed="rId6"/>
                      <a:stretch>
                        <a:fillRect/>
                      </a:stretch>
                    </p:blipFill>
                    <p:spPr>
                      <a:xfrm>
                        <a:off x="1191" y="1191"/>
                        <a:ext cx="1191" cy="1191"/>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761BBBC2-3B72-3144-A477-05AA7A780778}"/>
              </a:ext>
            </a:extLst>
          </p:cNvPr>
          <p:cNvSpPr/>
          <p:nvPr userDrawn="1"/>
        </p:nvSpPr>
        <p:spPr>
          <a:xfrm>
            <a:off x="-59405" y="0"/>
            <a:ext cx="9144000"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4" name="Table 3">
            <a:extLst>
              <a:ext uri="{FF2B5EF4-FFF2-40B4-BE49-F238E27FC236}">
                <a16:creationId xmlns:a16="http://schemas.microsoft.com/office/drawing/2014/main" id="{3BCBF60E-2AF9-0F71-AFC5-ADD404FAA837}"/>
              </a:ext>
            </a:extLst>
          </p:cNvPr>
          <p:cNvGraphicFramePr>
            <a:graphicFrameLocks noGrp="1"/>
          </p:cNvGraphicFramePr>
          <p:nvPr userDrawn="1">
            <p:extLst>
              <p:ext uri="{D42A27DB-BD31-4B8C-83A1-F6EECF244321}">
                <p14:modId xmlns:p14="http://schemas.microsoft.com/office/powerpoint/2010/main" val="2869548885"/>
              </p:ext>
            </p:extLst>
          </p:nvPr>
        </p:nvGraphicFramePr>
        <p:xfrm>
          <a:off x="197916" y="4664263"/>
          <a:ext cx="1255817" cy="326880"/>
        </p:xfrm>
        <a:graphic>
          <a:graphicData uri="http://schemas.openxmlformats.org/drawingml/2006/table">
            <a:tbl>
              <a:tblPr firstRow="1" bandRow="1">
                <a:tableStyleId>{5C22544A-7EE6-4342-B048-85BDC9FD1C3A}</a:tableStyleId>
              </a:tblPr>
              <a:tblGrid>
                <a:gridCol w="1255817">
                  <a:extLst>
                    <a:ext uri="{9D8B030D-6E8A-4147-A177-3AD203B41FA5}">
                      <a16:colId xmlns:a16="http://schemas.microsoft.com/office/drawing/2014/main" val="3220933348"/>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ar-SA" sz="700" b="0" i="0" spc="0" baseline="0">
                          <a:solidFill>
                            <a:srgbClr val="C4995B"/>
                          </a:solidFill>
                          <a:latin typeface="Fund Light" pitchFamily="2" charset="-78"/>
                          <a:cs typeface="Fund Light" pitchFamily="2" charset="-78"/>
                        </a:rPr>
                        <a:t>إدارة التنمية الوطنية</a:t>
                      </a:r>
                    </a:p>
                  </a:txBody>
                  <a:tcPr marL="0" marR="0" marT="36000" marB="36000">
                    <a:lnL w="12700" cmpd="sng">
                      <a:noFill/>
                    </a:lnL>
                    <a:lnR w="12700" cmpd="sng">
                      <a:noFill/>
                    </a:lnR>
                    <a:lnT w="127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386325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500" b="0" i="0" spc="0" baseline="0">
                          <a:solidFill>
                            <a:srgbClr val="C4995B"/>
                          </a:solidFill>
                          <a:latin typeface="Fund Light" pitchFamily="2" charset="-78"/>
                          <a:cs typeface="Fund Light" pitchFamily="2" charset="-78"/>
                        </a:rPr>
                        <a:t>NATIONAL DEVELOPMENT DIVISION</a:t>
                      </a:r>
                    </a:p>
                  </a:txBody>
                  <a:tcPr marL="0" marR="0" marT="36000" marB="36000">
                    <a:lnL w="12700" cmpd="sng">
                      <a:noFill/>
                    </a:lnL>
                    <a:lnR w="12700" cmpd="sng">
                      <a:noFill/>
                    </a:lnR>
                    <a:lnT w="3175" cap="flat" cmpd="sng" algn="ctr">
                      <a:solidFill>
                        <a:schemeClr val="tx2"/>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36452140"/>
                  </a:ext>
                </a:extLst>
              </a:tr>
            </a:tbl>
          </a:graphicData>
        </a:graphic>
      </p:graphicFrame>
    </p:spTree>
    <p:extLst>
      <p:ext uri="{BB962C8B-B14F-4D97-AF65-F5344CB8AC3E}">
        <p14:creationId xmlns:p14="http://schemas.microsoft.com/office/powerpoint/2010/main" val="3823097892"/>
      </p:ext>
    </p:extLst>
  </p:cSld>
  <p:clrMap bg1="lt1" tx1="dk1" bg2="lt2" tx2="dk2" accent1="accent1" accent2="accent2" accent3="accent3" accent4="accent4" accent5="accent5" accent6="accent6" hlink="hlink" folHlink="folHlink"/>
  <p:sldLayoutIdLst>
    <p:sldLayoutId id="2147483778" r:id="rId1"/>
    <p:sldLayoutId id="2147483779" r:id="rId2"/>
  </p:sldLayoutIdLst>
  <p:hf hdr="0" dt="0"/>
  <p:txStyles>
    <p:titleStyle>
      <a:lvl1pPr marL="0" algn="l" defTabSz="685800" rtl="0" eaLnBrk="1" latinLnBrk="0" hangingPunct="1">
        <a:lnSpc>
          <a:spcPct val="90000"/>
        </a:lnSpc>
        <a:spcBef>
          <a:spcPct val="0"/>
        </a:spcBef>
        <a:buNone/>
        <a:defRPr lang="en-GB" sz="1200" b="0" i="0" kern="1200" dirty="0">
          <a:solidFill>
            <a:schemeClr val="tx1"/>
          </a:solidFill>
          <a:effectLst/>
          <a:latin typeface="Sakkal Majalla" charset="0"/>
          <a:ea typeface="Sakkal Majalla" charset="0"/>
          <a:cs typeface="Sakkal Majalla"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notesSlide" Target="../notesSlides/notesSlide8.xml"/><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5.png"/><Relationship Id="rId2" Type="http://schemas.openxmlformats.org/officeDocument/2006/relationships/slideLayout" Target="../slideLayouts/slideLayout5.xml"/><Relationship Id="rId16" Type="http://schemas.openxmlformats.org/officeDocument/2006/relationships/image" Target="../media/image24.png"/><Relationship Id="rId1" Type="http://schemas.openxmlformats.org/officeDocument/2006/relationships/tags" Target="../tags/tag20.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emf"/><Relationship Id="rId15" Type="http://schemas.openxmlformats.org/officeDocument/2006/relationships/image" Target="../media/image2.emf"/><Relationship Id="rId10" Type="http://schemas.openxmlformats.org/officeDocument/2006/relationships/image" Target="../media/image20.png"/><Relationship Id="rId4" Type="http://schemas.openxmlformats.org/officeDocument/2006/relationships/oleObject" Target="../embeddings/oleObject17.bin"/><Relationship Id="rId9" Type="http://schemas.openxmlformats.org/officeDocument/2006/relationships/image" Target="../media/image19.png"/><Relationship Id="rId14" Type="http://schemas.openxmlformats.org/officeDocument/2006/relationships/slide" Target="slide92.xml"/></Relationships>
</file>

<file path=ppt/slides/_rels/slide9.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1.emf"/><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oleObject" Target="../embeddings/oleObject18.bin"/><Relationship Id="rId5" Type="http://schemas.openxmlformats.org/officeDocument/2006/relationships/notesSlide" Target="../notesSlides/notesSlide9.xml"/><Relationship Id="rId4"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9.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26" Type="http://schemas.openxmlformats.org/officeDocument/2006/relationships/notesSlide" Target="../notesSlides/notesSlide11.xml"/><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5" Type="http://schemas.openxmlformats.org/officeDocument/2006/relationships/slideLayout" Target="../slideLayouts/slideLayout29.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29" Type="http://schemas.openxmlformats.org/officeDocument/2006/relationships/slide" Target="slide83.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tags" Target="../tags/tag48.xml"/><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tags" Target="../tags/tag47.xml"/><Relationship Id="rId28" Type="http://schemas.openxmlformats.org/officeDocument/2006/relationships/image" Target="../media/image1.emf"/><Relationship Id="rId10" Type="http://schemas.openxmlformats.org/officeDocument/2006/relationships/tags" Target="../tags/tag34.xml"/><Relationship Id="rId19" Type="http://schemas.openxmlformats.org/officeDocument/2006/relationships/tags" Target="../tags/tag43.xml"/><Relationship Id="rId31" Type="http://schemas.openxmlformats.org/officeDocument/2006/relationships/image" Target="../media/image2.emf"/><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 Id="rId27" Type="http://schemas.openxmlformats.org/officeDocument/2006/relationships/oleObject" Target="../embeddings/oleObject20.bin"/><Relationship Id="rId30" Type="http://schemas.openxmlformats.org/officeDocument/2006/relationships/slide" Target="slide92.xml"/></Relationships>
</file>

<file path=ppt/slides/_rels/slide12.xml.rels><?xml version="1.0" encoding="UTF-8" standalone="yes"?>
<Relationships xmlns="http://schemas.openxmlformats.org/package/2006/relationships"><Relationship Id="rId8" Type="http://schemas.openxmlformats.org/officeDocument/2006/relationships/hyperlink" Target="https://fd.niic.gov.sa/" TargetMode="External"/><Relationship Id="rId3" Type="http://schemas.openxmlformats.org/officeDocument/2006/relationships/slideLayout" Target="../slideLayouts/slideLayout29.xml"/><Relationship Id="rId7" Type="http://schemas.openxmlformats.org/officeDocument/2006/relationships/image" Target="../media/image2.emf"/><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 Target="slide92.xml"/><Relationship Id="rId5" Type="http://schemas.openxmlformats.org/officeDocument/2006/relationships/image" Target="../media/image26.emf"/><Relationship Id="rId4" Type="http://schemas.openxmlformats.org/officeDocument/2006/relationships/oleObject" Target="../embeddings/oleObject21.bin"/><Relationship Id="rId9" Type="http://schemas.openxmlformats.org/officeDocument/2006/relationships/hyperlink" Target="https://www.trademap.org/"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51.xml"/><Relationship Id="rId5" Type="http://schemas.openxmlformats.org/officeDocument/2006/relationships/image" Target="../media/image10.emf"/><Relationship Id="rId4"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5.xml"/><Relationship Id="rId1" Type="http://schemas.openxmlformats.org/officeDocument/2006/relationships/tags" Target="../tags/tag52.xml"/><Relationship Id="rId5" Type="http://schemas.openxmlformats.org/officeDocument/2006/relationships/hyperlink" Target="https://atlas.cid.harvard.edu/rankings/product" TargetMode="External"/><Relationship Id="rId4" Type="http://schemas.openxmlformats.org/officeDocument/2006/relationships/image" Target="../media/image2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5.xml"/><Relationship Id="rId1" Type="http://schemas.openxmlformats.org/officeDocument/2006/relationships/tags" Target="../tags/tag53.xml"/><Relationship Id="rId4" Type="http://schemas.openxmlformats.org/officeDocument/2006/relationships/image" Target="../media/image27.emf"/></Relationships>
</file>

<file path=ppt/slides/_rels/slide16.xml.rels><?xml version="1.0" encoding="UTF-8" standalone="yes"?>
<Relationships xmlns="http://schemas.openxmlformats.org/package/2006/relationships"><Relationship Id="rId13" Type="http://schemas.openxmlformats.org/officeDocument/2006/relationships/tags" Target="../tags/tag66.xml"/><Relationship Id="rId18" Type="http://schemas.openxmlformats.org/officeDocument/2006/relationships/tags" Target="../tags/tag71.xml"/><Relationship Id="rId26" Type="http://schemas.openxmlformats.org/officeDocument/2006/relationships/tags" Target="../tags/tag79.xml"/><Relationship Id="rId3" Type="http://schemas.openxmlformats.org/officeDocument/2006/relationships/tags" Target="../tags/tag56.xml"/><Relationship Id="rId21" Type="http://schemas.openxmlformats.org/officeDocument/2006/relationships/tags" Target="../tags/tag74.xml"/><Relationship Id="rId34" Type="http://schemas.openxmlformats.org/officeDocument/2006/relationships/image" Target="../media/image2.emf"/><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5" Type="http://schemas.openxmlformats.org/officeDocument/2006/relationships/tags" Target="../tags/tag78.xml"/><Relationship Id="rId33" Type="http://schemas.openxmlformats.org/officeDocument/2006/relationships/slide" Target="slide92.xml"/><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29" Type="http://schemas.openxmlformats.org/officeDocument/2006/relationships/oleObject" Target="../embeddings/oleObject25.bin"/><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tags" Target="../tags/tag77.xml"/><Relationship Id="rId32" Type="http://schemas.openxmlformats.org/officeDocument/2006/relationships/image" Target="../media/image28.png"/><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tags" Target="../tags/tag76.xml"/><Relationship Id="rId28" Type="http://schemas.openxmlformats.org/officeDocument/2006/relationships/slideLayout" Target="../slideLayouts/slideLayout5.xml"/><Relationship Id="rId10" Type="http://schemas.openxmlformats.org/officeDocument/2006/relationships/tags" Target="../tags/tag63.xml"/><Relationship Id="rId19" Type="http://schemas.openxmlformats.org/officeDocument/2006/relationships/tags" Target="../tags/tag72.xml"/><Relationship Id="rId31" Type="http://schemas.openxmlformats.org/officeDocument/2006/relationships/chart" Target="../charts/chart1.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tags" Target="../tags/tag75.xml"/><Relationship Id="rId27" Type="http://schemas.openxmlformats.org/officeDocument/2006/relationships/tags" Target="../tags/tag80.xml"/><Relationship Id="rId30" Type="http://schemas.openxmlformats.org/officeDocument/2006/relationships/image" Target="../media/image27.emf"/><Relationship Id="rId8" Type="http://schemas.openxmlformats.org/officeDocument/2006/relationships/tags" Target="../tags/tag61.xml"/></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83.xml"/><Relationship Id="rId7" Type="http://schemas.openxmlformats.org/officeDocument/2006/relationships/image" Target="../media/image1.emf"/><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oleObject" Target="../embeddings/oleObject26.bin"/><Relationship Id="rId5" Type="http://schemas.openxmlformats.org/officeDocument/2006/relationships/notesSlide" Target="../notesSlides/notesSlide13.xml"/><Relationship Id="rId4" Type="http://schemas.openxmlformats.org/officeDocument/2006/relationships/slideLayout" Target="../slideLayouts/slideLayout5.xml"/><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86.xml"/><Relationship Id="rId7" Type="http://schemas.openxmlformats.org/officeDocument/2006/relationships/image" Target="../media/image1.emf"/><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oleObject" Target="../embeddings/oleObject27.bin"/><Relationship Id="rId5" Type="http://schemas.openxmlformats.org/officeDocument/2006/relationships/notesSlide" Target="../notesSlides/notesSlide14.xml"/><Relationship Id="rId4" Type="http://schemas.openxmlformats.org/officeDocument/2006/relationships/slideLayout" Target="../slideLayouts/slideLayout5.xml"/><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emf"/><Relationship Id="rId2" Type="http://schemas.openxmlformats.org/officeDocument/2006/relationships/slideLayout" Target="../slideLayouts/slideLayout5.xml"/><Relationship Id="rId1" Type="http://schemas.openxmlformats.org/officeDocument/2006/relationships/tags" Target="../tags/tag87.xml"/><Relationship Id="rId6" Type="http://schemas.openxmlformats.org/officeDocument/2006/relationships/slide" Target="slide92.xml"/><Relationship Id="rId5" Type="http://schemas.openxmlformats.org/officeDocument/2006/relationships/image" Target="../media/image1.emf"/><Relationship Id="rId4" Type="http://schemas.openxmlformats.org/officeDocument/2006/relationships/oleObject" Target="../embeddings/oleObject28.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7.png"/><Relationship Id="rId2" Type="http://schemas.openxmlformats.org/officeDocument/2006/relationships/slideLayout" Target="../slideLayouts/slideLayout5.xml"/><Relationship Id="rId1" Type="http://schemas.openxmlformats.org/officeDocument/2006/relationships/tags" Target="../tags/tag88.xml"/><Relationship Id="rId6" Type="http://schemas.openxmlformats.org/officeDocument/2006/relationships/image" Target="../media/image16.png"/><Relationship Id="rId5" Type="http://schemas.openxmlformats.org/officeDocument/2006/relationships/image" Target="../media/image1.emf"/><Relationship Id="rId4" Type="http://schemas.openxmlformats.org/officeDocument/2006/relationships/oleObject" Target="../embeddings/oleObject29.bin"/></Relationships>
</file>

<file path=ppt/slides/_rels/slide22.xml.rels><?xml version="1.0" encoding="UTF-8" standalone="yes"?>
<Relationships xmlns="http://schemas.openxmlformats.org/package/2006/relationships"><Relationship Id="rId3" Type="http://schemas.openxmlformats.org/officeDocument/2006/relationships/tags" Target="../tags/tag91.xml"/><Relationship Id="rId7" Type="http://schemas.openxmlformats.org/officeDocument/2006/relationships/image" Target="../media/image1.emf"/><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oleObject" Target="../embeddings/oleObject30.bin"/><Relationship Id="rId5" Type="http://schemas.openxmlformats.org/officeDocument/2006/relationships/notesSlide" Target="../notesSlides/notesSlide18.xml"/><Relationship Id="rId4"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1.emf"/><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oleObject" Target="../embeddings/oleObject31.bin"/><Relationship Id="rId5" Type="http://schemas.openxmlformats.org/officeDocument/2006/relationships/notesSlide" Target="../notesSlides/notesSlide19.xml"/><Relationship Id="rId4"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9.xml"/><Relationship Id="rId1" Type="http://schemas.openxmlformats.org/officeDocument/2006/relationships/tags" Target="../tags/tag95.xml"/><Relationship Id="rId6" Type="http://schemas.openxmlformats.org/officeDocument/2006/relationships/image" Target="../media/image28.png"/><Relationship Id="rId5" Type="http://schemas.openxmlformats.org/officeDocument/2006/relationships/image" Target="../media/image1.emf"/><Relationship Id="rId4" Type="http://schemas.openxmlformats.org/officeDocument/2006/relationships/oleObject" Target="../embeddings/oleObject32.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9.xml"/><Relationship Id="rId1" Type="http://schemas.openxmlformats.org/officeDocument/2006/relationships/tags" Target="../tags/tag96.xml"/><Relationship Id="rId6" Type="http://schemas.openxmlformats.org/officeDocument/2006/relationships/image" Target="../media/image2.emf"/><Relationship Id="rId5" Type="http://schemas.openxmlformats.org/officeDocument/2006/relationships/slide" Target="slide92.xml"/><Relationship Id="rId4" Type="http://schemas.openxmlformats.org/officeDocument/2006/relationships/image" Target="../media/image27.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9.xml"/><Relationship Id="rId1" Type="http://schemas.openxmlformats.org/officeDocument/2006/relationships/tags" Target="../tags/tag97.xml"/><Relationship Id="rId5" Type="http://schemas.openxmlformats.org/officeDocument/2006/relationships/image" Target="../media/image1.emf"/><Relationship Id="rId4" Type="http://schemas.openxmlformats.org/officeDocument/2006/relationships/oleObject" Target="../embeddings/oleObject34.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9.xml"/><Relationship Id="rId1" Type="http://schemas.openxmlformats.org/officeDocument/2006/relationships/tags" Target="../tags/tag98.xml"/><Relationship Id="rId5" Type="http://schemas.openxmlformats.org/officeDocument/2006/relationships/image" Target="../media/image1.emf"/><Relationship Id="rId4" Type="http://schemas.openxmlformats.org/officeDocument/2006/relationships/oleObject" Target="../embeddings/oleObject35.bin"/></Relationships>
</file>

<file path=ppt/slides/_rels/slide28.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image" Target="../media/image1.emf"/><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oleObject" Target="../embeddings/oleObject36.bin"/><Relationship Id="rId5" Type="http://schemas.openxmlformats.org/officeDocument/2006/relationships/notesSlide" Target="../notesSlides/notesSlide23.xml"/><Relationship Id="rId4"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8" Type="http://schemas.openxmlformats.org/officeDocument/2006/relationships/slide" Target="slide85.xml"/><Relationship Id="rId3" Type="http://schemas.openxmlformats.org/officeDocument/2006/relationships/notesSlide" Target="../notesSlides/notesSlide24.xml"/><Relationship Id="rId7" Type="http://schemas.openxmlformats.org/officeDocument/2006/relationships/image" Target="../media/image2.emf"/><Relationship Id="rId2" Type="http://schemas.openxmlformats.org/officeDocument/2006/relationships/slideLayout" Target="../slideLayouts/slideLayout29.xml"/><Relationship Id="rId1" Type="http://schemas.openxmlformats.org/officeDocument/2006/relationships/tags" Target="../tags/tag102.xml"/><Relationship Id="rId6" Type="http://schemas.openxmlformats.org/officeDocument/2006/relationships/slide" Target="slide92.xml"/><Relationship Id="rId5" Type="http://schemas.openxmlformats.org/officeDocument/2006/relationships/image" Target="../media/image1.emf"/><Relationship Id="rId4" Type="http://schemas.openxmlformats.org/officeDocument/2006/relationships/oleObject" Target="../embeddings/oleObject37.bin"/></Relationships>
</file>

<file path=ppt/slides/_rels/slide30.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1.emf"/><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oleObject" Target="../embeddings/oleObject38.bin"/><Relationship Id="rId5" Type="http://schemas.openxmlformats.org/officeDocument/2006/relationships/notesSlide" Target="../notesSlides/notesSlide25.xml"/><Relationship Id="rId4"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notesSlide" Target="../notesSlides/notesSlide26.xml"/><Relationship Id="rId7" Type="http://schemas.openxmlformats.org/officeDocument/2006/relationships/slide" Target="slide85.xml"/><Relationship Id="rId2" Type="http://schemas.openxmlformats.org/officeDocument/2006/relationships/slideLayout" Target="../slideLayouts/slideLayout29.xml"/><Relationship Id="rId1" Type="http://schemas.openxmlformats.org/officeDocument/2006/relationships/tags" Target="../tags/tag106.xml"/><Relationship Id="rId6" Type="http://schemas.openxmlformats.org/officeDocument/2006/relationships/hyperlink" Target="https://fd.niic.gov.sa/" TargetMode="External"/><Relationship Id="rId5" Type="http://schemas.openxmlformats.org/officeDocument/2006/relationships/image" Target="../media/image1.emf"/><Relationship Id="rId4" Type="http://schemas.openxmlformats.org/officeDocument/2006/relationships/oleObject" Target="../embeddings/oleObject39.bin"/><Relationship Id="rId9" Type="http://schemas.openxmlformats.org/officeDocument/2006/relationships/image" Target="../media/image2.emf"/></Relationships>
</file>

<file path=ppt/slides/_rels/slide32.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1.emf"/><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oleObject" Target="../embeddings/oleObject40.bin"/><Relationship Id="rId5" Type="http://schemas.openxmlformats.org/officeDocument/2006/relationships/notesSlide" Target="../notesSlides/notesSlide27.xml"/><Relationship Id="rId4"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29.xml"/><Relationship Id="rId7" Type="http://schemas.openxmlformats.org/officeDocument/2006/relationships/image" Target="../media/image19.png"/><Relationship Id="rId2" Type="http://schemas.openxmlformats.org/officeDocument/2006/relationships/slideLayout" Target="../slideLayouts/slideLayout5.xml"/><Relationship Id="rId1" Type="http://schemas.openxmlformats.org/officeDocument/2006/relationships/tags" Target="../tags/tag110.xml"/><Relationship Id="rId6" Type="http://schemas.openxmlformats.org/officeDocument/2006/relationships/image" Target="../media/image18.png"/><Relationship Id="rId5" Type="http://schemas.openxmlformats.org/officeDocument/2006/relationships/image" Target="../media/image1.emf"/><Relationship Id="rId4" Type="http://schemas.openxmlformats.org/officeDocument/2006/relationships/oleObject" Target="../embeddings/oleObject41.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9.xml"/><Relationship Id="rId1" Type="http://schemas.openxmlformats.org/officeDocument/2006/relationships/tags" Target="../tags/tag111.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tags" Target="../tags/tag129.xml"/><Relationship Id="rId26" Type="http://schemas.openxmlformats.org/officeDocument/2006/relationships/notesSlide" Target="../notesSlides/notesSlide31.xml"/><Relationship Id="rId3" Type="http://schemas.openxmlformats.org/officeDocument/2006/relationships/tags" Target="../tags/tag114.xml"/><Relationship Id="rId21" Type="http://schemas.openxmlformats.org/officeDocument/2006/relationships/tags" Target="../tags/tag132.xml"/><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tags" Target="../tags/tag128.xml"/><Relationship Id="rId25" Type="http://schemas.openxmlformats.org/officeDocument/2006/relationships/slideLayout" Target="../slideLayouts/slideLayout29.xml"/><Relationship Id="rId2" Type="http://schemas.openxmlformats.org/officeDocument/2006/relationships/tags" Target="../tags/tag113.xml"/><Relationship Id="rId16" Type="http://schemas.openxmlformats.org/officeDocument/2006/relationships/tags" Target="../tags/tag127.xml"/><Relationship Id="rId20" Type="http://schemas.openxmlformats.org/officeDocument/2006/relationships/tags" Target="../tags/tag131.xml"/><Relationship Id="rId29" Type="http://schemas.openxmlformats.org/officeDocument/2006/relationships/slide" Target="slide8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24" Type="http://schemas.openxmlformats.org/officeDocument/2006/relationships/tags" Target="../tags/tag135.xml"/><Relationship Id="rId5" Type="http://schemas.openxmlformats.org/officeDocument/2006/relationships/tags" Target="../tags/tag116.xml"/><Relationship Id="rId15" Type="http://schemas.openxmlformats.org/officeDocument/2006/relationships/tags" Target="../tags/tag126.xml"/><Relationship Id="rId23" Type="http://schemas.openxmlformats.org/officeDocument/2006/relationships/tags" Target="../tags/tag134.xml"/><Relationship Id="rId28" Type="http://schemas.openxmlformats.org/officeDocument/2006/relationships/image" Target="../media/image1.emf"/><Relationship Id="rId10" Type="http://schemas.openxmlformats.org/officeDocument/2006/relationships/tags" Target="../tags/tag121.xml"/><Relationship Id="rId19" Type="http://schemas.openxmlformats.org/officeDocument/2006/relationships/tags" Target="../tags/tag130.xml"/><Relationship Id="rId31" Type="http://schemas.openxmlformats.org/officeDocument/2006/relationships/image" Target="../media/image2.emf"/><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 Id="rId22" Type="http://schemas.openxmlformats.org/officeDocument/2006/relationships/tags" Target="../tags/tag133.xml"/><Relationship Id="rId27" Type="http://schemas.openxmlformats.org/officeDocument/2006/relationships/oleObject" Target="../embeddings/oleObject42.bin"/><Relationship Id="rId30" Type="http://schemas.openxmlformats.org/officeDocument/2006/relationships/slide" Target="slide92.xml"/></Relationships>
</file>

<file path=ppt/slides/_rels/slide37.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notesSlide" Target="../notesSlides/notesSlide32.xml"/><Relationship Id="rId7" Type="http://schemas.openxmlformats.org/officeDocument/2006/relationships/slide" Target="slide92.xml"/><Relationship Id="rId2" Type="http://schemas.openxmlformats.org/officeDocument/2006/relationships/slideLayout" Target="../slideLayouts/slideLayout29.xml"/><Relationship Id="rId1" Type="http://schemas.openxmlformats.org/officeDocument/2006/relationships/tags" Target="../tags/tag136.xml"/><Relationship Id="rId6" Type="http://schemas.openxmlformats.org/officeDocument/2006/relationships/image" Target="../media/image28.png"/><Relationship Id="rId5" Type="http://schemas.openxmlformats.org/officeDocument/2006/relationships/image" Target="../media/image1.emf"/><Relationship Id="rId4" Type="http://schemas.openxmlformats.org/officeDocument/2006/relationships/oleObject" Target="../embeddings/oleObject43.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9.xml"/><Relationship Id="rId1" Type="http://schemas.openxmlformats.org/officeDocument/2006/relationships/tags" Target="../tags/tag137.xml"/><Relationship Id="rId5" Type="http://schemas.openxmlformats.org/officeDocument/2006/relationships/image" Target="../media/image1.emf"/><Relationship Id="rId4" Type="http://schemas.openxmlformats.org/officeDocument/2006/relationships/oleObject" Target="../embeddings/oleObject44.bin"/></Relationships>
</file>

<file path=ppt/slides/_rels/slide39.xml.rels><?xml version="1.0" encoding="UTF-8" standalone="yes"?>
<Relationships xmlns="http://schemas.openxmlformats.org/package/2006/relationships"><Relationship Id="rId8" Type="http://schemas.openxmlformats.org/officeDocument/2006/relationships/hyperlink" Target="https://fd.niic.gov.sa/" TargetMode="External"/><Relationship Id="rId3" Type="http://schemas.openxmlformats.org/officeDocument/2006/relationships/slideLayout" Target="../slideLayouts/slideLayout29.xml"/><Relationship Id="rId7" Type="http://schemas.openxmlformats.org/officeDocument/2006/relationships/image" Target="../media/image2.emf"/><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 Target="slide92.xml"/><Relationship Id="rId5" Type="http://schemas.openxmlformats.org/officeDocument/2006/relationships/image" Target="../media/image26.emf"/><Relationship Id="rId4" Type="http://schemas.openxmlformats.org/officeDocument/2006/relationships/oleObject" Target="../embeddings/oleObject45.bin"/><Relationship Id="rId9" Type="http://schemas.openxmlformats.org/officeDocument/2006/relationships/hyperlink" Target="https://www.trademap.org/" TargetMode="Externa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9.xml"/><Relationship Id="rId1" Type="http://schemas.openxmlformats.org/officeDocument/2006/relationships/tags" Target="../tags/tag140.xml"/><Relationship Id="rId6" Type="http://schemas.openxmlformats.org/officeDocument/2006/relationships/image" Target="../media/image2.emf"/><Relationship Id="rId5" Type="http://schemas.openxmlformats.org/officeDocument/2006/relationships/slide" Target="slide92.xml"/><Relationship Id="rId4" Type="http://schemas.openxmlformats.org/officeDocument/2006/relationships/image" Target="../media/image26.em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9.xml"/><Relationship Id="rId1" Type="http://schemas.openxmlformats.org/officeDocument/2006/relationships/tags" Target="../tags/tag141.xml"/><Relationship Id="rId5" Type="http://schemas.openxmlformats.org/officeDocument/2006/relationships/image" Target="../media/image1.emf"/><Relationship Id="rId4" Type="http://schemas.openxmlformats.org/officeDocument/2006/relationships/oleObject" Target="../embeddings/oleObject44.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7.xml"/><Relationship Id="rId1" Type="http://schemas.openxmlformats.org/officeDocument/2006/relationships/tags" Target="../tags/tag142.xml"/><Relationship Id="rId5" Type="http://schemas.openxmlformats.org/officeDocument/2006/relationships/image" Target="../media/image10.emf"/><Relationship Id="rId4" Type="http://schemas.openxmlformats.org/officeDocument/2006/relationships/oleObject" Target="../embeddings/oleObject47.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8.bin"/><Relationship Id="rId7" Type="http://schemas.openxmlformats.org/officeDocument/2006/relationships/hyperlink" Target="https://atlas.cid.harvard.edu/rankings/product" TargetMode="External"/><Relationship Id="rId2" Type="http://schemas.openxmlformats.org/officeDocument/2006/relationships/slideLayout" Target="../slideLayouts/slideLayout47.xml"/><Relationship Id="rId1" Type="http://schemas.openxmlformats.org/officeDocument/2006/relationships/tags" Target="../tags/tag143.xml"/><Relationship Id="rId6" Type="http://schemas.openxmlformats.org/officeDocument/2006/relationships/hyperlink" Target="https://www.investopedia.com/terms/i/irr.asp" TargetMode="External"/><Relationship Id="rId5" Type="http://schemas.openxmlformats.org/officeDocument/2006/relationships/hyperlink" Target="https://www.investopedia.com/terms/c/capitalexpenditure.asp" TargetMode="External"/><Relationship Id="rId4" Type="http://schemas.openxmlformats.org/officeDocument/2006/relationships/image" Target="../media/image27.emf"/></Relationships>
</file>

<file path=ppt/slides/_rels/slide44.xml.rels><?xml version="1.0" encoding="UTF-8" standalone="yes"?>
<Relationships xmlns="http://schemas.openxmlformats.org/package/2006/relationships"><Relationship Id="rId13" Type="http://schemas.openxmlformats.org/officeDocument/2006/relationships/tags" Target="../tags/tag156.xml"/><Relationship Id="rId18" Type="http://schemas.openxmlformats.org/officeDocument/2006/relationships/tags" Target="../tags/tag161.xml"/><Relationship Id="rId26" Type="http://schemas.openxmlformats.org/officeDocument/2006/relationships/tags" Target="../tags/tag169.xml"/><Relationship Id="rId3" Type="http://schemas.openxmlformats.org/officeDocument/2006/relationships/tags" Target="../tags/tag146.xml"/><Relationship Id="rId21" Type="http://schemas.openxmlformats.org/officeDocument/2006/relationships/tags" Target="../tags/tag164.xml"/><Relationship Id="rId34" Type="http://schemas.openxmlformats.org/officeDocument/2006/relationships/image" Target="../media/image2.emf"/><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5" Type="http://schemas.openxmlformats.org/officeDocument/2006/relationships/tags" Target="../tags/tag168.xml"/><Relationship Id="rId33" Type="http://schemas.openxmlformats.org/officeDocument/2006/relationships/slide" Target="slide92.xml"/><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tags" Target="../tags/tag163.xml"/><Relationship Id="rId29" Type="http://schemas.openxmlformats.org/officeDocument/2006/relationships/oleObject" Target="../embeddings/oleObject49.bin"/><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tags" Target="../tags/tag167.xml"/><Relationship Id="rId32" Type="http://schemas.openxmlformats.org/officeDocument/2006/relationships/image" Target="../media/image28.png"/><Relationship Id="rId5" Type="http://schemas.openxmlformats.org/officeDocument/2006/relationships/tags" Target="../tags/tag148.xml"/><Relationship Id="rId15" Type="http://schemas.openxmlformats.org/officeDocument/2006/relationships/tags" Target="../tags/tag158.xml"/><Relationship Id="rId23" Type="http://schemas.openxmlformats.org/officeDocument/2006/relationships/tags" Target="../tags/tag166.xml"/><Relationship Id="rId28" Type="http://schemas.openxmlformats.org/officeDocument/2006/relationships/slideLayout" Target="../slideLayouts/slideLayout47.xml"/><Relationship Id="rId10" Type="http://schemas.openxmlformats.org/officeDocument/2006/relationships/tags" Target="../tags/tag153.xml"/><Relationship Id="rId19" Type="http://schemas.openxmlformats.org/officeDocument/2006/relationships/tags" Target="../tags/tag162.xml"/><Relationship Id="rId31" Type="http://schemas.openxmlformats.org/officeDocument/2006/relationships/chart" Target="../charts/chart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 Id="rId22" Type="http://schemas.openxmlformats.org/officeDocument/2006/relationships/tags" Target="../tags/tag165.xml"/><Relationship Id="rId27" Type="http://schemas.openxmlformats.org/officeDocument/2006/relationships/tags" Target="../tags/tag170.xml"/><Relationship Id="rId30" Type="http://schemas.openxmlformats.org/officeDocument/2006/relationships/image" Target="../media/image27.emf"/><Relationship Id="rId8" Type="http://schemas.openxmlformats.org/officeDocument/2006/relationships/tags" Target="../tags/tag15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47.xml"/><Relationship Id="rId1" Type="http://schemas.openxmlformats.org/officeDocument/2006/relationships/tags" Target="../tags/tag171.xml"/><Relationship Id="rId5" Type="http://schemas.openxmlformats.org/officeDocument/2006/relationships/hyperlink" Target="https://atlas.cid.harvard.edu/rankings/product" TargetMode="External"/><Relationship Id="rId4" Type="http://schemas.openxmlformats.org/officeDocument/2006/relationships/image" Target="../media/image27.e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7.xml"/><Relationship Id="rId1" Type="http://schemas.openxmlformats.org/officeDocument/2006/relationships/tags" Target="../tags/tag172.xml"/><Relationship Id="rId5" Type="http://schemas.openxmlformats.org/officeDocument/2006/relationships/image" Target="../media/image1.emf"/><Relationship Id="rId4" Type="http://schemas.openxmlformats.org/officeDocument/2006/relationships/oleObject" Target="../embeddings/oleObject51.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47.xml"/><Relationship Id="rId1" Type="http://schemas.openxmlformats.org/officeDocument/2006/relationships/tags" Target="../tags/tag173.xml"/><Relationship Id="rId4" Type="http://schemas.openxmlformats.org/officeDocument/2006/relationships/image" Target="../media/image27.emf"/></Relationships>
</file>

<file path=ppt/slides/_rels/slide48.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18" Type="http://schemas.openxmlformats.org/officeDocument/2006/relationships/tags" Target="../tags/tag191.xml"/><Relationship Id="rId26" Type="http://schemas.openxmlformats.org/officeDocument/2006/relationships/tags" Target="../tags/tag199.xml"/><Relationship Id="rId3" Type="http://schemas.openxmlformats.org/officeDocument/2006/relationships/tags" Target="../tags/tag176.xml"/><Relationship Id="rId21" Type="http://schemas.openxmlformats.org/officeDocument/2006/relationships/tags" Target="../tags/tag194.xml"/><Relationship Id="rId7" Type="http://schemas.openxmlformats.org/officeDocument/2006/relationships/tags" Target="../tags/tag180.xml"/><Relationship Id="rId12" Type="http://schemas.openxmlformats.org/officeDocument/2006/relationships/tags" Target="../tags/tag185.xml"/><Relationship Id="rId17" Type="http://schemas.openxmlformats.org/officeDocument/2006/relationships/tags" Target="../tags/tag190.xml"/><Relationship Id="rId25" Type="http://schemas.openxmlformats.org/officeDocument/2006/relationships/tags" Target="../tags/tag198.xml"/><Relationship Id="rId2" Type="http://schemas.openxmlformats.org/officeDocument/2006/relationships/tags" Target="../tags/tag175.xml"/><Relationship Id="rId16" Type="http://schemas.openxmlformats.org/officeDocument/2006/relationships/tags" Target="../tags/tag189.xml"/><Relationship Id="rId20" Type="http://schemas.openxmlformats.org/officeDocument/2006/relationships/tags" Target="../tags/tag193.xml"/><Relationship Id="rId29" Type="http://schemas.openxmlformats.org/officeDocument/2006/relationships/oleObject" Target="../embeddings/oleObject53.bin"/><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24" Type="http://schemas.openxmlformats.org/officeDocument/2006/relationships/tags" Target="../tags/tag197.xml"/><Relationship Id="rId5" Type="http://schemas.openxmlformats.org/officeDocument/2006/relationships/tags" Target="../tags/tag178.xml"/><Relationship Id="rId15" Type="http://schemas.openxmlformats.org/officeDocument/2006/relationships/tags" Target="../tags/tag188.xml"/><Relationship Id="rId23" Type="http://schemas.openxmlformats.org/officeDocument/2006/relationships/tags" Target="../tags/tag196.xml"/><Relationship Id="rId28" Type="http://schemas.openxmlformats.org/officeDocument/2006/relationships/slideLayout" Target="../slideLayouts/slideLayout47.xml"/><Relationship Id="rId10" Type="http://schemas.openxmlformats.org/officeDocument/2006/relationships/tags" Target="../tags/tag183.xml"/><Relationship Id="rId19" Type="http://schemas.openxmlformats.org/officeDocument/2006/relationships/tags" Target="../tags/tag192.xml"/><Relationship Id="rId31" Type="http://schemas.openxmlformats.org/officeDocument/2006/relationships/chart" Target="../charts/chart3.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 Id="rId22" Type="http://schemas.openxmlformats.org/officeDocument/2006/relationships/tags" Target="../tags/tag195.xml"/><Relationship Id="rId27" Type="http://schemas.openxmlformats.org/officeDocument/2006/relationships/tags" Target="../tags/tag200.xml"/><Relationship Id="rId30" Type="http://schemas.openxmlformats.org/officeDocument/2006/relationships/image" Target="../media/image27.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47.xml"/><Relationship Id="rId1" Type="http://schemas.openxmlformats.org/officeDocument/2006/relationships/tags" Target="../tags/tag201.xml"/><Relationship Id="rId4" Type="http://schemas.openxmlformats.org/officeDocument/2006/relationships/image" Target="../media/image33.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47.xml"/><Relationship Id="rId1" Type="http://schemas.openxmlformats.org/officeDocument/2006/relationships/tags" Target="../tags/tag202.xml"/><Relationship Id="rId4" Type="http://schemas.openxmlformats.org/officeDocument/2006/relationships/image" Target="../media/image27.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21.png"/><Relationship Id="rId2" Type="http://schemas.openxmlformats.org/officeDocument/2006/relationships/slideLayout" Target="../slideLayouts/slideLayout48.xml"/><Relationship Id="rId1" Type="http://schemas.openxmlformats.org/officeDocument/2006/relationships/tags" Target="../tags/tag203.xml"/><Relationship Id="rId6" Type="http://schemas.openxmlformats.org/officeDocument/2006/relationships/image" Target="../media/image20.png"/><Relationship Id="rId5" Type="http://schemas.openxmlformats.org/officeDocument/2006/relationships/image" Target="../media/image1.emf"/><Relationship Id="rId4" Type="http://schemas.openxmlformats.org/officeDocument/2006/relationships/oleObject" Target="../embeddings/oleObject55.bin"/></Relationships>
</file>

<file path=ppt/slides/_rels/slide53.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image" Target="../media/image27.emf"/><Relationship Id="rId5" Type="http://schemas.openxmlformats.org/officeDocument/2006/relationships/oleObject" Target="../embeddings/oleObject56.bin"/><Relationship Id="rId4" Type="http://schemas.openxmlformats.org/officeDocument/2006/relationships/slideLayout" Target="../slideLayouts/slideLayout47.xml"/></Relationships>
</file>

<file path=ppt/slides/_rels/slide54.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tags" Target="../tags/tag209.xml"/><Relationship Id="rId7" Type="http://schemas.openxmlformats.org/officeDocument/2006/relationships/image" Target="../media/image34.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27.emf"/><Relationship Id="rId5" Type="http://schemas.openxmlformats.org/officeDocument/2006/relationships/oleObject" Target="../embeddings/oleObject52.bin"/><Relationship Id="rId4" Type="http://schemas.openxmlformats.org/officeDocument/2006/relationships/slideLayout" Target="../slideLayouts/slideLayout47.xml"/><Relationship Id="rId9" Type="http://schemas.openxmlformats.org/officeDocument/2006/relationships/image" Target="../media/image2.emf"/></Relationships>
</file>

<file path=ppt/slides/_rels/slide55.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12.xml"/><Relationship Id="rId7" Type="http://schemas.openxmlformats.org/officeDocument/2006/relationships/slide" Target="slide92.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image" Target="../media/image27.emf"/><Relationship Id="rId5" Type="http://schemas.openxmlformats.org/officeDocument/2006/relationships/oleObject" Target="../embeddings/oleObject57.bin"/><Relationship Id="rId4" Type="http://schemas.openxmlformats.org/officeDocument/2006/relationships/slideLayout" Target="../slideLayouts/slideLayout47.xml"/></Relationships>
</file>

<file path=ppt/slides/_rels/slide56.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15.xml"/><Relationship Id="rId7" Type="http://schemas.openxmlformats.org/officeDocument/2006/relationships/slide" Target="slide92.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27.emf"/><Relationship Id="rId5" Type="http://schemas.openxmlformats.org/officeDocument/2006/relationships/oleObject" Target="../embeddings/oleObject58.bin"/><Relationship Id="rId4" Type="http://schemas.openxmlformats.org/officeDocument/2006/relationships/slideLayout" Target="../slideLayouts/slideLayout47.xml"/></Relationships>
</file>

<file path=ppt/slides/_rels/slide5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218.xml"/><Relationship Id="rId7" Type="http://schemas.openxmlformats.org/officeDocument/2006/relationships/image" Target="../media/image27.emf"/><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oleObject" Target="../embeddings/oleObject59.bin"/><Relationship Id="rId5" Type="http://schemas.openxmlformats.org/officeDocument/2006/relationships/notesSlide" Target="../notesSlides/notesSlide39.xml"/><Relationship Id="rId10" Type="http://schemas.openxmlformats.org/officeDocument/2006/relationships/image" Target="../media/image2.emf"/><Relationship Id="rId4" Type="http://schemas.openxmlformats.org/officeDocument/2006/relationships/slideLayout" Target="../slideLayouts/slideLayout47.xml"/><Relationship Id="rId9" Type="http://schemas.openxmlformats.org/officeDocument/2006/relationships/slide" Target="slide92.xml"/></Relationships>
</file>

<file path=ppt/slides/_rels/slide58.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21.xml"/><Relationship Id="rId7" Type="http://schemas.openxmlformats.org/officeDocument/2006/relationships/slide" Target="slide92.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image" Target="../media/image27.emf"/><Relationship Id="rId5" Type="http://schemas.openxmlformats.org/officeDocument/2006/relationships/oleObject" Target="../embeddings/oleObject60.bin"/><Relationship Id="rId4" Type="http://schemas.openxmlformats.org/officeDocument/2006/relationships/slideLayout" Target="../slideLayouts/slideLayout47.xml"/></Relationships>
</file>

<file path=ppt/slides/_rels/slide5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24.xml"/><Relationship Id="rId7" Type="http://schemas.openxmlformats.org/officeDocument/2006/relationships/slide" Target="slide92.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image" Target="../media/image27.emf"/><Relationship Id="rId5" Type="http://schemas.openxmlformats.org/officeDocument/2006/relationships/oleObject" Target="../embeddings/oleObject61.bin"/><Relationship Id="rId4" Type="http://schemas.openxmlformats.org/officeDocument/2006/relationships/slideLayout" Target="../slideLayouts/slideLayout47.xml"/></Relationships>
</file>

<file path=ppt/slides/_rels/slide60.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tags" Target="../tags/tag227.xml"/><Relationship Id="rId7" Type="http://schemas.openxmlformats.org/officeDocument/2006/relationships/oleObject" Target="../embeddings/oleObject47.bin"/><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slideLayout" Target="../slideLayouts/slideLayout47.xml"/><Relationship Id="rId5" Type="http://schemas.openxmlformats.org/officeDocument/2006/relationships/tags" Target="../tags/tag229.xml"/><Relationship Id="rId4" Type="http://schemas.openxmlformats.org/officeDocument/2006/relationships/tags" Target="../tags/tag228.xml"/></Relationships>
</file>

<file path=ppt/slides/_rels/slide6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32.xml"/><Relationship Id="rId7" Type="http://schemas.openxmlformats.org/officeDocument/2006/relationships/slide" Target="slide92.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image" Target="../media/image27.emf"/><Relationship Id="rId5" Type="http://schemas.openxmlformats.org/officeDocument/2006/relationships/oleObject" Target="../embeddings/oleObject62.bin"/><Relationship Id="rId4" Type="http://schemas.openxmlformats.org/officeDocument/2006/relationships/slideLayout" Target="../slideLayouts/slideLayout47.xml"/></Relationships>
</file>

<file path=ppt/slides/_rels/slide62.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tags" Target="../tags/tag235.xml"/><Relationship Id="rId7" Type="http://schemas.openxmlformats.org/officeDocument/2006/relationships/image" Target="../media/image27.emf"/><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oleObject" Target="../embeddings/oleObject63.bin"/><Relationship Id="rId5" Type="http://schemas.openxmlformats.org/officeDocument/2006/relationships/slideLayout" Target="../slideLayouts/slideLayout47.xml"/><Relationship Id="rId4" Type="http://schemas.openxmlformats.org/officeDocument/2006/relationships/tags" Target="../tags/tag236.xml"/><Relationship Id="rId9" Type="http://schemas.openxmlformats.org/officeDocument/2006/relationships/image" Target="../media/image2.emf"/></Relationships>
</file>

<file path=ppt/slides/_rels/slide63.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tags" Target="../tags/tag239.xml"/><Relationship Id="rId7" Type="http://schemas.openxmlformats.org/officeDocument/2006/relationships/image" Target="../media/image27.emf"/><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oleObject" Target="../embeddings/oleObject64.bin"/><Relationship Id="rId5" Type="http://schemas.openxmlformats.org/officeDocument/2006/relationships/slideLayout" Target="../slideLayouts/slideLayout47.xml"/><Relationship Id="rId4" Type="http://schemas.openxmlformats.org/officeDocument/2006/relationships/tags" Target="../tags/tag240.xml"/><Relationship Id="rId9" Type="http://schemas.openxmlformats.org/officeDocument/2006/relationships/image" Target="../media/image2.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4.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32.png"/><Relationship Id="rId2" Type="http://schemas.openxmlformats.org/officeDocument/2006/relationships/slideLayout" Target="../slideLayouts/slideLayout48.xml"/><Relationship Id="rId1" Type="http://schemas.openxmlformats.org/officeDocument/2006/relationships/tags" Target="../tags/tag241.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55.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7.xml"/><Relationship Id="rId1" Type="http://schemas.openxmlformats.org/officeDocument/2006/relationships/tags" Target="../tags/tag242.xml"/><Relationship Id="rId5" Type="http://schemas.openxmlformats.org/officeDocument/2006/relationships/image" Target="../media/image1.emf"/><Relationship Id="rId4" Type="http://schemas.openxmlformats.org/officeDocument/2006/relationships/oleObject" Target="../embeddings/oleObject65.bin"/></Relationships>
</file>

<file path=ppt/slides/_rels/slide6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245.xml"/><Relationship Id="rId7" Type="http://schemas.openxmlformats.org/officeDocument/2006/relationships/image" Target="../media/image1.emf"/><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oleObject" Target="../embeddings/oleObject66.bin"/><Relationship Id="rId5" Type="http://schemas.openxmlformats.org/officeDocument/2006/relationships/notesSlide" Target="../notesSlides/notesSlide43.xml"/><Relationship Id="rId4" Type="http://schemas.openxmlformats.org/officeDocument/2006/relationships/slideLayout" Target="../slideLayouts/slideLayout47.xml"/><Relationship Id="rId9"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7.xml"/><Relationship Id="rId1" Type="http://schemas.openxmlformats.org/officeDocument/2006/relationships/tags" Target="../tags/tag246.xml"/><Relationship Id="rId5" Type="http://schemas.openxmlformats.org/officeDocument/2006/relationships/image" Target="../media/image27.emf"/><Relationship Id="rId4" Type="http://schemas.openxmlformats.org/officeDocument/2006/relationships/oleObject" Target="../embeddings/oleObject47.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7.xml"/><Relationship Id="rId1" Type="http://schemas.openxmlformats.org/officeDocument/2006/relationships/tags" Target="../tags/tag247.xml"/><Relationship Id="rId5" Type="http://schemas.openxmlformats.org/officeDocument/2006/relationships/image" Target="../media/image33.emf"/><Relationship Id="rId4" Type="http://schemas.openxmlformats.org/officeDocument/2006/relationships/oleObject" Target="../embeddings/oleObject67.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2.emf"/><Relationship Id="rId2" Type="http://schemas.openxmlformats.org/officeDocument/2006/relationships/slideLayout" Target="../slideLayouts/slideLayout47.xml"/><Relationship Id="rId1" Type="http://schemas.openxmlformats.org/officeDocument/2006/relationships/tags" Target="../tags/tag248.xml"/><Relationship Id="rId6" Type="http://schemas.openxmlformats.org/officeDocument/2006/relationships/slide" Target="slide92.xml"/><Relationship Id="rId5" Type="http://schemas.openxmlformats.org/officeDocument/2006/relationships/image" Target="../media/image27.emf"/><Relationship Id="rId4" Type="http://schemas.openxmlformats.org/officeDocument/2006/relationships/oleObject" Target="../embeddings/oleObject6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7.xml"/><Relationship Id="rId1" Type="http://schemas.openxmlformats.org/officeDocument/2006/relationships/tags" Target="../tags/tag249.xml"/><Relationship Id="rId6" Type="http://schemas.openxmlformats.org/officeDocument/2006/relationships/slide" Target="slide71.xml"/><Relationship Id="rId5" Type="http://schemas.openxmlformats.org/officeDocument/2006/relationships/image" Target="../media/image33.emf"/><Relationship Id="rId4" Type="http://schemas.openxmlformats.org/officeDocument/2006/relationships/oleObject" Target="../embeddings/oleObject69.bin"/></Relationships>
</file>

<file path=ppt/slides/_rels/slide7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252.xml"/><Relationship Id="rId7" Type="http://schemas.openxmlformats.org/officeDocument/2006/relationships/image" Target="../media/image1.emf"/><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oleObject" Target="../embeddings/oleObject70.bin"/><Relationship Id="rId5" Type="http://schemas.openxmlformats.org/officeDocument/2006/relationships/notesSlide" Target="../notesSlides/notesSlide48.xml"/><Relationship Id="rId4" Type="http://schemas.openxmlformats.org/officeDocument/2006/relationships/slideLayout" Target="../slideLayouts/slideLayout4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7.xml"/><Relationship Id="rId1" Type="http://schemas.openxmlformats.org/officeDocument/2006/relationships/tags" Target="../tags/tag253.xml"/><Relationship Id="rId5" Type="http://schemas.openxmlformats.org/officeDocument/2006/relationships/image" Target="../media/image27.emf"/><Relationship Id="rId4" Type="http://schemas.openxmlformats.org/officeDocument/2006/relationships/oleObject" Target="../embeddings/oleObject71.bin"/></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7.xml"/><Relationship Id="rId1" Type="http://schemas.openxmlformats.org/officeDocument/2006/relationships/tags" Target="../tags/tag254.xml"/><Relationship Id="rId5" Type="http://schemas.openxmlformats.org/officeDocument/2006/relationships/image" Target="../media/image33.emf"/><Relationship Id="rId4" Type="http://schemas.openxmlformats.org/officeDocument/2006/relationships/oleObject" Target="../embeddings/oleObject72.bin"/></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7.xml"/><Relationship Id="rId1" Type="http://schemas.openxmlformats.org/officeDocument/2006/relationships/tags" Target="../tags/tag255.xml"/><Relationship Id="rId5" Type="http://schemas.openxmlformats.org/officeDocument/2006/relationships/image" Target="../media/image27.emf"/><Relationship Id="rId4" Type="http://schemas.openxmlformats.org/officeDocument/2006/relationships/oleObject" Target="../embeddings/oleObject73.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7.xml"/><Relationship Id="rId1" Type="http://schemas.openxmlformats.org/officeDocument/2006/relationships/tags" Target="../tags/tag256.xml"/><Relationship Id="rId5" Type="http://schemas.openxmlformats.org/officeDocument/2006/relationships/image" Target="../media/image27.emf"/><Relationship Id="rId4" Type="http://schemas.openxmlformats.org/officeDocument/2006/relationships/oleObject" Target="../embeddings/oleObject66.bin"/></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7.xml"/><Relationship Id="rId1" Type="http://schemas.openxmlformats.org/officeDocument/2006/relationships/tags" Target="../tags/tag257.xml"/><Relationship Id="rId5" Type="http://schemas.openxmlformats.org/officeDocument/2006/relationships/image" Target="../media/image33.emf"/><Relationship Id="rId4" Type="http://schemas.openxmlformats.org/officeDocument/2006/relationships/oleObject" Target="../embeddings/oleObject67.bin"/></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2.emf"/><Relationship Id="rId2" Type="http://schemas.openxmlformats.org/officeDocument/2006/relationships/slideLayout" Target="../slideLayouts/slideLayout47.xml"/><Relationship Id="rId1" Type="http://schemas.openxmlformats.org/officeDocument/2006/relationships/tags" Target="../tags/tag258.xml"/><Relationship Id="rId6" Type="http://schemas.openxmlformats.org/officeDocument/2006/relationships/slide" Target="slide92.xml"/><Relationship Id="rId5" Type="http://schemas.openxmlformats.org/officeDocument/2006/relationships/image" Target="../media/image27.emf"/><Relationship Id="rId4" Type="http://schemas.openxmlformats.org/officeDocument/2006/relationships/oleObject" Target="../embeddings/oleObject74.bin"/></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7.xml"/><Relationship Id="rId1" Type="http://schemas.openxmlformats.org/officeDocument/2006/relationships/tags" Target="../tags/tag259.xml"/><Relationship Id="rId6" Type="http://schemas.openxmlformats.org/officeDocument/2006/relationships/slide" Target="slide71.xml"/><Relationship Id="rId5" Type="http://schemas.openxmlformats.org/officeDocument/2006/relationships/image" Target="../media/image33.emf"/><Relationship Id="rId4" Type="http://schemas.openxmlformats.org/officeDocument/2006/relationships/oleObject" Target="../embeddings/oleObject69.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4.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8.xml"/><Relationship Id="rId1" Type="http://schemas.openxmlformats.org/officeDocument/2006/relationships/tags" Target="../tags/tag260.xml"/><Relationship Id="rId6" Type="http://schemas.openxmlformats.org/officeDocument/2006/relationships/image" Target="../media/image24.png"/><Relationship Id="rId5" Type="http://schemas.openxmlformats.org/officeDocument/2006/relationships/image" Target="../media/image1.emf"/><Relationship Id="rId4" Type="http://schemas.openxmlformats.org/officeDocument/2006/relationships/oleObject" Target="../embeddings/oleObject44.bin"/></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47.xml"/><Relationship Id="rId1" Type="http://schemas.openxmlformats.org/officeDocument/2006/relationships/tags" Target="../tags/tag261.xml"/><Relationship Id="rId5" Type="http://schemas.openxmlformats.org/officeDocument/2006/relationships/image" Target="../media/image28.png"/><Relationship Id="rId4" Type="http://schemas.openxmlformats.org/officeDocument/2006/relationships/image" Target="../media/image27.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47.xml"/><Relationship Id="rId1" Type="http://schemas.openxmlformats.org/officeDocument/2006/relationships/tags" Target="../tags/tag262.xml"/><Relationship Id="rId4" Type="http://schemas.openxmlformats.org/officeDocument/2006/relationships/image" Target="../media/image27.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47.xml"/><Relationship Id="rId1" Type="http://schemas.openxmlformats.org/officeDocument/2006/relationships/tags" Target="../tags/tag263.xml"/><Relationship Id="rId4" Type="http://schemas.openxmlformats.org/officeDocument/2006/relationships/image" Target="../media/image27.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47.xml"/><Relationship Id="rId1" Type="http://schemas.openxmlformats.org/officeDocument/2006/relationships/tags" Target="../tags/tag264.xml"/><Relationship Id="rId6" Type="http://schemas.openxmlformats.org/officeDocument/2006/relationships/image" Target="../media/image2.emf"/><Relationship Id="rId5" Type="http://schemas.openxmlformats.org/officeDocument/2006/relationships/slide" Target="slide92.xml"/><Relationship Id="rId4" Type="http://schemas.openxmlformats.org/officeDocument/2006/relationships/image" Target="../media/image27.emf"/></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4.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48.xml"/><Relationship Id="rId1" Type="http://schemas.openxmlformats.org/officeDocument/2006/relationships/tags" Target="../tags/tag265.xml"/><Relationship Id="rId5" Type="http://schemas.openxmlformats.org/officeDocument/2006/relationships/image" Target="../media/image1.emf"/><Relationship Id="rId4" Type="http://schemas.openxmlformats.org/officeDocument/2006/relationships/oleObject" Target="../embeddings/oleObject51.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7.xml"/><Relationship Id="rId1" Type="http://schemas.openxmlformats.org/officeDocument/2006/relationships/tags" Target="../tags/tag266.xml"/><Relationship Id="rId5" Type="http://schemas.openxmlformats.org/officeDocument/2006/relationships/image" Target="../media/image1.emf"/><Relationship Id="rId4" Type="http://schemas.openxmlformats.org/officeDocument/2006/relationships/oleObject" Target="../embeddings/oleObject78.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1.xml"/><Relationship Id="rId7" Type="http://schemas.openxmlformats.org/officeDocument/2006/relationships/image" Target="../media/image2.emf"/><Relationship Id="rId2" Type="http://schemas.openxmlformats.org/officeDocument/2006/relationships/slideLayout" Target="../slideLayouts/slideLayout47.xml"/><Relationship Id="rId1" Type="http://schemas.openxmlformats.org/officeDocument/2006/relationships/tags" Target="../tags/tag267.xml"/><Relationship Id="rId6" Type="http://schemas.openxmlformats.org/officeDocument/2006/relationships/slide" Target="slide92.xml"/><Relationship Id="rId5" Type="http://schemas.openxmlformats.org/officeDocument/2006/relationships/image" Target="../media/image1.emf"/><Relationship Id="rId4" Type="http://schemas.openxmlformats.org/officeDocument/2006/relationships/oleObject" Target="../embeddings/oleObject79.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47.xml"/><Relationship Id="rId1" Type="http://schemas.openxmlformats.org/officeDocument/2006/relationships/tags" Target="../tags/tag268.xml"/><Relationship Id="rId4" Type="http://schemas.openxmlformats.org/officeDocument/2006/relationships/image" Target="../media/image36.em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4.xml"/></Relationships>
</file>

<file path=ppt/slides/_rels/slide92.xml.rels><?xml version="1.0" encoding="UTF-8" standalone="yes"?>
<Relationships xmlns="http://schemas.openxmlformats.org/package/2006/relationships"><Relationship Id="rId8" Type="http://schemas.openxmlformats.org/officeDocument/2006/relationships/hyperlink" Target="mailto:NDD_A@pif.gov.sa" TargetMode="External"/><Relationship Id="rId13" Type="http://schemas.openxmlformats.org/officeDocument/2006/relationships/hyperlink" Target="mailto:NDD_REI@pif.gov.sa" TargetMode="External"/><Relationship Id="rId3" Type="http://schemas.openxmlformats.org/officeDocument/2006/relationships/oleObject" Target="../embeddings/oleObject80.bin"/><Relationship Id="rId7" Type="http://schemas.openxmlformats.org/officeDocument/2006/relationships/hyperlink" Target="mailto:NDD_Industrials@pif.gov.sa" TargetMode="External"/><Relationship Id="rId12" Type="http://schemas.openxmlformats.org/officeDocument/2006/relationships/hyperlink" Target="mailto:NDD_ELES@pif.gov.sa" TargetMode="External"/><Relationship Id="rId2" Type="http://schemas.openxmlformats.org/officeDocument/2006/relationships/slideLayout" Target="../slideLayouts/slideLayout47.xml"/><Relationship Id="rId1" Type="http://schemas.openxmlformats.org/officeDocument/2006/relationships/tags" Target="../tags/tag269.xml"/><Relationship Id="rId6" Type="http://schemas.openxmlformats.org/officeDocument/2006/relationships/hyperlink" Target="mailto:NDD_FI@pif.gov.sa" TargetMode="External"/><Relationship Id="rId11" Type="http://schemas.openxmlformats.org/officeDocument/2006/relationships/hyperlink" Target="mailto:NDD_CG@pif.gov.sa" TargetMode="External"/><Relationship Id="rId5" Type="http://schemas.openxmlformats.org/officeDocument/2006/relationships/hyperlink" Target="mailto:NDD_Energy@pif.gov.sa" TargetMode="External"/><Relationship Id="rId10" Type="http://schemas.openxmlformats.org/officeDocument/2006/relationships/hyperlink" Target="mailto:NDD_T@pif.gov.sa" TargetMode="External"/><Relationship Id="rId4" Type="http://schemas.openxmlformats.org/officeDocument/2006/relationships/image" Target="../media/image27.emf"/><Relationship Id="rId9" Type="http://schemas.openxmlformats.org/officeDocument/2006/relationships/hyperlink" Target="mailto:NDD_Aviation@pif.gov.sa" TargetMode="Externa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hyperlink" Target="https://fd.niic.gov.sa/?" TargetMode="External"/><Relationship Id="rId2" Type="http://schemas.openxmlformats.org/officeDocument/2006/relationships/slideLayout" Target="../slideLayouts/slideLayout47.xml"/><Relationship Id="rId1" Type="http://schemas.openxmlformats.org/officeDocument/2006/relationships/tags" Target="../tags/tag27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7.emf"/></Relationships>
</file>

<file path=ppt/slides/_rels/slide9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oleObject" Target="../embeddings/oleObject82.bin"/><Relationship Id="rId7" Type="http://schemas.openxmlformats.org/officeDocument/2006/relationships/hyperlink" Target="https://modon.gov.sa/en/Systems/Pages/IndustryCost.aspx" TargetMode="External"/><Relationship Id="rId12" Type="http://schemas.openxmlformats.org/officeDocument/2006/relationships/hyperlink" Target="https://lcgpa.gov.sa/en/LocalContent/Pages/Local-Content-Mechanisms.aspx" TargetMode="External"/><Relationship Id="rId2" Type="http://schemas.openxmlformats.org/officeDocument/2006/relationships/slideLayout" Target="../slideLayouts/slideLayout47.xml"/><Relationship Id="rId1" Type="http://schemas.openxmlformats.org/officeDocument/2006/relationships/tags" Target="../tags/tag271.xml"/><Relationship Id="rId6" Type="http://schemas.openxmlformats.org/officeDocument/2006/relationships/hyperlink" Target="https://www.rcj.gov.sa/Document_Center/Revised_Utilities_SAR_Rate.pdf" TargetMode="External"/><Relationship Id="rId11" Type="http://schemas.openxmlformats.org/officeDocument/2006/relationships/image" Target="../media/image42.png"/><Relationship Id="rId5" Type="http://schemas.openxmlformats.org/officeDocument/2006/relationships/hyperlink" Target="https://sez.ecza.gov.sa/en/" TargetMode="External"/><Relationship Id="rId10" Type="http://schemas.openxmlformats.org/officeDocument/2006/relationships/image" Target="../media/image41.png"/><Relationship Id="rId4" Type="http://schemas.openxmlformats.org/officeDocument/2006/relationships/image" Target="../media/image27.emf"/><Relationship Id="rId9" Type="http://schemas.openxmlformats.org/officeDocument/2006/relationships/image" Target="../media/image40.gi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47.xml"/><Relationship Id="rId1" Type="http://schemas.openxmlformats.org/officeDocument/2006/relationships/tags" Target="../tags/tag272.xml"/><Relationship Id="rId5" Type="http://schemas.openxmlformats.org/officeDocument/2006/relationships/image" Target="../media/image43.png"/><Relationship Id="rId4" Type="http://schemas.openxmlformats.org/officeDocument/2006/relationships/image" Target="../media/image27.e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47.xml"/><Relationship Id="rId1" Type="http://schemas.openxmlformats.org/officeDocument/2006/relationships/tags" Target="../tags/tag273.xml"/><Relationship Id="rId4" Type="http://schemas.openxmlformats.org/officeDocument/2006/relationships/image" Target="../media/image33.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C47F47D-8EE5-49C2-95C8-106837B17F7F}"/>
              </a:ext>
            </a:extLst>
          </p:cNvPr>
          <p:cNvGraphicFramePr>
            <a:graphicFrameLocks noChangeAspect="1"/>
          </p:cNvGraphicFramePr>
          <p:nvPr>
            <p:custDataLst>
              <p:tags r:id="rId1"/>
            </p:custDataLst>
            <p:extLst>
              <p:ext uri="{D42A27DB-BD31-4B8C-83A1-F6EECF244321}">
                <p14:modId xmlns:p14="http://schemas.microsoft.com/office/powerpoint/2010/main" val="3760838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3" name="think-cell data - do not delete" hidden="1">
                        <a:extLst>
                          <a:ext uri="{FF2B5EF4-FFF2-40B4-BE49-F238E27FC236}">
                            <a16:creationId xmlns:a16="http://schemas.microsoft.com/office/drawing/2014/main" id="{FC47F47D-8EE5-49C2-95C8-106837B17F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41B5B8B6-2C49-CC35-0013-290EA4F8E2C2}"/>
              </a:ext>
            </a:extLst>
          </p:cNvPr>
          <p:cNvSpPr>
            <a:spLocks noGrp="1"/>
          </p:cNvSpPr>
          <p:nvPr>
            <p:ph type="title"/>
          </p:nvPr>
        </p:nvSpPr>
        <p:spPr>
          <a:xfrm>
            <a:off x="323004" y="2319450"/>
            <a:ext cx="6349692" cy="642239"/>
          </a:xfrm>
        </p:spPr>
        <p:txBody>
          <a:bodyPr vert="horz"/>
          <a:lstStyle/>
          <a:p>
            <a:r>
              <a:rPr lang="en-US"/>
              <a:t>Localization Demand Commitment (LDC): </a:t>
            </a:r>
            <a:br>
              <a:rPr lang="en-US"/>
            </a:br>
            <a:r>
              <a:rPr lang="en-US"/>
              <a:t>Implementation Guide</a:t>
            </a:r>
            <a:endParaRPr lang="en-SA"/>
          </a:p>
        </p:txBody>
      </p:sp>
      <p:sp>
        <p:nvSpPr>
          <p:cNvPr id="15" name="Text Placeholder 14">
            <a:extLst>
              <a:ext uri="{FF2B5EF4-FFF2-40B4-BE49-F238E27FC236}">
                <a16:creationId xmlns:a16="http://schemas.microsoft.com/office/drawing/2014/main" id="{C2E50134-EB8E-F9C3-95A9-8E9E97AE107E}"/>
              </a:ext>
            </a:extLst>
          </p:cNvPr>
          <p:cNvSpPr>
            <a:spLocks noGrp="1"/>
          </p:cNvSpPr>
          <p:nvPr>
            <p:ph type="body" idx="1"/>
          </p:nvPr>
        </p:nvSpPr>
        <p:spPr/>
        <p:txBody>
          <a:bodyPr/>
          <a:lstStyle/>
          <a:p>
            <a:r>
              <a:rPr lang="en-US"/>
              <a:t>DRAFT</a:t>
            </a:r>
          </a:p>
          <a:p>
            <a:endParaRPr lang="en-SA"/>
          </a:p>
        </p:txBody>
      </p:sp>
    </p:spTree>
    <p:extLst>
      <p:ext uri="{BB962C8B-B14F-4D97-AF65-F5344CB8AC3E}">
        <p14:creationId xmlns:p14="http://schemas.microsoft.com/office/powerpoint/2010/main" val="2455624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2E9"/>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F202F1-70D4-B0B8-5957-8F47D37419B2}"/>
              </a:ext>
            </a:extLst>
          </p:cNvPr>
          <p:cNvSpPr txBox="1"/>
          <p:nvPr/>
        </p:nvSpPr>
        <p:spPr>
          <a:xfrm>
            <a:off x="237094" y="1900207"/>
            <a:ext cx="7919718" cy="274627"/>
          </a:xfrm>
          <a:prstGeom prst="rect">
            <a:avLst/>
          </a:prstGeom>
          <a:noFill/>
        </p:spPr>
        <p:txBody>
          <a:bodyPr wrap="square">
            <a:spAutoFit/>
          </a:bodyPr>
          <a:lstStyle/>
          <a:p>
            <a:pPr defTabSz="685800">
              <a:lnSpc>
                <a:spcPts val="1500"/>
              </a:lnSpc>
              <a:spcBef>
                <a:spcPts val="225"/>
              </a:spcBef>
              <a:spcAft>
                <a:spcPts val="900"/>
              </a:spcAft>
              <a:defRPr/>
            </a:pPr>
            <a:r>
              <a:rPr lang="en-US" sz="1200" dirty="0">
                <a:solidFill>
                  <a:schemeClr val="tx2"/>
                </a:solidFill>
                <a:latin typeface="Fund Light" pitchFamily="2" charset="-78"/>
                <a:cs typeface="Fund Light" pitchFamily="2" charset="-78"/>
              </a:rPr>
              <a:t>PIF portfolio companies looking to leverage LDC mechanisms as an avenue for localization</a:t>
            </a:r>
          </a:p>
        </p:txBody>
      </p:sp>
      <p:cxnSp>
        <p:nvCxnSpPr>
          <p:cNvPr id="7" name="Straight Connector 6">
            <a:extLst>
              <a:ext uri="{FF2B5EF4-FFF2-40B4-BE49-F238E27FC236}">
                <a16:creationId xmlns:a16="http://schemas.microsoft.com/office/drawing/2014/main" id="{B969A665-440F-9CFC-FA1C-CB5CA63C75CB}"/>
              </a:ext>
            </a:extLst>
          </p:cNvPr>
          <p:cNvCxnSpPr>
            <a:cxnSpLocks/>
          </p:cNvCxnSpPr>
          <p:nvPr/>
        </p:nvCxnSpPr>
        <p:spPr>
          <a:xfrm>
            <a:off x="270146" y="1805186"/>
            <a:ext cx="391075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03ED70-4943-088C-B484-EA2928E4B373}"/>
              </a:ext>
            </a:extLst>
          </p:cNvPr>
          <p:cNvSpPr txBox="1"/>
          <p:nvPr/>
        </p:nvSpPr>
        <p:spPr>
          <a:xfrm>
            <a:off x="270146" y="1534406"/>
            <a:ext cx="2975974" cy="274627"/>
          </a:xfrm>
          <a:prstGeom prst="rect">
            <a:avLst/>
          </a:prstGeom>
          <a:noFill/>
        </p:spPr>
        <p:txBody>
          <a:bodyPr wrap="square" rtlCol="0">
            <a:spAutoFit/>
          </a:bodyPr>
          <a:lstStyle/>
          <a:p>
            <a:pPr defTabSz="685800">
              <a:lnSpc>
                <a:spcPts val="1500"/>
              </a:lnSpc>
              <a:defRPr/>
            </a:pPr>
            <a:r>
              <a:rPr lang="en-GB" sz="1200" b="1">
                <a:solidFill>
                  <a:schemeClr val="bg2"/>
                </a:solidFill>
                <a:latin typeface="Fund Light" pitchFamily="2" charset="-78"/>
                <a:cs typeface="Fund Light" pitchFamily="2" charset="-78"/>
              </a:rPr>
              <a:t>AUDIENCE FOR THIS DOCUMENT</a:t>
            </a:r>
          </a:p>
        </p:txBody>
      </p:sp>
      <p:sp>
        <p:nvSpPr>
          <p:cNvPr id="2" name="TextBox 1">
            <a:extLst>
              <a:ext uri="{FF2B5EF4-FFF2-40B4-BE49-F238E27FC236}">
                <a16:creationId xmlns:a16="http://schemas.microsoft.com/office/drawing/2014/main" id="{BB0E3705-E321-2AD7-8625-AC421D661147}"/>
              </a:ext>
            </a:extLst>
          </p:cNvPr>
          <p:cNvSpPr txBox="1"/>
          <p:nvPr/>
        </p:nvSpPr>
        <p:spPr>
          <a:xfrm>
            <a:off x="237094" y="2527578"/>
            <a:ext cx="8669812" cy="1813510"/>
          </a:xfrm>
          <a:prstGeom prst="rect">
            <a:avLst/>
          </a:prstGeom>
          <a:noFill/>
        </p:spPr>
        <p:txBody>
          <a:bodyPr wrap="square" rtlCol="0">
            <a:spAutoFit/>
          </a:bodyPr>
          <a:lstStyle/>
          <a:p>
            <a:pPr algn="justLow" defTabSz="685800">
              <a:lnSpc>
                <a:spcPts val="1500"/>
              </a:lnSpc>
              <a:defRPr/>
            </a:pPr>
            <a:r>
              <a:rPr lang="en-US" sz="1200" b="1" dirty="0">
                <a:solidFill>
                  <a:schemeClr val="bg2"/>
                </a:solidFill>
                <a:latin typeface="Fund Light" pitchFamily="2" charset="-78"/>
                <a:cs typeface="Fund Light" pitchFamily="2" charset="-78"/>
              </a:rPr>
              <a:t>Disclaimer:</a:t>
            </a:r>
          </a:p>
          <a:p>
            <a:pPr algn="justLow" defTabSz="685800">
              <a:lnSpc>
                <a:spcPts val="1500"/>
              </a:lnSpc>
              <a:defRPr/>
            </a:pPr>
            <a:r>
              <a:rPr lang="en-US" sz="1200" dirty="0">
                <a:solidFill>
                  <a:srgbClr val="000000"/>
                </a:solidFill>
                <a:latin typeface="Fund Light" pitchFamily="2" charset="-78"/>
                <a:cs typeface="Fund Light" pitchFamily="2" charset="-78"/>
              </a:rPr>
              <a:t>This implementation guide is current as of November 2024 and represents the details of the LDC journey at that time. The information was compiled from multiple public sources that are referenced in the document for general guidance in enabling LDC agreements in the Kingdom of Saudi Arabia. The Public Investment Fund (PIF) does not warrant the completeness, reliability, or suitability of the provided information. Buyers are strongly encouraged to conduct independent research and seek professional advice tailored to their specific circumstances before making decisions based on this implementation guide. PIF disclaims all and any liability for errors, omissions, or consequences arising from the use of this information as it may change in time with respect to each specific entity.</a:t>
            </a:r>
          </a:p>
        </p:txBody>
      </p:sp>
    </p:spTree>
    <p:extLst>
      <p:ext uri="{BB962C8B-B14F-4D97-AF65-F5344CB8AC3E}">
        <p14:creationId xmlns:p14="http://schemas.microsoft.com/office/powerpoint/2010/main" val="26689484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C15FFD0-032D-4DF8-B380-D9EDFDA96C60}"/>
              </a:ext>
            </a:extLst>
          </p:cNvPr>
          <p:cNvSpPr txBox="1">
            <a:spLocks/>
          </p:cNvSpPr>
          <p:nvPr/>
        </p:nvSpPr>
        <p:spPr>
          <a:xfrm>
            <a:off x="333375" y="1411519"/>
            <a:ext cx="3121025" cy="415467"/>
          </a:xfrm>
          <a:prstGeom prst="rect">
            <a:avLst/>
          </a:prstGeom>
          <a:solidFill>
            <a:schemeClr val="tx2"/>
          </a:solidFill>
          <a:ln w="6350">
            <a:noFill/>
            <a:miter lim="800000"/>
          </a:ln>
        </p:spPr>
        <p:txBody>
          <a:bodyPr vert="horz" wrap="none" lIns="121920" tIns="121920" rIns="121920" bIns="121920" rtlCol="0" anchor="ctr">
            <a:noAutofit/>
          </a:bodyPr>
          <a:lstStyle/>
          <a:p>
            <a:pPr defTabSz="1219170">
              <a:spcBef>
                <a:spcPts val="400"/>
              </a:spcBef>
              <a:spcAft>
                <a:spcPts val="400"/>
              </a:spcAft>
              <a:defRPr/>
            </a:pPr>
            <a:r>
              <a:rPr lang="en-GB" sz="1200" b="1">
                <a:solidFill>
                  <a:schemeClr val="bg1"/>
                </a:solidFill>
                <a:latin typeface="Fund Light" pitchFamily="2" charset="-78"/>
                <a:cs typeface="Fund Light" pitchFamily="2" charset="-78"/>
              </a:rPr>
              <a:t>The document is: </a:t>
            </a:r>
          </a:p>
        </p:txBody>
      </p:sp>
      <p:sp>
        <p:nvSpPr>
          <p:cNvPr id="10" name="TextBox 9">
            <a:extLst>
              <a:ext uri="{FF2B5EF4-FFF2-40B4-BE49-F238E27FC236}">
                <a16:creationId xmlns:a16="http://schemas.microsoft.com/office/drawing/2014/main" id="{7F6462C9-8764-46C1-BBD5-3B26363AC678}"/>
              </a:ext>
            </a:extLst>
          </p:cNvPr>
          <p:cNvSpPr txBox="1">
            <a:spLocks/>
          </p:cNvSpPr>
          <p:nvPr/>
        </p:nvSpPr>
        <p:spPr>
          <a:xfrm>
            <a:off x="3715658" y="1411519"/>
            <a:ext cx="5104492" cy="415467"/>
          </a:xfrm>
          <a:prstGeom prst="rect">
            <a:avLst/>
          </a:prstGeom>
          <a:solidFill>
            <a:schemeClr val="bg2"/>
          </a:solidFill>
          <a:ln w="6350">
            <a:noFill/>
            <a:miter lim="800000"/>
          </a:ln>
        </p:spPr>
        <p:txBody>
          <a:bodyPr vert="horz" wrap="none" lIns="121920" tIns="121920" rIns="121920" bIns="121920" rtlCol="0" anchor="ctr">
            <a:noAutofit/>
          </a:bodyPr>
          <a:lstStyle/>
          <a:p>
            <a:pPr defTabSz="1219170">
              <a:spcBef>
                <a:spcPts val="400"/>
              </a:spcBef>
              <a:spcAft>
                <a:spcPts val="400"/>
              </a:spcAft>
              <a:defRPr/>
            </a:pPr>
            <a:r>
              <a:rPr lang="en-GB" sz="1200" b="1">
                <a:solidFill>
                  <a:schemeClr val="bg1"/>
                </a:solidFill>
                <a:latin typeface="Fund Light" pitchFamily="2" charset="-78"/>
                <a:cs typeface="Fund Light" pitchFamily="2" charset="-78"/>
              </a:rPr>
              <a:t>The document is not: </a:t>
            </a:r>
          </a:p>
        </p:txBody>
      </p:sp>
      <p:cxnSp>
        <p:nvCxnSpPr>
          <p:cNvPr id="12" name="Straight Connector 11">
            <a:extLst>
              <a:ext uri="{FF2B5EF4-FFF2-40B4-BE49-F238E27FC236}">
                <a16:creationId xmlns:a16="http://schemas.microsoft.com/office/drawing/2014/main" id="{752C5DC3-962B-4008-BBB0-695765CA9DE0}"/>
              </a:ext>
            </a:extLst>
          </p:cNvPr>
          <p:cNvCxnSpPr>
            <a:cxnSpLocks/>
          </p:cNvCxnSpPr>
          <p:nvPr/>
        </p:nvCxnSpPr>
        <p:spPr>
          <a:xfrm>
            <a:off x="333375" y="3598035"/>
            <a:ext cx="3042142" cy="0"/>
          </a:xfrm>
          <a:prstGeom prst="line">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80AB1B-2308-498B-99F9-78B9B6C609A2}"/>
              </a:ext>
            </a:extLst>
          </p:cNvPr>
          <p:cNvSpPr txBox="1">
            <a:spLocks/>
          </p:cNvSpPr>
          <p:nvPr/>
        </p:nvSpPr>
        <p:spPr>
          <a:xfrm>
            <a:off x="333375" y="1998960"/>
            <a:ext cx="3121025" cy="553998"/>
          </a:xfrm>
          <a:prstGeom prst="rect">
            <a:avLst/>
          </a:prstGeom>
          <a:noFill/>
          <a:ln w="6350">
            <a:noFill/>
            <a:miter lim="800000"/>
          </a:ln>
        </p:spPr>
        <p:txBody>
          <a:bodyPr wrap="square" lIns="121920" tIns="0" rIns="121920" bIns="0">
            <a:spAutoFit/>
          </a:bodyPr>
          <a:lstStyle/>
          <a:p>
            <a:pPr defTabSz="1219170">
              <a:spcBef>
                <a:spcPts val="800"/>
              </a:spcBef>
              <a:spcAft>
                <a:spcPts val="2000"/>
              </a:spcAft>
              <a:defRPr/>
            </a:pPr>
            <a:r>
              <a:rPr lang="en-US" sz="1200">
                <a:solidFill>
                  <a:srgbClr val="000000"/>
                </a:solidFill>
                <a:latin typeface="Fund Light" pitchFamily="2" charset="-78"/>
                <a:cs typeface="Fund Light" pitchFamily="2" charset="-78"/>
              </a:rPr>
              <a:t>A guide on how to implement a Localization Demand Commitment (LDC) mechanism, including</a:t>
            </a:r>
            <a:endParaRPr lang="en-GB" sz="1200">
              <a:solidFill>
                <a:srgbClr val="000000"/>
              </a:solidFill>
              <a:latin typeface="Fund Light" pitchFamily="2" charset="-78"/>
              <a:cs typeface="Fund Light" pitchFamily="2" charset="-78"/>
            </a:endParaRPr>
          </a:p>
        </p:txBody>
      </p:sp>
      <p:sp>
        <p:nvSpPr>
          <p:cNvPr id="15" name="TextBox 14">
            <a:extLst>
              <a:ext uri="{FF2B5EF4-FFF2-40B4-BE49-F238E27FC236}">
                <a16:creationId xmlns:a16="http://schemas.microsoft.com/office/drawing/2014/main" id="{DA3299FD-C079-41E3-849F-968E25150B76}"/>
              </a:ext>
            </a:extLst>
          </p:cNvPr>
          <p:cNvSpPr txBox="1">
            <a:spLocks/>
          </p:cNvSpPr>
          <p:nvPr/>
        </p:nvSpPr>
        <p:spPr>
          <a:xfrm>
            <a:off x="333375" y="2849446"/>
            <a:ext cx="3121025" cy="1682512"/>
          </a:xfrm>
          <a:prstGeom prst="rect">
            <a:avLst/>
          </a:prstGeom>
          <a:noFill/>
          <a:ln w="6350">
            <a:noFill/>
            <a:miter lim="800000"/>
          </a:ln>
        </p:spPr>
        <p:txBody>
          <a:bodyPr wrap="square" lIns="121920" tIns="0" rIns="121920" bIns="0" anchor="ctr">
            <a:spAutoFit/>
          </a:bodyPr>
          <a:lstStyle/>
          <a:p>
            <a:pPr marL="231642" indent="-231642" defTabSz="1219170">
              <a:spcBef>
                <a:spcPts val="800"/>
              </a:spcBef>
              <a:spcAft>
                <a:spcPts val="2000"/>
              </a:spcAft>
              <a:buFont typeface="+mj-lt"/>
              <a:buAutoNum type="romanLcPeriod"/>
              <a:defRPr/>
            </a:pPr>
            <a:r>
              <a:rPr lang="en-US" sz="1200">
                <a:solidFill>
                  <a:srgbClr val="000000"/>
                </a:solidFill>
                <a:latin typeface="Fund Light" pitchFamily="2" charset="-78"/>
                <a:cs typeface="Fund Light" pitchFamily="2" charset="-78"/>
              </a:rPr>
              <a:t>Illustrations of the </a:t>
            </a:r>
            <a:r>
              <a:rPr lang="en-US" sz="1200" b="1">
                <a:solidFill>
                  <a:srgbClr val="000000"/>
                </a:solidFill>
                <a:latin typeface="Fund Light" pitchFamily="2" charset="-78"/>
                <a:cs typeface="Fund Light" pitchFamily="2" charset="-78"/>
              </a:rPr>
              <a:t>LDC process </a:t>
            </a:r>
            <a:br>
              <a:rPr lang="en-US" sz="1200" b="1">
                <a:solidFill>
                  <a:srgbClr val="000000"/>
                </a:solidFill>
                <a:latin typeface="Fund Light" pitchFamily="2" charset="-78"/>
                <a:cs typeface="Fund Light" pitchFamily="2" charset="-78"/>
              </a:rPr>
            </a:br>
            <a:r>
              <a:rPr lang="en-US" sz="1200" b="1">
                <a:solidFill>
                  <a:srgbClr val="000000"/>
                </a:solidFill>
                <a:latin typeface="Fund Light" pitchFamily="2" charset="-78"/>
                <a:cs typeface="Fund Light" pitchFamily="2" charset="-78"/>
              </a:rPr>
              <a:t>and content</a:t>
            </a:r>
            <a:r>
              <a:rPr lang="en-US" sz="1200">
                <a:solidFill>
                  <a:srgbClr val="000000"/>
                </a:solidFill>
                <a:latin typeface="Fund Light" pitchFamily="2" charset="-78"/>
                <a:cs typeface="Fund Light" pitchFamily="2" charset="-78"/>
              </a:rPr>
              <a:t>, and how it can </a:t>
            </a:r>
            <a:br>
              <a:rPr lang="en-US" sz="1200">
                <a:solidFill>
                  <a:srgbClr val="000000"/>
                </a:solidFill>
                <a:latin typeface="Fund Light" pitchFamily="2" charset="-78"/>
                <a:cs typeface="Fund Light" pitchFamily="2" charset="-78"/>
              </a:rPr>
            </a:br>
            <a:r>
              <a:rPr lang="en-US" sz="1200">
                <a:solidFill>
                  <a:srgbClr val="000000"/>
                </a:solidFill>
                <a:latin typeface="Fund Light" pitchFamily="2" charset="-78"/>
                <a:cs typeface="Fund Light" pitchFamily="2" charset="-78"/>
              </a:rPr>
              <a:t>be developed</a:t>
            </a:r>
          </a:p>
          <a:p>
            <a:pPr marL="231642" indent="-231642" defTabSz="1219170">
              <a:spcBef>
                <a:spcPts val="800"/>
              </a:spcBef>
              <a:spcAft>
                <a:spcPts val="2000"/>
              </a:spcAft>
              <a:buFont typeface="+mj-lt"/>
              <a:buAutoNum type="romanLcPeriod"/>
              <a:defRPr/>
            </a:pPr>
            <a:r>
              <a:rPr lang="en-US" sz="1200" b="1">
                <a:solidFill>
                  <a:srgbClr val="000000"/>
                </a:solidFill>
                <a:latin typeface="Fund Light" pitchFamily="2" charset="-78"/>
                <a:cs typeface="Fund Light" pitchFamily="2" charset="-78"/>
              </a:rPr>
              <a:t>Methodologies, “plug and play” templates, and output examples</a:t>
            </a:r>
            <a:r>
              <a:rPr lang="en-US" sz="1200">
                <a:solidFill>
                  <a:srgbClr val="000000"/>
                </a:solidFill>
                <a:latin typeface="Fund Light" pitchFamily="2" charset="-78"/>
                <a:cs typeface="Fund Light" pitchFamily="2" charset="-78"/>
              </a:rPr>
              <a:t> </a:t>
            </a:r>
            <a:br>
              <a:rPr lang="en-US" sz="1200">
                <a:solidFill>
                  <a:srgbClr val="000000"/>
                </a:solidFill>
                <a:latin typeface="Fund Light" pitchFamily="2" charset="-78"/>
                <a:cs typeface="Fund Light" pitchFamily="2" charset="-78"/>
              </a:rPr>
            </a:br>
            <a:r>
              <a:rPr lang="en-US" sz="1200">
                <a:solidFill>
                  <a:srgbClr val="000000"/>
                </a:solidFill>
                <a:latin typeface="Fund Light" pitchFamily="2" charset="-78"/>
                <a:cs typeface="Fund Light" pitchFamily="2" charset="-78"/>
              </a:rPr>
              <a:t>for critical deliverables in the </a:t>
            </a:r>
            <a:br>
              <a:rPr lang="en-US" sz="1200">
                <a:solidFill>
                  <a:srgbClr val="000000"/>
                </a:solidFill>
                <a:latin typeface="Fund Light" pitchFamily="2" charset="-78"/>
                <a:cs typeface="Fund Light" pitchFamily="2" charset="-78"/>
              </a:rPr>
            </a:br>
            <a:r>
              <a:rPr lang="en-US" sz="1200">
                <a:solidFill>
                  <a:srgbClr val="000000"/>
                </a:solidFill>
                <a:latin typeface="Fund Light" pitchFamily="2" charset="-78"/>
                <a:cs typeface="Fund Light" pitchFamily="2" charset="-78"/>
              </a:rPr>
              <a:t>LDC process</a:t>
            </a:r>
          </a:p>
        </p:txBody>
      </p:sp>
      <p:sp>
        <p:nvSpPr>
          <p:cNvPr id="14" name="TextBox 13">
            <a:extLst>
              <a:ext uri="{FF2B5EF4-FFF2-40B4-BE49-F238E27FC236}">
                <a16:creationId xmlns:a16="http://schemas.microsoft.com/office/drawing/2014/main" id="{9FD4B885-2E6E-44F6-A5FA-A660B18EE650}"/>
              </a:ext>
            </a:extLst>
          </p:cNvPr>
          <p:cNvSpPr txBox="1">
            <a:spLocks/>
          </p:cNvSpPr>
          <p:nvPr/>
        </p:nvSpPr>
        <p:spPr>
          <a:xfrm>
            <a:off x="3715658" y="1998960"/>
            <a:ext cx="5104492" cy="2647287"/>
          </a:xfrm>
          <a:prstGeom prst="rect">
            <a:avLst/>
          </a:prstGeom>
          <a:noFill/>
          <a:ln w="6350">
            <a:noFill/>
            <a:miter lim="800000"/>
          </a:ln>
        </p:spPr>
        <p:txBody>
          <a:bodyPr wrap="square" lIns="121920" tIns="0" rIns="121920" bIns="0">
            <a:noAutofit/>
          </a:bodyPr>
          <a:lstStyle/>
          <a:p>
            <a:pPr defTabSz="1219170">
              <a:spcBef>
                <a:spcPts val="400"/>
              </a:spcBef>
              <a:spcAft>
                <a:spcPts val="1800"/>
              </a:spcAft>
              <a:defRPr/>
            </a:pPr>
            <a:r>
              <a:rPr lang="en-US" sz="1200">
                <a:solidFill>
                  <a:srgbClr val="000000"/>
                </a:solidFill>
                <a:latin typeface="Fund Light" pitchFamily="2" charset="-78"/>
                <a:cs typeface="Fund Light" pitchFamily="2" charset="-78"/>
              </a:rPr>
              <a:t>An explanation of </a:t>
            </a:r>
            <a:r>
              <a:rPr lang="en-US" sz="1200" b="1">
                <a:solidFill>
                  <a:srgbClr val="000000"/>
                </a:solidFill>
                <a:latin typeface="Fund Light" pitchFamily="2" charset="-78"/>
                <a:cs typeface="Fund Light" pitchFamily="2" charset="-78"/>
              </a:rPr>
              <a:t>all localization concepts</a:t>
            </a:r>
            <a:r>
              <a:rPr lang="en-US" sz="1200">
                <a:solidFill>
                  <a:srgbClr val="000000"/>
                </a:solidFill>
                <a:latin typeface="Fund Light" pitchFamily="2" charset="-78"/>
                <a:cs typeface="Fund Light" pitchFamily="2" charset="-78"/>
              </a:rPr>
              <a:t>, beyond localization demand commitments (e.g., co-investment)</a:t>
            </a:r>
          </a:p>
          <a:p>
            <a:pPr defTabSz="1219170">
              <a:spcBef>
                <a:spcPts val="400"/>
              </a:spcBef>
              <a:spcAft>
                <a:spcPts val="1800"/>
              </a:spcAft>
              <a:defRPr/>
            </a:pPr>
            <a:r>
              <a:rPr lang="en-US" sz="1200">
                <a:solidFill>
                  <a:srgbClr val="000000"/>
                </a:solidFill>
                <a:latin typeface="Fund Light" pitchFamily="2" charset="-78"/>
                <a:cs typeface="Fund Light" pitchFamily="2" charset="-78"/>
              </a:rPr>
              <a:t>A </a:t>
            </a:r>
            <a:r>
              <a:rPr lang="en-US" sz="1200" b="1">
                <a:solidFill>
                  <a:srgbClr val="000000"/>
                </a:solidFill>
                <a:latin typeface="Fund Light" pitchFamily="2" charset="-78"/>
                <a:cs typeface="Fund Light" pitchFamily="2" charset="-78"/>
              </a:rPr>
              <a:t>step-by-step walk-through </a:t>
            </a:r>
            <a:r>
              <a:rPr lang="en-US" sz="1200">
                <a:solidFill>
                  <a:srgbClr val="000000"/>
                </a:solidFill>
                <a:latin typeface="Fund Light" pitchFamily="2" charset="-78"/>
                <a:cs typeface="Fund Light" pitchFamily="2" charset="-78"/>
              </a:rPr>
              <a:t>to orchestrate an </a:t>
            </a:r>
            <a:br>
              <a:rPr lang="en-US" sz="1200">
                <a:solidFill>
                  <a:srgbClr val="000000"/>
                </a:solidFill>
                <a:latin typeface="Fund Light" pitchFamily="2" charset="-78"/>
                <a:cs typeface="Fund Light" pitchFamily="2" charset="-78"/>
              </a:rPr>
            </a:br>
            <a:r>
              <a:rPr lang="en-US" sz="1200">
                <a:solidFill>
                  <a:srgbClr val="000000"/>
                </a:solidFill>
                <a:latin typeface="Fund Light" pitchFamily="2" charset="-78"/>
                <a:cs typeface="Fund Light" pitchFamily="2" charset="-78"/>
              </a:rPr>
              <a:t>LDC arrangement, explaining all the terms, definitions, </a:t>
            </a:r>
            <a:br>
              <a:rPr lang="en-US" sz="1200">
                <a:solidFill>
                  <a:srgbClr val="000000"/>
                </a:solidFill>
                <a:latin typeface="Fund Light" pitchFamily="2" charset="-78"/>
                <a:cs typeface="Fund Light" pitchFamily="2" charset="-78"/>
              </a:rPr>
            </a:br>
            <a:r>
              <a:rPr lang="en-US" sz="1200">
                <a:solidFill>
                  <a:srgbClr val="000000"/>
                </a:solidFill>
                <a:latin typeface="Fund Light" pitchFamily="2" charset="-78"/>
                <a:cs typeface="Fund Light" pitchFamily="2" charset="-78"/>
              </a:rPr>
              <a:t>processes, categorization</a:t>
            </a:r>
            <a:r>
              <a:rPr lang="en-US" sz="1200" baseline="30000">
                <a:solidFill>
                  <a:srgbClr val="000000"/>
                </a:solidFill>
                <a:latin typeface="Fund Light" pitchFamily="2" charset="-78"/>
                <a:cs typeface="Fund Light" pitchFamily="2" charset="-78"/>
              </a:rPr>
              <a:t>1</a:t>
            </a:r>
          </a:p>
          <a:p>
            <a:pPr defTabSz="1219170">
              <a:spcBef>
                <a:spcPts val="400"/>
              </a:spcBef>
              <a:spcAft>
                <a:spcPts val="1800"/>
              </a:spcAft>
              <a:defRPr/>
            </a:pPr>
            <a:r>
              <a:rPr lang="en-GB" sz="1200" b="1">
                <a:solidFill>
                  <a:srgbClr val="000000"/>
                </a:solidFill>
                <a:latin typeface="Fund Light" pitchFamily="2" charset="-78"/>
                <a:cs typeface="Fund Light" pitchFamily="2" charset="-78"/>
              </a:rPr>
              <a:t>A prescriptive/binding document</a:t>
            </a:r>
            <a:r>
              <a:rPr lang="en-GB" sz="1200">
                <a:solidFill>
                  <a:srgbClr val="000000"/>
                </a:solidFill>
                <a:latin typeface="Fund Light" pitchFamily="2" charset="-78"/>
                <a:cs typeface="Fund Light" pitchFamily="2" charset="-78"/>
              </a:rPr>
              <a:t>, as buyers:</a:t>
            </a:r>
            <a:endParaRPr lang="en-US" sz="1200" baseline="30000">
              <a:solidFill>
                <a:srgbClr val="000000"/>
              </a:solidFill>
              <a:latin typeface="Fund Light" pitchFamily="2" charset="-78"/>
              <a:cs typeface="Fund Light" pitchFamily="2" charset="-78"/>
            </a:endParaRPr>
          </a:p>
          <a:p>
            <a:pPr defTabSz="1219170">
              <a:spcBef>
                <a:spcPts val="400"/>
              </a:spcBef>
              <a:spcAft>
                <a:spcPts val="1800"/>
              </a:spcAft>
              <a:defRPr/>
            </a:pPr>
            <a:endParaRPr lang="en-US" sz="1200" baseline="30000">
              <a:solidFill>
                <a:srgbClr val="000000"/>
              </a:solidFill>
              <a:latin typeface="Fund Light" pitchFamily="2" charset="-78"/>
              <a:cs typeface="Fund Light" pitchFamily="2" charset="-78"/>
            </a:endParaRPr>
          </a:p>
        </p:txBody>
      </p:sp>
      <p:sp>
        <p:nvSpPr>
          <p:cNvPr id="16" name="TextBox 15">
            <a:extLst>
              <a:ext uri="{FF2B5EF4-FFF2-40B4-BE49-F238E27FC236}">
                <a16:creationId xmlns:a16="http://schemas.microsoft.com/office/drawing/2014/main" id="{1E269B87-CDD9-4E70-A41D-946BF3CD3709}"/>
              </a:ext>
            </a:extLst>
          </p:cNvPr>
          <p:cNvSpPr txBox="1">
            <a:spLocks/>
          </p:cNvSpPr>
          <p:nvPr/>
        </p:nvSpPr>
        <p:spPr>
          <a:xfrm>
            <a:off x="3925133" y="3732673"/>
            <a:ext cx="4895016" cy="656590"/>
          </a:xfrm>
          <a:prstGeom prst="rect">
            <a:avLst/>
          </a:prstGeom>
          <a:noFill/>
          <a:ln w="6350">
            <a:noFill/>
            <a:miter lim="800000"/>
          </a:ln>
        </p:spPr>
        <p:txBody>
          <a:bodyPr wrap="square" lIns="121920" tIns="0" rIns="121920" bIns="0">
            <a:spAutoFit/>
          </a:bodyPr>
          <a:lstStyle/>
          <a:p>
            <a:pPr marL="231642" indent="-231642" defTabSz="1219170">
              <a:spcBef>
                <a:spcPts val="400"/>
              </a:spcBef>
              <a:spcAft>
                <a:spcPts val="400"/>
              </a:spcAft>
              <a:buFont typeface="+mj-lt"/>
              <a:buAutoNum type="romanLcPeriod"/>
              <a:defRPr/>
            </a:pPr>
            <a:r>
              <a:rPr lang="en-US" sz="1200">
                <a:solidFill>
                  <a:srgbClr val="000000"/>
                </a:solidFill>
                <a:latin typeface="Fund Light" pitchFamily="2" charset="-78"/>
                <a:cs typeface="Fund Light" pitchFamily="2" charset="-78"/>
              </a:rPr>
              <a:t>Must tailor tools / analysis to their supplier base and their ways of working</a:t>
            </a:r>
          </a:p>
          <a:p>
            <a:pPr marL="231642" indent="-231642" defTabSz="1219170">
              <a:spcBef>
                <a:spcPts val="400"/>
              </a:spcBef>
              <a:spcAft>
                <a:spcPts val="400"/>
              </a:spcAft>
              <a:buFont typeface="+mj-lt"/>
              <a:buAutoNum type="romanLcPeriod"/>
              <a:defRPr/>
            </a:pPr>
            <a:r>
              <a:rPr lang="en-US" sz="1200">
                <a:solidFill>
                  <a:srgbClr val="000000"/>
                </a:solidFill>
                <a:latin typeface="Fund Light" pitchFamily="2" charset="-78"/>
                <a:cs typeface="Fund Light" pitchFamily="2" charset="-78"/>
              </a:rPr>
              <a:t>Have at their disposal additional resources for assistance</a:t>
            </a:r>
          </a:p>
        </p:txBody>
      </p:sp>
      <p:grpSp>
        <p:nvGrpSpPr>
          <p:cNvPr id="27" name="Group 26">
            <a:extLst>
              <a:ext uri="{FF2B5EF4-FFF2-40B4-BE49-F238E27FC236}">
                <a16:creationId xmlns:a16="http://schemas.microsoft.com/office/drawing/2014/main" id="{5BDF55D5-FCE8-42F7-A1C3-CD38E13F5E91}"/>
              </a:ext>
            </a:extLst>
          </p:cNvPr>
          <p:cNvGrpSpPr/>
          <p:nvPr/>
        </p:nvGrpSpPr>
        <p:grpSpPr>
          <a:xfrm>
            <a:off x="3715657" y="2510803"/>
            <a:ext cx="5104492" cy="828263"/>
            <a:chOff x="3715657" y="2510803"/>
            <a:chExt cx="5104492" cy="828263"/>
          </a:xfrm>
        </p:grpSpPr>
        <p:cxnSp>
          <p:nvCxnSpPr>
            <p:cNvPr id="17" name="Straight Connector 16">
              <a:extLst>
                <a:ext uri="{FF2B5EF4-FFF2-40B4-BE49-F238E27FC236}">
                  <a16:creationId xmlns:a16="http://schemas.microsoft.com/office/drawing/2014/main" id="{06DA2A35-E89E-45A2-82C9-2C1F2103F122}"/>
                </a:ext>
              </a:extLst>
            </p:cNvPr>
            <p:cNvCxnSpPr>
              <a:cxnSpLocks/>
            </p:cNvCxnSpPr>
            <p:nvPr/>
          </p:nvCxnSpPr>
          <p:spPr>
            <a:xfrm>
              <a:off x="3715657" y="2510803"/>
              <a:ext cx="5104492" cy="0"/>
            </a:xfrm>
            <a:prstGeom prst="line">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FEA9E5-B29B-4325-B738-73D636C44BB6}"/>
                </a:ext>
              </a:extLst>
            </p:cNvPr>
            <p:cNvCxnSpPr>
              <a:cxnSpLocks/>
            </p:cNvCxnSpPr>
            <p:nvPr/>
          </p:nvCxnSpPr>
          <p:spPr>
            <a:xfrm>
              <a:off x="3715657" y="3339066"/>
              <a:ext cx="5104492" cy="0"/>
            </a:xfrm>
            <a:prstGeom prst="line">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D51D5D1C-DE7C-4D9F-9086-877484D6DBB5}"/>
              </a:ext>
            </a:extLst>
          </p:cNvPr>
          <p:cNvSpPr txBox="1"/>
          <p:nvPr/>
        </p:nvSpPr>
        <p:spPr>
          <a:xfrm>
            <a:off x="333376" y="695115"/>
            <a:ext cx="2837391" cy="738664"/>
          </a:xfrm>
          <a:prstGeom prst="rect">
            <a:avLst/>
          </a:prstGeom>
          <a:noFill/>
        </p:spPr>
        <p:txBody>
          <a:bodyPr wrap="square" tIns="91440" bIns="91440" rtlCol="0">
            <a:noAutofit/>
          </a:bodyPr>
          <a:lstStyle/>
          <a:p>
            <a:r>
              <a:rPr lang="en-US" sz="1200" b="1">
                <a:solidFill>
                  <a:schemeClr val="bg2"/>
                </a:solidFill>
                <a:latin typeface="Fund Light" pitchFamily="2" charset="-78"/>
                <a:cs typeface="Fund Light" pitchFamily="2" charset="-78"/>
              </a:rPr>
              <a:t>What the implementation guide is and is not about</a:t>
            </a:r>
          </a:p>
        </p:txBody>
      </p:sp>
      <p:sp>
        <p:nvSpPr>
          <p:cNvPr id="19" name="TextBox 18">
            <a:extLst>
              <a:ext uri="{FF2B5EF4-FFF2-40B4-BE49-F238E27FC236}">
                <a16:creationId xmlns:a16="http://schemas.microsoft.com/office/drawing/2014/main" id="{5F289DA2-1401-44BE-AC5C-069911D80F82}"/>
              </a:ext>
            </a:extLst>
          </p:cNvPr>
          <p:cNvSpPr txBox="1"/>
          <p:nvPr/>
        </p:nvSpPr>
        <p:spPr>
          <a:xfrm>
            <a:off x="1482193" y="4780226"/>
            <a:ext cx="6769099" cy="184666"/>
          </a:xfrm>
          <a:prstGeom prst="rect">
            <a:avLst/>
          </a:prstGeom>
          <a:noFill/>
        </p:spPr>
        <p:txBody>
          <a:bodyPr wrap="square" rtlCol="0">
            <a:spAutoFit/>
          </a:bodyPr>
          <a:lstStyle/>
          <a:p>
            <a:pPr defTabSz="914400">
              <a:buClr>
                <a:schemeClr val="tx1"/>
              </a:buClr>
            </a:pPr>
            <a:r>
              <a:rPr lang="en-US" sz="600">
                <a:solidFill>
                  <a:schemeClr val="bg1">
                    <a:lumMod val="65000"/>
                  </a:schemeClr>
                </a:solidFill>
                <a:latin typeface="Fund Light" pitchFamily="2" charset="-78"/>
                <a:cs typeface="Fund Light" pitchFamily="2" charset="-78"/>
              </a:rPr>
              <a:t>1. LDC arrangement is a specific type of a supplier-buyer arrangement. Thus, each buyer will have their own workflows to manage a supplier-buyer relationship</a:t>
            </a:r>
          </a:p>
        </p:txBody>
      </p:sp>
    </p:spTree>
    <p:extLst>
      <p:ext uri="{BB962C8B-B14F-4D97-AF65-F5344CB8AC3E}">
        <p14:creationId xmlns:p14="http://schemas.microsoft.com/office/powerpoint/2010/main" val="1697751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6682F7-9BDF-4BF1-888C-DD00AFDD7F6D}"/>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a:solidFill>
                  <a:srgbClr val="000000"/>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rgbClr val="000000"/>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rgbClr val="000000"/>
                </a:solidFill>
                <a:latin typeface="Fund Light" pitchFamily="2" charset="-78"/>
                <a:cs typeface="Fund Light" pitchFamily="2" charset="-78"/>
              </a:rPr>
              <a:t>Appendix (additional data and information)</a:t>
            </a:r>
          </a:p>
        </p:txBody>
      </p:sp>
      <p:sp>
        <p:nvSpPr>
          <p:cNvPr id="7" name="Oval 6">
            <a:extLst>
              <a:ext uri="{FF2B5EF4-FFF2-40B4-BE49-F238E27FC236}">
                <a16:creationId xmlns:a16="http://schemas.microsoft.com/office/drawing/2014/main" id="{86626171-8F21-45E7-9653-995E542794BB}"/>
              </a:ext>
            </a:extLst>
          </p:cNvPr>
          <p:cNvSpPr/>
          <p:nvPr/>
        </p:nvSpPr>
        <p:spPr>
          <a:xfrm>
            <a:off x="3052264" y="409416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grpSp>
        <p:nvGrpSpPr>
          <p:cNvPr id="11" name="Group 10">
            <a:extLst>
              <a:ext uri="{FF2B5EF4-FFF2-40B4-BE49-F238E27FC236}">
                <a16:creationId xmlns:a16="http://schemas.microsoft.com/office/drawing/2014/main" id="{3A11CE5A-9BAB-D12F-59FC-2F8DF06DD402}"/>
              </a:ext>
            </a:extLst>
          </p:cNvPr>
          <p:cNvGrpSpPr/>
          <p:nvPr/>
        </p:nvGrpSpPr>
        <p:grpSpPr>
          <a:xfrm>
            <a:off x="3052264" y="578776"/>
            <a:ext cx="228600" cy="669780"/>
            <a:chOff x="3052264" y="578776"/>
            <a:chExt cx="228600" cy="669780"/>
          </a:xfrm>
        </p:grpSpPr>
        <p:sp>
          <p:nvSpPr>
            <p:cNvPr id="5" name="Oval 4">
              <a:extLst>
                <a:ext uri="{FF2B5EF4-FFF2-40B4-BE49-F238E27FC236}">
                  <a16:creationId xmlns:a16="http://schemas.microsoft.com/office/drawing/2014/main" id="{6C2D37D4-1256-4B34-9D6A-6541D499D340}"/>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6" name="Oval 5">
              <a:extLst>
                <a:ext uri="{FF2B5EF4-FFF2-40B4-BE49-F238E27FC236}">
                  <a16:creationId xmlns:a16="http://schemas.microsoft.com/office/drawing/2014/main" id="{948E373D-F157-41B8-AFBB-1DE68D430247}"/>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grpSp>
      <p:sp>
        <p:nvSpPr>
          <p:cNvPr id="10" name="Text Placeholder 5">
            <a:extLst>
              <a:ext uri="{FF2B5EF4-FFF2-40B4-BE49-F238E27FC236}">
                <a16:creationId xmlns:a16="http://schemas.microsoft.com/office/drawing/2014/main" id="{EC523482-E943-ACFF-93A8-55F8BC1874F7}"/>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Tree>
    <p:extLst>
      <p:ext uri="{BB962C8B-B14F-4D97-AF65-F5344CB8AC3E}">
        <p14:creationId xmlns:p14="http://schemas.microsoft.com/office/powerpoint/2010/main" val="1068822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0FD776A5-24B6-49F4-A756-6D9220FE7113}"/>
              </a:ext>
            </a:extLst>
          </p:cNvPr>
          <p:cNvSpPr txBox="1">
            <a:spLocks/>
          </p:cNvSpPr>
          <p:nvPr/>
        </p:nvSpPr>
        <p:spPr>
          <a:xfrm>
            <a:off x="339812" y="781051"/>
            <a:ext cx="3231667" cy="307066"/>
          </a:xfrm>
          <a:prstGeom prst="rect">
            <a:avLst/>
          </a:prstGeom>
        </p:spPr>
        <p:txBody>
          <a:bodyPr vert="horz" lIns="91440" tIns="91440" rIns="91440" bIns="9144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C4984F"/>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dirty="0">
                <a:solidFill>
                  <a:schemeClr val="bg2"/>
                </a:solidFill>
                <a:latin typeface="Fund Light" pitchFamily="2" charset="-78"/>
                <a:cs typeface="Fund Light" pitchFamily="2" charset="-78"/>
              </a:rPr>
              <a:t>What is LDC?</a:t>
            </a:r>
          </a:p>
        </p:txBody>
      </p:sp>
      <p:sp>
        <p:nvSpPr>
          <p:cNvPr id="10" name="Rectangle 9">
            <a:extLst>
              <a:ext uri="{FF2B5EF4-FFF2-40B4-BE49-F238E27FC236}">
                <a16:creationId xmlns:a16="http://schemas.microsoft.com/office/drawing/2014/main" id="{50782633-CA64-496F-891C-32EFA7E1C197}"/>
              </a:ext>
            </a:extLst>
          </p:cNvPr>
          <p:cNvSpPr>
            <a:spLocks/>
          </p:cNvSpPr>
          <p:nvPr/>
        </p:nvSpPr>
        <p:spPr>
          <a:xfrm>
            <a:off x="339812" y="1190171"/>
            <a:ext cx="3892659" cy="33528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Fund Light" pitchFamily="2" charset="-78"/>
                <a:cs typeface="Fund Light" pitchFamily="2" charset="-78"/>
              </a:rPr>
              <a:t>Long-term demand commitment from the buyer, contingent on a localization investment by the supplier</a:t>
            </a:r>
          </a:p>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Fund Light" pitchFamily="2" charset="-78"/>
                <a:cs typeface="Fund Light" pitchFamily="2" charset="-78"/>
              </a:rPr>
              <a:t>Typically required to incentivize localization of complex products with limited local supply and high risk for investors </a:t>
            </a:r>
          </a:p>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dirty="0">
                <a:ln>
                  <a:noFill/>
                </a:ln>
                <a:solidFill>
                  <a:srgbClr val="000000"/>
                </a:solidFill>
                <a:effectLst/>
                <a:uLnTx/>
                <a:uFillTx/>
                <a:latin typeface="Fund Light" pitchFamily="2" charset="-78"/>
                <a:cs typeface="Fund Light" pitchFamily="2" charset="-78"/>
              </a:rPr>
              <a:t>Binding agreements that can be offered through two mechanisms, with different levels of guaranteed requirements from the buyer</a:t>
            </a:r>
          </a:p>
          <a:p>
            <a:pPr marL="804672" lvl="1" indent="-347472">
              <a:spcAft>
                <a:spcPts val="2000"/>
              </a:spcAft>
              <a:buFont typeface="+mj-lt"/>
              <a:buAutoNum type="alphaLcPeriod"/>
              <a:defRPr/>
            </a:pPr>
            <a:r>
              <a:rPr lang="en-US" sz="1200" dirty="0">
                <a:solidFill>
                  <a:srgbClr val="000000"/>
                </a:solidFill>
                <a:latin typeface="Fund Light" pitchFamily="2" charset="-78"/>
                <a:cs typeface="Fund Light" pitchFamily="2" charset="-78"/>
              </a:rPr>
              <a:t>P</a:t>
            </a:r>
            <a:r>
              <a:rPr kumimoji="0" lang="en-US" sz="1200" b="0" i="0" u="none" strike="noStrike" kern="1200" cap="none" spc="0" normalizeH="0" baseline="0" noProof="0" dirty="0">
                <a:ln>
                  <a:noFill/>
                </a:ln>
                <a:solidFill>
                  <a:srgbClr val="000000"/>
                </a:solidFill>
                <a:effectLst/>
                <a:uLnTx/>
                <a:uFillTx/>
                <a:latin typeface="Fund Light" pitchFamily="2" charset="-78"/>
                <a:cs typeface="Fund Light" pitchFamily="2" charset="-78"/>
              </a:rPr>
              <a:t>referred supplier agreement </a:t>
            </a:r>
          </a:p>
          <a:p>
            <a:pPr marL="804672" lvl="1" indent="-347472">
              <a:spcAft>
                <a:spcPts val="2000"/>
              </a:spcAft>
              <a:buFont typeface="+mj-lt"/>
              <a:buAutoNum type="alphaLcPeriod"/>
              <a:defRPr/>
            </a:pPr>
            <a:r>
              <a:rPr lang="en-US" sz="1200" dirty="0">
                <a:solidFill>
                  <a:srgbClr val="000000"/>
                </a:solidFill>
                <a:latin typeface="Fund Light" pitchFamily="2" charset="-78"/>
                <a:cs typeface="Fund Light" pitchFamily="2" charset="-78"/>
              </a:rPr>
              <a:t>Take-or-pay</a:t>
            </a:r>
            <a:r>
              <a:rPr kumimoji="0" lang="en-US" sz="1200" b="0" i="0" u="none" strike="noStrike" kern="1200" cap="none" spc="0" normalizeH="0" baseline="0" noProof="0" dirty="0">
                <a:ln>
                  <a:noFill/>
                </a:ln>
                <a:solidFill>
                  <a:srgbClr val="000000"/>
                </a:solidFill>
                <a:effectLst/>
                <a:uLnTx/>
                <a:uFillTx/>
                <a:latin typeface="Fund Light" pitchFamily="2" charset="-78"/>
                <a:cs typeface="Fund Light" pitchFamily="2" charset="-78"/>
              </a:rPr>
              <a:t> agreement</a:t>
            </a:r>
          </a:p>
        </p:txBody>
      </p:sp>
      <p:sp>
        <p:nvSpPr>
          <p:cNvPr id="11" name="Rectangle 10">
            <a:extLst>
              <a:ext uri="{FF2B5EF4-FFF2-40B4-BE49-F238E27FC236}">
                <a16:creationId xmlns:a16="http://schemas.microsoft.com/office/drawing/2014/main" id="{7711B708-1696-4F26-AA54-65C06FBB7948}"/>
              </a:ext>
            </a:extLst>
          </p:cNvPr>
          <p:cNvSpPr>
            <a:spLocks/>
          </p:cNvSpPr>
          <p:nvPr/>
        </p:nvSpPr>
        <p:spPr>
          <a:xfrm>
            <a:off x="4741629" y="1190171"/>
            <a:ext cx="3892659" cy="33528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Fund Light" pitchFamily="2" charset="-78"/>
                <a:cs typeface="Fund Light" pitchFamily="2" charset="-78"/>
              </a:rPr>
              <a:t>Increases local content (LC) score: PIF LC target of 60% hinges on the successful localization of supply chain opportunities</a:t>
            </a:r>
          </a:p>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Fund Light" pitchFamily="2" charset="-78"/>
                <a:cs typeface="Fund Light" pitchFamily="2" charset="-78"/>
              </a:rPr>
              <a:t>Helps unlocks greenfield and brownfield investment</a:t>
            </a:r>
            <a:r>
              <a:rPr lang="en-US" sz="1200">
                <a:solidFill>
                  <a:srgbClr val="000000"/>
                </a:solidFill>
                <a:latin typeface="Fund Light" pitchFamily="2" charset="-78"/>
                <a:cs typeface="Fund Light" pitchFamily="2" charset="-78"/>
              </a:rPr>
              <a:t> </a:t>
            </a:r>
            <a:r>
              <a:rPr kumimoji="0" lang="en-US" sz="1200" b="0" i="0" u="none" strike="noStrike" kern="1200" cap="none" spc="0" normalizeH="0" baseline="0" noProof="0">
                <a:ln>
                  <a:noFill/>
                </a:ln>
                <a:solidFill>
                  <a:srgbClr val="000000"/>
                </a:solidFill>
                <a:effectLst/>
                <a:uLnTx/>
                <a:uFillTx/>
                <a:latin typeface="Fund Light" pitchFamily="2" charset="-78"/>
                <a:cs typeface="Fund Light" pitchFamily="2" charset="-78"/>
              </a:rPr>
              <a:t>localization opportunities</a:t>
            </a:r>
          </a:p>
          <a:p>
            <a:pPr marL="342900" marR="0" lvl="0" indent="-342900" algn="l" defTabSz="914400" rtl="0" eaLnBrk="1" fontAlgn="auto" latinLnBrk="0" hangingPunct="1">
              <a:spcAft>
                <a:spcPts val="2000"/>
              </a:spcAft>
              <a:buClrTx/>
              <a:buSzTx/>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Fund Light" pitchFamily="2" charset="-78"/>
                <a:cs typeface="Fund Light" pitchFamily="2" charset="-78"/>
              </a:rPr>
              <a:t>Absent LDC, localization of high-risk greenfield/brownfield investments may face challenges: Private-sector suppliers and financial investors may be hesitant to invest owing to demand volatility, price uncertainty, or other</a:t>
            </a:r>
            <a:r>
              <a:rPr lang="en-US" sz="1200">
                <a:solidFill>
                  <a:srgbClr val="000000"/>
                </a:solidFill>
                <a:latin typeface="Fund Light" pitchFamily="2" charset="-78"/>
                <a:cs typeface="Fund Light" pitchFamily="2" charset="-78"/>
              </a:rPr>
              <a:t> </a:t>
            </a:r>
            <a:r>
              <a:rPr kumimoji="0" lang="en-US" sz="1200" b="0" i="0" u="none" strike="noStrike" kern="1200" cap="none" spc="0" normalizeH="0" baseline="0" noProof="0">
                <a:ln>
                  <a:noFill/>
                </a:ln>
                <a:solidFill>
                  <a:srgbClr val="000000"/>
                </a:solidFill>
                <a:effectLst/>
                <a:uLnTx/>
                <a:uFillTx/>
                <a:latin typeface="Fund Light" pitchFamily="2" charset="-78"/>
                <a:cs typeface="Fund Light" pitchFamily="2" charset="-78"/>
              </a:rPr>
              <a:t>considerations</a:t>
            </a:r>
          </a:p>
        </p:txBody>
      </p:sp>
      <p:sp>
        <p:nvSpPr>
          <p:cNvPr id="12" name="Text Placeholder 3">
            <a:extLst>
              <a:ext uri="{FF2B5EF4-FFF2-40B4-BE49-F238E27FC236}">
                <a16:creationId xmlns:a16="http://schemas.microsoft.com/office/drawing/2014/main" id="{EBF3AAB1-3946-4E72-8F0C-F93A53D82D0E}"/>
              </a:ext>
            </a:extLst>
          </p:cNvPr>
          <p:cNvSpPr txBox="1">
            <a:spLocks/>
          </p:cNvSpPr>
          <p:nvPr/>
        </p:nvSpPr>
        <p:spPr>
          <a:xfrm>
            <a:off x="4741629" y="781051"/>
            <a:ext cx="3231667" cy="307066"/>
          </a:xfrm>
          <a:prstGeom prst="rect">
            <a:avLst/>
          </a:prstGeom>
        </p:spPr>
        <p:txBody>
          <a:bodyPr vert="horz" lIns="91440" tIns="91440" rIns="91440" bIns="9144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C4984F"/>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a:solidFill>
                  <a:schemeClr val="bg2"/>
                </a:solidFill>
                <a:latin typeface="Fund Light" pitchFamily="2" charset="-78"/>
                <a:cs typeface="Fund Light" pitchFamily="2" charset="-78"/>
              </a:rPr>
              <a:t>What does it solve for?</a:t>
            </a:r>
          </a:p>
        </p:txBody>
      </p:sp>
    </p:spTree>
    <p:extLst>
      <p:ext uri="{BB962C8B-B14F-4D97-AF65-F5344CB8AC3E}">
        <p14:creationId xmlns:p14="http://schemas.microsoft.com/office/powerpoint/2010/main" val="1634573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69A0CB20-C12E-492B-BB3C-9BB99A037619}"/>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LDC benefits</a:t>
            </a:r>
          </a:p>
        </p:txBody>
      </p:sp>
      <p:sp>
        <p:nvSpPr>
          <p:cNvPr id="9" name="Rectangle 8">
            <a:extLst>
              <a:ext uri="{FF2B5EF4-FFF2-40B4-BE49-F238E27FC236}">
                <a16:creationId xmlns:a16="http://schemas.microsoft.com/office/drawing/2014/main" id="{6C1EE76C-5A82-4181-B534-82FA50773514}"/>
              </a:ext>
            </a:extLst>
          </p:cNvPr>
          <p:cNvSpPr/>
          <p:nvPr/>
        </p:nvSpPr>
        <p:spPr>
          <a:xfrm>
            <a:off x="2997199" y="783771"/>
            <a:ext cx="5822951"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342900" indent="-342900">
              <a:spcAft>
                <a:spcPts val="2000"/>
              </a:spcAft>
              <a:buFont typeface="+mj-lt"/>
              <a:buAutoNum type="arabicPeriod"/>
            </a:pPr>
            <a:r>
              <a:rPr lang="en-US" sz="1200" b="1" dirty="0">
                <a:solidFill>
                  <a:srgbClr val="000000"/>
                </a:solidFill>
                <a:latin typeface="Fund Light" pitchFamily="2" charset="-78"/>
                <a:cs typeface="Fund Light" pitchFamily="2" charset="-78"/>
              </a:rPr>
              <a:t>Accelerated localization</a:t>
            </a:r>
            <a:r>
              <a:rPr lang="en-US" sz="1200" dirty="0">
                <a:solidFill>
                  <a:srgbClr val="000000"/>
                </a:solidFill>
                <a:latin typeface="Fund Light" pitchFamily="2" charset="-78"/>
                <a:cs typeface="Fund Light" pitchFamily="2" charset="-78"/>
              </a:rPr>
              <a:t>, contributing to LC targets through:</a:t>
            </a:r>
          </a:p>
          <a:p>
            <a:pPr marL="685800" lvl="1" indent="-228600">
              <a:spcAft>
                <a:spcPts val="2000"/>
              </a:spcAft>
              <a:buFont typeface="+mj-lt"/>
              <a:buAutoNum type="alphaLcPeriod"/>
            </a:pPr>
            <a:r>
              <a:rPr lang="en-US" sz="1200" b="1" dirty="0">
                <a:solidFill>
                  <a:srgbClr val="000000"/>
                </a:solidFill>
                <a:latin typeface="Fund Light" pitchFamily="2" charset="-78"/>
                <a:cs typeface="Fund Light" pitchFamily="2" charset="-78"/>
              </a:rPr>
              <a:t>Signaling effect </a:t>
            </a:r>
            <a:r>
              <a:rPr lang="en-US" sz="1200" dirty="0">
                <a:solidFill>
                  <a:srgbClr val="000000"/>
                </a:solidFill>
                <a:latin typeface="Fund Light" pitchFamily="2" charset="-78"/>
                <a:cs typeface="Fund Light" pitchFamily="2" charset="-78"/>
              </a:rPr>
              <a:t>– increasing localization awareness and urgency to suppliers (i.e., fear of missing out on limited LDC opportunities)</a:t>
            </a:r>
          </a:p>
          <a:p>
            <a:pPr marL="685800" lvl="1" indent="-228600">
              <a:spcAft>
                <a:spcPts val="2000"/>
              </a:spcAft>
              <a:buFont typeface="+mj-lt"/>
              <a:buAutoNum type="alphaLcPeriod"/>
            </a:pPr>
            <a:r>
              <a:rPr lang="en-US" sz="1200" b="1" dirty="0">
                <a:solidFill>
                  <a:srgbClr val="000000"/>
                </a:solidFill>
                <a:latin typeface="Fund Light" pitchFamily="2" charset="-78"/>
                <a:cs typeface="Fund Light" pitchFamily="2" charset="-78"/>
              </a:rPr>
              <a:t>Spillover effect </a:t>
            </a:r>
            <a:r>
              <a:rPr lang="en-US" sz="1200" dirty="0">
                <a:solidFill>
                  <a:srgbClr val="000000"/>
                </a:solidFill>
                <a:latin typeface="Fund Light" pitchFamily="2" charset="-78"/>
                <a:cs typeface="Fund Light" pitchFamily="2" charset="-78"/>
              </a:rPr>
              <a:t>– one LDC agreement increases market confidence in future demand for other products procured</a:t>
            </a:r>
          </a:p>
          <a:p>
            <a:pPr marL="685800" lvl="1" indent="-228600">
              <a:spcAft>
                <a:spcPts val="2000"/>
              </a:spcAft>
              <a:buFont typeface="+mj-lt"/>
              <a:buAutoNum type="alphaLcPeriod"/>
            </a:pPr>
            <a:r>
              <a:rPr lang="en-US" sz="1200" b="1" dirty="0">
                <a:solidFill>
                  <a:srgbClr val="000000"/>
                </a:solidFill>
                <a:latin typeface="Fund Light" pitchFamily="2" charset="-78"/>
                <a:cs typeface="Fund Light" pitchFamily="2" charset="-78"/>
              </a:rPr>
              <a:t>Strengthening the project financing </a:t>
            </a:r>
            <a:r>
              <a:rPr lang="en-US" sz="1200" dirty="0">
                <a:solidFill>
                  <a:srgbClr val="000000"/>
                </a:solidFill>
                <a:latin typeface="Fund Light" pitchFamily="2" charset="-78"/>
                <a:cs typeface="Fund Light" pitchFamily="2" charset="-78"/>
              </a:rPr>
              <a:t>case for suppliers</a:t>
            </a:r>
          </a:p>
          <a:p>
            <a:pPr marL="342900" indent="-342900">
              <a:spcAft>
                <a:spcPts val="2000"/>
              </a:spcAft>
              <a:buFont typeface="+mj-lt"/>
              <a:buAutoNum type="arabicPeriod"/>
            </a:pPr>
            <a:r>
              <a:rPr lang="en-US" sz="1200" b="1" dirty="0">
                <a:solidFill>
                  <a:srgbClr val="000000"/>
                </a:solidFill>
                <a:latin typeface="Fund Light" pitchFamily="2" charset="-78"/>
                <a:cs typeface="Fund Light" pitchFamily="2" charset="-78"/>
              </a:rPr>
              <a:t>Supply chain security </a:t>
            </a:r>
            <a:r>
              <a:rPr lang="en-US" sz="1200" dirty="0">
                <a:solidFill>
                  <a:srgbClr val="000000"/>
                </a:solidFill>
                <a:latin typeface="Fund Light" pitchFamily="2" charset="-78"/>
                <a:cs typeface="Fund Light" pitchFamily="2" charset="-78"/>
              </a:rPr>
              <a:t>of raw materials</a:t>
            </a:r>
          </a:p>
          <a:p>
            <a:pPr marL="342900" indent="-342900">
              <a:spcAft>
                <a:spcPts val="2000"/>
              </a:spcAft>
              <a:buFont typeface="+mj-lt"/>
              <a:buAutoNum type="arabicPeriod"/>
            </a:pPr>
            <a:r>
              <a:rPr lang="en-US" sz="1200" b="1" dirty="0">
                <a:solidFill>
                  <a:srgbClr val="000000"/>
                </a:solidFill>
                <a:latin typeface="Fund Light" pitchFamily="2" charset="-78"/>
                <a:cs typeface="Fund Light" pitchFamily="2" charset="-78"/>
              </a:rPr>
              <a:t>Leverage in negotiating with existing suppliers </a:t>
            </a:r>
            <a:r>
              <a:rPr lang="en-US" sz="1200" dirty="0">
                <a:solidFill>
                  <a:srgbClr val="000000"/>
                </a:solidFill>
                <a:latin typeface="Fund Light" pitchFamily="2" charset="-78"/>
                <a:cs typeface="Fund Light" pitchFamily="2" charset="-78"/>
              </a:rPr>
              <a:t>regarding price, quantity, specifications, and intellectual properties</a:t>
            </a:r>
          </a:p>
          <a:p>
            <a:pPr marL="342900" indent="-342900">
              <a:spcAft>
                <a:spcPts val="2000"/>
              </a:spcAft>
              <a:buFont typeface="+mj-lt"/>
              <a:buAutoNum type="arabicPeriod"/>
            </a:pPr>
            <a:r>
              <a:rPr lang="en-US" sz="1200" b="1" dirty="0">
                <a:solidFill>
                  <a:srgbClr val="000000"/>
                </a:solidFill>
                <a:latin typeface="Fund Light" pitchFamily="2" charset="-78"/>
                <a:cs typeface="Fund Light" pitchFamily="2" charset="-78"/>
              </a:rPr>
              <a:t>Lower overall costs in the long term </a:t>
            </a:r>
            <a:r>
              <a:rPr lang="en-US" sz="1200" dirty="0">
                <a:solidFill>
                  <a:srgbClr val="000000"/>
                </a:solidFill>
                <a:latin typeface="Fund Light" pitchFamily="2" charset="-78"/>
                <a:cs typeface="Fund Light" pitchFamily="2" charset="-78"/>
              </a:rPr>
              <a:t>such as manufacturing, inventory, and logistics</a:t>
            </a:r>
          </a:p>
        </p:txBody>
      </p:sp>
    </p:spTree>
    <p:extLst>
      <p:ext uri="{BB962C8B-B14F-4D97-AF65-F5344CB8AC3E}">
        <p14:creationId xmlns:p14="http://schemas.microsoft.com/office/powerpoint/2010/main" val="28828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947830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715355" cy="241824"/>
          </a:xfrm>
        </p:spPr>
        <p:txBody>
          <a:bodyPr vert="horz">
            <a:normAutofit fontScale="90000"/>
          </a:bodyPr>
          <a:lstStyle/>
          <a:p>
            <a:r>
              <a:rPr lang="en-US"/>
              <a:t>In order to execute a successful LDC for a product, you will need to follow five stages</a:t>
            </a:r>
            <a:endParaRPr lang="en-SA"/>
          </a:p>
        </p:txBody>
      </p:sp>
      <p:sp>
        <p:nvSpPr>
          <p:cNvPr id="14" name="Rectangle 13">
            <a:extLst>
              <a:ext uri="{FF2B5EF4-FFF2-40B4-BE49-F238E27FC236}">
                <a16:creationId xmlns:a16="http://schemas.microsoft.com/office/drawing/2014/main" id="{0C13E2BE-8702-49B4-8256-3216FBAB3D1F}"/>
              </a:ext>
            </a:extLst>
          </p:cNvPr>
          <p:cNvSpPr>
            <a:spLocks/>
          </p:cNvSpPr>
          <p:nvPr/>
        </p:nvSpPr>
        <p:spPr>
          <a:xfrm>
            <a:off x="330198" y="1319503"/>
            <a:ext cx="711201" cy="151446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t" anchorCtr="0" forceAA="0" compatLnSpc="1">
            <a:prstTxWarp prst="textNoShape">
              <a:avLst/>
            </a:prstTxWarp>
            <a:noAutofit/>
          </a:bodyPr>
          <a:lstStyle/>
          <a:p>
            <a:pPr marL="0" marR="0" lvl="0" indent="0" defTabSz="1219170" rtl="0" eaLnBrk="1" fontAlgn="auto" latinLnBrk="0" hangingPunct="1">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Fund Light" pitchFamily="2" charset="-78"/>
                <a:cs typeface="Fund Light" pitchFamily="2" charset="-78"/>
              </a:rPr>
              <a:t>Activities</a:t>
            </a:r>
          </a:p>
        </p:txBody>
      </p:sp>
      <p:cxnSp>
        <p:nvCxnSpPr>
          <p:cNvPr id="7" name="Straight Connector 6">
            <a:extLst>
              <a:ext uri="{FF2B5EF4-FFF2-40B4-BE49-F238E27FC236}">
                <a16:creationId xmlns:a16="http://schemas.microsoft.com/office/drawing/2014/main" id="{842A42EC-DCAF-4211-BCFE-0A77464CAB7E}"/>
              </a:ext>
            </a:extLst>
          </p:cNvPr>
          <p:cNvCxnSpPr>
            <a:cxnSpLocks/>
          </p:cNvCxnSpPr>
          <p:nvPr/>
        </p:nvCxnSpPr>
        <p:spPr>
          <a:xfrm>
            <a:off x="338609" y="3216076"/>
            <a:ext cx="8319346" cy="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81E18DD-C34D-41DC-8E11-0C9019C5AD8A}"/>
              </a:ext>
            </a:extLst>
          </p:cNvPr>
          <p:cNvSpPr>
            <a:spLocks/>
          </p:cNvSpPr>
          <p:nvPr/>
        </p:nvSpPr>
        <p:spPr>
          <a:xfrm>
            <a:off x="330198" y="3297777"/>
            <a:ext cx="711201" cy="119070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t" anchorCtr="0" forceAA="0" compatLnSpc="1">
            <a:prstTxWarp prst="textNoShape">
              <a:avLst/>
            </a:prstTxWarp>
            <a:noAutofit/>
          </a:bodyPr>
          <a:lstStyle/>
          <a:p>
            <a:pPr marL="0" marR="0" lvl="0" indent="0" defTabSz="1219170" rtl="0" eaLnBrk="1" fontAlgn="auto" latinLnBrk="0" hangingPunct="1">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Fund Light" pitchFamily="2" charset="-78"/>
                <a:cs typeface="Fund Light" pitchFamily="2" charset="-78"/>
              </a:rPr>
              <a:t>Outcomes</a:t>
            </a:r>
            <a:endPar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13" name="Rectangle 12">
            <a:extLst>
              <a:ext uri="{FF2B5EF4-FFF2-40B4-BE49-F238E27FC236}">
                <a16:creationId xmlns:a16="http://schemas.microsoft.com/office/drawing/2014/main" id="{30CC5B67-8A9A-407D-8904-2266EA8C4708}"/>
              </a:ext>
            </a:extLst>
          </p:cNvPr>
          <p:cNvSpPr>
            <a:spLocks/>
          </p:cNvSpPr>
          <p:nvPr/>
        </p:nvSpPr>
        <p:spPr>
          <a:xfrm>
            <a:off x="330198" y="784225"/>
            <a:ext cx="711201" cy="42546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marL="0" marR="0" lvl="0" indent="0" defTabSz="1219170" rtl="0" eaLnBrk="1" fontAlgn="auto" latinLnBrk="0" hangingPunct="1">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Fund Light" pitchFamily="2" charset="-78"/>
                <a:cs typeface="Fund Light" pitchFamily="2" charset="-78"/>
              </a:rPr>
              <a:t>Stages</a:t>
            </a:r>
            <a:endPar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16" name="TextBox 15">
            <a:extLst>
              <a:ext uri="{FF2B5EF4-FFF2-40B4-BE49-F238E27FC236}">
                <a16:creationId xmlns:a16="http://schemas.microsoft.com/office/drawing/2014/main" id="{595B9FAA-ABEC-4447-ADC7-E3452A5C3E2B}"/>
              </a:ext>
            </a:extLst>
          </p:cNvPr>
          <p:cNvSpPr txBox="1"/>
          <p:nvPr/>
        </p:nvSpPr>
        <p:spPr>
          <a:xfrm>
            <a:off x="1238188" y="1319503"/>
            <a:ext cx="1445843" cy="1581496"/>
          </a:xfrm>
          <a:prstGeom prst="rect">
            <a:avLst/>
          </a:prstGeom>
          <a:noFill/>
          <a:ln w="6350">
            <a:noFill/>
            <a:miter lim="800000"/>
          </a:ln>
        </p:spPr>
        <p:txBody>
          <a:bodyPr vert="horz" wrap="square" lIns="0" tIns="0" rIns="0" bIns="0" rtlCol="0">
            <a:noAutofit/>
          </a:bodyPr>
          <a:lstStyle/>
          <a:p>
            <a:pPr marL="228600" marR="0" lvl="0" indent="-228600" algn="l" defTabSz="1219170" rtl="0" eaLnBrk="1" fontAlgn="auto" latinLnBrk="0" hangingPunct="1">
              <a:spcAft>
                <a:spcPts val="0"/>
              </a:spcAft>
              <a:buClrTx/>
              <a:buSzTx/>
              <a:buFont typeface="+mj-lt"/>
              <a:buAutoNum type="alphaLcPeriod"/>
              <a:tabLst/>
              <a:defRPr/>
            </a:pPr>
            <a:r>
              <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rPr>
              <a:t>Select appropriate products for LDC</a:t>
            </a:r>
          </a:p>
          <a:p>
            <a:pPr marL="228600" marR="0" lvl="0" indent="-228600" algn="l" defTabSz="1219170" rtl="0" eaLnBrk="1" fontAlgn="auto" latinLnBrk="0" hangingPunct="1">
              <a:spcAft>
                <a:spcPts val="0"/>
              </a:spcAft>
              <a:buClrTx/>
              <a:buSzTx/>
              <a:buFont typeface="+mj-lt"/>
              <a:buAutoNum type="alphaLcPeriod"/>
              <a:tabLst/>
              <a:defRPr/>
            </a:pPr>
            <a:r>
              <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rPr>
              <a:t>Conduct initial and informal supplier sensing to understand </a:t>
            </a:r>
            <a:br>
              <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rPr>
            </a:br>
            <a:r>
              <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rPr>
              <a:t>high-level requirements</a:t>
            </a:r>
          </a:p>
          <a:p>
            <a:pPr marL="173736" marR="0" lvl="0" indent="-173736" algn="l" defTabSz="1219170" rtl="0" eaLnBrk="1" fontAlgn="auto" latinLnBrk="0" hangingPunct="1">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17" name="TextBox 16">
            <a:extLst>
              <a:ext uri="{FF2B5EF4-FFF2-40B4-BE49-F238E27FC236}">
                <a16:creationId xmlns:a16="http://schemas.microsoft.com/office/drawing/2014/main" id="{95DD8E1B-7F6E-4ED2-9278-D34BBC6EAD85}"/>
              </a:ext>
            </a:extLst>
          </p:cNvPr>
          <p:cNvSpPr txBox="1"/>
          <p:nvPr/>
        </p:nvSpPr>
        <p:spPr>
          <a:xfrm>
            <a:off x="4252473" y="1319504"/>
            <a:ext cx="1445843" cy="1177575"/>
          </a:xfrm>
          <a:prstGeom prst="rect">
            <a:avLst/>
          </a:prstGeom>
          <a:noFill/>
          <a:ln w="6350">
            <a:noFill/>
            <a:miter lim="800000"/>
          </a:ln>
        </p:spPr>
        <p:txBody>
          <a:bodyPr vert="horz" wrap="square" lIns="0" tIns="0" rIns="0" bIns="0" rtlCol="0">
            <a:noAutofit/>
          </a:bodyPr>
          <a:lstStyle>
            <a:defPPr>
              <a:defRPr lang="en-US"/>
            </a:defPPr>
            <a:lvl1pPr marL="243834" marR="0" lvl="0" indent="-243834" defTabSz="1219170" fontAlgn="auto">
              <a:lnSpc>
                <a:spcPct val="150000"/>
              </a:lnSpc>
              <a:spcBef>
                <a:spcPts val="600"/>
              </a:spcBef>
              <a:spcAft>
                <a:spcPts val="0"/>
              </a:spcAft>
              <a:buClrTx/>
              <a:buSzTx/>
              <a:buFont typeface="+mj-lt"/>
              <a:buAutoNum type="romanLcPeriod"/>
              <a:tabLst/>
              <a:defRPr kumimoji="0" sz="1067" b="0" i="0" u="none" strike="noStrike" cap="none" spc="0" normalizeH="0" baseline="0">
                <a:ln>
                  <a:noFill/>
                </a:ln>
                <a:effectLst/>
                <a:uLnTx/>
                <a:uFillTx/>
                <a:latin typeface="Fund Light"/>
              </a:defRPr>
            </a:lvl1pPr>
          </a:lstStyle>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Draft and issue Request for Proposal (RfP)</a:t>
            </a:r>
          </a:p>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Review bids and finalize the supplier</a:t>
            </a:r>
          </a:p>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Revise RfP, if needed (in case </a:t>
            </a:r>
            <a:br>
              <a:rPr lang="en-GB" sz="1000">
                <a:solidFill>
                  <a:srgbClr val="000000"/>
                </a:solidFill>
                <a:latin typeface="Fund Light" pitchFamily="2" charset="-78"/>
                <a:cs typeface="Fund Light" pitchFamily="2" charset="-78"/>
              </a:rPr>
            </a:br>
            <a:r>
              <a:rPr lang="en-GB" sz="1000">
                <a:solidFill>
                  <a:srgbClr val="000000"/>
                </a:solidFill>
                <a:latin typeface="Fund Light" pitchFamily="2" charset="-78"/>
                <a:cs typeface="Fund Light" pitchFamily="2" charset="-78"/>
              </a:rPr>
              <a:t>of suboptimal supplier response)</a:t>
            </a:r>
          </a:p>
        </p:txBody>
      </p:sp>
      <p:sp>
        <p:nvSpPr>
          <p:cNvPr id="18" name="TextBox 17">
            <a:extLst>
              <a:ext uri="{FF2B5EF4-FFF2-40B4-BE49-F238E27FC236}">
                <a16:creationId xmlns:a16="http://schemas.microsoft.com/office/drawing/2014/main" id="{274BA474-4D4B-4083-AA1C-67E9B841DD93}"/>
              </a:ext>
            </a:extLst>
          </p:cNvPr>
          <p:cNvSpPr txBox="1"/>
          <p:nvPr/>
        </p:nvSpPr>
        <p:spPr>
          <a:xfrm>
            <a:off x="5759615" y="1319504"/>
            <a:ext cx="1445843" cy="1177575"/>
          </a:xfrm>
          <a:prstGeom prst="rect">
            <a:avLst/>
          </a:prstGeom>
          <a:noFill/>
          <a:ln w="6350">
            <a:noFill/>
            <a:miter lim="800000"/>
          </a:ln>
        </p:spPr>
        <p:txBody>
          <a:bodyPr vert="horz" wrap="square" lIns="0" tIns="0" rIns="0" bIns="0" rtlCol="0">
            <a:noAutofit/>
          </a:bodyPr>
          <a:lstStyle>
            <a:defPPr>
              <a:defRPr lang="en-US"/>
            </a:defPPr>
            <a:lvl1pPr marL="243834" marR="0" lvl="0" indent="-243834" defTabSz="1219170" fontAlgn="auto">
              <a:lnSpc>
                <a:spcPct val="150000"/>
              </a:lnSpc>
              <a:spcBef>
                <a:spcPts val="600"/>
              </a:spcBef>
              <a:spcAft>
                <a:spcPts val="0"/>
              </a:spcAft>
              <a:buClrTx/>
              <a:buSzTx/>
              <a:buFont typeface="+mj-lt"/>
              <a:buAutoNum type="romanLcPeriod"/>
              <a:tabLst/>
              <a:defRPr kumimoji="0" sz="1067" b="0" i="0" u="none" strike="noStrike" cap="none" spc="0" normalizeH="0" baseline="0">
                <a:ln>
                  <a:noFill/>
                </a:ln>
                <a:effectLst/>
                <a:uLnTx/>
                <a:uFillTx/>
                <a:latin typeface="Fund Light"/>
              </a:defRPr>
            </a:lvl1pPr>
          </a:lstStyle>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Sign contract with LDC terms and commitment </a:t>
            </a:r>
          </a:p>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Establish monitoring and reporting processes</a:t>
            </a:r>
          </a:p>
        </p:txBody>
      </p:sp>
      <p:sp>
        <p:nvSpPr>
          <p:cNvPr id="19" name="TextBox 18">
            <a:extLst>
              <a:ext uri="{FF2B5EF4-FFF2-40B4-BE49-F238E27FC236}">
                <a16:creationId xmlns:a16="http://schemas.microsoft.com/office/drawing/2014/main" id="{A339510B-62F5-436E-93BB-59448284C2E3}"/>
              </a:ext>
            </a:extLst>
          </p:cNvPr>
          <p:cNvSpPr txBox="1"/>
          <p:nvPr/>
        </p:nvSpPr>
        <p:spPr>
          <a:xfrm>
            <a:off x="7265386" y="1319504"/>
            <a:ext cx="1445843" cy="1252246"/>
          </a:xfrm>
          <a:prstGeom prst="rect">
            <a:avLst/>
          </a:prstGeom>
          <a:noFill/>
          <a:ln w="6350">
            <a:noFill/>
            <a:miter lim="800000"/>
          </a:ln>
        </p:spPr>
        <p:txBody>
          <a:bodyPr vert="horz" wrap="square" lIns="0" tIns="0" rIns="0" bIns="0" rtlCol="0">
            <a:noAutofit/>
          </a:bodyPr>
          <a:lstStyle>
            <a:defPPr>
              <a:defRPr lang="en-US"/>
            </a:defPPr>
            <a:lvl1pPr marL="243834" marR="0" lvl="0" indent="-243834" defTabSz="1219170" fontAlgn="auto">
              <a:lnSpc>
                <a:spcPct val="150000"/>
              </a:lnSpc>
              <a:spcBef>
                <a:spcPts val="600"/>
              </a:spcBef>
              <a:spcAft>
                <a:spcPts val="0"/>
              </a:spcAft>
              <a:buClrTx/>
              <a:buSzTx/>
              <a:buFont typeface="+mj-lt"/>
              <a:buAutoNum type="romanLcPeriod"/>
              <a:tabLst/>
              <a:defRPr kumimoji="0" sz="1067" b="0" i="0" u="none" strike="noStrike" cap="none" spc="0" normalizeH="0" baseline="0">
                <a:ln>
                  <a:noFill/>
                </a:ln>
                <a:effectLst/>
                <a:uLnTx/>
                <a:uFillTx/>
                <a:latin typeface="Fund Light"/>
              </a:defRPr>
            </a:lvl1pPr>
          </a:lstStyle>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Continuously monitor LDC execution</a:t>
            </a:r>
          </a:p>
          <a:p>
            <a:pPr>
              <a:lnSpc>
                <a:spcPct val="100000"/>
              </a:lnSpc>
              <a:spcBef>
                <a:spcPts val="0"/>
              </a:spcBef>
              <a:buFont typeface="+mj-lt"/>
              <a:buAutoNum type="alphaLcPeriod"/>
            </a:pPr>
            <a:r>
              <a:rPr lang="en-GB" sz="1000">
                <a:solidFill>
                  <a:srgbClr val="000000"/>
                </a:solidFill>
                <a:latin typeface="Fund Light" pitchFamily="2" charset="-78"/>
                <a:cs typeface="Fund Light" pitchFamily="2" charset="-78"/>
              </a:rPr>
              <a:t>Track and implement mitigating measures to minimize buyer risk</a:t>
            </a:r>
          </a:p>
        </p:txBody>
      </p:sp>
      <p:sp>
        <p:nvSpPr>
          <p:cNvPr id="20" name="TextBox 19">
            <a:extLst>
              <a:ext uri="{FF2B5EF4-FFF2-40B4-BE49-F238E27FC236}">
                <a16:creationId xmlns:a16="http://schemas.microsoft.com/office/drawing/2014/main" id="{437262C7-97D7-4E16-917D-F6CC714C840B}"/>
              </a:ext>
            </a:extLst>
          </p:cNvPr>
          <p:cNvSpPr txBox="1"/>
          <p:nvPr/>
        </p:nvSpPr>
        <p:spPr>
          <a:xfrm>
            <a:off x="2745331" y="1319505"/>
            <a:ext cx="1445843" cy="1715796"/>
          </a:xfrm>
          <a:prstGeom prst="rect">
            <a:avLst/>
          </a:prstGeom>
          <a:noFill/>
          <a:ln w="6350">
            <a:noFill/>
            <a:miter lim="800000"/>
          </a:ln>
        </p:spPr>
        <p:txBody>
          <a:bodyPr vert="horz" wrap="square" lIns="0" tIns="0" rIns="0" bIns="0" rtlCol="0">
            <a:noAutofit/>
          </a:bodyPr>
          <a:lstStyle>
            <a:defPPr>
              <a:defRPr lang="en-US"/>
            </a:defPPr>
            <a:lvl1pPr marL="243834" marR="0" lvl="0" indent="-243834" defTabSz="1219170" fontAlgn="auto">
              <a:lnSpc>
                <a:spcPct val="150000"/>
              </a:lnSpc>
              <a:spcBef>
                <a:spcPts val="600"/>
              </a:spcBef>
              <a:spcAft>
                <a:spcPts val="0"/>
              </a:spcAft>
              <a:buClrTx/>
              <a:buSzTx/>
              <a:buFont typeface="+mj-lt"/>
              <a:buAutoNum type="romanLcPeriod"/>
              <a:tabLst/>
              <a:defRPr kumimoji="0" sz="1067" b="0" i="0" u="none" strike="noStrike" cap="none" spc="0" normalizeH="0" baseline="0">
                <a:ln>
                  <a:noFill/>
                </a:ln>
                <a:effectLst/>
                <a:uLnTx/>
                <a:uFillTx/>
                <a:latin typeface="Fund Light"/>
              </a:defRPr>
            </a:lvl1pPr>
          </a:lstStyle>
          <a:p>
            <a:pPr>
              <a:lnSpc>
                <a:spcPct val="100000"/>
              </a:lnSpc>
              <a:spcBef>
                <a:spcPts val="0"/>
              </a:spcBef>
              <a:buFont typeface="+mj-lt"/>
              <a:buAutoNum type="alphaLcPeriod"/>
            </a:pPr>
            <a:r>
              <a:rPr lang="en-US" sz="1000">
                <a:solidFill>
                  <a:srgbClr val="000000"/>
                </a:solidFill>
                <a:latin typeface="Fund Light" pitchFamily="2" charset="-78"/>
                <a:cs typeface="Fund Light" pitchFamily="2" charset="-78"/>
              </a:rPr>
              <a:t>Conduct detailed feasibility assessment to understand the need for take-or-pay mechanism </a:t>
            </a:r>
          </a:p>
          <a:p>
            <a:pPr>
              <a:lnSpc>
                <a:spcPct val="100000"/>
              </a:lnSpc>
              <a:spcBef>
                <a:spcPts val="0"/>
              </a:spcBef>
              <a:buFont typeface="+mj-lt"/>
              <a:buAutoNum type="alphaLcPeriod"/>
            </a:pPr>
            <a:r>
              <a:rPr lang="en-US" sz="1000">
                <a:solidFill>
                  <a:srgbClr val="000000"/>
                </a:solidFill>
                <a:latin typeface="Fund Light" pitchFamily="2" charset="-78"/>
                <a:cs typeface="Fund Light" pitchFamily="2" charset="-78"/>
              </a:rPr>
              <a:t>Understand associated risks</a:t>
            </a:r>
          </a:p>
          <a:p>
            <a:pPr>
              <a:lnSpc>
                <a:spcPct val="100000"/>
              </a:lnSpc>
              <a:spcBef>
                <a:spcPts val="0"/>
              </a:spcBef>
              <a:buFont typeface="+mj-lt"/>
              <a:buAutoNum type="alphaLcPeriod"/>
            </a:pPr>
            <a:r>
              <a:rPr lang="en-US" sz="1000">
                <a:solidFill>
                  <a:srgbClr val="000000"/>
                </a:solidFill>
                <a:latin typeface="Fund Light" pitchFamily="2" charset="-78"/>
                <a:cs typeface="Fund Light" pitchFamily="2" charset="-78"/>
              </a:rPr>
              <a:t>Issue Request for Information (</a:t>
            </a:r>
            <a:r>
              <a:rPr lang="en-US" sz="1000" err="1">
                <a:solidFill>
                  <a:srgbClr val="000000"/>
                </a:solidFill>
                <a:latin typeface="Fund Light" pitchFamily="2" charset="-78"/>
                <a:cs typeface="Fund Light" pitchFamily="2" charset="-78"/>
              </a:rPr>
              <a:t>RfI</a:t>
            </a:r>
            <a:r>
              <a:rPr lang="en-US" sz="1000">
                <a:solidFill>
                  <a:srgbClr val="000000"/>
                </a:solidFill>
                <a:latin typeface="Fund Light" pitchFamily="2" charset="-78"/>
                <a:cs typeface="Fund Light" pitchFamily="2" charset="-78"/>
              </a:rPr>
              <a:t>) and evaluate supplier response</a:t>
            </a:r>
          </a:p>
        </p:txBody>
      </p:sp>
      <p:sp>
        <p:nvSpPr>
          <p:cNvPr id="21" name="TextBox 20">
            <a:extLst>
              <a:ext uri="{FF2B5EF4-FFF2-40B4-BE49-F238E27FC236}">
                <a16:creationId xmlns:a16="http://schemas.microsoft.com/office/drawing/2014/main" id="{16A1459B-7B97-456E-BCBA-187985CFBB17}"/>
              </a:ext>
            </a:extLst>
          </p:cNvPr>
          <p:cNvSpPr txBox="1"/>
          <p:nvPr/>
        </p:nvSpPr>
        <p:spPr>
          <a:xfrm>
            <a:off x="4252473" y="3297777"/>
            <a:ext cx="1445843" cy="138258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Finalization of </a:t>
            </a:r>
            <a:r>
              <a:rPr lang="en-US" sz="1000">
                <a:solidFill>
                  <a:schemeClr val="bg2"/>
                </a:solidFill>
                <a:latin typeface="Fund Light" pitchFamily="2" charset="-78"/>
                <a:cs typeface="Fund Light" pitchFamily="2" charset="-78"/>
              </a:rPr>
              <a:t>the </a:t>
            </a: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RfP</a:t>
            </a:r>
          </a:p>
          <a:p>
            <a:pPr marR="0" lvl="0" algn="l" defTabSz="914400" rtl="0" eaLnBrk="1" fontAlgn="auto" latinLnBrk="0" hangingPunct="1">
              <a:lnSpc>
                <a:spcPct val="100000"/>
              </a:lnSpc>
              <a:spcAft>
                <a:spcPts val="0"/>
              </a:spcAft>
              <a:buClrTx/>
              <a:buSzTx/>
              <a:buFont typeface="+mj-lt"/>
              <a:buAutoNum type="alphaLcPeriod"/>
              <a:tabLst/>
              <a:defRPr/>
            </a:pPr>
            <a:r>
              <a:rPr lang="en-US" sz="1000">
                <a:solidFill>
                  <a:schemeClr val="bg2"/>
                </a:solidFill>
                <a:latin typeface="Fund Light" pitchFamily="2" charset="-78"/>
                <a:cs typeface="Fund Light" pitchFamily="2" charset="-78"/>
              </a:rPr>
              <a:t>Selection of supplier(s)</a:t>
            </a:r>
            <a:endPar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endParaRPr>
          </a:p>
        </p:txBody>
      </p:sp>
      <p:sp>
        <p:nvSpPr>
          <p:cNvPr id="22" name="TextBox 21">
            <a:extLst>
              <a:ext uri="{FF2B5EF4-FFF2-40B4-BE49-F238E27FC236}">
                <a16:creationId xmlns:a16="http://schemas.microsoft.com/office/drawing/2014/main" id="{745D366A-C45D-4E7A-9E75-F8E0909190A7}"/>
              </a:ext>
            </a:extLst>
          </p:cNvPr>
          <p:cNvSpPr txBox="1"/>
          <p:nvPr/>
        </p:nvSpPr>
        <p:spPr>
          <a:xfrm>
            <a:off x="2745331" y="3297777"/>
            <a:ext cx="1445843" cy="138258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10" normalizeH="0" noProof="0">
                <a:ln>
                  <a:noFill/>
                </a:ln>
                <a:solidFill>
                  <a:schemeClr val="bg2"/>
                </a:solidFill>
                <a:effectLst/>
                <a:uLnTx/>
                <a:uFillTx/>
                <a:latin typeface="Fund Light" pitchFamily="2" charset="-78"/>
                <a:cs typeface="Fund Light" pitchFamily="2" charset="-78"/>
              </a:rPr>
              <a:t>Alignment on most suitable LDC mechanism (Preferred Supplier </a:t>
            </a:r>
            <a:r>
              <a:rPr lang="en-US" sz="1000" spc="-10">
                <a:solidFill>
                  <a:schemeClr val="bg2"/>
                </a:solidFill>
                <a:latin typeface="Fund Light" pitchFamily="2" charset="-78"/>
                <a:cs typeface="Fund Light" pitchFamily="2" charset="-78"/>
              </a:rPr>
              <a:t>Agreement (PSA)</a:t>
            </a:r>
            <a:r>
              <a:rPr kumimoji="0" lang="en-US" sz="1000" b="0" i="0" u="none" strike="noStrike" kern="1200" cap="none" spc="-10" normalizeH="0" noProof="0">
                <a:ln>
                  <a:noFill/>
                </a:ln>
                <a:solidFill>
                  <a:schemeClr val="bg2"/>
                </a:solidFill>
                <a:effectLst/>
                <a:uLnTx/>
                <a:uFillTx/>
                <a:latin typeface="Fund Light" pitchFamily="2" charset="-78"/>
                <a:cs typeface="Fund Light" pitchFamily="2" charset="-78"/>
              </a:rPr>
              <a:t> or take-or-pay)</a:t>
            </a:r>
          </a:p>
          <a:p>
            <a:pPr marR="0" lvl="0" algn="l" defTabSz="914400" rtl="0" eaLnBrk="1" fontAlgn="auto" latinLnBrk="0" hangingPunct="1">
              <a:lnSpc>
                <a:spcPct val="100000"/>
              </a:lnSpc>
              <a:spcAft>
                <a:spcPts val="0"/>
              </a:spcAft>
              <a:buClrTx/>
              <a:buSzTx/>
              <a:buFont typeface="+mj-lt"/>
              <a:buAutoNum type="alphaLcPeriod"/>
              <a:tabLst/>
              <a:defRPr/>
            </a:pPr>
            <a:r>
              <a:rPr lang="en-US" sz="1000" spc="-10">
                <a:solidFill>
                  <a:schemeClr val="bg2"/>
                </a:solidFill>
                <a:latin typeface="Fund Light" pitchFamily="2" charset="-78"/>
                <a:cs typeface="Fund Light" pitchFamily="2" charset="-78"/>
              </a:rPr>
              <a:t>Articulation of </a:t>
            </a:r>
            <a:r>
              <a:rPr lang="en-US" sz="1000" spc="-10" err="1">
                <a:solidFill>
                  <a:schemeClr val="bg2"/>
                </a:solidFill>
                <a:latin typeface="Fund Light" pitchFamily="2" charset="-78"/>
                <a:cs typeface="Fund Light" pitchFamily="2" charset="-78"/>
              </a:rPr>
              <a:t>i</a:t>
            </a:r>
            <a:r>
              <a:rPr kumimoji="0" lang="en-US" sz="1000" b="0" i="0" u="none" strike="noStrike" kern="1200" cap="none" spc="-10" normalizeH="0" noProof="0">
                <a:ln>
                  <a:noFill/>
                </a:ln>
                <a:solidFill>
                  <a:schemeClr val="bg2"/>
                </a:solidFill>
                <a:effectLst/>
                <a:uLnTx/>
                <a:uFillTx/>
                <a:latin typeface="Fund Light" pitchFamily="2" charset="-78"/>
                <a:cs typeface="Fund Light" pitchFamily="2" charset="-78"/>
              </a:rPr>
              <a:t>deal contractual terms</a:t>
            </a:r>
          </a:p>
          <a:p>
            <a:pPr marR="0" lvl="0" algn="l" defTabSz="914400" rtl="0" eaLnBrk="1" fontAlgn="auto" latinLnBrk="0" hangingPunct="1">
              <a:lnSpc>
                <a:spcPct val="100000"/>
              </a:lnSpc>
              <a:spcAft>
                <a:spcPts val="0"/>
              </a:spcAft>
              <a:buClrTx/>
              <a:buSzTx/>
              <a:buFont typeface="+mj-lt"/>
              <a:buAutoNum type="alphaLcPeriod"/>
              <a:tabLst/>
              <a:defRPr/>
            </a:pPr>
            <a:r>
              <a:rPr lang="en-US" sz="1000" spc="-10">
                <a:solidFill>
                  <a:schemeClr val="bg2"/>
                </a:solidFill>
                <a:latin typeface="Fund Light" pitchFamily="2" charset="-78"/>
                <a:cs typeface="Fund Light" pitchFamily="2" charset="-78"/>
              </a:rPr>
              <a:t>Understanding of supplier requirements</a:t>
            </a:r>
            <a:endParaRPr kumimoji="0" lang="en-US" sz="1000" b="0" i="0" u="none" strike="noStrike" kern="1200" cap="none" spc="-10" normalizeH="0" noProof="0">
              <a:ln>
                <a:noFill/>
              </a:ln>
              <a:solidFill>
                <a:schemeClr val="bg2"/>
              </a:solidFill>
              <a:effectLst/>
              <a:uLnTx/>
              <a:uFillTx/>
              <a:latin typeface="Fund Light" pitchFamily="2" charset="-78"/>
              <a:cs typeface="Fund Light" pitchFamily="2" charset="-78"/>
            </a:endParaRPr>
          </a:p>
        </p:txBody>
      </p:sp>
      <p:sp>
        <p:nvSpPr>
          <p:cNvPr id="23" name="TextBox 22">
            <a:extLst>
              <a:ext uri="{FF2B5EF4-FFF2-40B4-BE49-F238E27FC236}">
                <a16:creationId xmlns:a16="http://schemas.microsoft.com/office/drawing/2014/main" id="{8598FB89-03E2-42DB-AC91-E973CC4293A0}"/>
              </a:ext>
            </a:extLst>
          </p:cNvPr>
          <p:cNvSpPr txBox="1"/>
          <p:nvPr/>
        </p:nvSpPr>
        <p:spPr>
          <a:xfrm>
            <a:off x="1238188" y="3297777"/>
            <a:ext cx="1445843" cy="138258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Confidence in a portfolio of products essential for localization and requiring demand commitment</a:t>
            </a:r>
          </a:p>
        </p:txBody>
      </p:sp>
      <p:sp>
        <p:nvSpPr>
          <p:cNvPr id="24" name="TextBox 23">
            <a:extLst>
              <a:ext uri="{FF2B5EF4-FFF2-40B4-BE49-F238E27FC236}">
                <a16:creationId xmlns:a16="http://schemas.microsoft.com/office/drawing/2014/main" id="{9C58AF06-7190-4D2C-97E4-7CE0B6191800}"/>
              </a:ext>
            </a:extLst>
          </p:cNvPr>
          <p:cNvSpPr txBox="1"/>
          <p:nvPr/>
        </p:nvSpPr>
        <p:spPr>
          <a:xfrm>
            <a:off x="5759615" y="3297777"/>
            <a:ext cx="1445843" cy="138258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Formalization of contract (and public announcement)</a:t>
            </a:r>
          </a:p>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Institutionalization of governance</a:t>
            </a:r>
          </a:p>
        </p:txBody>
      </p:sp>
      <p:sp>
        <p:nvSpPr>
          <p:cNvPr id="25" name="TextBox 24">
            <a:extLst>
              <a:ext uri="{FF2B5EF4-FFF2-40B4-BE49-F238E27FC236}">
                <a16:creationId xmlns:a16="http://schemas.microsoft.com/office/drawing/2014/main" id="{6EA3DD81-152E-4CDD-B336-7D70AB2040EF}"/>
              </a:ext>
            </a:extLst>
          </p:cNvPr>
          <p:cNvSpPr txBox="1"/>
          <p:nvPr/>
        </p:nvSpPr>
        <p:spPr>
          <a:xfrm>
            <a:off x="7265386" y="3297777"/>
            <a:ext cx="1445843" cy="138258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R="0" lvl="0" algn="l" defTabSz="914400" rtl="0" eaLnBrk="1" fontAlgn="auto" latinLnBrk="0" hangingPunct="1">
              <a:lnSpc>
                <a:spcPct val="100000"/>
              </a:lnSpc>
              <a:spcAft>
                <a:spcPts val="0"/>
              </a:spcAft>
              <a:buClrTx/>
              <a:buSzTx/>
              <a:buFont typeface="+mj-lt"/>
              <a:buAutoNum type="alphaLcPeriod"/>
              <a:tabLst/>
              <a:defRPr/>
            </a:pPr>
            <a:r>
              <a:rPr lang="en-US" sz="1000">
                <a:solidFill>
                  <a:schemeClr val="bg2"/>
                </a:solidFill>
                <a:latin typeface="Fund Light" pitchFamily="2" charset="-78"/>
                <a:cs typeface="Fund Light" pitchFamily="2" charset="-78"/>
              </a:rPr>
              <a:t>Progress update on LDC execution</a:t>
            </a:r>
          </a:p>
          <a:p>
            <a:pPr marR="0" lvl="0" algn="l" defTabSz="914400" rtl="0" eaLnBrk="1" fontAlgn="auto" latinLnBrk="0" hangingPunct="1">
              <a:lnSpc>
                <a:spcPct val="100000"/>
              </a:lnSpc>
              <a:spcAft>
                <a:spcPts val="0"/>
              </a:spcAft>
              <a:buClrTx/>
              <a:buSzTx/>
              <a:buFont typeface="+mj-lt"/>
              <a:buAutoNum type="alphaLcPeriod"/>
              <a:tabLst/>
              <a:defRPr/>
            </a:pPr>
            <a:r>
              <a:rPr kumimoji="0" lang="en-US" sz="1000" b="0" i="0" u="none" strike="noStrike" kern="1200" cap="none" spc="0" normalizeH="0" baseline="0" noProof="0">
                <a:ln>
                  <a:noFill/>
                </a:ln>
                <a:solidFill>
                  <a:schemeClr val="bg2"/>
                </a:solidFill>
                <a:effectLst/>
                <a:uLnTx/>
                <a:uFillTx/>
                <a:latin typeface="Fund Light" pitchFamily="2" charset="-78"/>
                <a:cs typeface="Fund Light" pitchFamily="2" charset="-78"/>
              </a:rPr>
              <a:t>Knowledge that can inform other LDC agreements, basis past experience</a:t>
            </a:r>
          </a:p>
        </p:txBody>
      </p:sp>
      <p:sp>
        <p:nvSpPr>
          <p:cNvPr id="33" name="TextBox 32">
            <a:extLst>
              <a:ext uri="{FF2B5EF4-FFF2-40B4-BE49-F238E27FC236}">
                <a16:creationId xmlns:a16="http://schemas.microsoft.com/office/drawing/2014/main" id="{BE52B045-75B1-4A15-B6B5-94C05AAA3AC6}"/>
              </a:ext>
            </a:extLst>
          </p:cNvPr>
          <p:cNvSpPr txBox="1"/>
          <p:nvPr/>
        </p:nvSpPr>
        <p:spPr>
          <a:xfrm>
            <a:off x="5760739"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4. LDC agreement sign-off</a:t>
            </a:r>
          </a:p>
        </p:txBody>
      </p:sp>
      <p:sp>
        <p:nvSpPr>
          <p:cNvPr id="34" name="TextBox 33">
            <a:extLst>
              <a:ext uri="{FF2B5EF4-FFF2-40B4-BE49-F238E27FC236}">
                <a16:creationId xmlns:a16="http://schemas.microsoft.com/office/drawing/2014/main" id="{652C4DBA-DFF7-4147-81ED-97C053F45C0E}"/>
              </a:ext>
            </a:extLst>
          </p:cNvPr>
          <p:cNvSpPr txBox="1"/>
          <p:nvPr/>
        </p:nvSpPr>
        <p:spPr>
          <a:xfrm>
            <a:off x="1238188" y="784225"/>
            <a:ext cx="1551868" cy="425462"/>
          </a:xfrm>
          <a:prstGeom prst="homePlate">
            <a:avLst>
              <a:gd name="adj" fmla="val 25366"/>
            </a:avLst>
          </a:prstGeom>
          <a:solidFill>
            <a:schemeClr val="bg2"/>
          </a:solidFill>
          <a:ln w="6350">
            <a:noFill/>
            <a:miter lim="800000"/>
          </a:ln>
        </p:spPr>
        <p:txBody>
          <a:bodyPr vert="horz" wrap="square" lIns="60960" rIns="0" anchor="ctr">
            <a:noAutofit/>
          </a:bodyPr>
          <a:lstStyle/>
          <a:p>
            <a:pPr marL="173736" marR="0" lvl="0" indent="-173736" algn="l" defTabSz="1219170" rtl="0" eaLnBrk="1" fontAlgn="auto" latinLnBrk="0" hangingPunct="1">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Fund Light" pitchFamily="2" charset="-78"/>
                <a:cs typeface="Fund Light" pitchFamily="2" charset="-78"/>
              </a:rPr>
              <a:t>1. Product selection</a:t>
            </a:r>
            <a:endParaRPr kumimoji="0" lang="en-GB" sz="1000" b="1" i="0" u="none" strike="noStrike" kern="1200" cap="none" spc="0" normalizeH="0" baseline="0" noProof="0">
              <a:ln>
                <a:noFill/>
              </a:ln>
              <a:solidFill>
                <a:schemeClr val="bg1"/>
              </a:solidFill>
              <a:effectLst/>
              <a:uLnTx/>
              <a:uFillTx/>
              <a:latin typeface="Fund Light" pitchFamily="2" charset="-78"/>
              <a:cs typeface="Fund Light" pitchFamily="2" charset="-78"/>
            </a:endParaRPr>
          </a:p>
        </p:txBody>
      </p:sp>
      <p:sp>
        <p:nvSpPr>
          <p:cNvPr id="35" name="TextBox 34">
            <a:extLst>
              <a:ext uri="{FF2B5EF4-FFF2-40B4-BE49-F238E27FC236}">
                <a16:creationId xmlns:a16="http://schemas.microsoft.com/office/drawing/2014/main" id="{66B924A6-49C4-42CF-9964-8A2D100E41E2}"/>
              </a:ext>
            </a:extLst>
          </p:cNvPr>
          <p:cNvSpPr txBox="1"/>
          <p:nvPr/>
        </p:nvSpPr>
        <p:spPr>
          <a:xfrm>
            <a:off x="2745706"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14300" indent="-114300"/>
            <a:r>
              <a:rPr lang="en-US" sz="1000">
                <a:solidFill>
                  <a:schemeClr val="bg1"/>
                </a:solidFill>
                <a:latin typeface="Fund Light" pitchFamily="2" charset="-78"/>
                <a:cs typeface="Fund Light" pitchFamily="2" charset="-78"/>
              </a:rPr>
              <a:t>2. Feasibility and terms assessment</a:t>
            </a:r>
          </a:p>
        </p:txBody>
      </p:sp>
      <p:sp>
        <p:nvSpPr>
          <p:cNvPr id="36" name="TextBox 35">
            <a:extLst>
              <a:ext uri="{FF2B5EF4-FFF2-40B4-BE49-F238E27FC236}">
                <a16:creationId xmlns:a16="http://schemas.microsoft.com/office/drawing/2014/main" id="{10390FEC-11AB-4CF7-B6FF-7D68D8A78123}"/>
              </a:ext>
            </a:extLst>
          </p:cNvPr>
          <p:cNvSpPr txBox="1"/>
          <p:nvPr/>
        </p:nvSpPr>
        <p:spPr>
          <a:xfrm>
            <a:off x="4253222"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3. Tendering and LDC award</a:t>
            </a:r>
            <a:endParaRPr lang="en-GB" sz="1000">
              <a:solidFill>
                <a:schemeClr val="bg1"/>
              </a:solidFill>
              <a:latin typeface="Fund Light" pitchFamily="2" charset="-78"/>
              <a:cs typeface="Fund Light" pitchFamily="2" charset="-78"/>
            </a:endParaRPr>
          </a:p>
        </p:txBody>
      </p:sp>
      <p:sp>
        <p:nvSpPr>
          <p:cNvPr id="37" name="TextBox 36">
            <a:extLst>
              <a:ext uri="{FF2B5EF4-FFF2-40B4-BE49-F238E27FC236}">
                <a16:creationId xmlns:a16="http://schemas.microsoft.com/office/drawing/2014/main" id="{EF34F606-CD2E-44FD-A4E2-75F9D7561B67}"/>
              </a:ext>
            </a:extLst>
          </p:cNvPr>
          <p:cNvSpPr txBox="1"/>
          <p:nvPr/>
        </p:nvSpPr>
        <p:spPr>
          <a:xfrm>
            <a:off x="7266884"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5. LDC execution </a:t>
            </a:r>
            <a:br>
              <a:rPr lang="en-US" sz="1000">
                <a:solidFill>
                  <a:schemeClr val="bg1"/>
                </a:solidFill>
                <a:latin typeface="Fund Light" pitchFamily="2" charset="-78"/>
                <a:cs typeface="Fund Light" pitchFamily="2" charset="-78"/>
              </a:rPr>
            </a:br>
            <a:r>
              <a:rPr lang="en-US" sz="1000">
                <a:solidFill>
                  <a:schemeClr val="bg1"/>
                </a:solidFill>
                <a:latin typeface="Fund Light" pitchFamily="2" charset="-78"/>
                <a:cs typeface="Fund Light" pitchFamily="2" charset="-78"/>
              </a:rPr>
              <a:t>and monitoring</a:t>
            </a:r>
          </a:p>
        </p:txBody>
      </p:sp>
    </p:spTree>
    <p:extLst>
      <p:ext uri="{BB962C8B-B14F-4D97-AF65-F5344CB8AC3E}">
        <p14:creationId xmlns:p14="http://schemas.microsoft.com/office/powerpoint/2010/main" val="1230787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4253859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003097" cy="241824"/>
          </a:xfrm>
        </p:spPr>
        <p:txBody>
          <a:bodyPr vert="horz">
            <a:normAutofit fontScale="90000"/>
          </a:bodyPr>
          <a:lstStyle/>
          <a:p>
            <a:r>
              <a:rPr lang="en-US"/>
              <a:t>To support your LDC journey, this implementation guide includes a range of tools </a:t>
            </a:r>
          </a:p>
        </p:txBody>
      </p:sp>
      <p:sp>
        <p:nvSpPr>
          <p:cNvPr id="34" name="Rectangle 33">
            <a:extLst>
              <a:ext uri="{FF2B5EF4-FFF2-40B4-BE49-F238E27FC236}">
                <a16:creationId xmlns:a16="http://schemas.microsoft.com/office/drawing/2014/main" id="{86CD6604-ED77-4AC5-8545-FFBA1A2EC127}"/>
              </a:ext>
            </a:extLst>
          </p:cNvPr>
          <p:cNvSpPr>
            <a:spLocks/>
          </p:cNvSpPr>
          <p:nvPr/>
        </p:nvSpPr>
        <p:spPr>
          <a:xfrm>
            <a:off x="170001" y="1442607"/>
            <a:ext cx="975050" cy="277979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60960" rIns="0" bIns="60960" numCol="1" spcCol="0" rtlCol="0" fromWordArt="0" anchor="t" anchorCtr="0" forceAA="0" compatLnSpc="1">
            <a:prstTxWarp prst="textNoShape">
              <a:avLst/>
            </a:prstTxWarp>
            <a:noAutofit/>
          </a:bodyPr>
          <a:lstStyle/>
          <a:p>
            <a:pPr marL="0" marR="0" lvl="0" indent="0" defTabSz="1219170" rtl="0" eaLnBrk="1" fontAlgn="auto" latinLnBrk="0" hangingPunct="1">
              <a:lnSpc>
                <a:spcPct val="100000"/>
              </a:lnSpc>
              <a:spcBef>
                <a:spcPts val="0"/>
              </a:spcBef>
              <a:spcAft>
                <a:spcPts val="0"/>
              </a:spcAft>
              <a:buClrTx/>
              <a:buSzTx/>
              <a:buFontTx/>
              <a:buNone/>
              <a:tabLst/>
              <a:defRPr/>
            </a:pPr>
            <a:r>
              <a:rPr lang="en-GB" sz="1050" b="1" spc="-30">
                <a:solidFill>
                  <a:srgbClr val="000000"/>
                </a:solidFill>
                <a:latin typeface="Fund Light" pitchFamily="2" charset="-78"/>
                <a:cs typeface="Fund Light" pitchFamily="2" charset="-78"/>
              </a:rPr>
              <a:t>Methodologies, templates, and tools</a:t>
            </a:r>
            <a:endParaRPr kumimoji="0" lang="en-GB" sz="1050" b="1" i="0" u="none" strike="noStrike" kern="1200" cap="none" spc="-30" normalizeH="0" noProof="0">
              <a:ln>
                <a:noFill/>
              </a:ln>
              <a:solidFill>
                <a:srgbClr val="000000"/>
              </a:solidFill>
              <a:effectLst/>
              <a:uLnTx/>
              <a:uFillTx/>
              <a:latin typeface="Fund Light" pitchFamily="2" charset="-78"/>
              <a:cs typeface="Fund Light" pitchFamily="2" charset="-78"/>
            </a:endParaRPr>
          </a:p>
        </p:txBody>
      </p:sp>
      <p:grpSp>
        <p:nvGrpSpPr>
          <p:cNvPr id="80" name="Group 79">
            <a:extLst>
              <a:ext uri="{FF2B5EF4-FFF2-40B4-BE49-F238E27FC236}">
                <a16:creationId xmlns:a16="http://schemas.microsoft.com/office/drawing/2014/main" id="{E1FD83B6-5FA0-4760-9183-14243000FB43}"/>
              </a:ext>
            </a:extLst>
          </p:cNvPr>
          <p:cNvGrpSpPr/>
          <p:nvPr/>
        </p:nvGrpSpPr>
        <p:grpSpPr>
          <a:xfrm>
            <a:off x="1207137" y="2577104"/>
            <a:ext cx="1463502" cy="323165"/>
            <a:chOff x="1461515" y="2736102"/>
            <a:chExt cx="1359024" cy="323165"/>
          </a:xfrm>
        </p:grpSpPr>
        <p:sp>
          <p:nvSpPr>
            <p:cNvPr id="37" name="Rectangle 36">
              <a:extLst>
                <a:ext uri="{FF2B5EF4-FFF2-40B4-BE49-F238E27FC236}">
                  <a16:creationId xmlns:a16="http://schemas.microsoft.com/office/drawing/2014/main" id="{3D99A8A4-99A4-47DC-9EF1-1A554617A462}"/>
                </a:ext>
              </a:extLst>
            </p:cNvPr>
            <p:cNvSpPr/>
            <p:nvPr/>
          </p:nvSpPr>
          <p:spPr>
            <a:xfrm>
              <a:off x="1719363" y="2736102"/>
              <a:ext cx="1101176"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Product selection framework</a:t>
              </a:r>
            </a:p>
          </p:txBody>
        </p:sp>
        <p:sp>
          <p:nvSpPr>
            <p:cNvPr id="48" name="Oval 47">
              <a:extLst>
                <a:ext uri="{FF2B5EF4-FFF2-40B4-BE49-F238E27FC236}">
                  <a16:creationId xmlns:a16="http://schemas.microsoft.com/office/drawing/2014/main" id="{410C12FE-F9C9-4637-BAC9-1824984F248E}"/>
                </a:ext>
              </a:extLst>
            </p:cNvPr>
            <p:cNvSpPr/>
            <p:nvPr/>
          </p:nvSpPr>
          <p:spPr>
            <a:xfrm>
              <a:off x="1461515" y="2819813"/>
              <a:ext cx="169824" cy="182880"/>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A</a:t>
              </a:r>
            </a:p>
          </p:txBody>
        </p:sp>
      </p:grpSp>
      <p:sp>
        <p:nvSpPr>
          <p:cNvPr id="39" name="Rectangle 38">
            <a:extLst>
              <a:ext uri="{FF2B5EF4-FFF2-40B4-BE49-F238E27FC236}">
                <a16:creationId xmlns:a16="http://schemas.microsoft.com/office/drawing/2014/main" id="{BC7CA225-8F8A-4E99-B582-DC47FCB163B0}"/>
              </a:ext>
            </a:extLst>
          </p:cNvPr>
          <p:cNvSpPr/>
          <p:nvPr/>
        </p:nvSpPr>
        <p:spPr>
          <a:xfrm>
            <a:off x="3126101" y="2577410"/>
            <a:ext cx="1418853"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Feasibility assessment framework</a:t>
            </a:r>
            <a:r>
              <a:rPr lang="en-US" sz="1050" b="1" baseline="30000">
                <a:solidFill>
                  <a:schemeClr val="bg2"/>
                </a:solidFill>
                <a:latin typeface="Fund Light" pitchFamily="2" charset="-78"/>
                <a:cs typeface="Fund Light" pitchFamily="2" charset="-78"/>
              </a:rPr>
              <a:t>1</a:t>
            </a:r>
            <a:endParaRPr kumimoji="0" lang="en-US" sz="1050" b="1" i="0" u="none" strike="noStrike" kern="1200" cap="none" normalizeH="0" baseline="30000" noProof="0">
              <a:ln>
                <a:noFill/>
              </a:ln>
              <a:solidFill>
                <a:schemeClr val="bg2"/>
              </a:solidFill>
              <a:effectLst/>
              <a:uLnTx/>
              <a:uFillTx/>
              <a:latin typeface="Fund Light" pitchFamily="2" charset="-78"/>
              <a:cs typeface="Fund Light" pitchFamily="2" charset="-78"/>
            </a:endParaRPr>
          </a:p>
        </p:txBody>
      </p:sp>
      <p:sp>
        <p:nvSpPr>
          <p:cNvPr id="49" name="Oval 48">
            <a:extLst>
              <a:ext uri="{FF2B5EF4-FFF2-40B4-BE49-F238E27FC236}">
                <a16:creationId xmlns:a16="http://schemas.microsoft.com/office/drawing/2014/main" id="{72356DCB-A299-4471-95A9-F300F87B246C}"/>
              </a:ext>
            </a:extLst>
          </p:cNvPr>
          <p:cNvSpPr/>
          <p:nvPr/>
        </p:nvSpPr>
        <p:spPr>
          <a:xfrm>
            <a:off x="2873878" y="2648830"/>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00" b="1">
                <a:solidFill>
                  <a:schemeClr val="bg1"/>
                </a:solidFill>
                <a:latin typeface="Fund Light" pitchFamily="2" charset="-78"/>
                <a:cs typeface="Fund Light" pitchFamily="2" charset="-78"/>
              </a:rPr>
              <a:t>B</a:t>
            </a:r>
          </a:p>
        </p:txBody>
      </p:sp>
      <p:sp>
        <p:nvSpPr>
          <p:cNvPr id="41" name="Rectangle 40">
            <a:extLst>
              <a:ext uri="{FF2B5EF4-FFF2-40B4-BE49-F238E27FC236}">
                <a16:creationId xmlns:a16="http://schemas.microsoft.com/office/drawing/2014/main" id="{AB6E90E0-F47D-4B9A-971D-CF62BEAAB5B6}"/>
              </a:ext>
            </a:extLst>
          </p:cNvPr>
          <p:cNvSpPr/>
          <p:nvPr/>
        </p:nvSpPr>
        <p:spPr>
          <a:xfrm>
            <a:off x="3126101" y="3670680"/>
            <a:ext cx="1499237"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Localization </a:t>
            </a:r>
            <a:r>
              <a:rPr lang="en-US" sz="1050" b="1">
                <a:solidFill>
                  <a:schemeClr val="bg2"/>
                </a:solidFill>
                <a:latin typeface="Fund Light" pitchFamily="2" charset="-78"/>
                <a:cs typeface="Fund Light" pitchFamily="2" charset="-78"/>
              </a:rPr>
              <a:t>impact assessment dashboard</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
        <p:nvSpPr>
          <p:cNvPr id="50" name="Oval 49">
            <a:extLst>
              <a:ext uri="{FF2B5EF4-FFF2-40B4-BE49-F238E27FC236}">
                <a16:creationId xmlns:a16="http://schemas.microsoft.com/office/drawing/2014/main" id="{8A40EF77-11AF-4AFF-975A-706531A4E1BC}"/>
              </a:ext>
            </a:extLst>
          </p:cNvPr>
          <p:cNvSpPr/>
          <p:nvPr/>
        </p:nvSpPr>
        <p:spPr>
          <a:xfrm>
            <a:off x="2873878" y="3749794"/>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00" b="1">
                <a:solidFill>
                  <a:schemeClr val="bg1"/>
                </a:solidFill>
                <a:latin typeface="Fund Light" pitchFamily="2" charset="-78"/>
                <a:cs typeface="Fund Light" pitchFamily="2" charset="-78"/>
              </a:rPr>
              <a:t>C</a:t>
            </a:r>
          </a:p>
        </p:txBody>
      </p:sp>
      <p:grpSp>
        <p:nvGrpSpPr>
          <p:cNvPr id="78" name="Group 77">
            <a:extLst>
              <a:ext uri="{FF2B5EF4-FFF2-40B4-BE49-F238E27FC236}">
                <a16:creationId xmlns:a16="http://schemas.microsoft.com/office/drawing/2014/main" id="{2D04E65A-05AD-4547-A31F-9954A9F81051}"/>
              </a:ext>
            </a:extLst>
          </p:cNvPr>
          <p:cNvGrpSpPr/>
          <p:nvPr/>
        </p:nvGrpSpPr>
        <p:grpSpPr>
          <a:xfrm>
            <a:off x="4664070" y="2577410"/>
            <a:ext cx="1075207" cy="323165"/>
            <a:chOff x="4660147" y="2897685"/>
            <a:chExt cx="1075207" cy="323165"/>
          </a:xfrm>
        </p:grpSpPr>
        <p:sp>
          <p:nvSpPr>
            <p:cNvPr id="43" name="Rectangle 42">
              <a:extLst>
                <a:ext uri="{FF2B5EF4-FFF2-40B4-BE49-F238E27FC236}">
                  <a16:creationId xmlns:a16="http://schemas.microsoft.com/office/drawing/2014/main" id="{EFE7FD85-61D4-4C15-8C0E-5FDD910E1501}"/>
                </a:ext>
              </a:extLst>
            </p:cNvPr>
            <p:cNvSpPr/>
            <p:nvPr/>
          </p:nvSpPr>
          <p:spPr>
            <a:xfrm>
              <a:off x="4909783" y="2897685"/>
              <a:ext cx="825571"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err="1">
                  <a:ln>
                    <a:noFill/>
                  </a:ln>
                  <a:solidFill>
                    <a:schemeClr val="bg2"/>
                  </a:solidFill>
                  <a:effectLst/>
                  <a:uLnTx/>
                  <a:uFillTx/>
                  <a:latin typeface="Fund Light" pitchFamily="2" charset="-78"/>
                  <a:cs typeface="Fund Light" pitchFamily="2" charset="-78"/>
                </a:rPr>
                <a:t>RfP</a:t>
              </a: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 </a:t>
              </a:r>
              <a:r>
                <a:rPr lang="en-US" sz="1050" b="1">
                  <a:solidFill>
                    <a:schemeClr val="bg2"/>
                  </a:solidFill>
                  <a:latin typeface="Fund Light" pitchFamily="2" charset="-78"/>
                  <a:cs typeface="Fund Light" pitchFamily="2" charset="-78"/>
                </a:rPr>
                <a:t>and </a:t>
              </a:r>
              <a:r>
                <a:rPr lang="en-US" sz="1050" b="1" err="1">
                  <a:solidFill>
                    <a:schemeClr val="bg2"/>
                  </a:solidFill>
                  <a:latin typeface="Fund Light" pitchFamily="2" charset="-78"/>
                  <a:cs typeface="Fund Light" pitchFamily="2" charset="-78"/>
                </a:rPr>
                <a:t>RfI</a:t>
              </a: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 templates</a:t>
              </a:r>
            </a:p>
          </p:txBody>
        </p:sp>
        <p:sp>
          <p:nvSpPr>
            <p:cNvPr id="51" name="Oval 50">
              <a:extLst>
                <a:ext uri="{FF2B5EF4-FFF2-40B4-BE49-F238E27FC236}">
                  <a16:creationId xmlns:a16="http://schemas.microsoft.com/office/drawing/2014/main" id="{A37CB945-B427-4446-8BFF-951C3A16292F}"/>
                </a:ext>
              </a:extLst>
            </p:cNvPr>
            <p:cNvSpPr/>
            <p:nvPr/>
          </p:nvSpPr>
          <p:spPr>
            <a:xfrm>
              <a:off x="4660147" y="2976799"/>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D</a:t>
              </a:r>
            </a:p>
          </p:txBody>
        </p:sp>
      </p:grpSp>
      <p:grpSp>
        <p:nvGrpSpPr>
          <p:cNvPr id="77" name="Group 76">
            <a:extLst>
              <a:ext uri="{FF2B5EF4-FFF2-40B4-BE49-F238E27FC236}">
                <a16:creationId xmlns:a16="http://schemas.microsoft.com/office/drawing/2014/main" id="{E1A65B07-709F-49EF-B900-934AB95444A3}"/>
              </a:ext>
            </a:extLst>
          </p:cNvPr>
          <p:cNvGrpSpPr/>
          <p:nvPr/>
        </p:nvGrpSpPr>
        <p:grpSpPr>
          <a:xfrm>
            <a:off x="5920129" y="2600077"/>
            <a:ext cx="1392478" cy="484748"/>
            <a:chOff x="6100980" y="2920352"/>
            <a:chExt cx="1392478" cy="484748"/>
          </a:xfrm>
        </p:grpSpPr>
        <p:sp>
          <p:nvSpPr>
            <p:cNvPr id="45" name="Rectangle 44">
              <a:extLst>
                <a:ext uri="{FF2B5EF4-FFF2-40B4-BE49-F238E27FC236}">
                  <a16:creationId xmlns:a16="http://schemas.microsoft.com/office/drawing/2014/main" id="{6987C78F-AFBE-4E39-A0D5-4159E980E487}"/>
                </a:ext>
              </a:extLst>
            </p:cNvPr>
            <p:cNvSpPr/>
            <p:nvPr/>
          </p:nvSpPr>
          <p:spPr>
            <a:xfrm>
              <a:off x="6349526" y="2920352"/>
              <a:ext cx="1143932" cy="48474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a:solidFill>
                    <a:schemeClr val="bg2"/>
                  </a:solidFill>
                  <a:latin typeface="Fund Light" pitchFamily="2" charset="-78"/>
                  <a:cs typeface="Fund Light" pitchFamily="2" charset="-78"/>
                </a:rPr>
                <a:t>PSA and take-or-pay agreement templates</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
          <p:nvSpPr>
            <p:cNvPr id="52" name="Oval 51">
              <a:extLst>
                <a:ext uri="{FF2B5EF4-FFF2-40B4-BE49-F238E27FC236}">
                  <a16:creationId xmlns:a16="http://schemas.microsoft.com/office/drawing/2014/main" id="{F3A0B151-D69C-4D29-B81D-E5D5B5D0BC03}"/>
                </a:ext>
              </a:extLst>
            </p:cNvPr>
            <p:cNvSpPr/>
            <p:nvPr/>
          </p:nvSpPr>
          <p:spPr>
            <a:xfrm>
              <a:off x="6100980" y="2976799"/>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E</a:t>
              </a:r>
            </a:p>
          </p:txBody>
        </p:sp>
      </p:grpSp>
      <p:grpSp>
        <p:nvGrpSpPr>
          <p:cNvPr id="76" name="Group 75">
            <a:extLst>
              <a:ext uri="{FF2B5EF4-FFF2-40B4-BE49-F238E27FC236}">
                <a16:creationId xmlns:a16="http://schemas.microsoft.com/office/drawing/2014/main" id="{092C796C-D5E7-40FA-9734-02C42CAE8904}"/>
              </a:ext>
            </a:extLst>
          </p:cNvPr>
          <p:cNvGrpSpPr/>
          <p:nvPr/>
        </p:nvGrpSpPr>
        <p:grpSpPr>
          <a:xfrm>
            <a:off x="7446061" y="2577410"/>
            <a:ext cx="1193515" cy="323165"/>
            <a:chOff x="7446061" y="2897685"/>
            <a:chExt cx="1193515" cy="323165"/>
          </a:xfrm>
        </p:grpSpPr>
        <p:sp>
          <p:nvSpPr>
            <p:cNvPr id="47" name="Rectangle 46">
              <a:extLst>
                <a:ext uri="{FF2B5EF4-FFF2-40B4-BE49-F238E27FC236}">
                  <a16:creationId xmlns:a16="http://schemas.microsoft.com/office/drawing/2014/main" id="{655DFC55-54AD-4F48-AE02-55E9728C8777}"/>
                </a:ext>
              </a:extLst>
            </p:cNvPr>
            <p:cNvSpPr/>
            <p:nvPr/>
          </p:nvSpPr>
          <p:spPr>
            <a:xfrm>
              <a:off x="7702854" y="2897685"/>
              <a:ext cx="936722"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a:solidFill>
                    <a:schemeClr val="bg2"/>
                  </a:solidFill>
                  <a:latin typeface="Fund Light" pitchFamily="2" charset="-78"/>
                  <a:cs typeface="Fund Light" pitchFamily="2" charset="-78"/>
                </a:rPr>
                <a:t>Monitoring dashboard</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
          <p:nvSpPr>
            <p:cNvPr id="53" name="Oval 52">
              <a:extLst>
                <a:ext uri="{FF2B5EF4-FFF2-40B4-BE49-F238E27FC236}">
                  <a16:creationId xmlns:a16="http://schemas.microsoft.com/office/drawing/2014/main" id="{172B56B4-C98B-4B01-BC35-9AD445B15AB4}"/>
                </a:ext>
              </a:extLst>
            </p:cNvPr>
            <p:cNvSpPr/>
            <p:nvPr/>
          </p:nvSpPr>
          <p:spPr>
            <a:xfrm>
              <a:off x="7446061" y="2976799"/>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F</a:t>
              </a:r>
            </a:p>
          </p:txBody>
        </p:sp>
      </p:grpSp>
      <p:cxnSp>
        <p:nvCxnSpPr>
          <p:cNvPr id="8" name="Straight Arrow Connector 7">
            <a:extLst>
              <a:ext uri="{FF2B5EF4-FFF2-40B4-BE49-F238E27FC236}">
                <a16:creationId xmlns:a16="http://schemas.microsoft.com/office/drawing/2014/main" id="{1BA99C45-198D-A2E4-E866-F40FA3BEAEC5}"/>
              </a:ext>
            </a:extLst>
          </p:cNvPr>
          <p:cNvCxnSpPr>
            <a:cxnSpLocks/>
          </p:cNvCxnSpPr>
          <p:nvPr/>
        </p:nvCxnSpPr>
        <p:spPr>
          <a:xfrm>
            <a:off x="1472550" y="4428553"/>
            <a:ext cx="7095717" cy="0"/>
          </a:xfrm>
          <a:prstGeom prst="straightConnector1">
            <a:avLst/>
          </a:prstGeom>
          <a:ln w="9525">
            <a:solidFill>
              <a:schemeClr val="bg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7BAD44E-0B85-4785-DCB7-EE607D784393}"/>
              </a:ext>
            </a:extLst>
          </p:cNvPr>
          <p:cNvSpPr/>
          <p:nvPr/>
        </p:nvSpPr>
        <p:spPr>
          <a:xfrm>
            <a:off x="2328105" y="4339623"/>
            <a:ext cx="5384606" cy="161583"/>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a:spcBef>
                <a:spcPts val="300"/>
              </a:spcBef>
              <a:spcAft>
                <a:spcPts val="300"/>
              </a:spcAft>
            </a:pPr>
            <a:r>
              <a:rPr lang="en-US" sz="1050" b="1">
                <a:solidFill>
                  <a:schemeClr val="bg2"/>
                </a:solidFill>
                <a:latin typeface="Fund Light" pitchFamily="2" charset="-78"/>
                <a:cs typeface="Fund Light" pitchFamily="2" charset="-78"/>
              </a:rPr>
              <a:t>Implementation support</a:t>
            </a:r>
            <a:endParaRPr lang="en-US" sz="1050" i="1">
              <a:solidFill>
                <a:schemeClr val="bg2"/>
              </a:solidFill>
              <a:latin typeface="Fund Light" pitchFamily="2" charset="-78"/>
              <a:cs typeface="Fund Light" pitchFamily="2" charset="-78"/>
            </a:endParaRPr>
          </a:p>
        </p:txBody>
      </p:sp>
      <p:pic>
        <p:nvPicPr>
          <p:cNvPr id="20" name="Picture 19">
            <a:extLst>
              <a:ext uri="{FF2B5EF4-FFF2-40B4-BE49-F238E27FC236}">
                <a16:creationId xmlns:a16="http://schemas.microsoft.com/office/drawing/2014/main" id="{2CDB3376-3944-89EC-A8C2-3BC851202B6B}"/>
              </a:ext>
            </a:extLst>
          </p:cNvPr>
          <p:cNvPicPr>
            <a:picLocks noChangeAspect="1"/>
          </p:cNvPicPr>
          <p:nvPr/>
        </p:nvPicPr>
        <p:blipFill>
          <a:blip r:embed="rId6"/>
          <a:stretch>
            <a:fillRect/>
          </a:stretch>
        </p:blipFill>
        <p:spPr>
          <a:xfrm>
            <a:off x="1207136" y="1509007"/>
            <a:ext cx="1120969" cy="62137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2" name="Picture 21">
            <a:extLst>
              <a:ext uri="{FF2B5EF4-FFF2-40B4-BE49-F238E27FC236}">
                <a16:creationId xmlns:a16="http://schemas.microsoft.com/office/drawing/2014/main" id="{6DD05627-5D8C-16AB-6C61-4596DF563FFA}"/>
              </a:ext>
            </a:extLst>
          </p:cNvPr>
          <p:cNvPicPr>
            <a:picLocks noChangeAspect="1"/>
          </p:cNvPicPr>
          <p:nvPr/>
        </p:nvPicPr>
        <p:blipFill>
          <a:blip r:embed="rId7"/>
          <a:stretch>
            <a:fillRect/>
          </a:stretch>
        </p:blipFill>
        <p:spPr>
          <a:xfrm>
            <a:off x="1196517" y="1820004"/>
            <a:ext cx="1329580" cy="56708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4" name="Picture 23">
            <a:extLst>
              <a:ext uri="{FF2B5EF4-FFF2-40B4-BE49-F238E27FC236}">
                <a16:creationId xmlns:a16="http://schemas.microsoft.com/office/drawing/2014/main" id="{98F34B68-A995-B745-5ECA-EAF9617D5FCA}"/>
              </a:ext>
            </a:extLst>
          </p:cNvPr>
          <p:cNvPicPr>
            <a:picLocks noChangeAspect="1"/>
          </p:cNvPicPr>
          <p:nvPr/>
        </p:nvPicPr>
        <p:blipFill>
          <a:blip r:embed="rId8"/>
          <a:stretch>
            <a:fillRect/>
          </a:stretch>
        </p:blipFill>
        <p:spPr>
          <a:xfrm>
            <a:off x="2767800" y="1510114"/>
            <a:ext cx="1120969" cy="58522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5">
            <a:extLst>
              <a:ext uri="{FF2B5EF4-FFF2-40B4-BE49-F238E27FC236}">
                <a16:creationId xmlns:a16="http://schemas.microsoft.com/office/drawing/2014/main" id="{EBC83B20-7F83-9701-E4AC-694063E9D6FB}"/>
              </a:ext>
            </a:extLst>
          </p:cNvPr>
          <p:cNvPicPr>
            <a:picLocks noChangeAspect="1"/>
          </p:cNvPicPr>
          <p:nvPr/>
        </p:nvPicPr>
        <p:blipFill>
          <a:blip r:embed="rId9"/>
          <a:stretch>
            <a:fillRect/>
          </a:stretch>
        </p:blipFill>
        <p:spPr>
          <a:xfrm>
            <a:off x="2952259" y="1674134"/>
            <a:ext cx="1279087" cy="700799"/>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9" name="Picture 28">
            <a:extLst>
              <a:ext uri="{FF2B5EF4-FFF2-40B4-BE49-F238E27FC236}">
                <a16:creationId xmlns:a16="http://schemas.microsoft.com/office/drawing/2014/main" id="{87E7799F-551B-72A0-93D9-F6AA28F96DEA}"/>
              </a:ext>
            </a:extLst>
          </p:cNvPr>
          <p:cNvPicPr>
            <a:picLocks noChangeAspect="1"/>
          </p:cNvPicPr>
          <p:nvPr/>
        </p:nvPicPr>
        <p:blipFill>
          <a:blip r:embed="rId10"/>
          <a:stretch>
            <a:fillRect/>
          </a:stretch>
        </p:blipFill>
        <p:spPr>
          <a:xfrm>
            <a:off x="4617546" y="1409345"/>
            <a:ext cx="724001" cy="1009399"/>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1" name="Picture 30">
            <a:extLst>
              <a:ext uri="{FF2B5EF4-FFF2-40B4-BE49-F238E27FC236}">
                <a16:creationId xmlns:a16="http://schemas.microsoft.com/office/drawing/2014/main" id="{682F5BFA-815C-F662-E7FB-8D6E777CD10F}"/>
              </a:ext>
            </a:extLst>
          </p:cNvPr>
          <p:cNvPicPr>
            <a:picLocks noChangeAspect="1"/>
          </p:cNvPicPr>
          <p:nvPr/>
        </p:nvPicPr>
        <p:blipFill>
          <a:blip r:embed="rId11"/>
          <a:stretch>
            <a:fillRect/>
          </a:stretch>
        </p:blipFill>
        <p:spPr>
          <a:xfrm>
            <a:off x="4746198" y="1483712"/>
            <a:ext cx="724001" cy="997687"/>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 name="Picture 32">
            <a:extLst>
              <a:ext uri="{FF2B5EF4-FFF2-40B4-BE49-F238E27FC236}">
                <a16:creationId xmlns:a16="http://schemas.microsoft.com/office/drawing/2014/main" id="{0E009F49-B201-6077-CA9E-F22DFC950961}"/>
              </a:ext>
            </a:extLst>
          </p:cNvPr>
          <p:cNvPicPr>
            <a:picLocks noChangeAspect="1"/>
          </p:cNvPicPr>
          <p:nvPr/>
        </p:nvPicPr>
        <p:blipFill>
          <a:blip r:embed="rId12"/>
          <a:stretch>
            <a:fillRect/>
          </a:stretch>
        </p:blipFill>
        <p:spPr>
          <a:xfrm>
            <a:off x="5805090" y="1490285"/>
            <a:ext cx="1277205" cy="739954"/>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6" name="Picture 55">
            <a:extLst>
              <a:ext uri="{FF2B5EF4-FFF2-40B4-BE49-F238E27FC236}">
                <a16:creationId xmlns:a16="http://schemas.microsoft.com/office/drawing/2014/main" id="{6FAC5F7C-A487-E0CE-2DFF-A52B87BA8711}"/>
              </a:ext>
            </a:extLst>
          </p:cNvPr>
          <p:cNvPicPr>
            <a:picLocks noChangeAspect="1"/>
          </p:cNvPicPr>
          <p:nvPr/>
        </p:nvPicPr>
        <p:blipFill>
          <a:blip r:embed="rId13"/>
          <a:stretch>
            <a:fillRect/>
          </a:stretch>
        </p:blipFill>
        <p:spPr>
          <a:xfrm>
            <a:off x="6354941" y="1646319"/>
            <a:ext cx="724001" cy="838099"/>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8" name="Rectangle: Rounded Corners 57">
            <a:extLst>
              <a:ext uri="{FF2B5EF4-FFF2-40B4-BE49-F238E27FC236}">
                <a16:creationId xmlns:a16="http://schemas.microsoft.com/office/drawing/2014/main" id="{4E631851-205B-3008-4544-FB6D8A842EB4}"/>
              </a:ext>
            </a:extLst>
          </p:cNvPr>
          <p:cNvSpPr/>
          <p:nvPr/>
        </p:nvSpPr>
        <p:spPr>
          <a:xfrm>
            <a:off x="4335628" y="4307179"/>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14" action="ppaction://hlinksldjump"/>
              </a:rPr>
              <a:t>Contacts</a:t>
            </a:r>
            <a:r>
              <a:rPr lang="en-US" sz="1000">
                <a:solidFill>
                  <a:srgbClr val="000000"/>
                </a:solidFill>
                <a:latin typeface="Fund Light" pitchFamily="2" charset="-78"/>
                <a:cs typeface="Fund Light" pitchFamily="2" charset="-78"/>
              </a:rPr>
              <a:t>)</a:t>
            </a:r>
          </a:p>
        </p:txBody>
      </p:sp>
      <p:grpSp>
        <p:nvGrpSpPr>
          <p:cNvPr id="59" name="Group 58">
            <a:extLst>
              <a:ext uri="{FF2B5EF4-FFF2-40B4-BE49-F238E27FC236}">
                <a16:creationId xmlns:a16="http://schemas.microsoft.com/office/drawing/2014/main" id="{25A02302-B0CD-C1CD-F0C2-E93182D97C3A}"/>
              </a:ext>
            </a:extLst>
          </p:cNvPr>
          <p:cNvGrpSpPr/>
          <p:nvPr/>
        </p:nvGrpSpPr>
        <p:grpSpPr>
          <a:xfrm>
            <a:off x="4080989" y="4259193"/>
            <a:ext cx="303559" cy="303559"/>
            <a:chOff x="-577629" y="2311332"/>
            <a:chExt cx="404038" cy="404037"/>
          </a:xfrm>
        </p:grpSpPr>
        <p:sp>
          <p:nvSpPr>
            <p:cNvPr id="60" name="Oval 59">
              <a:extLst>
                <a:ext uri="{FF2B5EF4-FFF2-40B4-BE49-F238E27FC236}">
                  <a16:creationId xmlns:a16="http://schemas.microsoft.com/office/drawing/2014/main" id="{B956C58A-89DD-4AA5-2D67-ED764E3AA776}"/>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a:extLst>
                <a:ext uri="{FF2B5EF4-FFF2-40B4-BE49-F238E27FC236}">
                  <a16:creationId xmlns:a16="http://schemas.microsoft.com/office/drawing/2014/main" id="{2152A8EF-5FF1-1B4B-5A58-0C7947675C93}"/>
                </a:ext>
              </a:extLst>
            </p:cNvPr>
            <p:cNvPicPr>
              <a:picLocks noChangeAspect="1"/>
            </p:cNvPicPr>
            <p:nvPr/>
          </p:nvPicPr>
          <p:blipFill>
            <a:blip r:embed="rId15"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62" name="Group 61">
            <a:extLst>
              <a:ext uri="{FF2B5EF4-FFF2-40B4-BE49-F238E27FC236}">
                <a16:creationId xmlns:a16="http://schemas.microsoft.com/office/drawing/2014/main" id="{16FA0C39-711A-B003-E3D3-3433C766A51D}"/>
              </a:ext>
            </a:extLst>
          </p:cNvPr>
          <p:cNvGrpSpPr/>
          <p:nvPr/>
        </p:nvGrpSpPr>
        <p:grpSpPr>
          <a:xfrm>
            <a:off x="7288955" y="4325727"/>
            <a:ext cx="168686" cy="161455"/>
            <a:chOff x="11260138" y="4194175"/>
            <a:chExt cx="360363" cy="379413"/>
          </a:xfrm>
        </p:grpSpPr>
        <p:sp>
          <p:nvSpPr>
            <p:cNvPr id="63" name="Freeform 289">
              <a:extLst>
                <a:ext uri="{FF2B5EF4-FFF2-40B4-BE49-F238E27FC236}">
                  <a16:creationId xmlns:a16="http://schemas.microsoft.com/office/drawing/2014/main" id="{CCC5F533-2D18-7123-8F33-1817090ACD72}"/>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290">
              <a:extLst>
                <a:ext uri="{FF2B5EF4-FFF2-40B4-BE49-F238E27FC236}">
                  <a16:creationId xmlns:a16="http://schemas.microsoft.com/office/drawing/2014/main" id="{98AC5298-3ADE-3AD1-ADC5-C0D0D165DD35}"/>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291">
              <a:extLst>
                <a:ext uri="{FF2B5EF4-FFF2-40B4-BE49-F238E27FC236}">
                  <a16:creationId xmlns:a16="http://schemas.microsoft.com/office/drawing/2014/main" id="{4B30854A-A4B4-A349-EB25-5B52F0BAA963}"/>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7" name="Picture 6">
            <a:extLst>
              <a:ext uri="{FF2B5EF4-FFF2-40B4-BE49-F238E27FC236}">
                <a16:creationId xmlns:a16="http://schemas.microsoft.com/office/drawing/2014/main" id="{D7AF9B53-8C51-5752-4ECB-0CA79711AA05}"/>
              </a:ext>
            </a:extLst>
          </p:cNvPr>
          <p:cNvPicPr>
            <a:picLocks noChangeAspect="1"/>
          </p:cNvPicPr>
          <p:nvPr/>
        </p:nvPicPr>
        <p:blipFill>
          <a:blip r:embed="rId16"/>
          <a:stretch>
            <a:fillRect/>
          </a:stretch>
        </p:blipFill>
        <p:spPr>
          <a:xfrm>
            <a:off x="7361264" y="1763700"/>
            <a:ext cx="1385417" cy="632393"/>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F872FC87-2A27-0C60-FA3F-AA283A20D44E}"/>
              </a:ext>
            </a:extLst>
          </p:cNvPr>
          <p:cNvPicPr>
            <a:picLocks noChangeAspect="1"/>
          </p:cNvPicPr>
          <p:nvPr/>
        </p:nvPicPr>
        <p:blipFill>
          <a:blip r:embed="rId17"/>
          <a:stretch>
            <a:fillRect/>
          </a:stretch>
        </p:blipFill>
        <p:spPr>
          <a:xfrm>
            <a:off x="2773942" y="2984753"/>
            <a:ext cx="1496134" cy="595766"/>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B459130C-93B3-05C2-80AC-A7979A10273F}"/>
              </a:ext>
            </a:extLst>
          </p:cNvPr>
          <p:cNvSpPr>
            <a:spLocks/>
          </p:cNvSpPr>
          <p:nvPr/>
        </p:nvSpPr>
        <p:spPr>
          <a:xfrm>
            <a:off x="330198" y="784225"/>
            <a:ext cx="711201" cy="42546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marL="0" marR="0" lvl="0" indent="0" defTabSz="1219170" rtl="0" eaLnBrk="1" fontAlgn="auto" latinLnBrk="0" hangingPunct="1">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Fund Light" pitchFamily="2" charset="-78"/>
                <a:cs typeface="Fund Light" pitchFamily="2" charset="-78"/>
              </a:rPr>
              <a:t>Stages</a:t>
            </a:r>
            <a:endPar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6" name="TextBox 5">
            <a:extLst>
              <a:ext uri="{FF2B5EF4-FFF2-40B4-BE49-F238E27FC236}">
                <a16:creationId xmlns:a16="http://schemas.microsoft.com/office/drawing/2014/main" id="{C033572B-BF24-5EB1-AB41-A9891C090013}"/>
              </a:ext>
            </a:extLst>
          </p:cNvPr>
          <p:cNvSpPr txBox="1"/>
          <p:nvPr/>
        </p:nvSpPr>
        <p:spPr>
          <a:xfrm>
            <a:off x="5760739"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4. LDC agreement sign-off</a:t>
            </a:r>
          </a:p>
        </p:txBody>
      </p:sp>
      <p:sp>
        <p:nvSpPr>
          <p:cNvPr id="9" name="TextBox 8">
            <a:extLst>
              <a:ext uri="{FF2B5EF4-FFF2-40B4-BE49-F238E27FC236}">
                <a16:creationId xmlns:a16="http://schemas.microsoft.com/office/drawing/2014/main" id="{620FF940-3A22-6DDD-C3FD-BC935CCD9E40}"/>
              </a:ext>
            </a:extLst>
          </p:cNvPr>
          <p:cNvSpPr txBox="1"/>
          <p:nvPr/>
        </p:nvSpPr>
        <p:spPr>
          <a:xfrm>
            <a:off x="1238188" y="784225"/>
            <a:ext cx="1551868" cy="425462"/>
          </a:xfrm>
          <a:prstGeom prst="homePlate">
            <a:avLst>
              <a:gd name="adj" fmla="val 25366"/>
            </a:avLst>
          </a:prstGeom>
          <a:solidFill>
            <a:schemeClr val="bg2"/>
          </a:solidFill>
          <a:ln w="6350">
            <a:noFill/>
            <a:miter lim="800000"/>
          </a:ln>
        </p:spPr>
        <p:txBody>
          <a:bodyPr vert="horz" wrap="square" lIns="60960" rIns="0" anchor="ctr">
            <a:noAutofit/>
          </a:bodyPr>
          <a:lstStyle/>
          <a:p>
            <a:pPr marL="173736" marR="0" lvl="0" indent="-173736" algn="l" defTabSz="1219170" rtl="0" eaLnBrk="1" fontAlgn="auto" latinLnBrk="0" hangingPunct="1">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Fund Light" pitchFamily="2" charset="-78"/>
                <a:cs typeface="Fund Light" pitchFamily="2" charset="-78"/>
              </a:rPr>
              <a:t>1. Product selection</a:t>
            </a:r>
            <a:endParaRPr kumimoji="0" lang="en-GB" sz="1000" b="1" i="0" u="none" strike="noStrike" kern="1200" cap="none" spc="0" normalizeH="0" baseline="0" noProof="0">
              <a:ln>
                <a:noFill/>
              </a:ln>
              <a:solidFill>
                <a:schemeClr val="bg1"/>
              </a:solidFill>
              <a:effectLst/>
              <a:uLnTx/>
              <a:uFillTx/>
              <a:latin typeface="Fund Light" pitchFamily="2" charset="-78"/>
              <a:cs typeface="Fund Light" pitchFamily="2" charset="-78"/>
            </a:endParaRPr>
          </a:p>
        </p:txBody>
      </p:sp>
      <p:sp>
        <p:nvSpPr>
          <p:cNvPr id="17" name="TextBox 16">
            <a:extLst>
              <a:ext uri="{FF2B5EF4-FFF2-40B4-BE49-F238E27FC236}">
                <a16:creationId xmlns:a16="http://schemas.microsoft.com/office/drawing/2014/main" id="{0631666D-7DC8-572B-E7F3-E0A2F7E7813E}"/>
              </a:ext>
            </a:extLst>
          </p:cNvPr>
          <p:cNvSpPr txBox="1"/>
          <p:nvPr/>
        </p:nvSpPr>
        <p:spPr>
          <a:xfrm>
            <a:off x="2745706"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14300" indent="-114300"/>
            <a:r>
              <a:rPr lang="en-US" sz="1000">
                <a:solidFill>
                  <a:schemeClr val="bg1"/>
                </a:solidFill>
                <a:latin typeface="Fund Light" pitchFamily="2" charset="-78"/>
                <a:cs typeface="Fund Light" pitchFamily="2" charset="-78"/>
              </a:rPr>
              <a:t>2. Feasibility and terms assessment</a:t>
            </a:r>
          </a:p>
        </p:txBody>
      </p:sp>
      <p:sp>
        <p:nvSpPr>
          <p:cNvPr id="18" name="TextBox 17">
            <a:extLst>
              <a:ext uri="{FF2B5EF4-FFF2-40B4-BE49-F238E27FC236}">
                <a16:creationId xmlns:a16="http://schemas.microsoft.com/office/drawing/2014/main" id="{306DB420-89BC-148B-42AF-0947815B4A1B}"/>
              </a:ext>
            </a:extLst>
          </p:cNvPr>
          <p:cNvSpPr txBox="1"/>
          <p:nvPr/>
        </p:nvSpPr>
        <p:spPr>
          <a:xfrm>
            <a:off x="4253222"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3. Tendering and LDC award</a:t>
            </a:r>
            <a:endParaRPr lang="en-GB" sz="1000">
              <a:solidFill>
                <a:schemeClr val="bg1"/>
              </a:solidFill>
              <a:latin typeface="Fund Light" pitchFamily="2" charset="-78"/>
              <a:cs typeface="Fund Light" pitchFamily="2" charset="-78"/>
            </a:endParaRPr>
          </a:p>
        </p:txBody>
      </p:sp>
      <p:sp>
        <p:nvSpPr>
          <p:cNvPr id="19" name="TextBox 18">
            <a:extLst>
              <a:ext uri="{FF2B5EF4-FFF2-40B4-BE49-F238E27FC236}">
                <a16:creationId xmlns:a16="http://schemas.microsoft.com/office/drawing/2014/main" id="{B1AAC74D-B2B9-F244-20A0-A93D97CFF2C5}"/>
              </a:ext>
            </a:extLst>
          </p:cNvPr>
          <p:cNvSpPr txBox="1"/>
          <p:nvPr/>
        </p:nvSpPr>
        <p:spPr>
          <a:xfrm>
            <a:off x="7266884" y="784225"/>
            <a:ext cx="1551868"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5. LDC execution </a:t>
            </a:r>
            <a:br>
              <a:rPr lang="en-US" sz="1000">
                <a:solidFill>
                  <a:schemeClr val="bg1"/>
                </a:solidFill>
                <a:latin typeface="Fund Light" pitchFamily="2" charset="-78"/>
                <a:cs typeface="Fund Light" pitchFamily="2" charset="-78"/>
              </a:rPr>
            </a:br>
            <a:r>
              <a:rPr lang="en-US" sz="1000">
                <a:solidFill>
                  <a:schemeClr val="bg1"/>
                </a:solidFill>
                <a:latin typeface="Fund Light" pitchFamily="2" charset="-78"/>
                <a:cs typeface="Fund Light" pitchFamily="2" charset="-78"/>
              </a:rPr>
              <a:t>and monitoring</a:t>
            </a:r>
          </a:p>
        </p:txBody>
      </p:sp>
      <p:sp>
        <p:nvSpPr>
          <p:cNvPr id="10" name="Rectangle 9">
            <a:extLst>
              <a:ext uri="{FF2B5EF4-FFF2-40B4-BE49-F238E27FC236}">
                <a16:creationId xmlns:a16="http://schemas.microsoft.com/office/drawing/2014/main" id="{2AB724EB-FF6A-D275-1EE8-57EBB4B27585}"/>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Given the nature and complexity of the template, this will be shared upon request. .Please reach out to PIF NDD contacts shared</a:t>
            </a:r>
          </a:p>
        </p:txBody>
      </p:sp>
    </p:spTree>
    <p:extLst>
      <p:ext uri="{BB962C8B-B14F-4D97-AF65-F5344CB8AC3E}">
        <p14:creationId xmlns:p14="http://schemas.microsoft.com/office/powerpoint/2010/main" val="3664768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40976078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6" y="255973"/>
            <a:ext cx="7931257" cy="241824"/>
          </a:xfrm>
        </p:spPr>
        <p:txBody>
          <a:bodyPr vert="horz">
            <a:normAutofit fontScale="90000"/>
          </a:bodyPr>
          <a:lstStyle/>
          <a:p>
            <a:r>
              <a:rPr lang="en-US" b="1" spc="-30"/>
              <a:t>Stage 1 − Product selection</a:t>
            </a:r>
            <a:r>
              <a:rPr lang="en-US" spc="-30"/>
              <a:t>: Selecting eligible products for LDC requires assessment across three screening criteria</a:t>
            </a:r>
          </a:p>
        </p:txBody>
      </p:sp>
      <p:grpSp>
        <p:nvGrpSpPr>
          <p:cNvPr id="8" name="Group 7">
            <a:extLst>
              <a:ext uri="{FF2B5EF4-FFF2-40B4-BE49-F238E27FC236}">
                <a16:creationId xmlns:a16="http://schemas.microsoft.com/office/drawing/2014/main" id="{176B77CA-7320-4607-B391-8D6D3AD213D7}"/>
              </a:ext>
            </a:extLst>
          </p:cNvPr>
          <p:cNvGrpSpPr/>
          <p:nvPr/>
        </p:nvGrpSpPr>
        <p:grpSpPr>
          <a:xfrm>
            <a:off x="4983571" y="1143257"/>
            <a:ext cx="3833054" cy="3516052"/>
            <a:chOff x="4983571" y="902624"/>
            <a:chExt cx="3833054" cy="3516052"/>
          </a:xfrm>
        </p:grpSpPr>
        <p:sp>
          <p:nvSpPr>
            <p:cNvPr id="83" name="TextBox 82">
              <a:extLst>
                <a:ext uri="{FF2B5EF4-FFF2-40B4-BE49-F238E27FC236}">
                  <a16:creationId xmlns:a16="http://schemas.microsoft.com/office/drawing/2014/main" id="{AF19ABB8-F438-4A74-BDBF-D1A343B3B37B}"/>
                </a:ext>
              </a:extLst>
            </p:cNvPr>
            <p:cNvSpPr txBox="1"/>
            <p:nvPr/>
          </p:nvSpPr>
          <p:spPr>
            <a:xfrm>
              <a:off x="4983571" y="902624"/>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Criticality of the product for localization in terms of company spend size and the company-level procurement from foreign over local suppliers</a:t>
              </a:r>
            </a:p>
          </p:txBody>
        </p:sp>
        <p:cxnSp>
          <p:nvCxnSpPr>
            <p:cNvPr id="84" name="Straight Connector 83">
              <a:extLst>
                <a:ext uri="{FF2B5EF4-FFF2-40B4-BE49-F238E27FC236}">
                  <a16:creationId xmlns:a16="http://schemas.microsoft.com/office/drawing/2014/main" id="{C4448F27-5FEB-40B5-8E74-0C204B2E8F13}"/>
                </a:ext>
              </a:extLst>
            </p:cNvPr>
            <p:cNvCxnSpPr/>
            <p:nvPr/>
          </p:nvCxnSpPr>
          <p:spPr>
            <a:xfrm>
              <a:off x="4983571" y="1909615"/>
              <a:ext cx="3833054" cy="0"/>
            </a:xfrm>
            <a:prstGeom prst="line">
              <a:avLst/>
            </a:prstGeom>
            <a:noFill/>
            <a:ln w="19050" cap="rnd" cmpd="sng" algn="ctr">
              <a:solidFill>
                <a:schemeClr val="bg1">
                  <a:lumMod val="50000"/>
                </a:schemeClr>
              </a:solidFill>
              <a:prstDash val="sysDot"/>
            </a:ln>
            <a:effectLst/>
          </p:spPr>
        </p:cxnSp>
        <p:sp>
          <p:nvSpPr>
            <p:cNvPr id="85" name="TextBox 84">
              <a:extLst>
                <a:ext uri="{FF2B5EF4-FFF2-40B4-BE49-F238E27FC236}">
                  <a16:creationId xmlns:a16="http://schemas.microsoft.com/office/drawing/2014/main" id="{15B7EF42-ECDC-406C-97ED-C462968B4335}"/>
                </a:ext>
              </a:extLst>
            </p:cNvPr>
            <p:cNvSpPr txBox="1"/>
            <p:nvPr/>
          </p:nvSpPr>
          <p:spPr>
            <a:xfrm>
              <a:off x="4983572" y="2089973"/>
              <a:ext cx="3753162" cy="1141352"/>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Rapid qualitative evaluation if there are any technical localization roadblocks (e.g., availability of critical raw material, </a:t>
              </a:r>
              <a:r>
                <a:rPr lang="en-US" sz="1100" kern="0">
                  <a:solidFill>
                    <a:srgbClr val="000000"/>
                  </a:solidFill>
                  <a:latin typeface="Fund Light" pitchFamily="2" charset="-78"/>
                  <a:cs typeface="Fund Light" pitchFamily="2" charset="-78"/>
                  <a:sym typeface="Arial"/>
                </a:rPr>
                <a:t>access</a:t>
              </a:r>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 to specialized workforce)</a:t>
              </a:r>
              <a:endParaRPr kumimoji="0" lang="en-GB"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endParaRPr>
            </a:p>
          </p:txBody>
        </p:sp>
        <p:cxnSp>
          <p:nvCxnSpPr>
            <p:cNvPr id="86" name="Straight Connector 85">
              <a:extLst>
                <a:ext uri="{FF2B5EF4-FFF2-40B4-BE49-F238E27FC236}">
                  <a16:creationId xmlns:a16="http://schemas.microsoft.com/office/drawing/2014/main" id="{E175A90B-F3E4-438E-A8E6-78BE8D8EC967}"/>
                </a:ext>
              </a:extLst>
            </p:cNvPr>
            <p:cNvCxnSpPr/>
            <p:nvPr/>
          </p:nvCxnSpPr>
          <p:spPr>
            <a:xfrm>
              <a:off x="4983571" y="3411683"/>
              <a:ext cx="3833054" cy="0"/>
            </a:xfrm>
            <a:prstGeom prst="line">
              <a:avLst/>
            </a:prstGeom>
            <a:noFill/>
            <a:ln w="19050" cap="rnd" cmpd="sng" algn="ctr">
              <a:solidFill>
                <a:schemeClr val="bg1">
                  <a:lumMod val="50000"/>
                </a:schemeClr>
              </a:solidFill>
              <a:prstDash val="sysDot"/>
            </a:ln>
            <a:effectLst/>
          </p:spPr>
        </p:cxnSp>
        <p:sp>
          <p:nvSpPr>
            <p:cNvPr id="87" name="TextBox 86">
              <a:extLst>
                <a:ext uri="{FF2B5EF4-FFF2-40B4-BE49-F238E27FC236}">
                  <a16:creationId xmlns:a16="http://schemas.microsoft.com/office/drawing/2014/main" id="{8657F3AC-382E-46E8-BCFE-FE43A9DC5AA6}"/>
                </a:ext>
              </a:extLst>
            </p:cNvPr>
            <p:cNvSpPr txBox="1"/>
            <p:nvPr/>
          </p:nvSpPr>
          <p:spPr>
            <a:xfrm>
              <a:off x="4983571" y="3592043"/>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lang="en-GB" sz="1100" kern="0">
                  <a:solidFill>
                    <a:srgbClr val="000000"/>
                  </a:solidFill>
                  <a:latin typeface="Fund Light" pitchFamily="2" charset="-78"/>
                  <a:cs typeface="Fund Light" pitchFamily="2" charset="-78"/>
                  <a:sym typeface="Arial"/>
                </a:rPr>
                <a:t>High-level evaluation of the investor risk based </a:t>
              </a:r>
              <a:br>
                <a:rPr lang="en-GB" sz="1100" kern="0">
                  <a:solidFill>
                    <a:srgbClr val="000000"/>
                  </a:solidFill>
                  <a:latin typeface="Fund Light" pitchFamily="2" charset="-78"/>
                  <a:cs typeface="Fund Light" pitchFamily="2" charset="-78"/>
                  <a:sym typeface="Arial"/>
                </a:rPr>
              </a:br>
              <a:r>
                <a:rPr lang="en-GB" sz="1100" kern="0">
                  <a:solidFill>
                    <a:srgbClr val="000000"/>
                  </a:solidFill>
                  <a:latin typeface="Fund Light" pitchFamily="2" charset="-78"/>
                  <a:cs typeface="Fund Light" pitchFamily="2" charset="-78"/>
                  <a:sym typeface="Arial"/>
                </a:rPr>
                <a:t>on the KSA demand concentration and KSA supply concentration</a:t>
              </a:r>
              <a:endParaRPr kumimoji="0" lang="en-GB"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endParaRPr>
            </a:p>
          </p:txBody>
        </p:sp>
      </p:grpSp>
      <p:cxnSp>
        <p:nvCxnSpPr>
          <p:cNvPr id="71" name="Straight Connector 70">
            <a:extLst>
              <a:ext uri="{FF2B5EF4-FFF2-40B4-BE49-F238E27FC236}">
                <a16:creationId xmlns:a16="http://schemas.microsoft.com/office/drawing/2014/main" id="{ED825565-4166-41A4-BCB1-6198F8BB9EB4}"/>
              </a:ext>
            </a:extLst>
          </p:cNvPr>
          <p:cNvCxnSpPr>
            <a:cxnSpLocks/>
          </p:cNvCxnSpPr>
          <p:nvPr/>
        </p:nvCxnSpPr>
        <p:spPr>
          <a:xfrm>
            <a:off x="4066674" y="1634476"/>
            <a:ext cx="788966" cy="0"/>
          </a:xfrm>
          <a:prstGeom prst="line">
            <a:avLst/>
          </a:prstGeom>
          <a:noFill/>
          <a:ln w="19050" cap="rnd" cmpd="sng" algn="ctr">
            <a:solidFill>
              <a:schemeClr val="bg2"/>
            </a:solidFill>
            <a:prstDash val="sysDot"/>
            <a:tailEnd type="oval"/>
          </a:ln>
          <a:effectLst/>
        </p:spPr>
      </p:cxnSp>
      <p:cxnSp>
        <p:nvCxnSpPr>
          <p:cNvPr id="72" name="Straight Connector 71">
            <a:extLst>
              <a:ext uri="{FF2B5EF4-FFF2-40B4-BE49-F238E27FC236}">
                <a16:creationId xmlns:a16="http://schemas.microsoft.com/office/drawing/2014/main" id="{CAB9E218-D75F-46FB-9A6D-18766148D948}"/>
              </a:ext>
            </a:extLst>
          </p:cNvPr>
          <p:cNvCxnSpPr>
            <a:cxnSpLocks/>
          </p:cNvCxnSpPr>
          <p:nvPr/>
        </p:nvCxnSpPr>
        <p:spPr>
          <a:xfrm>
            <a:off x="3681663" y="2848815"/>
            <a:ext cx="1173979" cy="0"/>
          </a:xfrm>
          <a:prstGeom prst="line">
            <a:avLst/>
          </a:prstGeom>
          <a:noFill/>
          <a:ln w="19050" cap="rnd" cmpd="sng" algn="ctr">
            <a:solidFill>
              <a:schemeClr val="bg2"/>
            </a:solidFill>
            <a:prstDash val="sysDot"/>
            <a:tailEnd type="oval"/>
          </a:ln>
          <a:effectLst/>
        </p:spPr>
      </p:cxnSp>
      <p:cxnSp>
        <p:nvCxnSpPr>
          <p:cNvPr id="73" name="Straight Connector 72">
            <a:extLst>
              <a:ext uri="{FF2B5EF4-FFF2-40B4-BE49-F238E27FC236}">
                <a16:creationId xmlns:a16="http://schemas.microsoft.com/office/drawing/2014/main" id="{95F25E70-B9CB-402A-AA3F-DDA6B3D1F1D0}"/>
              </a:ext>
            </a:extLst>
          </p:cNvPr>
          <p:cNvCxnSpPr>
            <a:cxnSpLocks/>
          </p:cNvCxnSpPr>
          <p:nvPr/>
        </p:nvCxnSpPr>
        <p:spPr>
          <a:xfrm>
            <a:off x="3328737" y="4025565"/>
            <a:ext cx="1526904" cy="0"/>
          </a:xfrm>
          <a:prstGeom prst="line">
            <a:avLst/>
          </a:prstGeom>
          <a:noFill/>
          <a:ln w="19050" cap="rnd" cmpd="sng" algn="ctr">
            <a:solidFill>
              <a:schemeClr val="bg2"/>
            </a:solidFill>
            <a:prstDash val="sysDot"/>
            <a:tailEnd type="oval"/>
          </a:ln>
          <a:effectLst/>
        </p:spPr>
      </p:cxnSp>
      <p:grpSp>
        <p:nvGrpSpPr>
          <p:cNvPr id="13" name="Group 12">
            <a:extLst>
              <a:ext uri="{FF2B5EF4-FFF2-40B4-BE49-F238E27FC236}">
                <a16:creationId xmlns:a16="http://schemas.microsoft.com/office/drawing/2014/main" id="{E8A9CB09-35FE-46F7-B6D4-5D28E8631367}"/>
              </a:ext>
            </a:extLst>
          </p:cNvPr>
          <p:cNvGrpSpPr/>
          <p:nvPr/>
        </p:nvGrpSpPr>
        <p:grpSpPr>
          <a:xfrm>
            <a:off x="344486" y="1129633"/>
            <a:ext cx="3895227" cy="3543300"/>
            <a:chOff x="344486" y="889000"/>
            <a:chExt cx="3895227" cy="3543300"/>
          </a:xfrm>
        </p:grpSpPr>
        <p:grpSp>
          <p:nvGrpSpPr>
            <p:cNvPr id="10" name="Group 9">
              <a:extLst>
                <a:ext uri="{FF2B5EF4-FFF2-40B4-BE49-F238E27FC236}">
                  <a16:creationId xmlns:a16="http://schemas.microsoft.com/office/drawing/2014/main" id="{77D2B9DD-BA2A-4B89-8DCF-FF9A5D258F67}"/>
                </a:ext>
              </a:extLst>
            </p:cNvPr>
            <p:cNvGrpSpPr/>
            <p:nvPr/>
          </p:nvGrpSpPr>
          <p:grpSpPr>
            <a:xfrm>
              <a:off x="344486" y="889000"/>
              <a:ext cx="3895227" cy="947525"/>
              <a:chOff x="344486" y="889000"/>
              <a:chExt cx="3895227" cy="947525"/>
            </a:xfrm>
          </p:grpSpPr>
          <p:sp>
            <p:nvSpPr>
              <p:cNvPr id="69" name="Freeform: Shape 68">
                <a:extLst>
                  <a:ext uri="{FF2B5EF4-FFF2-40B4-BE49-F238E27FC236}">
                    <a16:creationId xmlns:a16="http://schemas.microsoft.com/office/drawing/2014/main" id="{34B9A733-56CD-4402-A38F-115929B72447}"/>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Should the product be localized? </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70" name="Oval 15">
                <a:extLst>
                  <a:ext uri="{FF2B5EF4-FFF2-40B4-BE49-F238E27FC236}">
                    <a16:creationId xmlns:a16="http://schemas.microsoft.com/office/drawing/2014/main" id="{3F14D9B5-4A45-464F-B96A-5F28CA44E0A0}"/>
                  </a:ext>
                </a:extLst>
              </p:cNvPr>
              <p:cNvSpPr>
                <a:spLocks noChangeArrowheads="1"/>
              </p:cNvSpPr>
              <p:nvPr/>
            </p:nvSpPr>
            <p:spPr bwMode="auto">
              <a:xfrm>
                <a:off x="413863" y="889000"/>
                <a:ext cx="3825850" cy="246165"/>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4" name="Oval 73">
                <a:extLst>
                  <a:ext uri="{FF2B5EF4-FFF2-40B4-BE49-F238E27FC236}">
                    <a16:creationId xmlns:a16="http://schemas.microsoft.com/office/drawing/2014/main" id="{431EFD5E-1D81-4483-AC78-C3A935DF0BEB}"/>
                  </a:ext>
                </a:extLst>
              </p:cNvPr>
              <p:cNvSpPr/>
              <p:nvPr/>
            </p:nvSpPr>
            <p:spPr>
              <a:xfrm>
                <a:off x="344486" y="126763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1</a:t>
                </a:r>
              </a:p>
            </p:txBody>
          </p:sp>
        </p:grpSp>
        <p:grpSp>
          <p:nvGrpSpPr>
            <p:cNvPr id="11" name="Group 10">
              <a:extLst>
                <a:ext uri="{FF2B5EF4-FFF2-40B4-BE49-F238E27FC236}">
                  <a16:creationId xmlns:a16="http://schemas.microsoft.com/office/drawing/2014/main" id="{92E37CEC-9489-42E3-8C24-C101D6E995C0}"/>
                </a:ext>
              </a:extLst>
            </p:cNvPr>
            <p:cNvGrpSpPr/>
            <p:nvPr/>
          </p:nvGrpSpPr>
          <p:grpSpPr>
            <a:xfrm>
              <a:off x="753383" y="2148747"/>
              <a:ext cx="3076208" cy="983417"/>
              <a:chOff x="753383" y="2169335"/>
              <a:chExt cx="3076208" cy="983417"/>
            </a:xfrm>
          </p:grpSpPr>
          <p:sp>
            <p:nvSpPr>
              <p:cNvPr id="64" name="Freeform: Shape 63">
                <a:extLst>
                  <a:ext uri="{FF2B5EF4-FFF2-40B4-BE49-F238E27FC236}">
                    <a16:creationId xmlns:a16="http://schemas.microsoft.com/office/drawing/2014/main" id="{593DBAD3-E655-487E-B6DD-D731F279A69C}"/>
                  </a:ext>
                </a:extLst>
              </p:cNvPr>
              <p:cNvSpPr/>
              <p:nvPr/>
            </p:nvSpPr>
            <p:spPr bwMode="auto">
              <a:xfrm>
                <a:off x="826430" y="2330372"/>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localization of the product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technically feasible?</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65" name="Oval 12">
                <a:extLst>
                  <a:ext uri="{FF2B5EF4-FFF2-40B4-BE49-F238E27FC236}">
                    <a16:creationId xmlns:a16="http://schemas.microsoft.com/office/drawing/2014/main" id="{E114306D-93D4-4693-A630-F111F28ADAEA}"/>
                  </a:ext>
                </a:extLst>
              </p:cNvPr>
              <p:cNvSpPr>
                <a:spLocks noChangeArrowheads="1"/>
              </p:cNvSpPr>
              <p:nvPr/>
            </p:nvSpPr>
            <p:spPr bwMode="auto">
              <a:xfrm>
                <a:off x="826430" y="2205228"/>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5" name="Oval 74">
                <a:extLst>
                  <a:ext uri="{FF2B5EF4-FFF2-40B4-BE49-F238E27FC236}">
                    <a16:creationId xmlns:a16="http://schemas.microsoft.com/office/drawing/2014/main" id="{22BBBD60-F60F-4097-B07F-D33E05B8CC21}"/>
                  </a:ext>
                </a:extLst>
              </p:cNvPr>
              <p:cNvSpPr/>
              <p:nvPr/>
            </p:nvSpPr>
            <p:spPr>
              <a:xfrm>
                <a:off x="753383" y="258592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2</a:t>
                </a:r>
              </a:p>
            </p:txBody>
          </p:sp>
          <p:sp>
            <p:nvSpPr>
              <p:cNvPr id="88" name="Oval 19" descr="Outlined diamond">
                <a:extLst>
                  <a:ext uri="{FF2B5EF4-FFF2-40B4-BE49-F238E27FC236}">
                    <a16:creationId xmlns:a16="http://schemas.microsoft.com/office/drawing/2014/main" id="{6FB5DD80-F8BE-4C63-9786-715DA9F4A45F}"/>
                  </a:ext>
                </a:extLst>
              </p:cNvPr>
              <p:cNvSpPr>
                <a:spLocks noChangeArrowheads="1"/>
              </p:cNvSpPr>
              <p:nvPr>
                <p:custDataLst>
                  <p:tags r:id="rId3"/>
                </p:custDataLst>
              </p:nvPr>
            </p:nvSpPr>
            <p:spPr bwMode="gray">
              <a:xfrm rot="5400000">
                <a:off x="2189656" y="806108"/>
                <a:ext cx="276708" cy="3003162"/>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sp>
          <p:nvSpPr>
            <p:cNvPr id="89" name="Arrow: Down 88">
              <a:extLst>
                <a:ext uri="{FF2B5EF4-FFF2-40B4-BE49-F238E27FC236}">
                  <a16:creationId xmlns:a16="http://schemas.microsoft.com/office/drawing/2014/main" id="{383C165D-16B6-4CF0-B955-41064D7CDC70}"/>
                </a:ext>
              </a:extLst>
            </p:cNvPr>
            <p:cNvSpPr/>
            <p:nvPr/>
          </p:nvSpPr>
          <p:spPr>
            <a:xfrm>
              <a:off x="2135011" y="1873817"/>
              <a:ext cx="383555" cy="237638"/>
            </a:xfrm>
            <a:prstGeom prst="downArrow">
              <a:avLst>
                <a:gd name="adj1" fmla="val 47705"/>
                <a:gd name="adj2" fmla="val 378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grpSp>
          <p:nvGrpSpPr>
            <p:cNvPr id="12" name="Group 11">
              <a:extLst>
                <a:ext uri="{FF2B5EF4-FFF2-40B4-BE49-F238E27FC236}">
                  <a16:creationId xmlns:a16="http://schemas.microsoft.com/office/drawing/2014/main" id="{BF74A792-81A0-4216-98BB-68CD1DB03CF1}"/>
                </a:ext>
              </a:extLst>
            </p:cNvPr>
            <p:cNvGrpSpPr/>
            <p:nvPr/>
          </p:nvGrpSpPr>
          <p:grpSpPr>
            <a:xfrm>
              <a:off x="1148520" y="3444385"/>
              <a:ext cx="2264691" cy="987915"/>
              <a:chOff x="1148520" y="3444385"/>
              <a:chExt cx="2264691" cy="987915"/>
            </a:xfrm>
          </p:grpSpPr>
          <p:sp>
            <p:nvSpPr>
              <p:cNvPr id="56" name="Freeform: Shape 55">
                <a:extLst>
                  <a:ext uri="{FF2B5EF4-FFF2-40B4-BE49-F238E27FC236}">
                    <a16:creationId xmlns:a16="http://schemas.microsoft.com/office/drawing/2014/main" id="{2C5D3C26-7A18-4F54-AC55-A12478520416}"/>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demand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commitment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required?</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63" name="Oval 9">
                <a:extLst>
                  <a:ext uri="{FF2B5EF4-FFF2-40B4-BE49-F238E27FC236}">
                    <a16:creationId xmlns:a16="http://schemas.microsoft.com/office/drawing/2014/main" id="{A2388D11-C0E0-4BE0-8BD2-0707C067A0D5}"/>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82" name="Oval 81">
                <a:extLst>
                  <a:ext uri="{FF2B5EF4-FFF2-40B4-BE49-F238E27FC236}">
                    <a16:creationId xmlns:a16="http://schemas.microsoft.com/office/drawing/2014/main" id="{9A1A3752-78E5-42B2-BEA5-5F41ADB5E1B1}"/>
                  </a:ext>
                </a:extLst>
              </p:cNvPr>
              <p:cNvSpPr/>
              <p:nvPr/>
            </p:nvSpPr>
            <p:spPr>
              <a:xfrm>
                <a:off x="1148520" y="3863409"/>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3</a:t>
                </a:r>
              </a:p>
            </p:txBody>
          </p:sp>
          <p:sp>
            <p:nvSpPr>
              <p:cNvPr id="90" name="Oval 19" descr="Outlined diamond">
                <a:extLst>
                  <a:ext uri="{FF2B5EF4-FFF2-40B4-BE49-F238E27FC236}">
                    <a16:creationId xmlns:a16="http://schemas.microsoft.com/office/drawing/2014/main" id="{45630DBB-6667-4CDA-8BD3-D90DC3969B08}"/>
                  </a:ext>
                </a:extLst>
              </p:cNvPr>
              <p:cNvSpPr>
                <a:spLocks noChangeArrowheads="1"/>
              </p:cNvSpPr>
              <p:nvPr>
                <p:custDataLst>
                  <p:tags r:id="rId2"/>
                </p:custDataLst>
              </p:nvPr>
            </p:nvSpPr>
            <p:spPr bwMode="gray">
              <a:xfrm rot="5400000">
                <a:off x="2188435" y="2496318"/>
                <a:ext cx="276708" cy="2172841"/>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sp>
          <p:nvSpPr>
            <p:cNvPr id="91" name="Arrow: Down 90">
              <a:extLst>
                <a:ext uri="{FF2B5EF4-FFF2-40B4-BE49-F238E27FC236}">
                  <a16:creationId xmlns:a16="http://schemas.microsoft.com/office/drawing/2014/main" id="{F9BD6716-4EAE-459E-8FBE-A0B893A7D77E}"/>
                </a:ext>
              </a:extLst>
            </p:cNvPr>
            <p:cNvSpPr/>
            <p:nvPr/>
          </p:nvSpPr>
          <p:spPr>
            <a:xfrm>
              <a:off x="2135013" y="3174603"/>
              <a:ext cx="383555" cy="237638"/>
            </a:xfrm>
            <a:prstGeom prst="downArrow">
              <a:avLst>
                <a:gd name="adj1" fmla="val 47705"/>
                <a:gd name="adj2" fmla="val 378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92" name="Rectangle 91">
              <a:extLst>
                <a:ext uri="{FF2B5EF4-FFF2-40B4-BE49-F238E27FC236}">
                  <a16:creationId xmlns:a16="http://schemas.microsoft.com/office/drawing/2014/main" id="{0BE20D98-F2F8-4941-92B7-1A9F64BE66AB}"/>
                </a:ext>
              </a:extLst>
            </p:cNvPr>
            <p:cNvSpPr/>
            <p:nvPr/>
          </p:nvSpPr>
          <p:spPr>
            <a:xfrm>
              <a:off x="2529940" y="1878964"/>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chemeClr val="tx1"/>
                  </a:solidFill>
                  <a:latin typeface="Fund Light" pitchFamily="2" charset="-78"/>
                  <a:cs typeface="Fund Light" pitchFamily="2" charset="-78"/>
                </a:rPr>
                <a:t>Yes</a:t>
              </a:r>
            </a:p>
          </p:txBody>
        </p:sp>
        <p:sp>
          <p:nvSpPr>
            <p:cNvPr id="93" name="Rectangle 92">
              <a:extLst>
                <a:ext uri="{FF2B5EF4-FFF2-40B4-BE49-F238E27FC236}">
                  <a16:creationId xmlns:a16="http://schemas.microsoft.com/office/drawing/2014/main" id="{1579E948-70AB-4309-A9AB-0E52E829304F}"/>
                </a:ext>
              </a:extLst>
            </p:cNvPr>
            <p:cNvSpPr/>
            <p:nvPr/>
          </p:nvSpPr>
          <p:spPr>
            <a:xfrm>
              <a:off x="2529940" y="3174603"/>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chemeClr val="tx1"/>
                  </a:solidFill>
                  <a:latin typeface="Fund Light" pitchFamily="2" charset="-78"/>
                  <a:cs typeface="Fund Light" pitchFamily="2" charset="-78"/>
                </a:rPr>
                <a:t>Yes</a:t>
              </a:r>
            </a:p>
          </p:txBody>
        </p:sp>
      </p:grpSp>
      <p:sp>
        <p:nvSpPr>
          <p:cNvPr id="2" name="TextBox 1">
            <a:extLst>
              <a:ext uri="{FF2B5EF4-FFF2-40B4-BE49-F238E27FC236}">
                <a16:creationId xmlns:a16="http://schemas.microsoft.com/office/drawing/2014/main" id="{9E6D507D-40E4-6100-5B9F-186956094B87}"/>
              </a:ext>
            </a:extLst>
          </p:cNvPr>
          <p:cNvSpPr txBox="1"/>
          <p:nvPr/>
        </p:nvSpPr>
        <p:spPr>
          <a:xfrm>
            <a:off x="407267" y="604558"/>
            <a:ext cx="8409358" cy="355774"/>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To select a product, three questions need to be answered successively, with each question acting as a screening criterion</a:t>
            </a:r>
          </a:p>
        </p:txBody>
      </p:sp>
      <p:grpSp>
        <p:nvGrpSpPr>
          <p:cNvPr id="18" name="Group 17">
            <a:extLst>
              <a:ext uri="{FF2B5EF4-FFF2-40B4-BE49-F238E27FC236}">
                <a16:creationId xmlns:a16="http://schemas.microsoft.com/office/drawing/2014/main" id="{4ED96CF4-65D5-6F0C-EE32-E765E35739D1}"/>
              </a:ext>
            </a:extLst>
          </p:cNvPr>
          <p:cNvGrpSpPr/>
          <p:nvPr/>
        </p:nvGrpSpPr>
        <p:grpSpPr>
          <a:xfrm>
            <a:off x="1349993" y="34194"/>
            <a:ext cx="5484392" cy="219841"/>
            <a:chOff x="1349993" y="34194"/>
            <a:chExt cx="5484392" cy="219841"/>
          </a:xfrm>
        </p:grpSpPr>
        <p:sp>
          <p:nvSpPr>
            <p:cNvPr id="6" name="TextBox 5">
              <a:extLst>
                <a:ext uri="{FF2B5EF4-FFF2-40B4-BE49-F238E27FC236}">
                  <a16:creationId xmlns:a16="http://schemas.microsoft.com/office/drawing/2014/main" id="{C4CC6113-517A-67F6-AFD1-9AD73CAF6476}"/>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7" name="TextBox 6">
              <a:extLst>
                <a:ext uri="{FF2B5EF4-FFF2-40B4-BE49-F238E27FC236}">
                  <a16:creationId xmlns:a16="http://schemas.microsoft.com/office/drawing/2014/main" id="{FC0A44F4-0911-DB82-AE6D-EF30A5329289}"/>
                </a:ext>
              </a:extLst>
            </p:cNvPr>
            <p:cNvSpPr txBox="1"/>
            <p:nvPr/>
          </p:nvSpPr>
          <p:spPr>
            <a:xfrm>
              <a:off x="1349993" y="34194"/>
              <a:ext cx="1122747" cy="219841"/>
            </a:xfrm>
            <a:prstGeom prst="homePlate">
              <a:avLst>
                <a:gd name="adj" fmla="val 25366"/>
              </a:avLst>
            </a:prstGeom>
            <a:solidFill>
              <a:schemeClr val="bg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chemeClr val="bg1"/>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chemeClr val="bg1"/>
                </a:solidFill>
                <a:effectLst/>
                <a:uLnTx/>
                <a:uFillTx/>
                <a:latin typeface="Fund Light" pitchFamily="2" charset="-78"/>
                <a:cs typeface="Fund Light" pitchFamily="2" charset="-78"/>
              </a:endParaRPr>
            </a:p>
          </p:txBody>
        </p:sp>
        <p:sp>
          <p:nvSpPr>
            <p:cNvPr id="9" name="TextBox 8">
              <a:extLst>
                <a:ext uri="{FF2B5EF4-FFF2-40B4-BE49-F238E27FC236}">
                  <a16:creationId xmlns:a16="http://schemas.microsoft.com/office/drawing/2014/main" id="{CBDADF10-8D5E-E5FD-05D1-4F811083A374}"/>
                </a:ext>
              </a:extLst>
            </p:cNvPr>
            <p:cNvSpPr txBox="1"/>
            <p:nvPr/>
          </p:nvSpPr>
          <p:spPr>
            <a:xfrm>
              <a:off x="244065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2. Feasibility and terms assessment</a:t>
              </a:r>
            </a:p>
          </p:txBody>
        </p:sp>
        <p:sp>
          <p:nvSpPr>
            <p:cNvPr id="14" name="TextBox 13">
              <a:extLst>
                <a:ext uri="{FF2B5EF4-FFF2-40B4-BE49-F238E27FC236}">
                  <a16:creationId xmlns:a16="http://schemas.microsoft.com/office/drawing/2014/main" id="{A71D48EF-021C-6722-AAE7-8924F281C49E}"/>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15" name="TextBox 14">
              <a:extLst>
                <a:ext uri="{FF2B5EF4-FFF2-40B4-BE49-F238E27FC236}">
                  <a16:creationId xmlns:a16="http://schemas.microsoft.com/office/drawing/2014/main" id="{26931E7E-3EDA-5591-6384-468C6DEB81D7}"/>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Tree>
    <p:extLst>
      <p:ext uri="{BB962C8B-B14F-4D97-AF65-F5344CB8AC3E}">
        <p14:creationId xmlns:p14="http://schemas.microsoft.com/office/powerpoint/2010/main" val="2323857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115667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152322" cy="241824"/>
          </a:xfrm>
        </p:spPr>
        <p:txBody>
          <a:bodyPr vert="horz"/>
          <a:lstStyle/>
          <a:p>
            <a:r>
              <a:rPr lang="en-US"/>
              <a:t>LDC feasibility provides an in-depth assessment of the opportunity by answering four questions </a:t>
            </a:r>
          </a:p>
        </p:txBody>
      </p:sp>
      <p:sp>
        <p:nvSpPr>
          <p:cNvPr id="39" name="TextBox 38">
            <a:extLst>
              <a:ext uri="{FF2B5EF4-FFF2-40B4-BE49-F238E27FC236}">
                <a16:creationId xmlns:a16="http://schemas.microsoft.com/office/drawing/2014/main" id="{3895A889-C831-4A80-B7E2-2D79EC7354A0}"/>
              </a:ext>
            </a:extLst>
          </p:cNvPr>
          <p:cNvSpPr txBox="1">
            <a:spLocks/>
          </p:cNvSpPr>
          <p:nvPr/>
        </p:nvSpPr>
        <p:spPr>
          <a:xfrm>
            <a:off x="4831240" y="771525"/>
            <a:ext cx="3985386" cy="3744913"/>
          </a:xfrm>
          <a:prstGeom prst="rect">
            <a:avLst/>
          </a:prstGeom>
          <a:no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ct val="50000"/>
              </a:spcBef>
              <a:spcAft>
                <a:spcPts val="0"/>
              </a:spcAft>
              <a:buClrTx/>
              <a:buSzTx/>
              <a:buFontTx/>
              <a:buNone/>
              <a:tabLst/>
              <a:defRPr/>
            </a:pPr>
            <a:r>
              <a:rPr kumimoji="0" lang="en-US" sz="11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Questions covered under the LDC feasibility assessment </a:t>
            </a:r>
            <a:endParaRPr kumimoji="0" lang="en-GB" sz="11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a:p>
            <a:pPr marL="0" marR="0" lvl="0" indent="0" algn="l" defTabSz="1219170" rtl="0" eaLnBrk="1" fontAlgn="auto" latinLnBrk="0" hangingPunct="1">
              <a:lnSpc>
                <a:spcPct val="100000"/>
              </a:lnSpc>
              <a:spcBef>
                <a:spcPts val="400"/>
              </a:spcBef>
              <a:spcAft>
                <a:spcPts val="400"/>
              </a:spcAft>
              <a:buClrTx/>
              <a:buSzTx/>
              <a:buFontTx/>
              <a:buNone/>
              <a:tabLst/>
              <a:defRPr/>
            </a:pPr>
            <a:endParaRPr kumimoji="0" lang="en-GB" sz="1100" b="1" i="0" u="none" strike="noStrike" kern="1200" cap="none" spc="0" normalizeH="0" baseline="0" noProof="0">
              <a:ln>
                <a:noFill/>
              </a:ln>
              <a:solidFill>
                <a:srgbClr val="005C4D"/>
              </a:solidFill>
              <a:effectLst/>
              <a:uLnTx/>
              <a:uFillTx/>
              <a:latin typeface="Fund Light" pitchFamily="2" charset="-78"/>
              <a:ea typeface="+mn-ea"/>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5260562" y="1292320"/>
            <a:ext cx="3556064" cy="3224118"/>
          </a:xfrm>
          <a:prstGeom prst="rect">
            <a:avLst/>
          </a:prstGeom>
          <a:noFill/>
          <a:ln w="6350">
            <a:noFill/>
            <a:miter lim="800000"/>
          </a:ln>
        </p:spPr>
        <p:txBody>
          <a:bodyPr wrap="square" lIns="91440" tIns="91440" rIns="91440" bIns="9144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What is the </a:t>
            </a:r>
            <a:r>
              <a:rPr kumimoji="0" lang="en-US" sz="11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localization opportunity </a:t>
            </a: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and its expected impact?</a:t>
            </a:r>
          </a:p>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Is the </a:t>
            </a:r>
            <a:r>
              <a:rPr kumimoji="0" lang="en-US" sz="11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addressable demand sufficient </a:t>
            </a: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for localization? </a:t>
            </a:r>
          </a:p>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Is a </a:t>
            </a:r>
            <a:r>
              <a:rPr kumimoji="0" lang="en-US" sz="11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preferred supplier agreement </a:t>
            </a: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sufficient or is a take-or-pay required?</a:t>
            </a:r>
          </a:p>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Are the </a:t>
            </a:r>
            <a:r>
              <a:rPr kumimoji="0" lang="en-US" sz="11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associated risks </a:t>
            </a: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manageable?</a:t>
            </a:r>
          </a:p>
        </p:txBody>
      </p:sp>
      <p:sp>
        <p:nvSpPr>
          <p:cNvPr id="41" name="Oval 40">
            <a:extLst>
              <a:ext uri="{FF2B5EF4-FFF2-40B4-BE49-F238E27FC236}">
                <a16:creationId xmlns:a16="http://schemas.microsoft.com/office/drawing/2014/main" id="{C0722AEB-78F6-4253-9E2C-EED187ED408F}"/>
              </a:ext>
            </a:extLst>
          </p:cNvPr>
          <p:cNvSpPr/>
          <p:nvPr/>
        </p:nvSpPr>
        <p:spPr>
          <a:xfrm>
            <a:off x="4965763" y="1411740"/>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1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a:t>
            </a:r>
          </a:p>
        </p:txBody>
      </p:sp>
      <p:sp>
        <p:nvSpPr>
          <p:cNvPr id="7" name="Oval 6">
            <a:extLst>
              <a:ext uri="{FF2B5EF4-FFF2-40B4-BE49-F238E27FC236}">
                <a16:creationId xmlns:a16="http://schemas.microsoft.com/office/drawing/2014/main" id="{3EB334F8-F229-4DBC-8944-1F59DB4F3529}"/>
              </a:ext>
            </a:extLst>
          </p:cNvPr>
          <p:cNvSpPr/>
          <p:nvPr/>
        </p:nvSpPr>
        <p:spPr>
          <a:xfrm>
            <a:off x="4965763" y="1927136"/>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1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a:t>
            </a:r>
          </a:p>
        </p:txBody>
      </p:sp>
      <p:sp>
        <p:nvSpPr>
          <p:cNvPr id="8" name="Oval 7">
            <a:extLst>
              <a:ext uri="{FF2B5EF4-FFF2-40B4-BE49-F238E27FC236}">
                <a16:creationId xmlns:a16="http://schemas.microsoft.com/office/drawing/2014/main" id="{000719F4-36C7-E2BE-5FDE-1A6DC030946E}"/>
              </a:ext>
            </a:extLst>
          </p:cNvPr>
          <p:cNvSpPr/>
          <p:nvPr/>
        </p:nvSpPr>
        <p:spPr>
          <a:xfrm>
            <a:off x="4965763" y="2425599"/>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1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3</a:t>
            </a:r>
          </a:p>
        </p:txBody>
      </p:sp>
      <p:sp>
        <p:nvSpPr>
          <p:cNvPr id="9" name="Oval 8">
            <a:extLst>
              <a:ext uri="{FF2B5EF4-FFF2-40B4-BE49-F238E27FC236}">
                <a16:creationId xmlns:a16="http://schemas.microsoft.com/office/drawing/2014/main" id="{9E46D201-6EF1-C5A6-6363-813F2254F603}"/>
              </a:ext>
            </a:extLst>
          </p:cNvPr>
          <p:cNvSpPr/>
          <p:nvPr/>
        </p:nvSpPr>
        <p:spPr>
          <a:xfrm>
            <a:off x="4965763" y="2885966"/>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1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4</a:t>
            </a:r>
          </a:p>
        </p:txBody>
      </p:sp>
      <p:grpSp>
        <p:nvGrpSpPr>
          <p:cNvPr id="35" name="Group 34">
            <a:extLst>
              <a:ext uri="{FF2B5EF4-FFF2-40B4-BE49-F238E27FC236}">
                <a16:creationId xmlns:a16="http://schemas.microsoft.com/office/drawing/2014/main" id="{E505764B-C729-8733-4202-0BBB5C6DCACC}"/>
              </a:ext>
            </a:extLst>
          </p:cNvPr>
          <p:cNvGrpSpPr/>
          <p:nvPr/>
        </p:nvGrpSpPr>
        <p:grpSpPr>
          <a:xfrm>
            <a:off x="1349993" y="34194"/>
            <a:ext cx="5484392" cy="219841"/>
            <a:chOff x="1349993" y="34194"/>
            <a:chExt cx="5484392" cy="219841"/>
          </a:xfrm>
        </p:grpSpPr>
        <p:sp>
          <p:nvSpPr>
            <p:cNvPr id="30" name="TextBox 29">
              <a:extLst>
                <a:ext uri="{FF2B5EF4-FFF2-40B4-BE49-F238E27FC236}">
                  <a16:creationId xmlns:a16="http://schemas.microsoft.com/office/drawing/2014/main" id="{BB3E6A3B-CC19-9A8A-2AFB-98DAEA532AD2}"/>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31" name="TextBox 30">
              <a:extLst>
                <a:ext uri="{FF2B5EF4-FFF2-40B4-BE49-F238E27FC236}">
                  <a16:creationId xmlns:a16="http://schemas.microsoft.com/office/drawing/2014/main" id="{A82F5874-C952-BB1C-5E54-29CB5DF5BE51}"/>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32" name="TextBox 31">
              <a:extLst>
                <a:ext uri="{FF2B5EF4-FFF2-40B4-BE49-F238E27FC236}">
                  <a16:creationId xmlns:a16="http://schemas.microsoft.com/office/drawing/2014/main" id="{7D603984-A771-EA6D-704A-13C0E320E48A}"/>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33" name="TextBox 32">
              <a:extLst>
                <a:ext uri="{FF2B5EF4-FFF2-40B4-BE49-F238E27FC236}">
                  <a16:creationId xmlns:a16="http://schemas.microsoft.com/office/drawing/2014/main" id="{6082AAF1-0EAD-124B-4905-94E178CEAEDF}"/>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34" name="TextBox 33">
              <a:extLst>
                <a:ext uri="{FF2B5EF4-FFF2-40B4-BE49-F238E27FC236}">
                  <a16:creationId xmlns:a16="http://schemas.microsoft.com/office/drawing/2014/main" id="{017CF598-F3FE-9B74-9145-F5160C1183A7}"/>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43" name="TextBox 42">
            <a:extLst>
              <a:ext uri="{FF2B5EF4-FFF2-40B4-BE49-F238E27FC236}">
                <a16:creationId xmlns:a16="http://schemas.microsoft.com/office/drawing/2014/main" id="{9165E889-365A-6F01-9BC0-7FD1FB5E74E1}"/>
              </a:ext>
            </a:extLst>
          </p:cNvPr>
          <p:cNvSpPr txBox="1">
            <a:spLocks/>
          </p:cNvSpPr>
          <p:nvPr/>
        </p:nvSpPr>
        <p:spPr>
          <a:xfrm>
            <a:off x="327025" y="771525"/>
            <a:ext cx="4346576"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GB" sz="11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Objective</a:t>
            </a:r>
          </a:p>
          <a:p>
            <a:pPr marL="231642" marR="0" lvl="0" indent="-231642" algn="l" defTabSz="121917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Evaluate whether demand is sufficient to localize the opportunity, based on:</a:t>
            </a:r>
          </a:p>
          <a:p>
            <a:pPr marL="514350" marR="0" lvl="1" indent="-28575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KSA demand / supply gap</a:t>
            </a:r>
          </a:p>
          <a:p>
            <a:pPr marL="457200"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Regional export potential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2"/>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Develop detailed business case to:</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Select optimal type of LDC agreement (PSA or take-or-pay agreement) based on the financial risk of the investor </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Assess the potential liability risks based on required LDC demand commitments and durations</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Estimate of company-level LC impact as a result of the product localization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3"/>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Ultimately, the LDC feasibility assessment aims to develop a thorough understanding of the opportunity and acts as the basis to obtain approval to commence the LDC journey </a:t>
            </a:r>
          </a:p>
        </p:txBody>
      </p:sp>
    </p:spTree>
    <p:extLst>
      <p:ext uri="{BB962C8B-B14F-4D97-AF65-F5344CB8AC3E}">
        <p14:creationId xmlns:p14="http://schemas.microsoft.com/office/powerpoint/2010/main" val="260170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53" imgH="357" progId="TCLayout.ActiveDocument.1">
                  <p:embed/>
                </p:oleObj>
              </mc:Choice>
              <mc:Fallback>
                <p:oleObj name="think-cell Slide" r:id="rId27"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6267281" cy="241824"/>
          </a:xfrm>
        </p:spPr>
        <p:txBody>
          <a:bodyPr vert="horz"/>
          <a:lstStyle/>
          <a:p>
            <a:r>
              <a:rPr lang="en-US"/>
              <a:t>LDC localization opportunities should be articulated across the following parameters</a:t>
            </a:r>
          </a:p>
        </p:txBody>
      </p:sp>
      <p:grpSp>
        <p:nvGrpSpPr>
          <p:cNvPr id="17" name="Group 16">
            <a:extLst>
              <a:ext uri="{FF2B5EF4-FFF2-40B4-BE49-F238E27FC236}">
                <a16:creationId xmlns:a16="http://schemas.microsoft.com/office/drawing/2014/main" id="{F1138786-16C5-49D5-A74D-B02874ADF11B}"/>
              </a:ext>
            </a:extLst>
          </p:cNvPr>
          <p:cNvGrpSpPr/>
          <p:nvPr>
            <p:custDataLst>
              <p:tags r:id="rId2"/>
            </p:custDataLst>
          </p:nvPr>
        </p:nvGrpSpPr>
        <p:grpSpPr>
          <a:xfrm>
            <a:off x="5635163" y="930948"/>
            <a:ext cx="2275130" cy="307304"/>
            <a:chOff x="6513511" y="1230984"/>
            <a:chExt cx="2177639" cy="307304"/>
          </a:xfrm>
        </p:grpSpPr>
        <p:cxnSp>
          <p:nvCxnSpPr>
            <p:cNvPr id="56" name="Straight Connector 55">
              <a:extLst>
                <a:ext uri="{FF2B5EF4-FFF2-40B4-BE49-F238E27FC236}">
                  <a16:creationId xmlns:a16="http://schemas.microsoft.com/office/drawing/2014/main" id="{37E68678-BFBE-4B2C-B243-17E59BA65130}"/>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2D29922E-6011-4D5B-BAC8-AE5F64698E29}"/>
                </a:ext>
              </a:extLst>
            </p:cNvPr>
            <p:cNvSpPr txBox="1"/>
            <p:nvPr/>
          </p:nvSpPr>
          <p:spPr>
            <a:xfrm>
              <a:off x="6513511" y="1230984"/>
              <a:ext cx="2177638" cy="300550"/>
            </a:xfrm>
            <a:prstGeom prst="rect">
              <a:avLst/>
            </a:prstGeom>
            <a:noFill/>
          </p:spPr>
          <p:txBody>
            <a:bodyPr wrap="square" rtlCol="0" anchor="b">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Expected LC impact </a:t>
              </a:r>
              <a:endParaRPr kumimoji="0" lang="en-US" sz="900" b="1" i="0" u="none" strike="noStrike" kern="1200" cap="none" spc="0" normalizeH="0" baseline="30000" noProof="0">
                <a:ln>
                  <a:noFill/>
                </a:ln>
                <a:solidFill>
                  <a:srgbClr val="C3984D"/>
                </a:solidFill>
                <a:effectLst/>
                <a:uLnTx/>
                <a:uFillTx/>
                <a:latin typeface="Fund Light" pitchFamily="2" charset="-78"/>
                <a:ea typeface="+mn-ea"/>
                <a:cs typeface="Fund Light" pitchFamily="2" charset="-78"/>
              </a:endParaRPr>
            </a:p>
          </p:txBody>
        </p:sp>
      </p:grpSp>
      <p:grpSp>
        <p:nvGrpSpPr>
          <p:cNvPr id="18" name="Group 17">
            <a:extLst>
              <a:ext uri="{FF2B5EF4-FFF2-40B4-BE49-F238E27FC236}">
                <a16:creationId xmlns:a16="http://schemas.microsoft.com/office/drawing/2014/main" id="{858BFBD5-3EF8-46F8-B6EE-C4F6F5040C5C}"/>
              </a:ext>
            </a:extLst>
          </p:cNvPr>
          <p:cNvGrpSpPr/>
          <p:nvPr>
            <p:custDataLst>
              <p:tags r:id="rId3"/>
            </p:custDataLst>
          </p:nvPr>
        </p:nvGrpSpPr>
        <p:grpSpPr>
          <a:xfrm>
            <a:off x="323852" y="1000665"/>
            <a:ext cx="2831791" cy="237587"/>
            <a:chOff x="6513512" y="1300701"/>
            <a:chExt cx="2177638" cy="237587"/>
          </a:xfrm>
        </p:grpSpPr>
        <p:cxnSp>
          <p:nvCxnSpPr>
            <p:cNvPr id="54" name="Straight Connector 53">
              <a:extLst>
                <a:ext uri="{FF2B5EF4-FFF2-40B4-BE49-F238E27FC236}">
                  <a16:creationId xmlns:a16="http://schemas.microsoft.com/office/drawing/2014/main" id="{8283EBFD-DC3C-47FB-A25F-7D125259D48B}"/>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ECFE01B-16B9-4643-8D2C-FCA63AA6F505}"/>
                </a:ext>
              </a:extLst>
            </p:cNvPr>
            <p:cNvSpPr txBox="1"/>
            <p:nvPr/>
          </p:nvSpPr>
          <p:spPr>
            <a:xfrm>
              <a:off x="6513512" y="1300701"/>
              <a:ext cx="2177638" cy="230832"/>
            </a:xfrm>
            <a:prstGeom prst="rect">
              <a:avLst/>
            </a:prstGeom>
            <a:noFill/>
          </p:spPr>
          <p:txBody>
            <a:bodyPr wrap="square" rtlCol="0" anchor="b">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What is the opportunity?</a:t>
              </a:r>
              <a:endPar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cxnSp>
        <p:nvCxnSpPr>
          <p:cNvPr id="20" name="Straight Connector 19">
            <a:extLst>
              <a:ext uri="{FF2B5EF4-FFF2-40B4-BE49-F238E27FC236}">
                <a16:creationId xmlns:a16="http://schemas.microsoft.com/office/drawing/2014/main" id="{3B5141A9-268C-4FB5-A390-EB80A71D943A}"/>
              </a:ext>
            </a:extLst>
          </p:cNvPr>
          <p:cNvCxnSpPr>
            <a:cxnSpLocks/>
          </p:cNvCxnSpPr>
          <p:nvPr>
            <p:custDataLst>
              <p:tags r:id="rId4"/>
            </p:custDataLst>
          </p:nvPr>
        </p:nvCxnSpPr>
        <p:spPr>
          <a:xfrm flipV="1">
            <a:off x="5450116" y="1009650"/>
            <a:ext cx="0" cy="3470275"/>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FBD6DE5-2D31-4A9A-BF66-644B94CE13FB}"/>
              </a:ext>
            </a:extLst>
          </p:cNvPr>
          <p:cNvSpPr/>
          <p:nvPr>
            <p:custDataLst>
              <p:tags r:id="rId5"/>
            </p:custDataLst>
          </p:nvPr>
        </p:nvSpPr>
        <p:spPr>
          <a:xfrm>
            <a:off x="332478" y="1303338"/>
            <a:ext cx="873245" cy="96520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1" i="0" u="none" strike="noStrike" kern="1200" cap="none" spc="-20" normalizeH="0" baseline="0" noProof="0">
                <a:ln>
                  <a:noFill/>
                </a:ln>
                <a:solidFill>
                  <a:srgbClr val="C3984D"/>
                </a:solidFill>
                <a:effectLst/>
                <a:uLnTx/>
                <a:uFillTx/>
                <a:latin typeface="Fund Light" pitchFamily="2" charset="-78"/>
                <a:ea typeface="+mn-ea"/>
                <a:cs typeface="Fund Light" pitchFamily="2" charset="-78"/>
              </a:rPr>
              <a:t>Product </a:t>
            </a:r>
            <a:br>
              <a:rPr kumimoji="0" lang="en-US" sz="900" b="1" i="0" u="none" strike="noStrike" kern="1200" cap="none" spc="-2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20" normalizeH="0" baseline="0" noProof="0">
                <a:ln>
                  <a:noFill/>
                </a:ln>
                <a:solidFill>
                  <a:srgbClr val="C3984D"/>
                </a:solidFill>
                <a:effectLst/>
                <a:uLnTx/>
                <a:uFillTx/>
                <a:latin typeface="Fund Light" pitchFamily="2" charset="-78"/>
                <a:ea typeface="+mn-ea"/>
                <a:cs typeface="Fund Light" pitchFamily="2" charset="-78"/>
              </a:rPr>
              <a:t>specifications</a:t>
            </a:r>
            <a:endParaRPr kumimoji="0" lang="en-US" sz="900" b="0" i="0" u="none" strike="noStrike" kern="1200" cap="none" spc="-20" normalizeH="0" baseline="0" noProof="0">
              <a:ln>
                <a:noFill/>
              </a:ln>
              <a:solidFill>
                <a:srgbClr val="C3984D"/>
              </a:solidFill>
              <a:effectLst/>
              <a:uLnTx/>
              <a:uFillTx/>
              <a:latin typeface="Fund Light" pitchFamily="2" charset="-78"/>
              <a:ea typeface="+mn-ea"/>
              <a:cs typeface="Fund Light" pitchFamily="2" charset="-78"/>
            </a:endParaRPr>
          </a:p>
        </p:txBody>
      </p:sp>
      <p:sp>
        <p:nvSpPr>
          <p:cNvPr id="23" name="TextBox 22">
            <a:extLst>
              <a:ext uri="{FF2B5EF4-FFF2-40B4-BE49-F238E27FC236}">
                <a16:creationId xmlns:a16="http://schemas.microsoft.com/office/drawing/2014/main" id="{6179E8CA-336B-4E17-8104-DF457C32C745}"/>
              </a:ext>
            </a:extLst>
          </p:cNvPr>
          <p:cNvSpPr txBox="1"/>
          <p:nvPr>
            <p:custDataLst>
              <p:tags r:id="rId6"/>
            </p:custDataLst>
          </p:nvPr>
        </p:nvSpPr>
        <p:spPr>
          <a:xfrm>
            <a:off x="1235131" y="1303338"/>
            <a:ext cx="2013901" cy="965200"/>
          </a:xfrm>
          <a:prstGeom prst="rect">
            <a:avLst/>
          </a:prstGeom>
          <a:noFill/>
        </p:spPr>
        <p:txBody>
          <a:bodyPr wrap="square" rtlCol="0" anchor="ctr">
            <a:noAutofit/>
          </a:bodyP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&lt;Description of the procured product and its specifications&gt;</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24" name="Rectangle 23">
            <a:extLst>
              <a:ext uri="{FF2B5EF4-FFF2-40B4-BE49-F238E27FC236}">
                <a16:creationId xmlns:a16="http://schemas.microsoft.com/office/drawing/2014/main" id="{45E23178-E5D7-4948-AE17-343E93BFEFC4}"/>
              </a:ext>
            </a:extLst>
          </p:cNvPr>
          <p:cNvSpPr/>
          <p:nvPr>
            <p:custDataLst>
              <p:tags r:id="rId7"/>
            </p:custDataLst>
          </p:nvPr>
        </p:nvSpPr>
        <p:spPr>
          <a:xfrm>
            <a:off x="332478" y="2397125"/>
            <a:ext cx="873245" cy="103505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Depth of </a:t>
            </a:r>
            <a:b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localization</a:t>
            </a:r>
            <a:endParaRPr kumimoji="0" lang="en-US" sz="9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sp>
        <p:nvSpPr>
          <p:cNvPr id="25" name="TextBox 24">
            <a:extLst>
              <a:ext uri="{FF2B5EF4-FFF2-40B4-BE49-F238E27FC236}">
                <a16:creationId xmlns:a16="http://schemas.microsoft.com/office/drawing/2014/main" id="{4882BCB7-5847-4421-8596-037D1A492650}"/>
              </a:ext>
            </a:extLst>
          </p:cNvPr>
          <p:cNvSpPr txBox="1"/>
          <p:nvPr>
            <p:custDataLst>
              <p:tags r:id="rId8"/>
            </p:custDataLst>
          </p:nvPr>
        </p:nvSpPr>
        <p:spPr>
          <a:xfrm>
            <a:off x="1235132" y="2397125"/>
            <a:ext cx="2007268" cy="1035050"/>
          </a:xfrm>
          <a:prstGeom prst="rect">
            <a:avLst/>
          </a:prstGeom>
          <a:noFill/>
        </p:spPr>
        <p:txBody>
          <a:bodyPr wrap="square" rtlCol="0" anchor="ctr">
            <a:noAutofit/>
          </a:bodyP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&lt;Expected value chain coverage of the opportunity (e.g., assembly, component manufacturing)&gt;</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grpSp>
        <p:nvGrpSpPr>
          <p:cNvPr id="73" name="Group 72">
            <a:extLst>
              <a:ext uri="{FF2B5EF4-FFF2-40B4-BE49-F238E27FC236}">
                <a16:creationId xmlns:a16="http://schemas.microsoft.com/office/drawing/2014/main" id="{E8F1CAC9-8076-3F80-711C-674CF3146542}"/>
              </a:ext>
            </a:extLst>
          </p:cNvPr>
          <p:cNvGrpSpPr/>
          <p:nvPr/>
        </p:nvGrpSpPr>
        <p:grpSpPr>
          <a:xfrm>
            <a:off x="332478" y="2332038"/>
            <a:ext cx="4939042" cy="1163637"/>
            <a:chOff x="332478" y="2332038"/>
            <a:chExt cx="2831793" cy="1163637"/>
          </a:xfrm>
        </p:grpSpPr>
        <p:cxnSp>
          <p:nvCxnSpPr>
            <p:cNvPr id="27" name="Straight Connector 26">
              <a:extLst>
                <a:ext uri="{FF2B5EF4-FFF2-40B4-BE49-F238E27FC236}">
                  <a16:creationId xmlns:a16="http://schemas.microsoft.com/office/drawing/2014/main" id="{10198B72-147C-46D2-ACE6-B6A384611FB8}"/>
                </a:ext>
              </a:extLst>
            </p:cNvPr>
            <p:cNvCxnSpPr>
              <a:cxnSpLocks/>
            </p:cNvCxnSpPr>
            <p:nvPr>
              <p:custDataLst>
                <p:tags r:id="rId23"/>
              </p:custDataLst>
            </p:nvPr>
          </p:nvCxnSpPr>
          <p:spPr>
            <a:xfrm>
              <a:off x="332478" y="2332038"/>
              <a:ext cx="2831793"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052591-5428-4F23-B4AC-2186C1E2B0B8}"/>
                </a:ext>
              </a:extLst>
            </p:cNvPr>
            <p:cNvCxnSpPr>
              <a:cxnSpLocks/>
            </p:cNvCxnSpPr>
            <p:nvPr>
              <p:custDataLst>
                <p:tags r:id="rId24"/>
              </p:custDataLst>
            </p:nvPr>
          </p:nvCxnSpPr>
          <p:spPr>
            <a:xfrm>
              <a:off x="332478" y="3495675"/>
              <a:ext cx="2831793"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1638EB5E-1516-40FB-B2CF-966A533E093C}"/>
              </a:ext>
            </a:extLst>
          </p:cNvPr>
          <p:cNvSpPr/>
          <p:nvPr>
            <p:custDataLst>
              <p:tags r:id="rId9"/>
            </p:custDataLst>
          </p:nvPr>
        </p:nvSpPr>
        <p:spPr>
          <a:xfrm>
            <a:off x="332477" y="3559175"/>
            <a:ext cx="873245" cy="1033463"/>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Plant </a:t>
            </a:r>
            <a:b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capacity</a:t>
            </a:r>
            <a:endParaRPr kumimoji="0" lang="en-US" sz="9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sp>
        <p:nvSpPr>
          <p:cNvPr id="29" name="TextBox 28">
            <a:extLst>
              <a:ext uri="{FF2B5EF4-FFF2-40B4-BE49-F238E27FC236}">
                <a16:creationId xmlns:a16="http://schemas.microsoft.com/office/drawing/2014/main" id="{E6AD67AE-A074-487A-9376-C6685B87A299}"/>
              </a:ext>
            </a:extLst>
          </p:cNvPr>
          <p:cNvSpPr txBox="1"/>
          <p:nvPr>
            <p:custDataLst>
              <p:tags r:id="rId10"/>
            </p:custDataLst>
          </p:nvPr>
        </p:nvSpPr>
        <p:spPr>
          <a:xfrm>
            <a:off x="1235132" y="3559175"/>
            <a:ext cx="2013901" cy="1033463"/>
          </a:xfrm>
          <a:prstGeom prst="rect">
            <a:avLst/>
          </a:prstGeom>
          <a:noFill/>
        </p:spPr>
        <p:txBody>
          <a:bodyPr wrap="square" rtlCol="0" anchor="ctr">
            <a:noAutofit/>
          </a:bodyP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&lt;High-level capacity (units) and expected </a:t>
            </a:r>
            <a:r>
              <a:rPr lang="en-US" sz="900">
                <a:solidFill>
                  <a:srgbClr val="000000"/>
                </a:solidFill>
                <a:latin typeface="Fund Light" pitchFamily="2" charset="-78"/>
                <a:cs typeface="Fund Light" pitchFamily="2" charset="-78"/>
              </a:rPr>
              <a:t>capex</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of the localization opportunity&gt;</a:t>
            </a:r>
            <a:b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32" name="Rectangle 31">
            <a:extLst>
              <a:ext uri="{FF2B5EF4-FFF2-40B4-BE49-F238E27FC236}">
                <a16:creationId xmlns:a16="http://schemas.microsoft.com/office/drawing/2014/main" id="{954E11F6-129F-4FD7-AC6D-8D760D176671}"/>
              </a:ext>
            </a:extLst>
          </p:cNvPr>
          <p:cNvSpPr/>
          <p:nvPr>
            <p:custDataLst>
              <p:tags r:id="rId11"/>
            </p:custDataLst>
          </p:nvPr>
        </p:nvSpPr>
        <p:spPr>
          <a:xfrm>
            <a:off x="5600555" y="1316038"/>
            <a:ext cx="811364" cy="1539875"/>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1" i="0" u="none" strike="noStrike" kern="1200" cap="none" spc="-30" normalizeH="0" baseline="0" noProof="0">
                <a:ln>
                  <a:noFill/>
                </a:ln>
                <a:solidFill>
                  <a:srgbClr val="C3984D"/>
                </a:solidFill>
                <a:effectLst/>
                <a:uLnTx/>
                <a:uFillTx/>
                <a:latin typeface="Fund Light" pitchFamily="2" charset="-78"/>
                <a:ea typeface="+mn-ea"/>
                <a:cs typeface="Fund Light" pitchFamily="2" charset="-78"/>
              </a:rPr>
              <a:t>LC </a:t>
            </a:r>
            <a:br>
              <a:rPr kumimoji="0" lang="en-US" sz="900" b="1" i="0" u="none" strike="noStrike" kern="1200" cap="none" spc="-3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30" normalizeH="0" baseline="0" noProof="0">
                <a:ln>
                  <a:noFill/>
                </a:ln>
                <a:solidFill>
                  <a:srgbClr val="C3984D"/>
                </a:solidFill>
                <a:effectLst/>
                <a:uLnTx/>
                <a:uFillTx/>
                <a:latin typeface="Fund Light" pitchFamily="2" charset="-78"/>
                <a:ea typeface="+mn-ea"/>
                <a:cs typeface="Fund Light" pitchFamily="2" charset="-78"/>
              </a:rPr>
              <a:t>contribution </a:t>
            </a:r>
            <a:br>
              <a:rPr kumimoji="0" lang="en-US" sz="900" b="1" i="0" u="none" strike="noStrike" kern="1200" cap="none" spc="-3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30" normalizeH="0" baseline="0" noProof="0">
                <a:ln>
                  <a:noFill/>
                </a:ln>
                <a:solidFill>
                  <a:srgbClr val="C3984D"/>
                </a:solidFill>
                <a:effectLst/>
                <a:uLnTx/>
                <a:uFillTx/>
                <a:latin typeface="Fund Light" pitchFamily="2" charset="-78"/>
                <a:ea typeface="+mn-ea"/>
                <a:cs typeface="Fund Light" pitchFamily="2" charset="-78"/>
              </a:rPr>
              <a:t>(SAR)</a:t>
            </a:r>
            <a:endParaRPr kumimoji="0" lang="en-US" sz="900" b="0" i="0" u="none" strike="noStrike" kern="1200" cap="none" spc="-30" normalizeH="0" baseline="0" noProof="0">
              <a:ln>
                <a:noFill/>
              </a:ln>
              <a:solidFill>
                <a:srgbClr val="C3984D"/>
              </a:solidFill>
              <a:effectLst/>
              <a:uLnTx/>
              <a:uFillTx/>
              <a:latin typeface="Fund Light" pitchFamily="2" charset="-78"/>
              <a:ea typeface="+mn-ea"/>
              <a:cs typeface="Fund Light" pitchFamily="2" charset="-78"/>
            </a:endParaRPr>
          </a:p>
        </p:txBody>
      </p:sp>
      <p:sp>
        <p:nvSpPr>
          <p:cNvPr id="33" name="Rectangle 32">
            <a:extLst>
              <a:ext uri="{FF2B5EF4-FFF2-40B4-BE49-F238E27FC236}">
                <a16:creationId xmlns:a16="http://schemas.microsoft.com/office/drawing/2014/main" id="{E221E30E-4018-4064-A4DE-8AC8F2B9A69A}"/>
              </a:ext>
            </a:extLst>
          </p:cNvPr>
          <p:cNvSpPr/>
          <p:nvPr>
            <p:custDataLst>
              <p:tags r:id="rId12"/>
            </p:custDataLst>
          </p:nvPr>
        </p:nvSpPr>
        <p:spPr>
          <a:xfrm>
            <a:off x="5617631" y="3156861"/>
            <a:ext cx="811364" cy="1323061"/>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LC uplift </a:t>
            </a:r>
            <a:b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b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 Change)</a:t>
            </a:r>
            <a:endParaRPr kumimoji="0" lang="en-US" sz="9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sp>
        <p:nvSpPr>
          <p:cNvPr id="36" name="TextBox 35">
            <a:extLst>
              <a:ext uri="{FF2B5EF4-FFF2-40B4-BE49-F238E27FC236}">
                <a16:creationId xmlns:a16="http://schemas.microsoft.com/office/drawing/2014/main" id="{A7038349-536E-4236-BBBC-BD9040C3B4B0}"/>
              </a:ext>
            </a:extLst>
          </p:cNvPr>
          <p:cNvSpPr txBox="1"/>
          <p:nvPr>
            <p:custDataLst>
              <p:tags r:id="rId13"/>
            </p:custDataLst>
          </p:nvPr>
        </p:nvSpPr>
        <p:spPr>
          <a:xfrm>
            <a:off x="6502982" y="1316038"/>
            <a:ext cx="1392286" cy="1539875"/>
          </a:xfrm>
          <a:prstGeom prst="rect">
            <a:avLst/>
          </a:prstGeom>
          <a:noFill/>
        </p:spPr>
        <p:txBody>
          <a:bodyPr wrap="square" rtlCol="0" anchor="ctr">
            <a:noAutofit/>
          </a:bodyP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&lt;Expected contribution to local content in SAR Mn, through localization of the opportunity&gt; </a:t>
            </a:r>
          </a:p>
        </p:txBody>
      </p:sp>
      <p:sp>
        <p:nvSpPr>
          <p:cNvPr id="42" name="TextBox 41">
            <a:extLst>
              <a:ext uri="{FF2B5EF4-FFF2-40B4-BE49-F238E27FC236}">
                <a16:creationId xmlns:a16="http://schemas.microsoft.com/office/drawing/2014/main" id="{D3CDC205-1F89-4BFF-9289-11496FC564F8}"/>
              </a:ext>
            </a:extLst>
          </p:cNvPr>
          <p:cNvSpPr txBox="1"/>
          <p:nvPr>
            <p:custDataLst>
              <p:tags r:id="rId14"/>
            </p:custDataLst>
          </p:nvPr>
        </p:nvSpPr>
        <p:spPr>
          <a:xfrm>
            <a:off x="6502982" y="3156861"/>
            <a:ext cx="1392286" cy="1323058"/>
          </a:xfrm>
          <a:prstGeom prst="rect">
            <a:avLst/>
          </a:prstGeom>
          <a:noFill/>
        </p:spPr>
        <p:txBody>
          <a:bodyPr wrap="square" rtlCol="0" anchor="ctr">
            <a:noAutofit/>
          </a:bodyP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&lt;Expected increase of the LC score on a company level&gt;</a:t>
            </a:r>
          </a:p>
        </p:txBody>
      </p:sp>
      <p:cxnSp>
        <p:nvCxnSpPr>
          <p:cNvPr id="43" name="Straight Connector 42">
            <a:extLst>
              <a:ext uri="{FF2B5EF4-FFF2-40B4-BE49-F238E27FC236}">
                <a16:creationId xmlns:a16="http://schemas.microsoft.com/office/drawing/2014/main" id="{0E575841-76FF-4364-88EA-FB6CB9C1C2E3}"/>
              </a:ext>
            </a:extLst>
          </p:cNvPr>
          <p:cNvCxnSpPr>
            <a:cxnSpLocks/>
          </p:cNvCxnSpPr>
          <p:nvPr>
            <p:custDataLst>
              <p:tags r:id="rId15"/>
            </p:custDataLst>
          </p:nvPr>
        </p:nvCxnSpPr>
        <p:spPr>
          <a:xfrm>
            <a:off x="5617631" y="3006387"/>
            <a:ext cx="3240619"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B6FA2C8C-0A22-DA67-C6FB-27C9DCC9562F}"/>
              </a:ext>
            </a:extLst>
          </p:cNvPr>
          <p:cNvSpPr txBox="1"/>
          <p:nvPr/>
        </p:nvSpPr>
        <p:spPr>
          <a:xfrm>
            <a:off x="292100" y="597717"/>
            <a:ext cx="851918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Fund Light" pitchFamily="2" charset="-78"/>
                <a:ea typeface="+mn-ea"/>
                <a:cs typeface="Fund Light" pitchFamily="2" charset="-78"/>
                <a:sym typeface="Arial"/>
              </a:rPr>
              <a:t>The following template should be filled in for the selected LDC product, articulating the localization opportunity and the expected company-level LC impact</a:t>
            </a:r>
            <a:endParaRPr kumimoji="0" lang="en-US" sz="900" b="0" i="1" u="none" strike="noStrike" kern="1200" cap="none" spc="0" normalizeH="0" baseline="0" noProof="0">
              <a:ln>
                <a:noFill/>
              </a:ln>
              <a:solidFill>
                <a:srgbClr val="00332A"/>
              </a:solidFill>
              <a:effectLst/>
              <a:uLnTx/>
              <a:uFillTx/>
              <a:latin typeface="Arial" panose="020B0604020202020204"/>
              <a:ea typeface="+mn-ea"/>
              <a:cs typeface="+mn-cs"/>
            </a:endParaRPr>
          </a:p>
        </p:txBody>
      </p:sp>
      <p:grpSp>
        <p:nvGrpSpPr>
          <p:cNvPr id="30" name="Group 29">
            <a:extLst>
              <a:ext uri="{FF2B5EF4-FFF2-40B4-BE49-F238E27FC236}">
                <a16:creationId xmlns:a16="http://schemas.microsoft.com/office/drawing/2014/main" id="{10DB8A06-5B1B-D3B9-6E92-AD1E2B8D7BE8}"/>
              </a:ext>
            </a:extLst>
          </p:cNvPr>
          <p:cNvGrpSpPr/>
          <p:nvPr>
            <p:custDataLst>
              <p:tags r:id="rId16"/>
            </p:custDataLst>
          </p:nvPr>
        </p:nvGrpSpPr>
        <p:grpSpPr>
          <a:xfrm>
            <a:off x="3242400" y="1000665"/>
            <a:ext cx="2011680" cy="237587"/>
            <a:chOff x="6513512" y="1300701"/>
            <a:chExt cx="2177638" cy="237587"/>
          </a:xfrm>
        </p:grpSpPr>
        <p:cxnSp>
          <p:nvCxnSpPr>
            <p:cNvPr id="31" name="Straight Connector 30">
              <a:extLst>
                <a:ext uri="{FF2B5EF4-FFF2-40B4-BE49-F238E27FC236}">
                  <a16:creationId xmlns:a16="http://schemas.microsoft.com/office/drawing/2014/main" id="{C5880DB4-6B87-4F4F-FB1E-87E014A3D3BA}"/>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9EBF2BA-87F1-90F8-14FC-84161DA70649}"/>
                </a:ext>
              </a:extLst>
            </p:cNvPr>
            <p:cNvSpPr txBox="1"/>
            <p:nvPr/>
          </p:nvSpPr>
          <p:spPr>
            <a:xfrm>
              <a:off x="6513512" y="1300701"/>
              <a:ext cx="2177638" cy="230832"/>
            </a:xfrm>
            <a:prstGeom prst="rect">
              <a:avLst/>
            </a:prstGeom>
            <a:noFill/>
          </p:spPr>
          <p:txBody>
            <a:bodyPr wrap="square" rtlCol="0" anchor="b">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Sources</a:t>
              </a:r>
              <a:endPar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sp>
        <p:nvSpPr>
          <p:cNvPr id="35" name="TextBox 34">
            <a:extLst>
              <a:ext uri="{FF2B5EF4-FFF2-40B4-BE49-F238E27FC236}">
                <a16:creationId xmlns:a16="http://schemas.microsoft.com/office/drawing/2014/main" id="{74085C97-FB91-CDEE-7C27-2689D43F036D}"/>
              </a:ext>
            </a:extLst>
          </p:cNvPr>
          <p:cNvSpPr txBox="1"/>
          <p:nvPr>
            <p:custDataLst>
              <p:tags r:id="rId17"/>
            </p:custDataLst>
          </p:nvPr>
        </p:nvSpPr>
        <p:spPr>
          <a:xfrm>
            <a:off x="3257621" y="1303338"/>
            <a:ext cx="2013901" cy="965200"/>
          </a:xfrm>
          <a:prstGeom prst="rect">
            <a:avLst/>
          </a:prstGeom>
          <a:noFill/>
        </p:spPr>
        <p:txBody>
          <a:bodyPr wrap="square" rtlCol="0" anchor="ctr">
            <a:noAutofit/>
          </a:bodyPr>
          <a:lstStyle/>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Previous purchase orders</a:t>
            </a:r>
          </a:p>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Business / operations teams</a:t>
            </a:r>
          </a:p>
        </p:txBody>
      </p:sp>
      <p:sp>
        <p:nvSpPr>
          <p:cNvPr id="37" name="TextBox 36">
            <a:extLst>
              <a:ext uri="{FF2B5EF4-FFF2-40B4-BE49-F238E27FC236}">
                <a16:creationId xmlns:a16="http://schemas.microsoft.com/office/drawing/2014/main" id="{7A77EE51-0BC5-519B-0C53-A2ECCF05300A}"/>
              </a:ext>
            </a:extLst>
          </p:cNvPr>
          <p:cNvSpPr txBox="1"/>
          <p:nvPr>
            <p:custDataLst>
              <p:tags r:id="rId18"/>
            </p:custDataLst>
          </p:nvPr>
        </p:nvSpPr>
        <p:spPr>
          <a:xfrm>
            <a:off x="3257622" y="2397125"/>
            <a:ext cx="2007268" cy="1035050"/>
          </a:xfrm>
          <a:prstGeom prst="rect">
            <a:avLst/>
          </a:prstGeom>
          <a:noFill/>
        </p:spPr>
        <p:txBody>
          <a:bodyPr wrap="square" rtlCol="0" anchor="ctr">
            <a:noAutofit/>
          </a:bodyPr>
          <a:lstStyle/>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sensing</a:t>
            </a:r>
          </a:p>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Benchmark investments</a:t>
            </a:r>
          </a:p>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PIF NDD </a:t>
            </a:r>
            <a:r>
              <a:rPr kumimoji="0" lang="en-US" sz="9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29" action="ppaction://hlinksldjump"/>
              </a:rPr>
              <a:t>Contacts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sp>
        <p:nvSpPr>
          <p:cNvPr id="44" name="TextBox 43">
            <a:extLst>
              <a:ext uri="{FF2B5EF4-FFF2-40B4-BE49-F238E27FC236}">
                <a16:creationId xmlns:a16="http://schemas.microsoft.com/office/drawing/2014/main" id="{004BB604-26DE-CFC5-F226-BB1C114F10F0}"/>
              </a:ext>
            </a:extLst>
          </p:cNvPr>
          <p:cNvSpPr txBox="1"/>
          <p:nvPr>
            <p:custDataLst>
              <p:tags r:id="rId19"/>
            </p:custDataLst>
          </p:nvPr>
        </p:nvSpPr>
        <p:spPr>
          <a:xfrm>
            <a:off x="3257622" y="3559175"/>
            <a:ext cx="2013901" cy="1033463"/>
          </a:xfrm>
          <a:prstGeom prst="rect">
            <a:avLst/>
          </a:prstGeom>
          <a:noFill/>
        </p:spPr>
        <p:txBody>
          <a:bodyPr wrap="square" rtlCol="0" anchor="ctr">
            <a:noAutofit/>
          </a:bodyPr>
          <a:lstStyle/>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sensing</a:t>
            </a:r>
          </a:p>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Benchmark investments</a:t>
            </a:r>
          </a:p>
          <a:p>
            <a:pPr marL="228600" marR="0" lvl="0" indent="-228600" algn="l" defTabSz="609585" rtl="0" eaLnBrk="1" fontAlgn="auto" latinLnBrk="0" hangingPunct="1">
              <a:lnSpc>
                <a:spcPct val="100000"/>
              </a:lnSpc>
              <a:spcBef>
                <a:spcPts val="40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PIF NDD </a:t>
            </a:r>
            <a:r>
              <a:rPr kumimoji="0" lang="en-US" sz="9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29" action="ppaction://hlinksldjump"/>
              </a:rPr>
              <a:t>Contacts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sp>
        <p:nvSpPr>
          <p:cNvPr id="45" name="Rectangle: Rounded Corners 44">
            <a:extLst>
              <a:ext uri="{FF2B5EF4-FFF2-40B4-BE49-F238E27FC236}">
                <a16:creationId xmlns:a16="http://schemas.microsoft.com/office/drawing/2014/main" id="{B655A05B-69E9-5FB6-105D-187439237930}"/>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Consult PIF for support and queries (</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30" action="ppaction://hlinksldjump"/>
              </a:rPr>
              <a:t>Contacts</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grpSp>
        <p:nvGrpSpPr>
          <p:cNvPr id="50" name="Group 49">
            <a:extLst>
              <a:ext uri="{FF2B5EF4-FFF2-40B4-BE49-F238E27FC236}">
                <a16:creationId xmlns:a16="http://schemas.microsoft.com/office/drawing/2014/main" id="{E25D5FB2-611D-0A59-0C94-CCC7F78913E8}"/>
              </a:ext>
            </a:extLst>
          </p:cNvPr>
          <p:cNvGrpSpPr/>
          <p:nvPr/>
        </p:nvGrpSpPr>
        <p:grpSpPr>
          <a:xfrm>
            <a:off x="3004029" y="4817276"/>
            <a:ext cx="303559" cy="303559"/>
            <a:chOff x="-577629" y="2311332"/>
            <a:chExt cx="404038" cy="404037"/>
          </a:xfrm>
        </p:grpSpPr>
        <p:sp>
          <p:nvSpPr>
            <p:cNvPr id="52" name="Oval 51">
              <a:extLst>
                <a:ext uri="{FF2B5EF4-FFF2-40B4-BE49-F238E27FC236}">
                  <a16:creationId xmlns:a16="http://schemas.microsoft.com/office/drawing/2014/main" id="{EB8B55E4-A481-8695-A19A-A4618CCEDCC6}"/>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3" name="Picture 52">
              <a:extLst>
                <a:ext uri="{FF2B5EF4-FFF2-40B4-BE49-F238E27FC236}">
                  <a16:creationId xmlns:a16="http://schemas.microsoft.com/office/drawing/2014/main" id="{1762230A-C109-FCD1-87AF-62D47C166125}"/>
                </a:ext>
              </a:extLst>
            </p:cNvPr>
            <p:cNvPicPr>
              <a:picLocks noChangeAspect="1"/>
            </p:cNvPicPr>
            <p:nvPr/>
          </p:nvPicPr>
          <p:blipFill>
            <a:blip r:embed="rId31"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58" name="Group 57">
            <a:extLst>
              <a:ext uri="{FF2B5EF4-FFF2-40B4-BE49-F238E27FC236}">
                <a16:creationId xmlns:a16="http://schemas.microsoft.com/office/drawing/2014/main" id="{66010FE5-50B8-7AB7-8B0C-684E42E86F39}"/>
              </a:ext>
            </a:extLst>
          </p:cNvPr>
          <p:cNvGrpSpPr/>
          <p:nvPr/>
        </p:nvGrpSpPr>
        <p:grpSpPr>
          <a:xfrm>
            <a:off x="6211995" y="4883810"/>
            <a:ext cx="168686" cy="161455"/>
            <a:chOff x="11260138" y="4194175"/>
            <a:chExt cx="360363" cy="379413"/>
          </a:xfrm>
        </p:grpSpPr>
        <p:sp>
          <p:nvSpPr>
            <p:cNvPr id="59" name="Freeform 289">
              <a:extLst>
                <a:ext uri="{FF2B5EF4-FFF2-40B4-BE49-F238E27FC236}">
                  <a16:creationId xmlns:a16="http://schemas.microsoft.com/office/drawing/2014/main" id="{D1BD7FB6-3620-CBFD-2F6B-586A9CDE4D0C}"/>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60" name="Freeform 290">
              <a:extLst>
                <a:ext uri="{FF2B5EF4-FFF2-40B4-BE49-F238E27FC236}">
                  <a16:creationId xmlns:a16="http://schemas.microsoft.com/office/drawing/2014/main" id="{D2F59C8E-9818-83F5-8A8C-537D44DE4EB8}"/>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61" name="Freeform 291">
              <a:extLst>
                <a:ext uri="{FF2B5EF4-FFF2-40B4-BE49-F238E27FC236}">
                  <a16:creationId xmlns:a16="http://schemas.microsoft.com/office/drawing/2014/main" id="{9F088896-F83E-2888-3AF4-4A80936E6F45}"/>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nvGrpSpPr>
          <p:cNvPr id="68" name="Group 67">
            <a:extLst>
              <a:ext uri="{FF2B5EF4-FFF2-40B4-BE49-F238E27FC236}">
                <a16:creationId xmlns:a16="http://schemas.microsoft.com/office/drawing/2014/main" id="{43D2DB81-449C-9E44-0864-90B943C2DE9F}"/>
              </a:ext>
            </a:extLst>
          </p:cNvPr>
          <p:cNvGrpSpPr/>
          <p:nvPr/>
        </p:nvGrpSpPr>
        <p:grpSpPr>
          <a:xfrm>
            <a:off x="4725465" y="3091333"/>
            <a:ext cx="168686" cy="161455"/>
            <a:chOff x="11260138" y="4194175"/>
            <a:chExt cx="360363" cy="379413"/>
          </a:xfrm>
        </p:grpSpPr>
        <p:sp>
          <p:nvSpPr>
            <p:cNvPr id="69" name="Freeform 289">
              <a:extLst>
                <a:ext uri="{FF2B5EF4-FFF2-40B4-BE49-F238E27FC236}">
                  <a16:creationId xmlns:a16="http://schemas.microsoft.com/office/drawing/2014/main" id="{E54B8109-F604-5863-DAAB-7BDD50EC182E}"/>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71" name="Freeform 290">
              <a:extLst>
                <a:ext uri="{FF2B5EF4-FFF2-40B4-BE49-F238E27FC236}">
                  <a16:creationId xmlns:a16="http://schemas.microsoft.com/office/drawing/2014/main" id="{8CC04F48-10E8-8FF1-6696-37CFA86F82C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72" name="Freeform 291">
              <a:extLst>
                <a:ext uri="{FF2B5EF4-FFF2-40B4-BE49-F238E27FC236}">
                  <a16:creationId xmlns:a16="http://schemas.microsoft.com/office/drawing/2014/main" id="{96E4B59E-5153-9B7D-840F-B361780DEC0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nvGrpSpPr>
          <p:cNvPr id="82" name="Group 81">
            <a:extLst>
              <a:ext uri="{FF2B5EF4-FFF2-40B4-BE49-F238E27FC236}">
                <a16:creationId xmlns:a16="http://schemas.microsoft.com/office/drawing/2014/main" id="{40048CC2-6A84-0FC0-5D03-372EA1361483}"/>
              </a:ext>
            </a:extLst>
          </p:cNvPr>
          <p:cNvGrpSpPr/>
          <p:nvPr/>
        </p:nvGrpSpPr>
        <p:grpSpPr>
          <a:xfrm>
            <a:off x="4725465" y="4258145"/>
            <a:ext cx="168686" cy="161455"/>
            <a:chOff x="11260138" y="4194175"/>
            <a:chExt cx="360363" cy="379413"/>
          </a:xfrm>
        </p:grpSpPr>
        <p:sp>
          <p:nvSpPr>
            <p:cNvPr id="84" name="Freeform 289">
              <a:extLst>
                <a:ext uri="{FF2B5EF4-FFF2-40B4-BE49-F238E27FC236}">
                  <a16:creationId xmlns:a16="http://schemas.microsoft.com/office/drawing/2014/main" id="{58A58F50-CDC1-D501-F5BF-CBD92A864031}"/>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85" name="Freeform 290">
              <a:extLst>
                <a:ext uri="{FF2B5EF4-FFF2-40B4-BE49-F238E27FC236}">
                  <a16:creationId xmlns:a16="http://schemas.microsoft.com/office/drawing/2014/main" id="{81995CA6-A529-D10F-48B8-2AF98043C708}"/>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86" name="Freeform 291">
              <a:extLst>
                <a:ext uri="{FF2B5EF4-FFF2-40B4-BE49-F238E27FC236}">
                  <a16:creationId xmlns:a16="http://schemas.microsoft.com/office/drawing/2014/main" id="{070FDF5C-9908-A69A-85E6-0A1511D3A850}"/>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sp>
        <p:nvSpPr>
          <p:cNvPr id="88" name="Rectangle 87">
            <a:extLst>
              <a:ext uri="{FF2B5EF4-FFF2-40B4-BE49-F238E27FC236}">
                <a16:creationId xmlns:a16="http://schemas.microsoft.com/office/drawing/2014/main" id="{C806F08D-E846-8AB8-24D5-7AF06AFA56BF}"/>
              </a:ext>
            </a:extLst>
          </p:cNvPr>
          <p:cNvSpPr/>
          <p:nvPr>
            <p:custDataLst>
              <p:tags r:id="rId20"/>
            </p:custDataLst>
          </p:nvPr>
        </p:nvSpPr>
        <p:spPr>
          <a:xfrm>
            <a:off x="7986331" y="1376628"/>
            <a:ext cx="935419" cy="1479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GB" sz="8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Calculation methodology in the detailed section</a:t>
            </a:r>
          </a:p>
        </p:txBody>
      </p:sp>
      <p:sp>
        <p:nvSpPr>
          <p:cNvPr id="89" name="Rectangle 88">
            <a:extLst>
              <a:ext uri="{FF2B5EF4-FFF2-40B4-BE49-F238E27FC236}">
                <a16:creationId xmlns:a16="http://schemas.microsoft.com/office/drawing/2014/main" id="{8E26F10C-2684-9301-EF12-363A5A1FE2C8}"/>
              </a:ext>
            </a:extLst>
          </p:cNvPr>
          <p:cNvSpPr/>
          <p:nvPr>
            <p:custDataLst>
              <p:tags r:id="rId21"/>
            </p:custDataLst>
          </p:nvPr>
        </p:nvSpPr>
        <p:spPr>
          <a:xfrm>
            <a:off x="7986331" y="3156861"/>
            <a:ext cx="935419" cy="13288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GB" sz="8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Calculation methodology in the detailed section</a:t>
            </a:r>
          </a:p>
        </p:txBody>
      </p:sp>
      <p:grpSp>
        <p:nvGrpSpPr>
          <p:cNvPr id="91" name="Group 90">
            <a:extLst>
              <a:ext uri="{FF2B5EF4-FFF2-40B4-BE49-F238E27FC236}">
                <a16:creationId xmlns:a16="http://schemas.microsoft.com/office/drawing/2014/main" id="{9376BC6B-2671-E66E-820B-508C19DB6A07}"/>
              </a:ext>
            </a:extLst>
          </p:cNvPr>
          <p:cNvGrpSpPr/>
          <p:nvPr>
            <p:custDataLst>
              <p:tags r:id="rId22"/>
            </p:custDataLst>
          </p:nvPr>
        </p:nvGrpSpPr>
        <p:grpSpPr>
          <a:xfrm>
            <a:off x="7986331" y="1000666"/>
            <a:ext cx="914400" cy="237586"/>
            <a:chOff x="6513511" y="1300702"/>
            <a:chExt cx="2177639" cy="237586"/>
          </a:xfrm>
        </p:grpSpPr>
        <p:cxnSp>
          <p:nvCxnSpPr>
            <p:cNvPr id="92" name="Straight Connector 91">
              <a:extLst>
                <a:ext uri="{FF2B5EF4-FFF2-40B4-BE49-F238E27FC236}">
                  <a16:creationId xmlns:a16="http://schemas.microsoft.com/office/drawing/2014/main" id="{C5D66B38-1CFB-BCB6-3C47-8F8832999F75}"/>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9B73227C-715C-9D89-5860-9BA60E7B5A79}"/>
                </a:ext>
              </a:extLst>
            </p:cNvPr>
            <p:cNvSpPr txBox="1"/>
            <p:nvPr/>
          </p:nvSpPr>
          <p:spPr>
            <a:xfrm>
              <a:off x="6513511" y="1300702"/>
              <a:ext cx="2177638" cy="230832"/>
            </a:xfrm>
            <a:prstGeom prst="rect">
              <a:avLst/>
            </a:prstGeom>
            <a:noFill/>
          </p:spPr>
          <p:txBody>
            <a:bodyPr wrap="square" rtlCol="0" anchor="b">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Sources</a:t>
              </a:r>
              <a:endParaRPr kumimoji="0" lang="en-US" sz="900" b="1" i="0" u="none" strike="noStrike" kern="1200" cap="none" spc="0" normalizeH="0" baseline="30000" noProof="0">
                <a:ln>
                  <a:noFill/>
                </a:ln>
                <a:solidFill>
                  <a:srgbClr val="C3984D"/>
                </a:solidFill>
                <a:effectLst/>
                <a:uLnTx/>
                <a:uFillTx/>
                <a:latin typeface="Fund Light" pitchFamily="2" charset="-78"/>
                <a:ea typeface="+mn-ea"/>
                <a:cs typeface="Fund Light" pitchFamily="2" charset="-78"/>
              </a:endParaRPr>
            </a:p>
          </p:txBody>
        </p:sp>
      </p:grpSp>
      <p:sp>
        <p:nvSpPr>
          <p:cNvPr id="11" name="Text Placeholder 6">
            <a:extLst>
              <a:ext uri="{FF2B5EF4-FFF2-40B4-BE49-F238E27FC236}">
                <a16:creationId xmlns:a16="http://schemas.microsoft.com/office/drawing/2014/main" id="{2BA8CF3D-B1DD-6D8B-E1AA-E5FBFA6CEF63}"/>
              </a:ext>
            </a:extLst>
          </p:cNvPr>
          <p:cNvSpPr txBox="1">
            <a:spLocks/>
          </p:cNvSpPr>
          <p:nvPr/>
        </p:nvSpPr>
        <p:spPr>
          <a:xfrm>
            <a:off x="7589520" y="-2080"/>
            <a:ext cx="1554480" cy="251272"/>
          </a:xfrm>
          <a:prstGeom prst="rect">
            <a:avLst/>
          </a:prstGeom>
        </p:spPr>
        <p:txBody>
          <a:bodyPr vert="horz" lIns="68580" tIns="34290" rIns="68580" bIns="34290" rtlCol="0" anchor="ctr">
            <a:normAutofit fontScale="92500" lnSpcReduction="10000"/>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What is localization opportunity?</a:t>
            </a:r>
          </a:p>
        </p:txBody>
      </p:sp>
      <p:sp>
        <p:nvSpPr>
          <p:cNvPr id="12" name="Oval 11">
            <a:extLst>
              <a:ext uri="{FF2B5EF4-FFF2-40B4-BE49-F238E27FC236}">
                <a16:creationId xmlns:a16="http://schemas.microsoft.com/office/drawing/2014/main" id="{4D1544EC-446E-DB8F-69E9-224977B7A2BE}"/>
              </a:ext>
            </a:extLst>
          </p:cNvPr>
          <p:cNvSpPr/>
          <p:nvPr/>
        </p:nvSpPr>
        <p:spPr>
          <a:xfrm>
            <a:off x="7470002" y="46401"/>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grpSp>
        <p:nvGrpSpPr>
          <p:cNvPr id="39" name="Group 38">
            <a:extLst>
              <a:ext uri="{FF2B5EF4-FFF2-40B4-BE49-F238E27FC236}">
                <a16:creationId xmlns:a16="http://schemas.microsoft.com/office/drawing/2014/main" id="{DC31785A-CD42-6046-9807-9A4829FB613E}"/>
              </a:ext>
            </a:extLst>
          </p:cNvPr>
          <p:cNvGrpSpPr/>
          <p:nvPr/>
        </p:nvGrpSpPr>
        <p:grpSpPr>
          <a:xfrm>
            <a:off x="1349993" y="34194"/>
            <a:ext cx="5484392" cy="219841"/>
            <a:chOff x="1349993" y="34194"/>
            <a:chExt cx="5484392" cy="219841"/>
          </a:xfrm>
        </p:grpSpPr>
        <p:sp>
          <p:nvSpPr>
            <p:cNvPr id="40" name="TextBox 39">
              <a:extLst>
                <a:ext uri="{FF2B5EF4-FFF2-40B4-BE49-F238E27FC236}">
                  <a16:creationId xmlns:a16="http://schemas.microsoft.com/office/drawing/2014/main" id="{AA9842B8-29A0-1122-08AB-52D14750DF47}"/>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41" name="TextBox 40">
              <a:extLst>
                <a:ext uri="{FF2B5EF4-FFF2-40B4-BE49-F238E27FC236}">
                  <a16:creationId xmlns:a16="http://schemas.microsoft.com/office/drawing/2014/main" id="{32ED7468-C621-4E79-22B1-500BC5CF327D}"/>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46" name="TextBox 45">
              <a:extLst>
                <a:ext uri="{FF2B5EF4-FFF2-40B4-BE49-F238E27FC236}">
                  <a16:creationId xmlns:a16="http://schemas.microsoft.com/office/drawing/2014/main" id="{5A9E580C-C853-B3F0-330B-69403EE88726}"/>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47" name="TextBox 46">
              <a:extLst>
                <a:ext uri="{FF2B5EF4-FFF2-40B4-BE49-F238E27FC236}">
                  <a16:creationId xmlns:a16="http://schemas.microsoft.com/office/drawing/2014/main" id="{17795646-85FC-E0B4-C65A-9B906BB112F4}"/>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48" name="TextBox 47">
              <a:extLst>
                <a:ext uri="{FF2B5EF4-FFF2-40B4-BE49-F238E27FC236}">
                  <a16:creationId xmlns:a16="http://schemas.microsoft.com/office/drawing/2014/main" id="{B9E3758E-7D0A-7A32-1650-3E6952A855D8}"/>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Tree>
    <p:extLst>
      <p:ext uri="{BB962C8B-B14F-4D97-AF65-F5344CB8AC3E}">
        <p14:creationId xmlns:p14="http://schemas.microsoft.com/office/powerpoint/2010/main" val="2779838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531EDDC6-077E-CACA-E0B9-D28C961B05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807" imgH="812" progId="TCLayout.ActiveDocument.1">
                  <p:embed/>
                </p:oleObj>
              </mc:Choice>
              <mc:Fallback>
                <p:oleObj name="think-cell Slide" r:id="rId4" imgW="807" imgH="812" progId="TCLayout.ActiveDocument.1">
                  <p:embed/>
                  <p:pic>
                    <p:nvPicPr>
                      <p:cNvPr id="22" name="think-cell data - do not delete" hidden="1">
                        <a:extLst>
                          <a:ext uri="{FF2B5EF4-FFF2-40B4-BE49-F238E27FC236}">
                            <a16:creationId xmlns:a16="http://schemas.microsoft.com/office/drawing/2014/main" id="{531EDDC6-077E-CACA-E0B9-D28C961B05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0F7784-4029-B40F-81E6-F7DAABF8B872}"/>
              </a:ext>
            </a:extLst>
          </p:cNvPr>
          <p:cNvSpPr>
            <a:spLocks noGrp="1"/>
          </p:cNvSpPr>
          <p:nvPr>
            <p:ph type="title"/>
          </p:nvPr>
        </p:nvSpPr>
        <p:spPr>
          <a:xfrm>
            <a:off x="1255077" y="255973"/>
            <a:ext cx="7680960" cy="241824"/>
          </a:xfrm>
        </p:spPr>
        <p:txBody>
          <a:bodyPr vert="horz"/>
          <a:lstStyle/>
          <a:p>
            <a:r>
              <a:rPr lang="en-US"/>
              <a:t>To prove localization viability, total addressable demand needs to be assessed against the plant capacity</a:t>
            </a:r>
          </a:p>
        </p:txBody>
      </p:sp>
      <p:sp>
        <p:nvSpPr>
          <p:cNvPr id="108" name="Rectangle 107">
            <a:extLst>
              <a:ext uri="{FF2B5EF4-FFF2-40B4-BE49-F238E27FC236}">
                <a16:creationId xmlns:a16="http://schemas.microsoft.com/office/drawing/2014/main" id="{7EFBB54D-605E-BEC6-4A0C-790607813CCA}"/>
              </a:ext>
            </a:extLst>
          </p:cNvPr>
          <p:cNvSpPr/>
          <p:nvPr/>
        </p:nvSpPr>
        <p:spPr>
          <a:xfrm>
            <a:off x="4922763" y="1119343"/>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30" name="Rectangle: Rounded Corners 129">
            <a:extLst>
              <a:ext uri="{FF2B5EF4-FFF2-40B4-BE49-F238E27FC236}">
                <a16:creationId xmlns:a16="http://schemas.microsoft.com/office/drawing/2014/main" id="{48E126DA-D5F5-D63F-2F8C-7FC4B8C2CDB3}"/>
              </a:ext>
            </a:extLst>
          </p:cNvPr>
          <p:cNvSpPr/>
          <p:nvPr/>
        </p:nvSpPr>
        <p:spPr>
          <a:xfrm>
            <a:off x="3258668" y="4865262"/>
            <a:ext cx="4480560"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Consult PIF for support to estimate supply and demand (</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ction="ppaction://hlinksldjump"/>
              </a:rPr>
              <a:t>Contacts</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grpSp>
        <p:nvGrpSpPr>
          <p:cNvPr id="131" name="Group 130">
            <a:extLst>
              <a:ext uri="{FF2B5EF4-FFF2-40B4-BE49-F238E27FC236}">
                <a16:creationId xmlns:a16="http://schemas.microsoft.com/office/drawing/2014/main" id="{37289E9F-8864-F48C-9134-9710B192BE97}"/>
              </a:ext>
            </a:extLst>
          </p:cNvPr>
          <p:cNvGrpSpPr/>
          <p:nvPr/>
        </p:nvGrpSpPr>
        <p:grpSpPr>
          <a:xfrm>
            <a:off x="3004029" y="4817276"/>
            <a:ext cx="303559" cy="303559"/>
            <a:chOff x="-577629" y="2311332"/>
            <a:chExt cx="404038" cy="404037"/>
          </a:xfrm>
        </p:grpSpPr>
        <p:sp>
          <p:nvSpPr>
            <p:cNvPr id="132" name="Oval 131">
              <a:extLst>
                <a:ext uri="{FF2B5EF4-FFF2-40B4-BE49-F238E27FC236}">
                  <a16:creationId xmlns:a16="http://schemas.microsoft.com/office/drawing/2014/main" id="{B93FE684-48A0-99BD-1D83-12750D4A6540}"/>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33" name="Picture 132">
              <a:extLst>
                <a:ext uri="{FF2B5EF4-FFF2-40B4-BE49-F238E27FC236}">
                  <a16:creationId xmlns:a16="http://schemas.microsoft.com/office/drawing/2014/main" id="{2E9A2D3E-A3D2-6409-15C4-B22D4F3570DB}"/>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34" name="Group 133">
            <a:extLst>
              <a:ext uri="{FF2B5EF4-FFF2-40B4-BE49-F238E27FC236}">
                <a16:creationId xmlns:a16="http://schemas.microsoft.com/office/drawing/2014/main" id="{AF82CA26-A642-22F9-3604-6240054D4CF1}"/>
              </a:ext>
            </a:extLst>
          </p:cNvPr>
          <p:cNvGrpSpPr/>
          <p:nvPr/>
        </p:nvGrpSpPr>
        <p:grpSpPr>
          <a:xfrm>
            <a:off x="7520095" y="4883810"/>
            <a:ext cx="168686" cy="161455"/>
            <a:chOff x="11260138" y="4194175"/>
            <a:chExt cx="360363" cy="379413"/>
          </a:xfrm>
        </p:grpSpPr>
        <p:sp>
          <p:nvSpPr>
            <p:cNvPr id="135" name="Freeform 289">
              <a:extLst>
                <a:ext uri="{FF2B5EF4-FFF2-40B4-BE49-F238E27FC236}">
                  <a16:creationId xmlns:a16="http://schemas.microsoft.com/office/drawing/2014/main" id="{C4F792D8-32E2-81E5-546E-43D68900A3C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36" name="Freeform 290">
              <a:extLst>
                <a:ext uri="{FF2B5EF4-FFF2-40B4-BE49-F238E27FC236}">
                  <a16:creationId xmlns:a16="http://schemas.microsoft.com/office/drawing/2014/main" id="{6FEA66A9-D86E-06D9-DDCA-F86AC8A8D10E}"/>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37" name="Freeform 291">
              <a:extLst>
                <a:ext uri="{FF2B5EF4-FFF2-40B4-BE49-F238E27FC236}">
                  <a16:creationId xmlns:a16="http://schemas.microsoft.com/office/drawing/2014/main" id="{1747581A-9577-B976-A107-21658AF4FB63}"/>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sp>
        <p:nvSpPr>
          <p:cNvPr id="25" name="Rectangle 24">
            <a:extLst>
              <a:ext uri="{FF2B5EF4-FFF2-40B4-BE49-F238E27FC236}">
                <a16:creationId xmlns:a16="http://schemas.microsoft.com/office/drawing/2014/main" id="{4E942F34-0961-9391-3817-D3EC33959827}"/>
              </a:ext>
            </a:extLst>
          </p:cNvPr>
          <p:cNvSpPr/>
          <p:nvPr/>
        </p:nvSpPr>
        <p:spPr>
          <a:xfrm>
            <a:off x="2245352" y="1072350"/>
            <a:ext cx="2620446"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28" name="Rectangle 27">
            <a:extLst>
              <a:ext uri="{FF2B5EF4-FFF2-40B4-BE49-F238E27FC236}">
                <a16:creationId xmlns:a16="http://schemas.microsoft.com/office/drawing/2014/main" id="{83FB716B-3D7B-9BD4-FF32-A2037DE6EFDF}"/>
              </a:ext>
            </a:extLst>
          </p:cNvPr>
          <p:cNvSpPr/>
          <p:nvPr/>
        </p:nvSpPr>
        <p:spPr>
          <a:xfrm>
            <a:off x="279919" y="1030618"/>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KSA demand</a:t>
            </a:r>
          </a:p>
        </p:txBody>
      </p:sp>
      <p:sp>
        <p:nvSpPr>
          <p:cNvPr id="29" name="Rectangle 28">
            <a:extLst>
              <a:ext uri="{FF2B5EF4-FFF2-40B4-BE49-F238E27FC236}">
                <a16:creationId xmlns:a16="http://schemas.microsoft.com/office/drawing/2014/main" id="{AD80D5DC-4B61-B259-91D6-BBEA94114F21}"/>
              </a:ext>
            </a:extLst>
          </p:cNvPr>
          <p:cNvSpPr/>
          <p:nvPr/>
        </p:nvSpPr>
        <p:spPr>
          <a:xfrm>
            <a:off x="280621" y="1601311"/>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KSA supply</a:t>
            </a:r>
          </a:p>
        </p:txBody>
      </p:sp>
      <p:sp>
        <p:nvSpPr>
          <p:cNvPr id="118" name="Rectangle 117">
            <a:extLst>
              <a:ext uri="{FF2B5EF4-FFF2-40B4-BE49-F238E27FC236}">
                <a16:creationId xmlns:a16="http://schemas.microsoft.com/office/drawing/2014/main" id="{71287C77-FE39-50E0-BE77-854CFF1FC6FC}"/>
              </a:ext>
            </a:extLst>
          </p:cNvPr>
          <p:cNvSpPr/>
          <p:nvPr/>
        </p:nvSpPr>
        <p:spPr>
          <a:xfrm>
            <a:off x="3726712" y="1647607"/>
            <a:ext cx="1139085"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30" name="Rectangle 29">
            <a:extLst>
              <a:ext uri="{FF2B5EF4-FFF2-40B4-BE49-F238E27FC236}">
                <a16:creationId xmlns:a16="http://schemas.microsoft.com/office/drawing/2014/main" id="{1B19B274-0E22-5BEE-FBA8-3BCA14C56173}"/>
              </a:ext>
            </a:extLst>
          </p:cNvPr>
          <p:cNvSpPr/>
          <p:nvPr/>
        </p:nvSpPr>
        <p:spPr>
          <a:xfrm>
            <a:off x="279217" y="2176568"/>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KSA demand /</a:t>
            </a:r>
            <a:r>
              <a:rPr lang="en-US" sz="1000">
                <a:solidFill>
                  <a:srgbClr val="00332A"/>
                </a:solidFill>
                <a:latin typeface="Fund Light" pitchFamily="2" charset="-78"/>
                <a:cs typeface="Fund Light" pitchFamily="2" charset="-78"/>
              </a:rPr>
              <a:t> s</a:t>
            </a: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upply gap</a:t>
            </a:r>
          </a:p>
        </p:txBody>
      </p:sp>
      <p:sp>
        <p:nvSpPr>
          <p:cNvPr id="119" name="Rectangle 118">
            <a:extLst>
              <a:ext uri="{FF2B5EF4-FFF2-40B4-BE49-F238E27FC236}">
                <a16:creationId xmlns:a16="http://schemas.microsoft.com/office/drawing/2014/main" id="{696A7E9F-51E3-FFFC-1A1A-2CED408D7F36}"/>
              </a:ext>
            </a:extLst>
          </p:cNvPr>
          <p:cNvSpPr/>
          <p:nvPr/>
        </p:nvSpPr>
        <p:spPr>
          <a:xfrm>
            <a:off x="2245352" y="2218300"/>
            <a:ext cx="1481360"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31" name="Rectangle 30">
            <a:extLst>
              <a:ext uri="{FF2B5EF4-FFF2-40B4-BE49-F238E27FC236}">
                <a16:creationId xmlns:a16="http://schemas.microsoft.com/office/drawing/2014/main" id="{BB8EE442-A7AC-0AEA-96E1-F730BDB6DD33}"/>
              </a:ext>
            </a:extLst>
          </p:cNvPr>
          <p:cNvSpPr/>
          <p:nvPr/>
        </p:nvSpPr>
        <p:spPr>
          <a:xfrm>
            <a:off x="278515" y="2751636"/>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Regional export potential</a:t>
            </a:r>
          </a:p>
        </p:txBody>
      </p:sp>
      <p:sp>
        <p:nvSpPr>
          <p:cNvPr id="120" name="Rectangle 119">
            <a:extLst>
              <a:ext uri="{FF2B5EF4-FFF2-40B4-BE49-F238E27FC236}">
                <a16:creationId xmlns:a16="http://schemas.microsoft.com/office/drawing/2014/main" id="{4854BBDF-37D3-02B4-8F09-07D8EDC55C9C}"/>
              </a:ext>
            </a:extLst>
          </p:cNvPr>
          <p:cNvSpPr/>
          <p:nvPr/>
        </p:nvSpPr>
        <p:spPr>
          <a:xfrm>
            <a:off x="3726712" y="2788628"/>
            <a:ext cx="653901"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32" name="Rectangle 31">
            <a:extLst>
              <a:ext uri="{FF2B5EF4-FFF2-40B4-BE49-F238E27FC236}">
                <a16:creationId xmlns:a16="http://schemas.microsoft.com/office/drawing/2014/main" id="{B3403799-E66A-45F3-B7E3-3F387257155E}"/>
              </a:ext>
            </a:extLst>
          </p:cNvPr>
          <p:cNvSpPr/>
          <p:nvPr/>
        </p:nvSpPr>
        <p:spPr>
          <a:xfrm>
            <a:off x="277813" y="3322329"/>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Total addressable demand</a:t>
            </a:r>
          </a:p>
        </p:txBody>
      </p:sp>
      <p:sp>
        <p:nvSpPr>
          <p:cNvPr id="126" name="Rectangle 125">
            <a:extLst>
              <a:ext uri="{FF2B5EF4-FFF2-40B4-BE49-F238E27FC236}">
                <a16:creationId xmlns:a16="http://schemas.microsoft.com/office/drawing/2014/main" id="{A8A4E7DE-3169-C50B-B673-420CF94FB179}"/>
              </a:ext>
            </a:extLst>
          </p:cNvPr>
          <p:cNvSpPr/>
          <p:nvPr/>
        </p:nvSpPr>
        <p:spPr>
          <a:xfrm>
            <a:off x="277813" y="3893022"/>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Minimum viable plant capacity of the LDC product</a:t>
            </a:r>
          </a:p>
        </p:txBody>
      </p:sp>
      <p:sp>
        <p:nvSpPr>
          <p:cNvPr id="127" name="Rectangle 126">
            <a:extLst>
              <a:ext uri="{FF2B5EF4-FFF2-40B4-BE49-F238E27FC236}">
                <a16:creationId xmlns:a16="http://schemas.microsoft.com/office/drawing/2014/main" id="{03854DB0-A051-B78A-FCFA-89E91045E8E9}"/>
              </a:ext>
            </a:extLst>
          </p:cNvPr>
          <p:cNvSpPr/>
          <p:nvPr/>
        </p:nvSpPr>
        <p:spPr>
          <a:xfrm>
            <a:off x="2245352" y="3934388"/>
            <a:ext cx="1013316" cy="3939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cxnSp>
        <p:nvCxnSpPr>
          <p:cNvPr id="138" name="Straight Connector 137">
            <a:extLst>
              <a:ext uri="{FF2B5EF4-FFF2-40B4-BE49-F238E27FC236}">
                <a16:creationId xmlns:a16="http://schemas.microsoft.com/office/drawing/2014/main" id="{074F152B-9480-CFBE-EC44-F3D2B2D5F206}"/>
              </a:ext>
            </a:extLst>
          </p:cNvPr>
          <p:cNvCxnSpPr/>
          <p:nvPr/>
        </p:nvCxnSpPr>
        <p:spPr>
          <a:xfrm>
            <a:off x="2237413" y="963613"/>
            <a:ext cx="0" cy="3491983"/>
          </a:xfrm>
          <a:prstGeom prst="line">
            <a:avLst/>
          </a:prstGeom>
        </p:spPr>
        <p:style>
          <a:lnRef idx="1">
            <a:schemeClr val="accent2"/>
          </a:lnRef>
          <a:fillRef idx="0">
            <a:schemeClr val="accent2"/>
          </a:fillRef>
          <a:effectRef idx="0">
            <a:schemeClr val="accent2"/>
          </a:effectRef>
          <a:fontRef idx="minor">
            <a:schemeClr val="tx1"/>
          </a:fontRef>
        </p:style>
      </p:cxnSp>
      <p:sp>
        <p:nvSpPr>
          <p:cNvPr id="140" name="Rectangle 139">
            <a:extLst>
              <a:ext uri="{FF2B5EF4-FFF2-40B4-BE49-F238E27FC236}">
                <a16:creationId xmlns:a16="http://schemas.microsoft.com/office/drawing/2014/main" id="{2BE53199-06A1-AFDD-7D4A-32CAEB48CAAE}"/>
              </a:ext>
            </a:extLst>
          </p:cNvPr>
          <p:cNvSpPr/>
          <p:nvPr/>
        </p:nvSpPr>
        <p:spPr>
          <a:xfrm>
            <a:off x="2245352" y="3363695"/>
            <a:ext cx="1481360"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332A"/>
                </a:solidFill>
                <a:effectLst/>
                <a:uLnTx/>
                <a:uFillTx/>
                <a:latin typeface="Fund Light" pitchFamily="2" charset="-78"/>
                <a:cs typeface="Fund Light" pitchFamily="2" charset="-78"/>
              </a:rPr>
              <a:t>KSA</a:t>
            </a:r>
            <a:endParaRPr kumimoji="0" lang="en-US" sz="1100" b="0" i="1"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41" name="Rectangle 140">
            <a:extLst>
              <a:ext uri="{FF2B5EF4-FFF2-40B4-BE49-F238E27FC236}">
                <a16:creationId xmlns:a16="http://schemas.microsoft.com/office/drawing/2014/main" id="{BBCD2CC3-7E0D-902C-9DA6-A165C1C75AB9}"/>
              </a:ext>
            </a:extLst>
          </p:cNvPr>
          <p:cNvSpPr/>
          <p:nvPr/>
        </p:nvSpPr>
        <p:spPr>
          <a:xfrm>
            <a:off x="3726712" y="3363695"/>
            <a:ext cx="653901"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332A"/>
                </a:solidFill>
                <a:effectLst/>
                <a:uLnTx/>
                <a:uFillTx/>
                <a:latin typeface="Fund Light" pitchFamily="2" charset="-78"/>
                <a:cs typeface="Fund Light" pitchFamily="2" charset="-78"/>
              </a:rPr>
              <a:t>Export</a:t>
            </a:r>
          </a:p>
        </p:txBody>
      </p:sp>
      <p:cxnSp>
        <p:nvCxnSpPr>
          <p:cNvPr id="143" name="Straight Connector 142">
            <a:extLst>
              <a:ext uri="{FF2B5EF4-FFF2-40B4-BE49-F238E27FC236}">
                <a16:creationId xmlns:a16="http://schemas.microsoft.com/office/drawing/2014/main" id="{1B870C35-DD7A-ABE1-AF5C-B353F57E8FBF}"/>
              </a:ext>
            </a:extLst>
          </p:cNvPr>
          <p:cNvCxnSpPr/>
          <p:nvPr/>
        </p:nvCxnSpPr>
        <p:spPr>
          <a:xfrm>
            <a:off x="4843169" y="1466316"/>
            <a:ext cx="0" cy="18129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0A66A2C-FCE4-F568-A89E-DE0D86D19E99}"/>
              </a:ext>
            </a:extLst>
          </p:cNvPr>
          <p:cNvCxnSpPr>
            <a:cxnSpLocks/>
          </p:cNvCxnSpPr>
          <p:nvPr/>
        </p:nvCxnSpPr>
        <p:spPr>
          <a:xfrm>
            <a:off x="3726712" y="2034196"/>
            <a:ext cx="0" cy="184103"/>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313BFD9-9C21-5142-8202-BFF362239D9C}"/>
              </a:ext>
            </a:extLst>
          </p:cNvPr>
          <p:cNvCxnSpPr>
            <a:cxnSpLocks/>
          </p:cNvCxnSpPr>
          <p:nvPr/>
        </p:nvCxnSpPr>
        <p:spPr>
          <a:xfrm>
            <a:off x="3726712" y="2611437"/>
            <a:ext cx="0" cy="18362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5305E43E-A193-1EDD-9905-63EE830FF97D}"/>
              </a:ext>
            </a:extLst>
          </p:cNvPr>
          <p:cNvCxnSpPr>
            <a:cxnSpLocks/>
          </p:cNvCxnSpPr>
          <p:nvPr/>
        </p:nvCxnSpPr>
        <p:spPr>
          <a:xfrm>
            <a:off x="4374263" y="3162390"/>
            <a:ext cx="0" cy="20130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121BC438-2E98-1F41-D229-E9341F7B6067}"/>
              </a:ext>
            </a:extLst>
          </p:cNvPr>
          <p:cNvCxnSpPr>
            <a:cxnSpLocks/>
          </p:cNvCxnSpPr>
          <p:nvPr/>
        </p:nvCxnSpPr>
        <p:spPr>
          <a:xfrm>
            <a:off x="3258668" y="3363695"/>
            <a:ext cx="0" cy="1032194"/>
          </a:xfrm>
          <a:prstGeom prst="line">
            <a:avLst/>
          </a:prstGeom>
          <a:ln>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A827C55B-43BC-7DE7-64C3-2949F3424A41}"/>
              </a:ext>
            </a:extLst>
          </p:cNvPr>
          <p:cNvSpPr/>
          <p:nvPr/>
        </p:nvSpPr>
        <p:spPr>
          <a:xfrm>
            <a:off x="4922763" y="1699750"/>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59" name="Rectangle 158">
            <a:extLst>
              <a:ext uri="{FF2B5EF4-FFF2-40B4-BE49-F238E27FC236}">
                <a16:creationId xmlns:a16="http://schemas.microsoft.com/office/drawing/2014/main" id="{5BFA6619-AE5E-1215-1ABC-1ED774EE4474}"/>
              </a:ext>
            </a:extLst>
          </p:cNvPr>
          <p:cNvSpPr/>
          <p:nvPr/>
        </p:nvSpPr>
        <p:spPr>
          <a:xfrm>
            <a:off x="3776738" y="2265293"/>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60" name="Rectangle 159">
            <a:extLst>
              <a:ext uri="{FF2B5EF4-FFF2-40B4-BE49-F238E27FC236}">
                <a16:creationId xmlns:a16="http://schemas.microsoft.com/office/drawing/2014/main" id="{E5174DCF-4892-4BB5-3164-592D2CB94194}"/>
              </a:ext>
            </a:extLst>
          </p:cNvPr>
          <p:cNvSpPr/>
          <p:nvPr/>
        </p:nvSpPr>
        <p:spPr>
          <a:xfrm>
            <a:off x="4439888" y="2830836"/>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61" name="Rectangle 160">
            <a:extLst>
              <a:ext uri="{FF2B5EF4-FFF2-40B4-BE49-F238E27FC236}">
                <a16:creationId xmlns:a16="http://schemas.microsoft.com/office/drawing/2014/main" id="{9EF22066-1831-53AE-3B20-5C117FC75344}"/>
              </a:ext>
            </a:extLst>
          </p:cNvPr>
          <p:cNvSpPr/>
          <p:nvPr/>
        </p:nvSpPr>
        <p:spPr>
          <a:xfrm>
            <a:off x="4439888" y="3390318"/>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62" name="Rectangle 161">
            <a:extLst>
              <a:ext uri="{FF2B5EF4-FFF2-40B4-BE49-F238E27FC236}">
                <a16:creationId xmlns:a16="http://schemas.microsoft.com/office/drawing/2014/main" id="{A122E1D2-0A7D-D700-2487-4E90D35FD128}"/>
              </a:ext>
            </a:extLst>
          </p:cNvPr>
          <p:cNvSpPr/>
          <p:nvPr/>
        </p:nvSpPr>
        <p:spPr>
          <a:xfrm>
            <a:off x="3310676" y="3995156"/>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163" name="Rectangle 162">
            <a:extLst>
              <a:ext uri="{FF2B5EF4-FFF2-40B4-BE49-F238E27FC236}">
                <a16:creationId xmlns:a16="http://schemas.microsoft.com/office/drawing/2014/main" id="{1B666488-A8B8-C7E4-E469-B6E4CD38351E}"/>
              </a:ext>
            </a:extLst>
          </p:cNvPr>
          <p:cNvSpPr/>
          <p:nvPr/>
        </p:nvSpPr>
        <p:spPr>
          <a:xfrm>
            <a:off x="2245352"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2A"/>
                </a:solidFill>
                <a:effectLst/>
                <a:uLnTx/>
                <a:uFillTx/>
                <a:latin typeface="Fund Light" pitchFamily="2" charset="-78"/>
                <a:cs typeface="Fund Light" pitchFamily="2" charset="-78"/>
              </a:rPr>
              <a:t>Annual volume (e.g., units, tons)</a:t>
            </a:r>
          </a:p>
        </p:txBody>
      </p:sp>
      <p:cxnSp>
        <p:nvCxnSpPr>
          <p:cNvPr id="165" name="Straight Connector 164">
            <a:extLst>
              <a:ext uri="{FF2B5EF4-FFF2-40B4-BE49-F238E27FC236}">
                <a16:creationId xmlns:a16="http://schemas.microsoft.com/office/drawing/2014/main" id="{DCEF5BC1-A4E8-BB56-BADE-3C79AA8B2248}"/>
              </a:ext>
            </a:extLst>
          </p:cNvPr>
          <p:cNvCxnSpPr/>
          <p:nvPr/>
        </p:nvCxnSpPr>
        <p:spPr>
          <a:xfrm>
            <a:off x="277813" y="1554496"/>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90F588C7-8ED7-7D86-40C6-11C57381CD03}"/>
              </a:ext>
            </a:extLst>
          </p:cNvPr>
          <p:cNvCxnSpPr/>
          <p:nvPr/>
        </p:nvCxnSpPr>
        <p:spPr>
          <a:xfrm>
            <a:off x="277813" y="2126247"/>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E85E9DF0-9006-69FF-4D4C-D4EEF2481593}"/>
              </a:ext>
            </a:extLst>
          </p:cNvPr>
          <p:cNvCxnSpPr/>
          <p:nvPr/>
        </p:nvCxnSpPr>
        <p:spPr>
          <a:xfrm>
            <a:off x="277812" y="2703249"/>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9B338E95-CC96-781A-5CD5-9D35D3C08032}"/>
              </a:ext>
            </a:extLst>
          </p:cNvPr>
          <p:cNvCxnSpPr/>
          <p:nvPr/>
        </p:nvCxnSpPr>
        <p:spPr>
          <a:xfrm>
            <a:off x="277811" y="3273043"/>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240094E-989F-5BF1-4408-1ABFA6630314}"/>
              </a:ext>
            </a:extLst>
          </p:cNvPr>
          <p:cNvCxnSpPr/>
          <p:nvPr/>
        </p:nvCxnSpPr>
        <p:spPr>
          <a:xfrm>
            <a:off x="277810" y="3850193"/>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6648BC32-5C83-738D-9BE7-308AA57C72E4}"/>
              </a:ext>
            </a:extLst>
          </p:cNvPr>
          <p:cNvGrpSpPr/>
          <p:nvPr/>
        </p:nvGrpSpPr>
        <p:grpSpPr>
          <a:xfrm>
            <a:off x="5820569" y="1034877"/>
            <a:ext cx="2977098" cy="3361012"/>
            <a:chOff x="5450737" y="1034877"/>
            <a:chExt cx="3346930" cy="3361012"/>
          </a:xfrm>
          <a:noFill/>
        </p:grpSpPr>
        <p:sp>
          <p:nvSpPr>
            <p:cNvPr id="109" name="Rectangle 108">
              <a:extLst>
                <a:ext uri="{FF2B5EF4-FFF2-40B4-BE49-F238E27FC236}">
                  <a16:creationId xmlns:a16="http://schemas.microsoft.com/office/drawing/2014/main" id="{E008E58B-4029-1C1B-4570-4002E000DFBD}"/>
                </a:ext>
              </a:extLst>
            </p:cNvPr>
            <p:cNvSpPr/>
            <p:nvPr/>
          </p:nvSpPr>
          <p:spPr>
            <a:xfrm>
              <a:off x="5450737" y="1034877"/>
              <a:ext cx="3346930" cy="45036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Company own demand</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Market intelligence (through estimations, supplier sensing, expert interviews)</a:t>
              </a:r>
            </a:p>
          </p:txBody>
        </p:sp>
        <p:sp>
          <p:nvSpPr>
            <p:cNvPr id="110" name="Rectangle 109">
              <a:extLst>
                <a:ext uri="{FF2B5EF4-FFF2-40B4-BE49-F238E27FC236}">
                  <a16:creationId xmlns:a16="http://schemas.microsoft.com/office/drawing/2014/main" id="{14BBA5FD-51BF-C00F-CF34-F619AE0FC7CB}"/>
                </a:ext>
              </a:extLst>
            </p:cNvPr>
            <p:cNvSpPr/>
            <p:nvPr/>
          </p:nvSpPr>
          <p:spPr>
            <a:xfrm>
              <a:off x="5450737" y="1575691"/>
              <a:ext cx="3346930" cy="5002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hlinkClick r:id="rId8"/>
                </a:rPr>
                <a:t>NIIC factory database</a:t>
              </a:r>
              <a:endPar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Supplier sensing</a:t>
              </a:r>
            </a:p>
          </p:txBody>
        </p:sp>
        <p:sp>
          <p:nvSpPr>
            <p:cNvPr id="172" name="Rectangle 171">
              <a:extLst>
                <a:ext uri="{FF2B5EF4-FFF2-40B4-BE49-F238E27FC236}">
                  <a16:creationId xmlns:a16="http://schemas.microsoft.com/office/drawing/2014/main" id="{2E676400-F074-F684-6A26-3D2740E79C34}"/>
                </a:ext>
              </a:extLst>
            </p:cNvPr>
            <p:cNvSpPr/>
            <p:nvPr/>
          </p:nvSpPr>
          <p:spPr>
            <a:xfrm>
              <a:off x="5450737" y="2751636"/>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Regional reported imports (</a:t>
              </a: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hlinkClick r:id="rId9"/>
                </a:rPr>
                <a:t>HS codes</a:t>
              </a: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Market intelligence (through estimations, supplier sensing, expert interviews)</a:t>
              </a:r>
            </a:p>
          </p:txBody>
        </p:sp>
        <p:sp>
          <p:nvSpPr>
            <p:cNvPr id="173" name="Rectangle 172">
              <a:extLst>
                <a:ext uri="{FF2B5EF4-FFF2-40B4-BE49-F238E27FC236}">
                  <a16:creationId xmlns:a16="http://schemas.microsoft.com/office/drawing/2014/main" id="{B9DC37AC-06CD-2B0D-719E-C45F99EF9A54}"/>
                </a:ext>
              </a:extLst>
            </p:cNvPr>
            <p:cNvSpPr/>
            <p:nvPr/>
          </p:nvSpPr>
          <p:spPr>
            <a:xfrm>
              <a:off x="5450737" y="3913797"/>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Supplier sensing</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Benchmark investments</a:t>
              </a:r>
            </a:p>
          </p:txBody>
        </p:sp>
      </p:grpSp>
      <p:sp>
        <p:nvSpPr>
          <p:cNvPr id="174" name="Rectangle 173">
            <a:extLst>
              <a:ext uri="{FF2B5EF4-FFF2-40B4-BE49-F238E27FC236}">
                <a16:creationId xmlns:a16="http://schemas.microsoft.com/office/drawing/2014/main" id="{B3E53CC3-29D7-5C9A-D3A6-73CAF214DC39}"/>
              </a:ext>
            </a:extLst>
          </p:cNvPr>
          <p:cNvSpPr/>
          <p:nvPr/>
        </p:nvSpPr>
        <p:spPr>
          <a:xfrm>
            <a:off x="5820569"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2A"/>
                </a:solidFill>
                <a:effectLst/>
                <a:uLnTx/>
                <a:uFillTx/>
                <a:latin typeface="Fund Light" pitchFamily="2" charset="-78"/>
                <a:cs typeface="Fund Light" pitchFamily="2" charset="-78"/>
              </a:rPr>
              <a:t>Sources</a:t>
            </a:r>
          </a:p>
        </p:txBody>
      </p:sp>
      <p:sp>
        <p:nvSpPr>
          <p:cNvPr id="176" name="Rectangle 175">
            <a:extLst>
              <a:ext uri="{FF2B5EF4-FFF2-40B4-BE49-F238E27FC236}">
                <a16:creationId xmlns:a16="http://schemas.microsoft.com/office/drawing/2014/main" id="{DF9EBC5C-E045-FA0F-7B20-853B285A70F3}"/>
              </a:ext>
            </a:extLst>
          </p:cNvPr>
          <p:cNvSpPr/>
          <p:nvPr/>
        </p:nvSpPr>
        <p:spPr>
          <a:xfrm>
            <a:off x="2727783" y="4427194"/>
            <a:ext cx="1063333" cy="285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332A"/>
                </a:solidFill>
                <a:effectLst/>
                <a:uLnTx/>
                <a:uFillTx/>
                <a:latin typeface="Fund Light" pitchFamily="2" charset="-78"/>
                <a:cs typeface="Fund Light" pitchFamily="2" charset="-78"/>
              </a:rPr>
              <a:t>% of total addressable demand</a:t>
            </a:r>
          </a:p>
        </p:txBody>
      </p:sp>
      <p:sp>
        <p:nvSpPr>
          <p:cNvPr id="180" name="Speech Bubble: Rectangle 179">
            <a:extLst>
              <a:ext uri="{FF2B5EF4-FFF2-40B4-BE49-F238E27FC236}">
                <a16:creationId xmlns:a16="http://schemas.microsoft.com/office/drawing/2014/main" id="{DABC8EAC-2974-24A8-527E-995705A1B516}"/>
              </a:ext>
            </a:extLst>
          </p:cNvPr>
          <p:cNvSpPr/>
          <p:nvPr>
            <p:custDataLst>
              <p:tags r:id="rId2"/>
            </p:custDataLst>
          </p:nvPr>
        </p:nvSpPr>
        <p:spPr>
          <a:xfrm>
            <a:off x="3883613" y="3942533"/>
            <a:ext cx="1888538" cy="615825"/>
          </a:xfrm>
          <a:prstGeom prst="wedgeRectCallout">
            <a:avLst>
              <a:gd name="adj1" fmla="val -60284"/>
              <a:gd name="adj2" fmla="val 35067"/>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GB" sz="800" b="0" i="1" u="none" strike="noStrike" kern="1200" cap="none" spc="0" normalizeH="0" baseline="0" noProof="0">
                <a:ln>
                  <a:noFill/>
                </a:ln>
                <a:solidFill>
                  <a:srgbClr val="FFFFFF">
                    <a:lumMod val="50000"/>
                  </a:srgbClr>
                </a:solidFill>
                <a:effectLst/>
                <a:uLnTx/>
                <a:uFillTx/>
                <a:latin typeface="Fund Light" pitchFamily="2" charset="-78"/>
                <a:cs typeface="Fund Light" pitchFamily="2" charset="-78"/>
              </a:rPr>
              <a:t>If total addressable demand is smaller than expected plant capacity, the viability of the opportunity needs to be reviewed</a:t>
            </a:r>
          </a:p>
        </p:txBody>
      </p:sp>
      <p:grpSp>
        <p:nvGrpSpPr>
          <p:cNvPr id="181" name="Group 180">
            <a:extLst>
              <a:ext uri="{FF2B5EF4-FFF2-40B4-BE49-F238E27FC236}">
                <a16:creationId xmlns:a16="http://schemas.microsoft.com/office/drawing/2014/main" id="{425BE394-A416-2E23-2776-4633EBBF3951}"/>
              </a:ext>
            </a:extLst>
          </p:cNvPr>
          <p:cNvGrpSpPr/>
          <p:nvPr/>
        </p:nvGrpSpPr>
        <p:grpSpPr>
          <a:xfrm>
            <a:off x="7498916" y="1665889"/>
            <a:ext cx="168686" cy="161455"/>
            <a:chOff x="11260138" y="4194175"/>
            <a:chExt cx="360363" cy="379413"/>
          </a:xfrm>
        </p:grpSpPr>
        <p:sp>
          <p:nvSpPr>
            <p:cNvPr id="182" name="Freeform 289">
              <a:extLst>
                <a:ext uri="{FF2B5EF4-FFF2-40B4-BE49-F238E27FC236}">
                  <a16:creationId xmlns:a16="http://schemas.microsoft.com/office/drawing/2014/main" id="{77876B57-340A-56CD-5294-F1EC691A55D4}"/>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83" name="Freeform 290">
              <a:extLst>
                <a:ext uri="{FF2B5EF4-FFF2-40B4-BE49-F238E27FC236}">
                  <a16:creationId xmlns:a16="http://schemas.microsoft.com/office/drawing/2014/main" id="{C676FBE6-09D0-8CBF-1AB4-44C9C64600B6}"/>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84" name="Freeform 291">
              <a:extLst>
                <a:ext uri="{FF2B5EF4-FFF2-40B4-BE49-F238E27FC236}">
                  <a16:creationId xmlns:a16="http://schemas.microsoft.com/office/drawing/2014/main" id="{6BD762DC-0926-6C38-9E9D-DE6B90D11D6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grpSp>
      <p:grpSp>
        <p:nvGrpSpPr>
          <p:cNvPr id="185" name="Group 184">
            <a:extLst>
              <a:ext uri="{FF2B5EF4-FFF2-40B4-BE49-F238E27FC236}">
                <a16:creationId xmlns:a16="http://schemas.microsoft.com/office/drawing/2014/main" id="{AD7BC8C4-6F27-A76F-B114-116B919799C6}"/>
              </a:ext>
            </a:extLst>
          </p:cNvPr>
          <p:cNvGrpSpPr/>
          <p:nvPr/>
        </p:nvGrpSpPr>
        <p:grpSpPr>
          <a:xfrm>
            <a:off x="8506449" y="2771364"/>
            <a:ext cx="168686" cy="161455"/>
            <a:chOff x="11260138" y="4194175"/>
            <a:chExt cx="360363" cy="379413"/>
          </a:xfrm>
        </p:grpSpPr>
        <p:sp>
          <p:nvSpPr>
            <p:cNvPr id="186" name="Freeform 289">
              <a:extLst>
                <a:ext uri="{FF2B5EF4-FFF2-40B4-BE49-F238E27FC236}">
                  <a16:creationId xmlns:a16="http://schemas.microsoft.com/office/drawing/2014/main" id="{333C6B5F-0194-D7BF-8FE6-8B86FC0C4BC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87" name="Freeform 290">
              <a:extLst>
                <a:ext uri="{FF2B5EF4-FFF2-40B4-BE49-F238E27FC236}">
                  <a16:creationId xmlns:a16="http://schemas.microsoft.com/office/drawing/2014/main" id="{D59E5099-9423-871A-49D9-D84668971DA0}"/>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88" name="Freeform 291">
              <a:extLst>
                <a:ext uri="{FF2B5EF4-FFF2-40B4-BE49-F238E27FC236}">
                  <a16:creationId xmlns:a16="http://schemas.microsoft.com/office/drawing/2014/main" id="{6595B129-666F-EE63-BD3B-72A522240954}"/>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grpSp>
      <p:sp>
        <p:nvSpPr>
          <p:cNvPr id="15" name="Text Placeholder 6">
            <a:extLst>
              <a:ext uri="{FF2B5EF4-FFF2-40B4-BE49-F238E27FC236}">
                <a16:creationId xmlns:a16="http://schemas.microsoft.com/office/drawing/2014/main" id="{FBD919E9-8212-BD28-D0FC-ACD8E73D0951}"/>
              </a:ext>
            </a:extLst>
          </p:cNvPr>
          <p:cNvSpPr txBox="1">
            <a:spLocks/>
          </p:cNvSpPr>
          <p:nvPr/>
        </p:nvSpPr>
        <p:spPr>
          <a:xfrm>
            <a:off x="7589520" y="-2080"/>
            <a:ext cx="155448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the demand sufficient?</a:t>
            </a:r>
          </a:p>
        </p:txBody>
      </p:sp>
      <p:sp>
        <p:nvSpPr>
          <p:cNvPr id="16" name="Oval 15">
            <a:extLst>
              <a:ext uri="{FF2B5EF4-FFF2-40B4-BE49-F238E27FC236}">
                <a16:creationId xmlns:a16="http://schemas.microsoft.com/office/drawing/2014/main" id="{BFC91AD3-5040-2CDC-DD7B-4263E410600A}"/>
              </a:ext>
            </a:extLst>
          </p:cNvPr>
          <p:cNvSpPr/>
          <p:nvPr/>
        </p:nvSpPr>
        <p:spPr>
          <a:xfrm>
            <a:off x="7470002" y="46401"/>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grpSp>
        <p:nvGrpSpPr>
          <p:cNvPr id="17" name="Group 16">
            <a:extLst>
              <a:ext uri="{FF2B5EF4-FFF2-40B4-BE49-F238E27FC236}">
                <a16:creationId xmlns:a16="http://schemas.microsoft.com/office/drawing/2014/main" id="{353FF606-6969-7338-1973-065684EBBEF8}"/>
              </a:ext>
            </a:extLst>
          </p:cNvPr>
          <p:cNvGrpSpPr/>
          <p:nvPr/>
        </p:nvGrpSpPr>
        <p:grpSpPr>
          <a:xfrm>
            <a:off x="1349993" y="34194"/>
            <a:ext cx="5484392" cy="219841"/>
            <a:chOff x="1349993" y="34194"/>
            <a:chExt cx="5484392" cy="219841"/>
          </a:xfrm>
        </p:grpSpPr>
        <p:sp>
          <p:nvSpPr>
            <p:cNvPr id="18" name="TextBox 17">
              <a:extLst>
                <a:ext uri="{FF2B5EF4-FFF2-40B4-BE49-F238E27FC236}">
                  <a16:creationId xmlns:a16="http://schemas.microsoft.com/office/drawing/2014/main" id="{17B7300C-4717-F01B-075A-75FAB2498AE6}"/>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19" name="TextBox 18">
              <a:extLst>
                <a:ext uri="{FF2B5EF4-FFF2-40B4-BE49-F238E27FC236}">
                  <a16:creationId xmlns:a16="http://schemas.microsoft.com/office/drawing/2014/main" id="{39FAAD2D-C3F5-B048-7D7E-D6F5E4BC22BE}"/>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20" name="TextBox 19">
              <a:extLst>
                <a:ext uri="{FF2B5EF4-FFF2-40B4-BE49-F238E27FC236}">
                  <a16:creationId xmlns:a16="http://schemas.microsoft.com/office/drawing/2014/main" id="{BF99343C-7BAB-70C4-6B63-788734217AB8}"/>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21" name="TextBox 20">
              <a:extLst>
                <a:ext uri="{FF2B5EF4-FFF2-40B4-BE49-F238E27FC236}">
                  <a16:creationId xmlns:a16="http://schemas.microsoft.com/office/drawing/2014/main" id="{984D917E-5318-6841-BD27-3B913A25FB50}"/>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23" name="TextBox 22">
              <a:extLst>
                <a:ext uri="{FF2B5EF4-FFF2-40B4-BE49-F238E27FC236}">
                  <a16:creationId xmlns:a16="http://schemas.microsoft.com/office/drawing/2014/main" id="{D17839FD-83C3-E466-F8F0-CD4CDB0BD12A}"/>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Tree>
    <p:extLst>
      <p:ext uri="{BB962C8B-B14F-4D97-AF65-F5344CB8AC3E}">
        <p14:creationId xmlns:p14="http://schemas.microsoft.com/office/powerpoint/2010/main" val="817298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0EB1D8-A67B-4201-9C7D-65C4BABF90C4}"/>
              </a:ext>
            </a:extLst>
          </p:cNvPr>
          <p:cNvGraphicFramePr>
            <a:graphicFrameLocks noChangeAspect="1"/>
          </p:cNvGraphicFramePr>
          <p:nvPr>
            <p:custDataLst>
              <p:tags r:id="rId1"/>
            </p:custDataLst>
            <p:extLst>
              <p:ext uri="{D42A27DB-BD31-4B8C-83A1-F6EECF244321}">
                <p14:modId xmlns:p14="http://schemas.microsoft.com/office/powerpoint/2010/main" val="1026803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63" progId="TCLayout.ActiveDocument.1">
                  <p:embed/>
                </p:oleObj>
              </mc:Choice>
              <mc:Fallback>
                <p:oleObj name="think-cell Slide" r:id="rId4" imgW="353" imgH="363" progId="TCLayout.ActiveDocument.1">
                  <p:embed/>
                  <p:pic>
                    <p:nvPicPr>
                      <p:cNvPr id="6" name="think-cell data - do not delete" hidden="1">
                        <a:extLst>
                          <a:ext uri="{FF2B5EF4-FFF2-40B4-BE49-F238E27FC236}">
                            <a16:creationId xmlns:a16="http://schemas.microsoft.com/office/drawing/2014/main" id="{690EB1D8-A67B-4201-9C7D-65C4BABF90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2DE94BF8-8CE4-4E61-B462-5372EF048EA8}"/>
              </a:ext>
            </a:extLst>
          </p:cNvPr>
          <p:cNvSpPr>
            <a:spLocks noGrp="1"/>
          </p:cNvSpPr>
          <p:nvPr>
            <p:ph type="title"/>
          </p:nvPr>
        </p:nvSpPr>
        <p:spPr>
          <a:xfrm>
            <a:off x="1255078" y="255973"/>
            <a:ext cx="7683182" cy="241824"/>
          </a:xfrm>
        </p:spPr>
        <p:txBody>
          <a:bodyPr vert="horz">
            <a:normAutofit fontScale="90000"/>
          </a:bodyPr>
          <a:lstStyle/>
          <a:p>
            <a:r>
              <a:rPr lang="en-US" b="1"/>
              <a:t>Stage 2 − Feasibility and terms assessment:</a:t>
            </a:r>
            <a:r>
              <a:rPr lang="en-US"/>
              <a:t> There are two types of LDC agreements </a:t>
            </a:r>
          </a:p>
        </p:txBody>
      </p:sp>
      <p:sp>
        <p:nvSpPr>
          <p:cNvPr id="32" name="Rectangle 31">
            <a:extLst>
              <a:ext uri="{FF2B5EF4-FFF2-40B4-BE49-F238E27FC236}">
                <a16:creationId xmlns:a16="http://schemas.microsoft.com/office/drawing/2014/main" id="{926A7D37-9978-4762-BB8C-E3B870A20D70}"/>
              </a:ext>
            </a:extLst>
          </p:cNvPr>
          <p:cNvSpPr>
            <a:spLocks/>
          </p:cNvSpPr>
          <p:nvPr/>
        </p:nvSpPr>
        <p:spPr>
          <a:xfrm>
            <a:off x="326231" y="991885"/>
            <a:ext cx="959644" cy="391581"/>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Type of agreement</a:t>
            </a:r>
          </a:p>
        </p:txBody>
      </p:sp>
      <p:cxnSp>
        <p:nvCxnSpPr>
          <p:cNvPr id="44" name="Straight Connector 43">
            <a:extLst>
              <a:ext uri="{FF2B5EF4-FFF2-40B4-BE49-F238E27FC236}">
                <a16:creationId xmlns:a16="http://schemas.microsoft.com/office/drawing/2014/main" id="{7DF2F0DD-B23A-48E9-B5BF-2EA3B37AAF9E}"/>
              </a:ext>
            </a:extLst>
          </p:cNvPr>
          <p:cNvCxnSpPr>
            <a:cxnSpLocks/>
          </p:cNvCxnSpPr>
          <p:nvPr/>
        </p:nvCxnSpPr>
        <p:spPr>
          <a:xfrm>
            <a:off x="326230" y="3061978"/>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ED61D91-7A82-42A9-B639-1C04411C5A26}"/>
              </a:ext>
            </a:extLst>
          </p:cNvPr>
          <p:cNvCxnSpPr>
            <a:cxnSpLocks/>
          </p:cNvCxnSpPr>
          <p:nvPr/>
        </p:nvCxnSpPr>
        <p:spPr>
          <a:xfrm>
            <a:off x="326230" y="3615509"/>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2ABCAB0B-71A5-46F6-A57E-14A56C9A9884}"/>
              </a:ext>
            </a:extLst>
          </p:cNvPr>
          <p:cNvSpPr>
            <a:spLocks/>
          </p:cNvSpPr>
          <p:nvPr/>
        </p:nvSpPr>
        <p:spPr>
          <a:xfrm>
            <a:off x="326231" y="1426510"/>
            <a:ext cx="959644" cy="1592424"/>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How does it work?</a:t>
            </a:r>
          </a:p>
        </p:txBody>
      </p:sp>
      <p:sp>
        <p:nvSpPr>
          <p:cNvPr id="38" name="Rectangle 37">
            <a:extLst>
              <a:ext uri="{FF2B5EF4-FFF2-40B4-BE49-F238E27FC236}">
                <a16:creationId xmlns:a16="http://schemas.microsoft.com/office/drawing/2014/main" id="{CCC4F507-0485-4A68-8C05-D4DE8776332A}"/>
              </a:ext>
            </a:extLst>
          </p:cNvPr>
          <p:cNvSpPr>
            <a:spLocks/>
          </p:cNvSpPr>
          <p:nvPr/>
        </p:nvSpPr>
        <p:spPr>
          <a:xfrm>
            <a:off x="326231" y="3105022"/>
            <a:ext cx="959644" cy="467443"/>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Liability risk exposure? </a:t>
            </a:r>
          </a:p>
        </p:txBody>
      </p:sp>
      <p:sp>
        <p:nvSpPr>
          <p:cNvPr id="47" name="Rectangle 46">
            <a:extLst>
              <a:ext uri="{FF2B5EF4-FFF2-40B4-BE49-F238E27FC236}">
                <a16:creationId xmlns:a16="http://schemas.microsoft.com/office/drawing/2014/main" id="{D33E7873-EC9C-4A2A-9429-FE657BB5A8A4}"/>
              </a:ext>
            </a:extLst>
          </p:cNvPr>
          <p:cNvSpPr>
            <a:spLocks/>
          </p:cNvSpPr>
          <p:nvPr/>
        </p:nvSpPr>
        <p:spPr>
          <a:xfrm>
            <a:off x="326231" y="3658555"/>
            <a:ext cx="959644" cy="857883"/>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When to apply?</a:t>
            </a:r>
          </a:p>
        </p:txBody>
      </p:sp>
      <p:sp>
        <p:nvSpPr>
          <p:cNvPr id="33" name="TextBox 32">
            <a:extLst>
              <a:ext uri="{FF2B5EF4-FFF2-40B4-BE49-F238E27FC236}">
                <a16:creationId xmlns:a16="http://schemas.microsoft.com/office/drawing/2014/main" id="{7E253E89-E33C-435A-B1C8-334161DA5095}"/>
              </a:ext>
            </a:extLst>
          </p:cNvPr>
          <p:cNvSpPr txBox="1">
            <a:spLocks/>
          </p:cNvSpPr>
          <p:nvPr/>
        </p:nvSpPr>
        <p:spPr>
          <a:xfrm>
            <a:off x="1357313" y="991885"/>
            <a:ext cx="3566160" cy="391581"/>
          </a:xfrm>
          <a:prstGeom prst="rect">
            <a:avLst/>
          </a:prstGeom>
          <a:solidFill>
            <a:schemeClr val="bg2"/>
          </a:solidFill>
        </p:spPr>
        <p:txBody>
          <a:bodyPr wrap="square" rtlCol="0" anchor="ctr">
            <a:noAutofit/>
          </a:bodyPr>
          <a:lstStyle>
            <a:defPPr>
              <a:defRPr lang="en-US"/>
            </a:defPPr>
            <a:lvl1pPr marR="0" lvl="0" indent="0" algn="ctr" defTabSz="914400" fontAlgn="auto">
              <a:lnSpc>
                <a:spcPct val="100000"/>
              </a:lnSpc>
              <a:spcBef>
                <a:spcPts val="300"/>
              </a:spcBef>
              <a:spcAft>
                <a:spcPts val="300"/>
              </a:spcAft>
              <a:buClrTx/>
              <a:buSzTx/>
              <a:buFontTx/>
              <a:buNone/>
              <a:tabLst/>
              <a:defRPr kumimoji="0" sz="1000" b="1" i="0" u="none" strike="noStrike" cap="none" spc="0" normalizeH="0" baseline="0">
                <a:ln>
                  <a:noFill/>
                </a:ln>
                <a:solidFill>
                  <a:srgbClr val="FFFFFF"/>
                </a:solidFill>
                <a:effectLst/>
                <a:uLnTx/>
                <a:uFillTx/>
                <a:latin typeface="Fund Light" pitchFamily="2" charset="-78"/>
                <a:cs typeface="Fund Light" pitchFamily="2" charset="-78"/>
              </a:defRPr>
            </a:lvl1pPr>
          </a:lstStyle>
          <a:p>
            <a:r>
              <a:rPr lang="en-US"/>
              <a:t>Preferred supplier agreement</a:t>
            </a:r>
          </a:p>
        </p:txBody>
      </p:sp>
      <p:sp>
        <p:nvSpPr>
          <p:cNvPr id="37" name="TextBox 36">
            <a:extLst>
              <a:ext uri="{FF2B5EF4-FFF2-40B4-BE49-F238E27FC236}">
                <a16:creationId xmlns:a16="http://schemas.microsoft.com/office/drawing/2014/main" id="{93D981AB-8DA8-460D-8303-60D90ABFDE33}"/>
              </a:ext>
            </a:extLst>
          </p:cNvPr>
          <p:cNvSpPr txBox="1">
            <a:spLocks/>
          </p:cNvSpPr>
          <p:nvPr/>
        </p:nvSpPr>
        <p:spPr>
          <a:xfrm>
            <a:off x="1357313" y="1426510"/>
            <a:ext cx="3566160" cy="1392369"/>
          </a:xfrm>
          <a:prstGeom prst="rect">
            <a:avLst/>
          </a:prstGeom>
          <a:noFill/>
        </p:spPr>
        <p:txBody>
          <a:bodyPr wrap="square" rtlCol="0" anchor="t" anchorCtr="0">
            <a:noAutofit/>
          </a:bodyPr>
          <a:lstStyle/>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Buyer has to procure from supplier</a:t>
            </a:r>
            <a:r>
              <a:rPr kumimoji="0" lang="en-US" sz="900" b="0" i="0" strike="noStrike" kern="1200" cap="none" spc="0" normalizeH="0" baseline="0" noProof="0">
                <a:ln>
                  <a:noFill/>
                </a:ln>
                <a:solidFill>
                  <a:srgbClr val="000000"/>
                </a:solidFill>
                <a:effectLst/>
                <a:uLnTx/>
                <a:uFillTx/>
                <a:latin typeface="Fund Light" pitchFamily="2" charset="-78"/>
                <a:ea typeface="+mn-ea"/>
                <a:cs typeface="Fund Light" pitchFamily="2" charset="-78"/>
              </a:rPr>
              <a:t> </a:t>
            </a:r>
            <a:r>
              <a:rPr kumimoji="0" lang="en-US" sz="900" b="1" i="0" strike="noStrike" kern="1200" cap="none" spc="0" normalizeH="0" baseline="0" noProof="0">
                <a:ln>
                  <a:noFill/>
                </a:ln>
                <a:solidFill>
                  <a:srgbClr val="000000"/>
                </a:solidFill>
                <a:effectLst/>
                <a:uLnTx/>
                <a:uFillTx/>
                <a:latin typeface="Fund Light" pitchFamily="2" charset="-78"/>
                <a:ea typeface="+mn-ea"/>
                <a:cs typeface="Fund Light" pitchFamily="2" charset="-78"/>
              </a:rPr>
              <a:t>only if business need arises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i.e., if there is demand and the buyer procures from a foreign entity, legal implications arise. However, if the buyer does not procure, no legal obligations arise</a:t>
            </a:r>
          </a:p>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Purchase quantity, duration, and price contractually agreed upon </a:t>
            </a:r>
          </a:p>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must commit to invest in a local facility</a:t>
            </a:r>
          </a:p>
        </p:txBody>
      </p:sp>
      <p:sp>
        <p:nvSpPr>
          <p:cNvPr id="39" name="TextBox 38">
            <a:extLst>
              <a:ext uri="{FF2B5EF4-FFF2-40B4-BE49-F238E27FC236}">
                <a16:creationId xmlns:a16="http://schemas.microsoft.com/office/drawing/2014/main" id="{D9AF3E33-456A-44C6-A6CE-5E0DEAFFD1A0}"/>
              </a:ext>
            </a:extLst>
          </p:cNvPr>
          <p:cNvSpPr txBox="1">
            <a:spLocks/>
          </p:cNvSpPr>
          <p:nvPr/>
        </p:nvSpPr>
        <p:spPr>
          <a:xfrm>
            <a:off x="1357313" y="3105022"/>
            <a:ext cx="3566160" cy="467443"/>
          </a:xfrm>
          <a:prstGeom prst="rect">
            <a:avLst/>
          </a:prstGeom>
          <a:noFill/>
        </p:spPr>
        <p:txBody>
          <a:bodyPr wrap="square" rtlCol="0" anchor="ctr">
            <a:noAutofit/>
          </a:bodyPr>
          <a:lstStyle/>
          <a:p>
            <a:pPr marL="182880" marR="0" lvl="0" indent="-182880" algn="l" defTabSz="914400" rtl="0" eaLnBrk="1" fontAlgn="auto" latinLnBrk="0" hangingPunct="1">
              <a:lnSpc>
                <a:spcPct val="150000"/>
              </a:lnSpc>
              <a:spcBef>
                <a:spcPts val="400"/>
              </a:spcBef>
              <a:spcAft>
                <a:spcPts val="400"/>
              </a:spcAft>
              <a:buClrTx/>
              <a:buSzTx/>
              <a:buFont typeface="+mj-lt"/>
              <a:buAutoNum type="arabicPeriod"/>
              <a:tabLst/>
              <a:defRPr/>
            </a:pPr>
            <a:r>
              <a:rPr kumimoji="0" lang="en-US" sz="9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No</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(procurement only if business need arises)</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48" name="TextBox 47">
            <a:extLst>
              <a:ext uri="{FF2B5EF4-FFF2-40B4-BE49-F238E27FC236}">
                <a16:creationId xmlns:a16="http://schemas.microsoft.com/office/drawing/2014/main" id="{B7BDCF60-60CE-460E-98EB-BFD651D96B28}"/>
              </a:ext>
            </a:extLst>
          </p:cNvPr>
          <p:cNvSpPr txBox="1">
            <a:spLocks/>
          </p:cNvSpPr>
          <p:nvPr/>
        </p:nvSpPr>
        <p:spPr>
          <a:xfrm>
            <a:off x="1357313" y="3658555"/>
            <a:ext cx="3566160" cy="857883"/>
          </a:xfrm>
          <a:prstGeom prst="rect">
            <a:avLst/>
          </a:prstGeom>
          <a:noFill/>
        </p:spPr>
        <p:txBody>
          <a:bodyPr wrap="square" rtlCol="0" anchor="ctr">
            <a:noAutofit/>
          </a:bodyPr>
          <a:lstStyle/>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Low financial risk for the investor</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Low to medium capex </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Medium to high Internal Rate of R</a:t>
            </a:r>
            <a:r>
              <a:rPr lang="en-US" sz="900">
                <a:solidFill>
                  <a:srgbClr val="000000"/>
                </a:solidFill>
                <a:latin typeface="Fund Light" pitchFamily="2" charset="-78"/>
                <a:cs typeface="Fund Light" pitchFamily="2" charset="-78"/>
              </a:rPr>
              <a:t>eturn (IRR)</a:t>
            </a:r>
            <a:endPar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Low to medium product complexity (based on PCI</a:t>
            </a:r>
            <a:r>
              <a:rPr kumimoji="0" lang="en-US" sz="9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rPr>
              <a:t>1</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52" name="Oval 51">
            <a:extLst>
              <a:ext uri="{FF2B5EF4-FFF2-40B4-BE49-F238E27FC236}">
                <a16:creationId xmlns:a16="http://schemas.microsoft.com/office/drawing/2014/main" id="{222D7C1A-40A1-49BC-9C16-047B891A2840}"/>
              </a:ext>
            </a:extLst>
          </p:cNvPr>
          <p:cNvSpPr/>
          <p:nvPr/>
        </p:nvSpPr>
        <p:spPr>
          <a:xfrm>
            <a:off x="1426369" y="1064231"/>
            <a:ext cx="246888" cy="246888"/>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400">
              <a:spcBef>
                <a:spcPts val="300"/>
              </a:spcBef>
              <a:spcAft>
                <a:spcPts val="300"/>
              </a:spcAft>
            </a:pPr>
            <a:r>
              <a:rPr lang="en-US" sz="1200" b="1">
                <a:solidFill>
                  <a:srgbClr val="FFFFFF"/>
                </a:solidFill>
                <a:latin typeface="Fund Light" pitchFamily="2" charset="-78"/>
                <a:cs typeface="Fund Light" pitchFamily="2" charset="-78"/>
              </a:rPr>
              <a:t>1</a:t>
            </a:r>
          </a:p>
        </p:txBody>
      </p:sp>
      <p:sp>
        <p:nvSpPr>
          <p:cNvPr id="36" name="TextBox 35">
            <a:extLst>
              <a:ext uri="{FF2B5EF4-FFF2-40B4-BE49-F238E27FC236}">
                <a16:creationId xmlns:a16="http://schemas.microsoft.com/office/drawing/2014/main" id="{50008822-09D9-4181-AC2C-E4F421FE31E2}"/>
              </a:ext>
            </a:extLst>
          </p:cNvPr>
          <p:cNvSpPr txBox="1">
            <a:spLocks/>
          </p:cNvSpPr>
          <p:nvPr/>
        </p:nvSpPr>
        <p:spPr>
          <a:xfrm>
            <a:off x="5248278" y="1426510"/>
            <a:ext cx="3566159" cy="1592424"/>
          </a:xfrm>
          <a:prstGeom prst="rect">
            <a:avLst/>
          </a:prstGeom>
          <a:noFill/>
        </p:spPr>
        <p:txBody>
          <a:bodyPr wrap="square" rtlCol="0" anchor="t" anchorCtr="0">
            <a:noAutofit/>
          </a:bodyPr>
          <a:lstStyle/>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Demand commitment </a:t>
            </a:r>
            <a:r>
              <a:rPr kumimoji="0" lang="en-US" sz="900" b="1" i="0" strike="noStrike" kern="1200" cap="none" spc="0" normalizeH="0" baseline="0" noProof="0">
                <a:ln>
                  <a:noFill/>
                </a:ln>
                <a:solidFill>
                  <a:srgbClr val="000000"/>
                </a:solidFill>
                <a:effectLst/>
                <a:uLnTx/>
                <a:uFillTx/>
                <a:latin typeface="Fund Light" pitchFamily="2" charset="-78"/>
                <a:ea typeface="+mn-ea"/>
                <a:cs typeface="Fund Light" pitchFamily="2" charset="-78"/>
              </a:rPr>
              <a:t>with purchase obligations:</a:t>
            </a:r>
            <a:r>
              <a:rPr kumimoji="0" lang="en-US" sz="900" b="0" i="0" strike="noStrike" kern="1200" cap="none" spc="0" normalizeH="0" baseline="0" noProof="0">
                <a:ln>
                  <a:noFill/>
                </a:ln>
                <a:solidFill>
                  <a:srgbClr val="000000"/>
                </a:solidFill>
                <a:effectLst/>
                <a:uLnTx/>
                <a:uFillTx/>
                <a:latin typeface="Fund Light" pitchFamily="2" charset="-78"/>
                <a:ea typeface="+mn-ea"/>
                <a:cs typeface="Fund Light" pitchFamily="2" charset="-78"/>
              </a:rPr>
              <a:t> </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if such an agreement has been concluded, the buyer is legally obliged to procure from the supplier even if no business need arises</a:t>
            </a:r>
          </a:p>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Product quantity, duration, and price contractually agreed upon</a:t>
            </a:r>
          </a:p>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must commit to invest in a local facility</a:t>
            </a:r>
          </a:p>
        </p:txBody>
      </p:sp>
      <p:sp>
        <p:nvSpPr>
          <p:cNvPr id="34" name="TextBox 33">
            <a:extLst>
              <a:ext uri="{FF2B5EF4-FFF2-40B4-BE49-F238E27FC236}">
                <a16:creationId xmlns:a16="http://schemas.microsoft.com/office/drawing/2014/main" id="{CC0B4A23-4CC3-4F3C-ACFB-5F79B57341AF}"/>
              </a:ext>
            </a:extLst>
          </p:cNvPr>
          <p:cNvSpPr txBox="1">
            <a:spLocks/>
          </p:cNvSpPr>
          <p:nvPr/>
        </p:nvSpPr>
        <p:spPr>
          <a:xfrm>
            <a:off x="5248277" y="991885"/>
            <a:ext cx="3566160" cy="391581"/>
          </a:xfrm>
          <a:prstGeom prst="rect">
            <a:avLst/>
          </a:prstGeom>
          <a:solidFill>
            <a:schemeClr val="bg2"/>
          </a:solidFill>
        </p:spPr>
        <p:txBody>
          <a:bodyPr wrap="square" rtlCol="0" anchor="ctr">
            <a:noAutofit/>
          </a:bodyPr>
          <a:lstStyle>
            <a:defPPr>
              <a:defRPr lang="en-US"/>
            </a:defPPr>
            <a:lvl1pPr algn="r">
              <a:spcBef>
                <a:spcPts val="300"/>
              </a:spcBef>
              <a:spcAft>
                <a:spcPts val="300"/>
              </a:spcAft>
              <a:defRPr sz="800" b="1">
                <a:solidFill>
                  <a:schemeClr val="tx1">
                    <a:lumMod val="65000"/>
                    <a:lumOff val="35000"/>
                  </a:schemeClr>
                </a:solidFill>
                <a:cs typeface="Fund Regular" pitchFamily="2" charset="-78"/>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Take-or-pay agreement</a:t>
            </a:r>
          </a:p>
        </p:txBody>
      </p:sp>
      <p:sp>
        <p:nvSpPr>
          <p:cNvPr id="40" name="TextBox 39">
            <a:extLst>
              <a:ext uri="{FF2B5EF4-FFF2-40B4-BE49-F238E27FC236}">
                <a16:creationId xmlns:a16="http://schemas.microsoft.com/office/drawing/2014/main" id="{87299623-FFB8-4AA2-82A6-3BD83250150B}"/>
              </a:ext>
            </a:extLst>
          </p:cNvPr>
          <p:cNvSpPr txBox="1">
            <a:spLocks/>
          </p:cNvSpPr>
          <p:nvPr/>
        </p:nvSpPr>
        <p:spPr>
          <a:xfrm>
            <a:off x="5248278" y="3105022"/>
            <a:ext cx="3566159" cy="467443"/>
          </a:xfrm>
          <a:prstGeom prst="rect">
            <a:avLst/>
          </a:prstGeom>
          <a:noFill/>
        </p:spPr>
        <p:txBody>
          <a:bodyPr wrap="square" rtlCol="0" anchor="ctr">
            <a:noAutofit/>
          </a:bodyPr>
          <a:lstStyle/>
          <a:p>
            <a:pPr marL="182880" marR="0" lvl="0" indent="-182880" algn="l" defTabSz="914400" rtl="0" eaLnBrk="1" fontAlgn="auto" latinLnBrk="0" hangingPunct="1">
              <a:lnSpc>
                <a:spcPct val="150000"/>
              </a:lnSpc>
              <a:spcBef>
                <a:spcPts val="400"/>
              </a:spcBef>
              <a:spcAft>
                <a:spcPts val="400"/>
              </a:spcAft>
              <a:buClrTx/>
              <a:buSzTx/>
              <a:buFont typeface="+mj-lt"/>
              <a:buAutoNum type="arabicPeriod"/>
              <a:tabLst/>
              <a:defRPr/>
            </a:pPr>
            <a:r>
              <a:rPr kumimoji="0" lang="en-US" sz="9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(in the form of take-or-pay)</a:t>
            </a:r>
          </a:p>
        </p:txBody>
      </p:sp>
      <p:sp>
        <p:nvSpPr>
          <p:cNvPr id="45" name="Rectangle 44">
            <a:extLst>
              <a:ext uri="{FF2B5EF4-FFF2-40B4-BE49-F238E27FC236}">
                <a16:creationId xmlns:a16="http://schemas.microsoft.com/office/drawing/2014/main" id="{C72686AA-D30A-430C-BB86-094E389597DA}"/>
              </a:ext>
            </a:extLst>
          </p:cNvPr>
          <p:cNvSpPr>
            <a:spLocks/>
          </p:cNvSpPr>
          <p:nvPr/>
        </p:nvSpPr>
        <p:spPr>
          <a:xfrm>
            <a:off x="5553075" y="771525"/>
            <a:ext cx="3267073" cy="167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GB" sz="900" b="0" i="1"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Offered only as a last-resort</a:t>
            </a:r>
          </a:p>
        </p:txBody>
      </p:sp>
      <p:sp>
        <p:nvSpPr>
          <p:cNvPr id="49" name="TextBox 48">
            <a:extLst>
              <a:ext uri="{FF2B5EF4-FFF2-40B4-BE49-F238E27FC236}">
                <a16:creationId xmlns:a16="http://schemas.microsoft.com/office/drawing/2014/main" id="{018226C9-1002-4BC9-906F-2F70E95F56F4}"/>
              </a:ext>
            </a:extLst>
          </p:cNvPr>
          <p:cNvSpPr txBox="1">
            <a:spLocks/>
          </p:cNvSpPr>
          <p:nvPr/>
        </p:nvSpPr>
        <p:spPr>
          <a:xfrm>
            <a:off x="5248278" y="3658555"/>
            <a:ext cx="3566159" cy="857883"/>
          </a:xfrm>
          <a:prstGeom prst="rect">
            <a:avLst/>
          </a:prstGeom>
          <a:noFill/>
        </p:spPr>
        <p:txBody>
          <a:bodyPr wrap="square" rtlCol="0" anchor="ctr">
            <a:noAutofit/>
          </a:bodyPr>
          <a:lstStyle/>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financial risk for the investor</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capex </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Low IRR</a:t>
            </a:r>
          </a:p>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product complexity (based on PCI</a:t>
            </a:r>
            <a:r>
              <a:rPr kumimoji="0" lang="en-US" sz="9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rPr>
              <a:t>1</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53" name="Oval 52">
            <a:extLst>
              <a:ext uri="{FF2B5EF4-FFF2-40B4-BE49-F238E27FC236}">
                <a16:creationId xmlns:a16="http://schemas.microsoft.com/office/drawing/2014/main" id="{1F3230DD-011E-47B7-8D29-CD0F26A25BC5}"/>
              </a:ext>
            </a:extLst>
          </p:cNvPr>
          <p:cNvSpPr/>
          <p:nvPr/>
        </p:nvSpPr>
        <p:spPr>
          <a:xfrm>
            <a:off x="5318241" y="1064231"/>
            <a:ext cx="246888" cy="246888"/>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a:t>
            </a:r>
          </a:p>
        </p:txBody>
      </p:sp>
      <p:sp>
        <p:nvSpPr>
          <p:cNvPr id="18" name="Text Placeholder 6">
            <a:extLst>
              <a:ext uri="{FF2B5EF4-FFF2-40B4-BE49-F238E27FC236}">
                <a16:creationId xmlns:a16="http://schemas.microsoft.com/office/drawing/2014/main" id="{0ED58F8C-83AC-FBA9-7677-539625170CFA}"/>
              </a:ext>
            </a:extLst>
          </p:cNvPr>
          <p:cNvSpPr txBox="1">
            <a:spLocks/>
          </p:cNvSpPr>
          <p:nvPr/>
        </p:nvSpPr>
        <p:spPr>
          <a:xfrm>
            <a:off x="7589520" y="-2080"/>
            <a:ext cx="1554480" cy="344980"/>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19" name="Oval 18">
            <a:extLst>
              <a:ext uri="{FF2B5EF4-FFF2-40B4-BE49-F238E27FC236}">
                <a16:creationId xmlns:a16="http://schemas.microsoft.com/office/drawing/2014/main" id="{380C58D0-9E1D-8DFD-847A-3FA925AB2EEC}"/>
              </a:ext>
            </a:extLst>
          </p:cNvPr>
          <p:cNvSpPr/>
          <p:nvPr/>
        </p:nvSpPr>
        <p:spPr>
          <a:xfrm>
            <a:off x="7470002" y="46401"/>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grpSp>
        <p:nvGrpSpPr>
          <p:cNvPr id="20" name="Group 19">
            <a:extLst>
              <a:ext uri="{FF2B5EF4-FFF2-40B4-BE49-F238E27FC236}">
                <a16:creationId xmlns:a16="http://schemas.microsoft.com/office/drawing/2014/main" id="{C4E7A67C-5DF9-C9FF-0988-F8B430F90025}"/>
              </a:ext>
            </a:extLst>
          </p:cNvPr>
          <p:cNvGrpSpPr/>
          <p:nvPr/>
        </p:nvGrpSpPr>
        <p:grpSpPr>
          <a:xfrm>
            <a:off x="1349993" y="34194"/>
            <a:ext cx="5484392" cy="219841"/>
            <a:chOff x="1349993" y="34194"/>
            <a:chExt cx="5484392" cy="219841"/>
          </a:xfrm>
        </p:grpSpPr>
        <p:sp>
          <p:nvSpPr>
            <p:cNvPr id="21" name="TextBox 20">
              <a:extLst>
                <a:ext uri="{FF2B5EF4-FFF2-40B4-BE49-F238E27FC236}">
                  <a16:creationId xmlns:a16="http://schemas.microsoft.com/office/drawing/2014/main" id="{61AE997D-7394-69BC-950A-BCFA11FC385C}"/>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22" name="TextBox 21">
              <a:extLst>
                <a:ext uri="{FF2B5EF4-FFF2-40B4-BE49-F238E27FC236}">
                  <a16:creationId xmlns:a16="http://schemas.microsoft.com/office/drawing/2014/main" id="{4B7A176C-BD0C-DFD1-4BC6-6764A69DFE6F}"/>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23" name="TextBox 22">
              <a:extLst>
                <a:ext uri="{FF2B5EF4-FFF2-40B4-BE49-F238E27FC236}">
                  <a16:creationId xmlns:a16="http://schemas.microsoft.com/office/drawing/2014/main" id="{7423FF73-D8BC-B73A-7289-564C969C491B}"/>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24" name="TextBox 23">
              <a:extLst>
                <a:ext uri="{FF2B5EF4-FFF2-40B4-BE49-F238E27FC236}">
                  <a16:creationId xmlns:a16="http://schemas.microsoft.com/office/drawing/2014/main" id="{CB8E629A-2C88-F528-86D6-8A626E6CD3BC}"/>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25" name="TextBox 24">
              <a:extLst>
                <a:ext uri="{FF2B5EF4-FFF2-40B4-BE49-F238E27FC236}">
                  <a16:creationId xmlns:a16="http://schemas.microsoft.com/office/drawing/2014/main" id="{FB0D866E-39E5-B953-8F27-700970428980}"/>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26" name="Rectangle 25">
            <a:extLst>
              <a:ext uri="{FF2B5EF4-FFF2-40B4-BE49-F238E27FC236}">
                <a16:creationId xmlns:a16="http://schemas.microsoft.com/office/drawing/2014/main" id="{868D2E55-0B02-14CF-50CE-96226E5F5CB5}"/>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Product Complexity Index</a:t>
            </a:r>
          </a:p>
        </p:txBody>
      </p:sp>
    </p:spTree>
    <p:extLst>
      <p:ext uri="{BB962C8B-B14F-4D97-AF65-F5344CB8AC3E}">
        <p14:creationId xmlns:p14="http://schemas.microsoft.com/office/powerpoint/2010/main" val="1897769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9580E8-CF1D-D4F4-BD93-0A025E264D3C}"/>
              </a:ext>
            </a:extLst>
          </p:cNvPr>
          <p:cNvGraphicFramePr>
            <a:graphicFrameLocks noChangeAspect="1"/>
          </p:cNvGraphicFramePr>
          <p:nvPr>
            <p:custDataLst>
              <p:tags r:id="rId1"/>
            </p:custDataLst>
            <p:extLst>
              <p:ext uri="{D42A27DB-BD31-4B8C-83A1-F6EECF244321}">
                <p14:modId xmlns:p14="http://schemas.microsoft.com/office/powerpoint/2010/main" val="33721759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A9580E8-CF1D-D4F4-BD93-0A025E264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5543F5-AEFF-F0E3-7EC4-41ADC749C269}"/>
              </a:ext>
            </a:extLst>
          </p:cNvPr>
          <p:cNvSpPr>
            <a:spLocks noGrp="1"/>
          </p:cNvSpPr>
          <p:nvPr>
            <p:ph type="title"/>
          </p:nvPr>
        </p:nvSpPr>
        <p:spPr>
          <a:xfrm>
            <a:off x="1255078" y="255973"/>
            <a:ext cx="7715355" cy="241824"/>
          </a:xfrm>
        </p:spPr>
        <p:txBody>
          <a:bodyPr vert="horz">
            <a:normAutofit fontScale="90000"/>
          </a:bodyPr>
          <a:lstStyle/>
          <a:p>
            <a:r>
              <a:rPr lang="en-US" b="1"/>
              <a:t>Stage 2 − Feasibility and terms assessment:</a:t>
            </a:r>
            <a:r>
              <a:rPr lang="en-US"/>
              <a:t>  The type of demand commitment is assessed via three parameters</a:t>
            </a:r>
          </a:p>
        </p:txBody>
      </p:sp>
      <p:sp>
        <p:nvSpPr>
          <p:cNvPr id="3" name="Rectangle 2">
            <a:extLst>
              <a:ext uri="{FF2B5EF4-FFF2-40B4-BE49-F238E27FC236}">
                <a16:creationId xmlns:a16="http://schemas.microsoft.com/office/drawing/2014/main" id="{FB6375BF-6BE3-C914-55A6-3773449FFDE8}"/>
              </a:ext>
            </a:extLst>
          </p:cNvPr>
          <p:cNvSpPr>
            <a:spLocks/>
          </p:cNvSpPr>
          <p:nvPr/>
        </p:nvSpPr>
        <p:spPr>
          <a:xfrm>
            <a:off x="526260" y="1609949"/>
            <a:ext cx="1143000"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Capex</a:t>
            </a:r>
          </a:p>
        </p:txBody>
      </p:sp>
      <p:grpSp>
        <p:nvGrpSpPr>
          <p:cNvPr id="50" name="Group 49">
            <a:extLst>
              <a:ext uri="{FF2B5EF4-FFF2-40B4-BE49-F238E27FC236}">
                <a16:creationId xmlns:a16="http://schemas.microsoft.com/office/drawing/2014/main" id="{CFB4569E-2187-CC28-4924-72603A775867}"/>
              </a:ext>
            </a:extLst>
          </p:cNvPr>
          <p:cNvGrpSpPr/>
          <p:nvPr/>
        </p:nvGrpSpPr>
        <p:grpSpPr>
          <a:xfrm>
            <a:off x="269720" y="1095834"/>
            <a:ext cx="8514081" cy="439808"/>
            <a:chOff x="269720" y="1095834"/>
            <a:chExt cx="8514081" cy="439808"/>
          </a:xfrm>
        </p:grpSpPr>
        <p:sp>
          <p:nvSpPr>
            <p:cNvPr id="24" name="TextBox 23">
              <a:extLst>
                <a:ext uri="{FF2B5EF4-FFF2-40B4-BE49-F238E27FC236}">
                  <a16:creationId xmlns:a16="http://schemas.microsoft.com/office/drawing/2014/main" id="{31AAD358-E7C2-00C0-665F-3A5B7396F117}"/>
                </a:ext>
              </a:extLst>
            </p:cNvPr>
            <p:cNvSpPr txBox="1">
              <a:spLocks/>
            </p:cNvSpPr>
            <p:nvPr/>
          </p:nvSpPr>
          <p:spPr>
            <a:xfrm>
              <a:off x="269720" y="1249723"/>
              <a:ext cx="1255607"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Parameters</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5" name="Straight Connector 24">
              <a:extLst>
                <a:ext uri="{FF2B5EF4-FFF2-40B4-BE49-F238E27FC236}">
                  <a16:creationId xmlns:a16="http://schemas.microsoft.com/office/drawing/2014/main" id="{32FFC576-5CBB-4066-CABD-8865E6145C4D}"/>
                </a:ext>
              </a:extLst>
            </p:cNvPr>
            <p:cNvCxnSpPr>
              <a:cxnSpLocks/>
            </p:cNvCxnSpPr>
            <p:nvPr/>
          </p:nvCxnSpPr>
          <p:spPr>
            <a:xfrm>
              <a:off x="269720" y="1535642"/>
              <a:ext cx="125560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3572D31-DEBC-62C8-A7F2-1D2653EE4119}"/>
                </a:ext>
              </a:extLst>
            </p:cNvPr>
            <p:cNvSpPr txBox="1">
              <a:spLocks/>
            </p:cNvSpPr>
            <p:nvPr/>
          </p:nvSpPr>
          <p:spPr>
            <a:xfrm>
              <a:off x="1669261" y="1249723"/>
              <a:ext cx="2898106"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Definition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7" name="Straight Connector 26">
              <a:extLst>
                <a:ext uri="{FF2B5EF4-FFF2-40B4-BE49-F238E27FC236}">
                  <a16:creationId xmlns:a16="http://schemas.microsoft.com/office/drawing/2014/main" id="{02DD12A4-3335-631D-2195-F304F41C22EE}"/>
                </a:ext>
              </a:extLst>
            </p:cNvPr>
            <p:cNvCxnSpPr>
              <a:cxnSpLocks/>
            </p:cNvCxnSpPr>
            <p:nvPr/>
          </p:nvCxnSpPr>
          <p:spPr>
            <a:xfrm>
              <a:off x="1669260" y="1535642"/>
              <a:ext cx="289810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0A0B168-2145-1FDF-2F41-EF5FE44627FE}"/>
                </a:ext>
              </a:extLst>
            </p:cNvPr>
            <p:cNvSpPr txBox="1">
              <a:spLocks/>
            </p:cNvSpPr>
            <p:nvPr/>
          </p:nvSpPr>
          <p:spPr>
            <a:xfrm>
              <a:off x="4632763" y="1249723"/>
              <a:ext cx="2072338"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How to calculate</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9" name="Straight Connector 28">
              <a:extLst>
                <a:ext uri="{FF2B5EF4-FFF2-40B4-BE49-F238E27FC236}">
                  <a16:creationId xmlns:a16="http://schemas.microsoft.com/office/drawing/2014/main" id="{1CD52802-90FE-9AAF-17F1-CEF8464DB117}"/>
                </a:ext>
              </a:extLst>
            </p:cNvPr>
            <p:cNvCxnSpPr>
              <a:cxnSpLocks/>
            </p:cNvCxnSpPr>
            <p:nvPr/>
          </p:nvCxnSpPr>
          <p:spPr>
            <a:xfrm>
              <a:off x="4698380" y="1535642"/>
              <a:ext cx="19202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5E2F300-3502-06E6-8E59-288A6022D773}"/>
                </a:ext>
              </a:extLst>
            </p:cNvPr>
            <p:cNvSpPr txBox="1">
              <a:spLocks/>
            </p:cNvSpPr>
            <p:nvPr/>
          </p:nvSpPr>
          <p:spPr>
            <a:xfrm>
              <a:off x="6723861" y="1095834"/>
              <a:ext cx="2059940"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Implications for demand commitment</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31" name="Straight Connector 30">
              <a:extLst>
                <a:ext uri="{FF2B5EF4-FFF2-40B4-BE49-F238E27FC236}">
                  <a16:creationId xmlns:a16="http://schemas.microsoft.com/office/drawing/2014/main" id="{F7D45E48-A432-78AC-317C-3E95DD4BA104}"/>
                </a:ext>
              </a:extLst>
            </p:cNvPr>
            <p:cNvCxnSpPr>
              <a:cxnSpLocks/>
            </p:cNvCxnSpPr>
            <p:nvPr/>
          </p:nvCxnSpPr>
          <p:spPr>
            <a:xfrm>
              <a:off x="6723860" y="1535642"/>
              <a:ext cx="20599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D14D1A25-6220-A7BD-86D6-BC0FFD6359FD}"/>
              </a:ext>
            </a:extLst>
          </p:cNvPr>
          <p:cNvCxnSpPr>
            <a:cxnSpLocks/>
          </p:cNvCxnSpPr>
          <p:nvPr/>
        </p:nvCxnSpPr>
        <p:spPr>
          <a:xfrm>
            <a:off x="409518" y="2554118"/>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6A0900C-87BB-A642-1DD3-7AB39F2E9779}"/>
              </a:ext>
            </a:extLst>
          </p:cNvPr>
          <p:cNvSpPr>
            <a:spLocks/>
          </p:cNvSpPr>
          <p:nvPr/>
        </p:nvSpPr>
        <p:spPr>
          <a:xfrm>
            <a:off x="526260" y="2639712"/>
            <a:ext cx="1143000"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Returns (IRR</a:t>
            </a:r>
            <a:r>
              <a:rPr kumimoji="0" lang="en-US" sz="1000" b="1" i="0" u="none" strike="noStrike" kern="1200" cap="none" spc="0" normalizeH="0" baseline="30000" noProof="0">
                <a:ln>
                  <a:noFill/>
                </a:ln>
                <a:solidFill>
                  <a:schemeClr val="bg2"/>
                </a:solidFill>
                <a:effectLst/>
                <a:uLnTx/>
                <a:uFillTx/>
                <a:latin typeface="Fund Light" pitchFamily="2" charset="-78"/>
                <a:ea typeface="+mn-ea"/>
                <a:cs typeface="Fund Light" pitchFamily="2" charset="-78"/>
              </a:rPr>
              <a:t>1</a:t>
            </a: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a:t>
            </a:r>
          </a:p>
        </p:txBody>
      </p:sp>
      <p:sp>
        <p:nvSpPr>
          <p:cNvPr id="39" name="Rectangle 38">
            <a:extLst>
              <a:ext uri="{FF2B5EF4-FFF2-40B4-BE49-F238E27FC236}">
                <a16:creationId xmlns:a16="http://schemas.microsoft.com/office/drawing/2014/main" id="{3A3D33A0-6676-DAAF-681C-BBA90E41D2DB}"/>
              </a:ext>
            </a:extLst>
          </p:cNvPr>
          <p:cNvSpPr>
            <a:spLocks/>
          </p:cNvSpPr>
          <p:nvPr/>
        </p:nvSpPr>
        <p:spPr>
          <a:xfrm>
            <a:off x="1669261" y="1609949"/>
            <a:ext cx="2898106"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Funds that a company spends on acquiring or maintaining physical assets such as property, buildings, machinery, or equipment. These are long-term investments</a:t>
            </a:r>
          </a:p>
        </p:txBody>
      </p:sp>
      <p:sp>
        <p:nvSpPr>
          <p:cNvPr id="40" name="Oval 39">
            <a:extLst>
              <a:ext uri="{FF2B5EF4-FFF2-40B4-BE49-F238E27FC236}">
                <a16:creationId xmlns:a16="http://schemas.microsoft.com/office/drawing/2014/main" id="{F56457CE-79A8-E7E1-A67A-B7969B5A5523}"/>
              </a:ext>
            </a:extLst>
          </p:cNvPr>
          <p:cNvSpPr/>
          <p:nvPr/>
        </p:nvSpPr>
        <p:spPr>
          <a:xfrm>
            <a:off x="348460" y="1949794"/>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1</a:t>
            </a:r>
          </a:p>
        </p:txBody>
      </p:sp>
      <p:sp>
        <p:nvSpPr>
          <p:cNvPr id="48" name="Oval 47">
            <a:extLst>
              <a:ext uri="{FF2B5EF4-FFF2-40B4-BE49-F238E27FC236}">
                <a16:creationId xmlns:a16="http://schemas.microsoft.com/office/drawing/2014/main" id="{9B459C35-93BF-FBDD-0566-C77CEF245137}"/>
              </a:ext>
            </a:extLst>
          </p:cNvPr>
          <p:cNvSpPr/>
          <p:nvPr/>
        </p:nvSpPr>
        <p:spPr>
          <a:xfrm>
            <a:off x="348460" y="2990735"/>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2</a:t>
            </a:r>
          </a:p>
        </p:txBody>
      </p:sp>
      <p:sp>
        <p:nvSpPr>
          <p:cNvPr id="52" name="Rectangle 51">
            <a:extLst>
              <a:ext uri="{FF2B5EF4-FFF2-40B4-BE49-F238E27FC236}">
                <a16:creationId xmlns:a16="http://schemas.microsoft.com/office/drawing/2014/main" id="{70CB31CC-2FBF-789D-773B-88BB394AA22B}"/>
              </a:ext>
            </a:extLst>
          </p:cNvPr>
          <p:cNvSpPr>
            <a:spLocks/>
          </p:cNvSpPr>
          <p:nvPr/>
        </p:nvSpPr>
        <p:spPr>
          <a:xfrm>
            <a:off x="4698381" y="1609949"/>
            <a:ext cx="2012780"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Consider and estimate all direct and indirect costs that will be incurred to operationalize a manufacturing facility</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54" name="Rectangle 53">
            <a:extLst>
              <a:ext uri="{FF2B5EF4-FFF2-40B4-BE49-F238E27FC236}">
                <a16:creationId xmlns:a16="http://schemas.microsoft.com/office/drawing/2014/main" id="{6787A4E0-D1CB-1106-7BF6-CD39F472C1CF}"/>
              </a:ext>
            </a:extLst>
          </p:cNvPr>
          <p:cNvSpPr>
            <a:spLocks/>
          </p:cNvSpPr>
          <p:nvPr/>
        </p:nvSpPr>
        <p:spPr>
          <a:xfrm>
            <a:off x="6723860" y="1609949"/>
            <a:ext cx="2058853"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Higher capex will increase investor risk and may require take-or-pay</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55" name="Rectangle 54">
            <a:extLst>
              <a:ext uri="{FF2B5EF4-FFF2-40B4-BE49-F238E27FC236}">
                <a16:creationId xmlns:a16="http://schemas.microsoft.com/office/drawing/2014/main" id="{9460D4DE-ED58-29BF-371C-F02B6E5D803C}"/>
              </a:ext>
            </a:extLst>
          </p:cNvPr>
          <p:cNvSpPr>
            <a:spLocks/>
          </p:cNvSpPr>
          <p:nvPr/>
        </p:nvSpPr>
        <p:spPr>
          <a:xfrm>
            <a:off x="1669261" y="2639712"/>
            <a:ext cx="2898106"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IRR is the rate of return at which the present value of a project's cash inflows equals the present value of its cash outflows, or the project breaks even in terms of net value</a:t>
            </a:r>
          </a:p>
        </p:txBody>
      </p:sp>
      <p:sp>
        <p:nvSpPr>
          <p:cNvPr id="56" name="Rectangle 55">
            <a:extLst>
              <a:ext uri="{FF2B5EF4-FFF2-40B4-BE49-F238E27FC236}">
                <a16:creationId xmlns:a16="http://schemas.microsoft.com/office/drawing/2014/main" id="{E7C26D40-D7EA-1541-F2C9-719188C3534D}"/>
              </a:ext>
            </a:extLst>
          </p:cNvPr>
          <p:cNvSpPr>
            <a:spLocks/>
          </p:cNvSpPr>
          <p:nvPr/>
        </p:nvSpPr>
        <p:spPr>
          <a:xfrm>
            <a:off x="4698381" y="2639712"/>
            <a:ext cx="2012780"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Estimate yearly net cash flows of the project </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57" name="Rectangle 56">
            <a:extLst>
              <a:ext uri="{FF2B5EF4-FFF2-40B4-BE49-F238E27FC236}">
                <a16:creationId xmlns:a16="http://schemas.microsoft.com/office/drawing/2014/main" id="{1299B07F-0C32-A7B3-84F5-EB3DB5E6FB7F}"/>
              </a:ext>
            </a:extLst>
          </p:cNvPr>
          <p:cNvSpPr>
            <a:spLocks/>
          </p:cNvSpPr>
          <p:nvPr/>
        </p:nvSpPr>
        <p:spPr>
          <a:xfrm>
            <a:off x="6723860" y="2639712"/>
            <a:ext cx="2058853"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Lower IRR (typically less than 10%</a:t>
            </a:r>
            <a:r>
              <a:rPr lang="en-US" sz="1000" baseline="30000">
                <a:solidFill>
                  <a:srgbClr val="000000"/>
                </a:solidFill>
                <a:latin typeface="Fund Light" pitchFamily="2" charset="-78"/>
                <a:cs typeface="Fund Light" pitchFamily="2" charset="-78"/>
              </a:rPr>
              <a:t>2</a:t>
            </a:r>
            <a:r>
              <a:rPr lang="en-US" sz="1000">
                <a:solidFill>
                  <a:srgbClr val="000000"/>
                </a:solidFill>
                <a:latin typeface="Fund Light" pitchFamily="2" charset="-78"/>
                <a:cs typeface="Fund Light" pitchFamily="2" charset="-78"/>
              </a:rPr>
              <a:t>) increases investor risk and may require take-or-pay </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17" name="TextBox 16">
            <a:extLst>
              <a:ext uri="{FF2B5EF4-FFF2-40B4-BE49-F238E27FC236}">
                <a16:creationId xmlns:a16="http://schemas.microsoft.com/office/drawing/2014/main" id="{34AFF30E-0629-F1DB-43CE-3C93B999358A}"/>
              </a:ext>
            </a:extLst>
          </p:cNvPr>
          <p:cNvSpPr txBox="1"/>
          <p:nvPr/>
        </p:nvSpPr>
        <p:spPr>
          <a:xfrm>
            <a:off x="292100" y="711530"/>
            <a:ext cx="8519188" cy="400110"/>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The following three parameters are crucial to deciding whether a PSA will suffice, </a:t>
            </a:r>
            <a:r>
              <a:rPr lang="en-US" sz="1000" kern="0">
                <a:solidFill>
                  <a:srgbClr val="000000"/>
                </a:solidFill>
                <a:latin typeface="Fund Light" pitchFamily="2" charset="-78"/>
                <a:cs typeface="Fund Light" pitchFamily="2" charset="-78"/>
                <a:sym typeface="Arial"/>
              </a:rPr>
              <a:t>or if a take-or-pay is needed. They are outputs from a product-specific business model</a:t>
            </a:r>
            <a:endParaRPr lang="en-US" sz="1000" i="1"/>
          </a:p>
        </p:txBody>
      </p:sp>
      <p:sp>
        <p:nvSpPr>
          <p:cNvPr id="8" name="Rectangle 7">
            <a:extLst>
              <a:ext uri="{FF2B5EF4-FFF2-40B4-BE49-F238E27FC236}">
                <a16:creationId xmlns:a16="http://schemas.microsoft.com/office/drawing/2014/main" id="{335EA992-26A9-B689-C8DE-AB957E6538B6}"/>
              </a:ext>
            </a:extLst>
          </p:cNvPr>
          <p:cNvSpPr>
            <a:spLocks/>
          </p:cNvSpPr>
          <p:nvPr/>
        </p:nvSpPr>
        <p:spPr>
          <a:xfrm>
            <a:off x="1669261" y="3651506"/>
            <a:ext cx="2450039"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Measure of a product’s complexity and requirement of technical know-how</a:t>
            </a:r>
          </a:p>
        </p:txBody>
      </p:sp>
      <p:sp>
        <p:nvSpPr>
          <p:cNvPr id="9" name="Rectangle 8">
            <a:extLst>
              <a:ext uri="{FF2B5EF4-FFF2-40B4-BE49-F238E27FC236}">
                <a16:creationId xmlns:a16="http://schemas.microsoft.com/office/drawing/2014/main" id="{1D485609-554D-3894-3453-CFDD83B4AEF1}"/>
              </a:ext>
            </a:extLst>
          </p:cNvPr>
          <p:cNvSpPr>
            <a:spLocks/>
          </p:cNvSpPr>
          <p:nvPr/>
        </p:nvSpPr>
        <p:spPr>
          <a:xfrm>
            <a:off x="4698381" y="3651506"/>
            <a:ext cx="2012780"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R="0" lvl="0" algn="l" defTabSz="457200" rtl="0" eaLnBrk="1" fontAlgn="auto" latinLnBrk="0" hangingPunct="1">
              <a:lnSpc>
                <a:spcPct val="100000"/>
              </a:lnSpc>
              <a:spcBef>
                <a:spcPts val="225"/>
              </a:spcBef>
              <a:spcAft>
                <a:spcPts val="225"/>
              </a:spcAft>
              <a:buClrTx/>
              <a:buSzTx/>
              <a:tabLst/>
              <a:defRPr/>
            </a:pPr>
            <a:r>
              <a:rPr lang="en-US" sz="1000">
                <a:solidFill>
                  <a:srgbClr val="000000"/>
                </a:solidFill>
                <a:latin typeface="Fund Light" pitchFamily="2" charset="-78"/>
                <a:cs typeface="Fund Light" pitchFamily="2" charset="-78"/>
              </a:rPr>
              <a:t>Provided by </a:t>
            </a:r>
            <a:r>
              <a:rPr lang="en-US" sz="1000">
                <a:solidFill>
                  <a:srgbClr val="000000"/>
                </a:solidFill>
                <a:latin typeface="Fund Light" pitchFamily="2" charset="-78"/>
                <a:cs typeface="Fund Light" pitchFamily="2" charset="-78"/>
                <a:hlinkClick r:id="rId5"/>
              </a:rPr>
              <a:t>“The Atlas of Economic Activity</a:t>
            </a:r>
            <a:r>
              <a:rPr lang="en-US" sz="1000">
                <a:solidFill>
                  <a:srgbClr val="000000"/>
                </a:solidFill>
                <a:latin typeface="Fund Light" pitchFamily="2" charset="-78"/>
                <a:cs typeface="Fund Light" pitchFamily="2" charset="-78"/>
              </a:rPr>
              <a:t>”</a:t>
            </a:r>
            <a:endParaRPr kumimoji="0" lang="en-US" sz="10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15" name="Rectangle 14">
            <a:extLst>
              <a:ext uri="{FF2B5EF4-FFF2-40B4-BE49-F238E27FC236}">
                <a16:creationId xmlns:a16="http://schemas.microsoft.com/office/drawing/2014/main" id="{A4CB00C8-66A7-BB88-9A0E-A641A49BB3F6}"/>
              </a:ext>
            </a:extLst>
          </p:cNvPr>
          <p:cNvSpPr>
            <a:spLocks/>
          </p:cNvSpPr>
          <p:nvPr/>
        </p:nvSpPr>
        <p:spPr>
          <a:xfrm>
            <a:off x="526260" y="3651506"/>
            <a:ext cx="1404548"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Product </a:t>
            </a:r>
            <a:b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b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complexity</a:t>
            </a:r>
          </a:p>
        </p:txBody>
      </p:sp>
      <p:sp>
        <p:nvSpPr>
          <p:cNvPr id="16" name="Oval 15">
            <a:extLst>
              <a:ext uri="{FF2B5EF4-FFF2-40B4-BE49-F238E27FC236}">
                <a16:creationId xmlns:a16="http://schemas.microsoft.com/office/drawing/2014/main" id="{3B90CF2A-ABBF-1B6A-97FE-167998C77416}"/>
              </a:ext>
            </a:extLst>
          </p:cNvPr>
          <p:cNvSpPr/>
          <p:nvPr/>
        </p:nvSpPr>
        <p:spPr>
          <a:xfrm>
            <a:off x="348460" y="3844080"/>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3</a:t>
            </a:r>
          </a:p>
        </p:txBody>
      </p:sp>
      <p:cxnSp>
        <p:nvCxnSpPr>
          <p:cNvPr id="18" name="Straight Connector 17">
            <a:extLst>
              <a:ext uri="{FF2B5EF4-FFF2-40B4-BE49-F238E27FC236}">
                <a16:creationId xmlns:a16="http://schemas.microsoft.com/office/drawing/2014/main" id="{17AB836B-1D82-43AD-FAEC-2C1C1AD8CBEB}"/>
              </a:ext>
            </a:extLst>
          </p:cNvPr>
          <p:cNvCxnSpPr>
            <a:cxnSpLocks/>
          </p:cNvCxnSpPr>
          <p:nvPr/>
        </p:nvCxnSpPr>
        <p:spPr>
          <a:xfrm>
            <a:off x="409518" y="3610932"/>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F33040A-8D1A-7035-ECFB-21ABCA557B9B}"/>
              </a:ext>
            </a:extLst>
          </p:cNvPr>
          <p:cNvSpPr>
            <a:spLocks/>
          </p:cNvSpPr>
          <p:nvPr/>
        </p:nvSpPr>
        <p:spPr>
          <a:xfrm>
            <a:off x="6723860" y="3651506"/>
            <a:ext cx="2058853"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Higher product complexity will increase investor risk and may require take-or pay</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grpSp>
        <p:nvGrpSpPr>
          <p:cNvPr id="4" name="Group 3">
            <a:extLst>
              <a:ext uri="{FF2B5EF4-FFF2-40B4-BE49-F238E27FC236}">
                <a16:creationId xmlns:a16="http://schemas.microsoft.com/office/drawing/2014/main" id="{D77DCDAB-7E2C-22AF-3A63-9B6628941569}"/>
              </a:ext>
            </a:extLst>
          </p:cNvPr>
          <p:cNvGrpSpPr/>
          <p:nvPr/>
        </p:nvGrpSpPr>
        <p:grpSpPr>
          <a:xfrm>
            <a:off x="6013047" y="4012545"/>
            <a:ext cx="168686" cy="161455"/>
            <a:chOff x="11260138" y="4194175"/>
            <a:chExt cx="360363" cy="379413"/>
          </a:xfrm>
        </p:grpSpPr>
        <p:sp>
          <p:nvSpPr>
            <p:cNvPr id="5" name="Freeform 289">
              <a:extLst>
                <a:ext uri="{FF2B5EF4-FFF2-40B4-BE49-F238E27FC236}">
                  <a16:creationId xmlns:a16="http://schemas.microsoft.com/office/drawing/2014/main" id="{41808B01-2126-6A10-1272-164D73AB1F65}"/>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Freeform 290">
              <a:extLst>
                <a:ext uri="{FF2B5EF4-FFF2-40B4-BE49-F238E27FC236}">
                  <a16:creationId xmlns:a16="http://schemas.microsoft.com/office/drawing/2014/main" id="{180C5FAD-BAD2-5BAA-DCAD-D9833CC4F8F9}"/>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291">
              <a:extLst>
                <a:ext uri="{FF2B5EF4-FFF2-40B4-BE49-F238E27FC236}">
                  <a16:creationId xmlns:a16="http://schemas.microsoft.com/office/drawing/2014/main" id="{3F7082B4-D661-3C23-65D9-2B3ADACC9DC1}"/>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8" name="Text Placeholder 6">
            <a:extLst>
              <a:ext uri="{FF2B5EF4-FFF2-40B4-BE49-F238E27FC236}">
                <a16:creationId xmlns:a16="http://schemas.microsoft.com/office/drawing/2014/main" id="{CDA1197A-A72C-DC20-1F64-5AED3CE05E16}"/>
              </a:ext>
            </a:extLst>
          </p:cNvPr>
          <p:cNvSpPr txBox="1">
            <a:spLocks/>
          </p:cNvSpPr>
          <p:nvPr/>
        </p:nvSpPr>
        <p:spPr>
          <a:xfrm>
            <a:off x="7589520" y="-2080"/>
            <a:ext cx="1554480" cy="344980"/>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41" name="Oval 40">
            <a:extLst>
              <a:ext uri="{FF2B5EF4-FFF2-40B4-BE49-F238E27FC236}">
                <a16:creationId xmlns:a16="http://schemas.microsoft.com/office/drawing/2014/main" id="{2E3CCAA4-C684-564A-E397-A125CCEC59EF}"/>
              </a:ext>
            </a:extLst>
          </p:cNvPr>
          <p:cNvSpPr/>
          <p:nvPr/>
        </p:nvSpPr>
        <p:spPr>
          <a:xfrm>
            <a:off x="7470002" y="46401"/>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42" name="Speech Bubble: Rectangle 41">
            <a:extLst>
              <a:ext uri="{FF2B5EF4-FFF2-40B4-BE49-F238E27FC236}">
                <a16:creationId xmlns:a16="http://schemas.microsoft.com/office/drawing/2014/main" id="{9AF95EF9-FB7C-505D-B9F5-8A7FCDAE84D7}"/>
              </a:ext>
            </a:extLst>
          </p:cNvPr>
          <p:cNvSpPr/>
          <p:nvPr/>
        </p:nvSpPr>
        <p:spPr>
          <a:xfrm>
            <a:off x="304727" y="2479516"/>
            <a:ext cx="1297684" cy="324266"/>
          </a:xfrm>
          <a:prstGeom prst="wedgeRectCallout">
            <a:avLst>
              <a:gd name="adj1" fmla="val -31566"/>
              <a:gd name="adj2" fmla="val -106358"/>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900">
              <a:solidFill>
                <a:srgbClr val="000000"/>
              </a:solidFill>
              <a:latin typeface="Fund Light" pitchFamily="2" charset="-78"/>
              <a:cs typeface="Fund Light" pitchFamily="2" charset="-78"/>
            </a:endParaRPr>
          </a:p>
        </p:txBody>
      </p:sp>
      <p:sp>
        <p:nvSpPr>
          <p:cNvPr id="43" name="Speech Bubble: Rectangle 42">
            <a:extLst>
              <a:ext uri="{FF2B5EF4-FFF2-40B4-BE49-F238E27FC236}">
                <a16:creationId xmlns:a16="http://schemas.microsoft.com/office/drawing/2014/main" id="{DC5139C4-93F4-673A-D27B-904D6D7AC876}"/>
              </a:ext>
            </a:extLst>
          </p:cNvPr>
          <p:cNvSpPr/>
          <p:nvPr/>
        </p:nvSpPr>
        <p:spPr>
          <a:xfrm>
            <a:off x="307414" y="2479516"/>
            <a:ext cx="1297684" cy="324266"/>
          </a:xfrm>
          <a:prstGeom prst="wedgeRectCallout">
            <a:avLst>
              <a:gd name="adj1" fmla="val -34828"/>
              <a:gd name="adj2" fmla="val 84247"/>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Outputs from the business case</a:t>
            </a:r>
          </a:p>
        </p:txBody>
      </p:sp>
      <p:grpSp>
        <p:nvGrpSpPr>
          <p:cNvPr id="53" name="Group 52">
            <a:extLst>
              <a:ext uri="{FF2B5EF4-FFF2-40B4-BE49-F238E27FC236}">
                <a16:creationId xmlns:a16="http://schemas.microsoft.com/office/drawing/2014/main" id="{95A48DAA-B11E-8969-31F6-05BB0B75071B}"/>
              </a:ext>
            </a:extLst>
          </p:cNvPr>
          <p:cNvGrpSpPr/>
          <p:nvPr/>
        </p:nvGrpSpPr>
        <p:grpSpPr>
          <a:xfrm>
            <a:off x="1349993" y="34194"/>
            <a:ext cx="5484392" cy="219841"/>
            <a:chOff x="1349993" y="34194"/>
            <a:chExt cx="5484392" cy="219841"/>
          </a:xfrm>
        </p:grpSpPr>
        <p:sp>
          <p:nvSpPr>
            <p:cNvPr id="58" name="TextBox 57">
              <a:extLst>
                <a:ext uri="{FF2B5EF4-FFF2-40B4-BE49-F238E27FC236}">
                  <a16:creationId xmlns:a16="http://schemas.microsoft.com/office/drawing/2014/main" id="{340338FB-CEA3-B347-E7E3-42A69210540F}"/>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59" name="TextBox 58">
              <a:extLst>
                <a:ext uri="{FF2B5EF4-FFF2-40B4-BE49-F238E27FC236}">
                  <a16:creationId xmlns:a16="http://schemas.microsoft.com/office/drawing/2014/main" id="{ABA12562-2969-6A38-2485-FBF6BFB5465F}"/>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60" name="TextBox 59">
              <a:extLst>
                <a:ext uri="{FF2B5EF4-FFF2-40B4-BE49-F238E27FC236}">
                  <a16:creationId xmlns:a16="http://schemas.microsoft.com/office/drawing/2014/main" id="{EAFE6572-DD05-0ED6-A07E-E75CFF735C7F}"/>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61" name="TextBox 60">
              <a:extLst>
                <a:ext uri="{FF2B5EF4-FFF2-40B4-BE49-F238E27FC236}">
                  <a16:creationId xmlns:a16="http://schemas.microsoft.com/office/drawing/2014/main" id="{E3074E66-011F-D0BA-3EC1-9C00BAAE3924}"/>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62" name="TextBox 61">
              <a:extLst>
                <a:ext uri="{FF2B5EF4-FFF2-40B4-BE49-F238E27FC236}">
                  <a16:creationId xmlns:a16="http://schemas.microsoft.com/office/drawing/2014/main" id="{60A91733-1697-864B-ADC9-B7B3553D4BFF}"/>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68" name="Rectangle 67">
            <a:extLst>
              <a:ext uri="{FF2B5EF4-FFF2-40B4-BE49-F238E27FC236}">
                <a16:creationId xmlns:a16="http://schemas.microsoft.com/office/drawing/2014/main" id="{96AEFC33-0F94-67BB-F558-F3A8373CC537}"/>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700">
                <a:solidFill>
                  <a:schemeClr val="bg1">
                    <a:lumMod val="50000"/>
                  </a:schemeClr>
                </a:solidFill>
                <a:latin typeface="Fund Light" pitchFamily="2" charset="-78"/>
                <a:cs typeface="Fund Light" pitchFamily="2" charset="-78"/>
              </a:rPr>
              <a:t>1. Internal Rate of Return. 2. Thresholds are typically product / industry / capital structure specific and should be nuanced as per the context</a:t>
            </a:r>
          </a:p>
        </p:txBody>
      </p:sp>
    </p:spTree>
    <p:extLst>
      <p:ext uri="{BB962C8B-B14F-4D97-AF65-F5344CB8AC3E}">
        <p14:creationId xmlns:p14="http://schemas.microsoft.com/office/powerpoint/2010/main" val="2480509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9580E8-CF1D-D4F4-BD93-0A025E264D3C}"/>
              </a:ext>
            </a:extLst>
          </p:cNvPr>
          <p:cNvGraphicFramePr>
            <a:graphicFrameLocks noChangeAspect="1"/>
          </p:cNvGraphicFramePr>
          <p:nvPr>
            <p:custDataLst>
              <p:tags r:id="rId1"/>
            </p:custDataLst>
            <p:extLst>
              <p:ext uri="{D42A27DB-BD31-4B8C-83A1-F6EECF244321}">
                <p14:modId xmlns:p14="http://schemas.microsoft.com/office/powerpoint/2010/main" val="28806965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A9580E8-CF1D-D4F4-BD93-0A025E264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5543F5-AEFF-F0E3-7EC4-41ADC749C269}"/>
              </a:ext>
            </a:extLst>
          </p:cNvPr>
          <p:cNvSpPr>
            <a:spLocks noGrp="1"/>
          </p:cNvSpPr>
          <p:nvPr>
            <p:ph type="title"/>
          </p:nvPr>
        </p:nvSpPr>
        <p:spPr>
          <a:xfrm>
            <a:off x="1255078" y="255973"/>
            <a:ext cx="7518082" cy="241824"/>
          </a:xfrm>
        </p:spPr>
        <p:txBody>
          <a:bodyPr vert="horz">
            <a:normAutofit fontScale="90000"/>
          </a:bodyPr>
          <a:lstStyle/>
          <a:p>
            <a:r>
              <a:rPr lang="en-US" b="1"/>
              <a:t>Stage 2 − Feasibility and terms assessment:</a:t>
            </a:r>
            <a:r>
              <a:rPr lang="en-US"/>
              <a:t> two parameters needed to understand the level of risks</a:t>
            </a:r>
          </a:p>
        </p:txBody>
      </p:sp>
      <p:sp>
        <p:nvSpPr>
          <p:cNvPr id="14" name="TextBox 13">
            <a:extLst>
              <a:ext uri="{FF2B5EF4-FFF2-40B4-BE49-F238E27FC236}">
                <a16:creationId xmlns:a16="http://schemas.microsoft.com/office/drawing/2014/main" id="{8F74842D-CE92-1CDF-BE05-C04931DDB8B5}"/>
              </a:ext>
            </a:extLst>
          </p:cNvPr>
          <p:cNvSpPr txBox="1"/>
          <p:nvPr/>
        </p:nvSpPr>
        <p:spPr>
          <a:xfrm>
            <a:off x="292100" y="711530"/>
            <a:ext cx="8519188" cy="400110"/>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The following two parameters are crucial to help investors understand the potential risks</a:t>
            </a:r>
            <a:r>
              <a:rPr lang="en-US" sz="1000" kern="0">
                <a:solidFill>
                  <a:srgbClr val="000000"/>
                </a:solidFill>
                <a:latin typeface="Fund Light" pitchFamily="2" charset="-78"/>
                <a:cs typeface="Fund Light" pitchFamily="2" charset="-78"/>
                <a:sym typeface="Arial"/>
              </a:rPr>
              <a:t>. They are outputs from a product-specific business model</a:t>
            </a:r>
            <a:endParaRPr lang="en-US" sz="1000" i="1"/>
          </a:p>
        </p:txBody>
      </p:sp>
      <p:sp>
        <p:nvSpPr>
          <p:cNvPr id="17" name="Text Placeholder 6">
            <a:extLst>
              <a:ext uri="{FF2B5EF4-FFF2-40B4-BE49-F238E27FC236}">
                <a16:creationId xmlns:a16="http://schemas.microsoft.com/office/drawing/2014/main" id="{A2F53E7C-17EB-F0D8-18CC-2FE60F09B4D1}"/>
              </a:ext>
            </a:extLst>
          </p:cNvPr>
          <p:cNvSpPr txBox="1">
            <a:spLocks/>
          </p:cNvSpPr>
          <p:nvPr/>
        </p:nvSpPr>
        <p:spPr>
          <a:xfrm>
            <a:off x="7589520" y="-2080"/>
            <a:ext cx="1554480" cy="344980"/>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Are the associated risks manageable?</a:t>
            </a:r>
          </a:p>
        </p:txBody>
      </p:sp>
      <p:sp>
        <p:nvSpPr>
          <p:cNvPr id="18" name="Oval 17">
            <a:extLst>
              <a:ext uri="{FF2B5EF4-FFF2-40B4-BE49-F238E27FC236}">
                <a16:creationId xmlns:a16="http://schemas.microsoft.com/office/drawing/2014/main" id="{28F34868-ECD6-781F-E28A-65F1FAC7B6D0}"/>
              </a:ext>
            </a:extLst>
          </p:cNvPr>
          <p:cNvSpPr/>
          <p:nvPr/>
        </p:nvSpPr>
        <p:spPr>
          <a:xfrm>
            <a:off x="7470002" y="46401"/>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grpSp>
        <p:nvGrpSpPr>
          <p:cNvPr id="19" name="Group 18">
            <a:extLst>
              <a:ext uri="{FF2B5EF4-FFF2-40B4-BE49-F238E27FC236}">
                <a16:creationId xmlns:a16="http://schemas.microsoft.com/office/drawing/2014/main" id="{B317BE57-167A-FABB-AAF3-0083E95F5069}"/>
              </a:ext>
            </a:extLst>
          </p:cNvPr>
          <p:cNvGrpSpPr/>
          <p:nvPr/>
        </p:nvGrpSpPr>
        <p:grpSpPr>
          <a:xfrm>
            <a:off x="1349993" y="34194"/>
            <a:ext cx="5484392" cy="219841"/>
            <a:chOff x="1349993" y="34194"/>
            <a:chExt cx="5484392" cy="219841"/>
          </a:xfrm>
        </p:grpSpPr>
        <p:sp>
          <p:nvSpPr>
            <p:cNvPr id="20" name="TextBox 19">
              <a:extLst>
                <a:ext uri="{FF2B5EF4-FFF2-40B4-BE49-F238E27FC236}">
                  <a16:creationId xmlns:a16="http://schemas.microsoft.com/office/drawing/2014/main" id="{69DCFB30-C317-4A2C-A689-353CE6E718DE}"/>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21" name="TextBox 20">
              <a:extLst>
                <a:ext uri="{FF2B5EF4-FFF2-40B4-BE49-F238E27FC236}">
                  <a16:creationId xmlns:a16="http://schemas.microsoft.com/office/drawing/2014/main" id="{9E6637EE-4805-82FF-4839-176C8B415458}"/>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22" name="TextBox 21">
              <a:extLst>
                <a:ext uri="{FF2B5EF4-FFF2-40B4-BE49-F238E27FC236}">
                  <a16:creationId xmlns:a16="http://schemas.microsoft.com/office/drawing/2014/main" id="{3A19177F-6397-68E8-5AA2-05BB22C91BA1}"/>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23" name="TextBox 22">
              <a:extLst>
                <a:ext uri="{FF2B5EF4-FFF2-40B4-BE49-F238E27FC236}">
                  <a16:creationId xmlns:a16="http://schemas.microsoft.com/office/drawing/2014/main" id="{86D668C4-7346-7D0B-271E-BA82BB2B6661}"/>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32" name="TextBox 31">
              <a:extLst>
                <a:ext uri="{FF2B5EF4-FFF2-40B4-BE49-F238E27FC236}">
                  <a16:creationId xmlns:a16="http://schemas.microsoft.com/office/drawing/2014/main" id="{C0B4B066-5556-D6E8-58ED-B7CB9CA5E837}"/>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53" name="TextBox 52">
            <a:extLst>
              <a:ext uri="{FF2B5EF4-FFF2-40B4-BE49-F238E27FC236}">
                <a16:creationId xmlns:a16="http://schemas.microsoft.com/office/drawing/2014/main" id="{A9217941-3FA4-3D8A-CA53-5AC0AE3E9F15}"/>
              </a:ext>
            </a:extLst>
          </p:cNvPr>
          <p:cNvSpPr txBox="1">
            <a:spLocks/>
          </p:cNvSpPr>
          <p:nvPr/>
        </p:nvSpPr>
        <p:spPr>
          <a:xfrm>
            <a:off x="4703479" y="1416799"/>
            <a:ext cx="2072338"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How to calculate</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54" name="Straight Connector 53">
            <a:extLst>
              <a:ext uri="{FF2B5EF4-FFF2-40B4-BE49-F238E27FC236}">
                <a16:creationId xmlns:a16="http://schemas.microsoft.com/office/drawing/2014/main" id="{763EAF56-0ABC-8635-2F2B-E14D6D8381D3}"/>
              </a:ext>
            </a:extLst>
          </p:cNvPr>
          <p:cNvCxnSpPr>
            <a:cxnSpLocks/>
          </p:cNvCxnSpPr>
          <p:nvPr/>
        </p:nvCxnSpPr>
        <p:spPr>
          <a:xfrm>
            <a:off x="4765851" y="1698809"/>
            <a:ext cx="19202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71A236E0-D247-21D5-39AE-5035CA25ED99}"/>
              </a:ext>
            </a:extLst>
          </p:cNvPr>
          <p:cNvSpPr txBox="1">
            <a:spLocks/>
          </p:cNvSpPr>
          <p:nvPr/>
        </p:nvSpPr>
        <p:spPr>
          <a:xfrm>
            <a:off x="6769101" y="1416799"/>
            <a:ext cx="2059940"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Implications for risk</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56" name="Straight Connector 55">
            <a:extLst>
              <a:ext uri="{FF2B5EF4-FFF2-40B4-BE49-F238E27FC236}">
                <a16:creationId xmlns:a16="http://schemas.microsoft.com/office/drawing/2014/main" id="{25568389-9F20-B498-50FA-85144187D9A9}"/>
              </a:ext>
            </a:extLst>
          </p:cNvPr>
          <p:cNvCxnSpPr>
            <a:cxnSpLocks/>
          </p:cNvCxnSpPr>
          <p:nvPr/>
        </p:nvCxnSpPr>
        <p:spPr>
          <a:xfrm>
            <a:off x="6769100" y="1698809"/>
            <a:ext cx="20599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221499CD-3BD7-41E0-0CE5-45D9E308DDD7}"/>
              </a:ext>
            </a:extLst>
          </p:cNvPr>
          <p:cNvSpPr>
            <a:spLocks/>
          </p:cNvSpPr>
          <p:nvPr/>
        </p:nvSpPr>
        <p:spPr>
          <a:xfrm>
            <a:off x="4743621" y="1748689"/>
            <a:ext cx="2012780" cy="880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Ratio of total yearly fixed costs (in SAR) and per-unit contribution margin (in SAR)</a:t>
            </a:r>
            <a:r>
              <a:rPr lang="en-US" sz="1000" baseline="30000">
                <a:solidFill>
                  <a:srgbClr val="000000"/>
                </a:solidFill>
                <a:latin typeface="Fund Light" pitchFamily="2" charset="-78"/>
                <a:cs typeface="Fund Light" pitchFamily="2" charset="-78"/>
              </a:rPr>
              <a:t>1</a:t>
            </a:r>
            <a:r>
              <a:rPr lang="en-US" sz="1000">
                <a:solidFill>
                  <a:srgbClr val="000000"/>
                </a:solidFill>
                <a:latin typeface="Fund Light" pitchFamily="2" charset="-78"/>
                <a:cs typeface="Fund Light" pitchFamily="2" charset="-78"/>
              </a:rPr>
              <a:t>, in steady state</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58" name="Rectangle 57">
            <a:extLst>
              <a:ext uri="{FF2B5EF4-FFF2-40B4-BE49-F238E27FC236}">
                <a16:creationId xmlns:a16="http://schemas.microsoft.com/office/drawing/2014/main" id="{B230BBB8-6EFD-33B1-BC35-CB9087E41963}"/>
              </a:ext>
            </a:extLst>
          </p:cNvPr>
          <p:cNvSpPr>
            <a:spLocks/>
          </p:cNvSpPr>
          <p:nvPr/>
        </p:nvSpPr>
        <p:spPr>
          <a:xfrm>
            <a:off x="6769100" y="1748689"/>
            <a:ext cx="2058853" cy="880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 the break-even value increases, the demand </a:t>
            </a:r>
            <a:r>
              <a:rPr lang="en-US" sz="1000">
                <a:solidFill>
                  <a:srgbClr val="000000"/>
                </a:solidFill>
                <a:latin typeface="Fund Light" pitchFamily="2" charset="-78"/>
                <a:cs typeface="Fund Light" pitchFamily="2" charset="-78"/>
              </a:rPr>
              <a:t>commitment needs to increase</a:t>
            </a: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leading to a higher buyer risk</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59" name="Rectangle 58">
            <a:extLst>
              <a:ext uri="{FF2B5EF4-FFF2-40B4-BE49-F238E27FC236}">
                <a16:creationId xmlns:a16="http://schemas.microsoft.com/office/drawing/2014/main" id="{634CEE82-4082-A961-C5B2-98C6B918365C}"/>
              </a:ext>
            </a:extLst>
          </p:cNvPr>
          <p:cNvSpPr>
            <a:spLocks/>
          </p:cNvSpPr>
          <p:nvPr/>
        </p:nvSpPr>
        <p:spPr>
          <a:xfrm>
            <a:off x="4743619" y="2896231"/>
            <a:ext cx="1982090" cy="7113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Ratio of initial investment and annual cash inflow</a:t>
            </a:r>
            <a:r>
              <a:rPr lang="en-US" sz="1000" baseline="30000">
                <a:solidFill>
                  <a:srgbClr val="000000"/>
                </a:solidFill>
                <a:latin typeface="Fund Light" pitchFamily="2" charset="-78"/>
                <a:cs typeface="Fund Light" pitchFamily="2" charset="-78"/>
              </a:rPr>
              <a:t>2</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60" name="Rectangle 59">
            <a:extLst>
              <a:ext uri="{FF2B5EF4-FFF2-40B4-BE49-F238E27FC236}">
                <a16:creationId xmlns:a16="http://schemas.microsoft.com/office/drawing/2014/main" id="{4086D64C-DF45-507F-6E17-6970A61D4125}"/>
              </a:ext>
            </a:extLst>
          </p:cNvPr>
          <p:cNvSpPr>
            <a:spLocks/>
          </p:cNvSpPr>
          <p:nvPr/>
        </p:nvSpPr>
        <p:spPr>
          <a:xfrm>
            <a:off x="6744469" y="2896231"/>
            <a:ext cx="2083484" cy="7113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The longer the payback period, the longer will the time for which demand commitment is needed, increasing buyer risk</a:t>
            </a:r>
            <a:endPar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cxnSp>
        <p:nvCxnSpPr>
          <p:cNvPr id="64" name="Straight Connector 63">
            <a:extLst>
              <a:ext uri="{FF2B5EF4-FFF2-40B4-BE49-F238E27FC236}">
                <a16:creationId xmlns:a16="http://schemas.microsoft.com/office/drawing/2014/main" id="{BC897C76-60B1-1044-F7C8-56914F4A4595}"/>
              </a:ext>
            </a:extLst>
          </p:cNvPr>
          <p:cNvCxnSpPr>
            <a:cxnSpLocks/>
          </p:cNvCxnSpPr>
          <p:nvPr/>
        </p:nvCxnSpPr>
        <p:spPr>
          <a:xfrm>
            <a:off x="442059" y="2763304"/>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F55481A-D583-B87A-F81B-54216A739AAB}"/>
              </a:ext>
            </a:extLst>
          </p:cNvPr>
          <p:cNvSpPr txBox="1">
            <a:spLocks/>
          </p:cNvSpPr>
          <p:nvPr/>
        </p:nvSpPr>
        <p:spPr>
          <a:xfrm>
            <a:off x="347461" y="1259001"/>
            <a:ext cx="1235075"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Risk assessment dimension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66" name="Straight Connector 65">
            <a:extLst>
              <a:ext uri="{FF2B5EF4-FFF2-40B4-BE49-F238E27FC236}">
                <a16:creationId xmlns:a16="http://schemas.microsoft.com/office/drawing/2014/main" id="{2E4B452E-219E-E224-842C-CC4AE970F0F0}"/>
              </a:ext>
            </a:extLst>
          </p:cNvPr>
          <p:cNvCxnSpPr>
            <a:cxnSpLocks/>
          </p:cNvCxnSpPr>
          <p:nvPr/>
        </p:nvCxnSpPr>
        <p:spPr>
          <a:xfrm>
            <a:off x="347460" y="1698809"/>
            <a:ext cx="123507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F6003D94-CDB2-D582-1009-40E8E6354A0C}"/>
              </a:ext>
            </a:extLst>
          </p:cNvPr>
          <p:cNvSpPr>
            <a:spLocks/>
          </p:cNvSpPr>
          <p:nvPr/>
        </p:nvSpPr>
        <p:spPr>
          <a:xfrm>
            <a:off x="660994" y="3066175"/>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duration</a:t>
            </a:r>
          </a:p>
        </p:txBody>
      </p:sp>
      <p:sp>
        <p:nvSpPr>
          <p:cNvPr id="71" name="Rectangle 70">
            <a:extLst>
              <a:ext uri="{FF2B5EF4-FFF2-40B4-BE49-F238E27FC236}">
                <a16:creationId xmlns:a16="http://schemas.microsoft.com/office/drawing/2014/main" id="{E76ACEBB-E4B6-B923-2558-6CC567469933}"/>
              </a:ext>
            </a:extLst>
          </p:cNvPr>
          <p:cNvSpPr>
            <a:spLocks/>
          </p:cNvSpPr>
          <p:nvPr/>
        </p:nvSpPr>
        <p:spPr>
          <a:xfrm>
            <a:off x="646488" y="1964493"/>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volume</a:t>
            </a:r>
          </a:p>
        </p:txBody>
      </p:sp>
      <p:sp>
        <p:nvSpPr>
          <p:cNvPr id="73" name="Oval 72">
            <a:extLst>
              <a:ext uri="{FF2B5EF4-FFF2-40B4-BE49-F238E27FC236}">
                <a16:creationId xmlns:a16="http://schemas.microsoft.com/office/drawing/2014/main" id="{9C1AF6FD-A4CA-828D-2727-D1806EB9BFBC}"/>
              </a:ext>
            </a:extLst>
          </p:cNvPr>
          <p:cNvSpPr/>
          <p:nvPr/>
        </p:nvSpPr>
        <p:spPr>
          <a:xfrm>
            <a:off x="417888" y="3223867"/>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
        <p:nvSpPr>
          <p:cNvPr id="74" name="Oval 73">
            <a:extLst>
              <a:ext uri="{FF2B5EF4-FFF2-40B4-BE49-F238E27FC236}">
                <a16:creationId xmlns:a16="http://schemas.microsoft.com/office/drawing/2014/main" id="{6DAFE267-8FD0-E1CC-B0D1-60DB6C7CBA79}"/>
              </a:ext>
            </a:extLst>
          </p:cNvPr>
          <p:cNvSpPr/>
          <p:nvPr/>
        </p:nvSpPr>
        <p:spPr>
          <a:xfrm>
            <a:off x="417888" y="2122185"/>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77" name="TextBox 76">
            <a:extLst>
              <a:ext uri="{FF2B5EF4-FFF2-40B4-BE49-F238E27FC236}">
                <a16:creationId xmlns:a16="http://schemas.microsoft.com/office/drawing/2014/main" id="{B0BBA4EB-0A80-E911-7A23-5CD18CFE60CA}"/>
              </a:ext>
            </a:extLst>
          </p:cNvPr>
          <p:cNvSpPr txBox="1">
            <a:spLocks/>
          </p:cNvSpPr>
          <p:nvPr/>
        </p:nvSpPr>
        <p:spPr>
          <a:xfrm>
            <a:off x="3215697" y="1260304"/>
            <a:ext cx="1467146"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Business model output</a:t>
            </a:r>
          </a:p>
        </p:txBody>
      </p:sp>
      <p:cxnSp>
        <p:nvCxnSpPr>
          <p:cNvPr id="78" name="Straight Connector 77">
            <a:extLst>
              <a:ext uri="{FF2B5EF4-FFF2-40B4-BE49-F238E27FC236}">
                <a16:creationId xmlns:a16="http://schemas.microsoft.com/office/drawing/2014/main" id="{3D61E541-0FFE-AAF7-461C-32BF4A5F6C41}"/>
              </a:ext>
            </a:extLst>
          </p:cNvPr>
          <p:cNvCxnSpPr>
            <a:cxnSpLocks/>
          </p:cNvCxnSpPr>
          <p:nvPr/>
        </p:nvCxnSpPr>
        <p:spPr>
          <a:xfrm>
            <a:off x="3215697" y="1698809"/>
            <a:ext cx="146714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42264B7A-1D85-17D2-0E77-378D49F3C548}"/>
              </a:ext>
            </a:extLst>
          </p:cNvPr>
          <p:cNvSpPr>
            <a:spLocks/>
          </p:cNvSpPr>
          <p:nvPr/>
        </p:nvSpPr>
        <p:spPr>
          <a:xfrm>
            <a:off x="3215697" y="1967099"/>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Break-even volume</a:t>
            </a:r>
          </a:p>
        </p:txBody>
      </p:sp>
      <p:sp>
        <p:nvSpPr>
          <p:cNvPr id="80" name="Rectangle 79">
            <a:extLst>
              <a:ext uri="{FF2B5EF4-FFF2-40B4-BE49-F238E27FC236}">
                <a16:creationId xmlns:a16="http://schemas.microsoft.com/office/drawing/2014/main" id="{3F355AF7-C801-EBA3-1F10-F45AD14FFD3B}"/>
              </a:ext>
            </a:extLst>
          </p:cNvPr>
          <p:cNvSpPr>
            <a:spLocks/>
          </p:cNvSpPr>
          <p:nvPr/>
        </p:nvSpPr>
        <p:spPr>
          <a:xfrm>
            <a:off x="3215697" y="3068781"/>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Payback</a:t>
            </a:r>
            <a:r>
              <a:rPr lang="en-US" sz="1000" b="1">
                <a:solidFill>
                  <a:schemeClr val="bg2"/>
                </a:solidFill>
                <a:latin typeface="Fund Light" pitchFamily="2" charset="-78"/>
                <a:cs typeface="Fund Light" pitchFamily="2" charset="-78"/>
              </a:rPr>
              <a:t> </a:t>
            </a: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period</a:t>
            </a:r>
          </a:p>
        </p:txBody>
      </p:sp>
      <p:sp>
        <p:nvSpPr>
          <p:cNvPr id="81" name="TextBox 80">
            <a:extLst>
              <a:ext uri="{FF2B5EF4-FFF2-40B4-BE49-F238E27FC236}">
                <a16:creationId xmlns:a16="http://schemas.microsoft.com/office/drawing/2014/main" id="{7BD22F1B-DE8E-4EFE-5F05-AD492DD5A622}"/>
              </a:ext>
            </a:extLst>
          </p:cNvPr>
          <p:cNvSpPr txBox="1">
            <a:spLocks/>
          </p:cNvSpPr>
          <p:nvPr/>
        </p:nvSpPr>
        <p:spPr>
          <a:xfrm>
            <a:off x="1665543" y="1414193"/>
            <a:ext cx="1467146"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Description</a:t>
            </a:r>
          </a:p>
        </p:txBody>
      </p:sp>
      <p:cxnSp>
        <p:nvCxnSpPr>
          <p:cNvPr id="82" name="Straight Connector 81">
            <a:extLst>
              <a:ext uri="{FF2B5EF4-FFF2-40B4-BE49-F238E27FC236}">
                <a16:creationId xmlns:a16="http://schemas.microsoft.com/office/drawing/2014/main" id="{9E805F7B-F266-9E47-822B-2341DD3B75CC}"/>
              </a:ext>
            </a:extLst>
          </p:cNvPr>
          <p:cNvCxnSpPr>
            <a:cxnSpLocks/>
          </p:cNvCxnSpPr>
          <p:nvPr/>
        </p:nvCxnSpPr>
        <p:spPr>
          <a:xfrm>
            <a:off x="1665543" y="1698809"/>
            <a:ext cx="146714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6FBE5904-0960-14ED-917C-DEA182DF310B}"/>
              </a:ext>
            </a:extLst>
          </p:cNvPr>
          <p:cNvSpPr>
            <a:spLocks/>
          </p:cNvSpPr>
          <p:nvPr/>
        </p:nvSpPr>
        <p:spPr>
          <a:xfrm>
            <a:off x="1665543" y="1967099"/>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lang="en-US" sz="1000">
                <a:solidFill>
                  <a:srgbClr val="000000"/>
                </a:solidFill>
                <a:latin typeface="Fund Light" pitchFamily="2" charset="-78"/>
                <a:cs typeface="Fund Light" pitchFamily="2" charset="-78"/>
              </a:rPr>
              <a:t>Procurement volume for which demand commitment is given</a:t>
            </a:r>
          </a:p>
        </p:txBody>
      </p:sp>
      <p:sp>
        <p:nvSpPr>
          <p:cNvPr id="84" name="Rectangle 83">
            <a:extLst>
              <a:ext uri="{FF2B5EF4-FFF2-40B4-BE49-F238E27FC236}">
                <a16:creationId xmlns:a16="http://schemas.microsoft.com/office/drawing/2014/main" id="{DBC9E064-3190-2055-85A6-ABF3F9D879BA}"/>
              </a:ext>
            </a:extLst>
          </p:cNvPr>
          <p:cNvSpPr>
            <a:spLocks/>
          </p:cNvSpPr>
          <p:nvPr/>
        </p:nvSpPr>
        <p:spPr>
          <a:xfrm>
            <a:off x="1665543" y="3068781"/>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lang="en-US" sz="1000">
                <a:solidFill>
                  <a:srgbClr val="000000"/>
                </a:solidFill>
                <a:latin typeface="Fund Light" pitchFamily="2" charset="-78"/>
                <a:cs typeface="Fund Light" pitchFamily="2" charset="-78"/>
              </a:rPr>
              <a:t>Time period over which LDC is planned or obligated to be fulfilled</a:t>
            </a:r>
          </a:p>
        </p:txBody>
      </p:sp>
    </p:spTree>
    <p:extLst>
      <p:ext uri="{BB962C8B-B14F-4D97-AF65-F5344CB8AC3E}">
        <p14:creationId xmlns:p14="http://schemas.microsoft.com/office/powerpoint/2010/main" val="2806131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02ECCB0C-C862-5921-7FD4-A64DDA9ECB22}"/>
              </a:ext>
            </a:extLst>
          </p:cNvPr>
          <p:cNvGraphicFramePr>
            <a:graphicFrameLocks noChangeAspect="1"/>
          </p:cNvGraphicFramePr>
          <p:nvPr>
            <p:custDataLst>
              <p:tags r:id="rId1"/>
            </p:custDataLst>
            <p:extLst>
              <p:ext uri="{D42A27DB-BD31-4B8C-83A1-F6EECF244321}">
                <p14:modId xmlns:p14="http://schemas.microsoft.com/office/powerpoint/2010/main" val="258316749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29" imgW="484" imgH="486" progId="TCLayout.ActiveDocument.1">
                  <p:embed/>
                </p:oleObj>
              </mc:Choice>
              <mc:Fallback>
                <p:oleObj name="think-cell Slide" r:id="rId29" imgW="484" imgH="486" progId="TCLayout.ActiveDocument.1">
                  <p:embed/>
                  <p:pic>
                    <p:nvPicPr>
                      <p:cNvPr id="87" name="think-cell data - do not delete" hidden="1">
                        <a:extLst>
                          <a:ext uri="{FF2B5EF4-FFF2-40B4-BE49-F238E27FC236}">
                            <a16:creationId xmlns:a16="http://schemas.microsoft.com/office/drawing/2014/main" id="{02ECCB0C-C862-5921-7FD4-A64DDA9ECB22}"/>
                          </a:ext>
                        </a:extLst>
                      </p:cNvPr>
                      <p:cNvPicPr/>
                      <p:nvPr/>
                    </p:nvPicPr>
                    <p:blipFill>
                      <a:blip r:embed="rId30"/>
                      <a:stretch>
                        <a:fillRect/>
                      </a:stretch>
                    </p:blipFill>
                    <p:spPr>
                      <a:xfrm>
                        <a:off x="1589" y="1589"/>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D8BB23CB-C720-4469-838D-9B8CDB7231DA}"/>
              </a:ext>
            </a:extLst>
          </p:cNvPr>
          <p:cNvSpPr>
            <a:spLocks noGrp="1"/>
          </p:cNvSpPr>
          <p:nvPr>
            <p:ph type="title"/>
          </p:nvPr>
        </p:nvSpPr>
        <p:spPr/>
        <p:txBody>
          <a:bodyPr vert="horz">
            <a:normAutofit fontScale="90000"/>
          </a:bodyPr>
          <a:lstStyle/>
          <a:p>
            <a:r>
              <a:rPr lang="en-US"/>
              <a:t>Example business case output – telecom product </a:t>
            </a:r>
          </a:p>
        </p:txBody>
      </p:sp>
      <p:graphicFrame>
        <p:nvGraphicFramePr>
          <p:cNvPr id="458" name="Chart 457">
            <a:extLst>
              <a:ext uri="{FF2B5EF4-FFF2-40B4-BE49-F238E27FC236}">
                <a16:creationId xmlns:a16="http://schemas.microsoft.com/office/drawing/2014/main" id="{D059F1C6-99DC-2693-F266-2D9FCF4EBD9D}"/>
              </a:ext>
            </a:extLst>
          </p:cNvPr>
          <p:cNvGraphicFramePr/>
          <p:nvPr>
            <p:custDataLst>
              <p:tags r:id="rId2"/>
            </p:custDataLst>
            <p:extLst>
              <p:ext uri="{D42A27DB-BD31-4B8C-83A1-F6EECF244321}">
                <p14:modId xmlns:p14="http://schemas.microsoft.com/office/powerpoint/2010/main" val="3618162122"/>
              </p:ext>
            </p:extLst>
          </p:nvPr>
        </p:nvGraphicFramePr>
        <p:xfrm>
          <a:off x="974725" y="773113"/>
          <a:ext cx="5430838" cy="2617787"/>
        </p:xfrm>
        <a:graphic>
          <a:graphicData uri="http://schemas.openxmlformats.org/drawingml/2006/chart">
            <c:chart xmlns:c="http://schemas.openxmlformats.org/drawingml/2006/chart" xmlns:r="http://schemas.openxmlformats.org/officeDocument/2006/relationships" r:id="rId31"/>
          </a:graphicData>
        </a:graphic>
      </p:graphicFrame>
      <p:sp>
        <p:nvSpPr>
          <p:cNvPr id="481" name="Text Placeholder 2">
            <a:extLst>
              <a:ext uri="{FF2B5EF4-FFF2-40B4-BE49-F238E27FC236}">
                <a16:creationId xmlns:a16="http://schemas.microsoft.com/office/drawing/2014/main" id="{4D875A80-D0C6-53EA-AB61-81F1DCEDC98C}"/>
              </a:ext>
            </a:extLst>
          </p:cNvPr>
          <p:cNvSpPr>
            <a:spLocks noGrp="1"/>
          </p:cNvSpPr>
          <p:nvPr>
            <p:custDataLst>
              <p:tags r:id="rId3"/>
            </p:custDataLst>
          </p:nvPr>
        </p:nvSpPr>
        <p:spPr bwMode="gray">
          <a:xfrm>
            <a:off x="666750" y="3127375"/>
            <a:ext cx="2762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53B92E42-657F-4E5A-A1D3-5317EC614790}" type="datetime'''''''''''''-''''''''''''''''''''''''8''''0''''''''''''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-800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490" name="Text Placeholder 2">
            <a:extLst>
              <a:ext uri="{FF2B5EF4-FFF2-40B4-BE49-F238E27FC236}">
                <a16:creationId xmlns:a16="http://schemas.microsoft.com/office/drawing/2014/main" id="{E9AC16D8-0BA4-E61C-105C-E5517A17A05C}"/>
              </a:ext>
            </a:extLst>
          </p:cNvPr>
          <p:cNvSpPr>
            <a:spLocks noGrp="1"/>
          </p:cNvSpPr>
          <p:nvPr>
            <p:custDataLst>
              <p:tags r:id="rId4"/>
            </p:custDataLst>
          </p:nvPr>
        </p:nvSpPr>
        <p:spPr bwMode="gray">
          <a:xfrm>
            <a:off x="862013" y="2144713"/>
            <a:ext cx="8096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943FFA52-726C-4AA5-B1B3-AF96811B5114}" type="datetime'''''''''''''''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5" name="Text Placeholder 3">
            <a:extLst>
              <a:ext uri="{FF2B5EF4-FFF2-40B4-BE49-F238E27FC236}">
                <a16:creationId xmlns:a16="http://schemas.microsoft.com/office/drawing/2014/main" id="{38C105A4-D9ED-AB7A-1812-A3D4127631C0}"/>
              </a:ext>
            </a:extLst>
          </p:cNvPr>
          <p:cNvSpPr>
            <a:spLocks noGrp="1"/>
          </p:cNvSpPr>
          <p:nvPr>
            <p:custDataLst>
              <p:tags r:id="rId5"/>
            </p:custDataLst>
          </p:nvPr>
        </p:nvSpPr>
        <p:spPr bwMode="gray">
          <a:xfrm>
            <a:off x="636588" y="857250"/>
            <a:ext cx="306388" cy="2063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fld id="{274B6E48-327F-4BC4-9312-6D3F0AF4C7FE}" type="datetime'''''1'''''''',''''''''''''00''''''''''''''''0'''''''">
              <a:rPr kumimoji="0" lang="en-US" altLang="en-US" sz="900" b="0" i="0" u="none" strike="noStrike" kern="1200" cap="none" spc="0" normalizeH="0" baseline="0" noProof="0" smtClean="0">
                <a:ln>
                  <a:noFill/>
                </a:ln>
                <a:solidFill>
                  <a:srgbClr val="FFFFFF">
                    <a:lumMod val="50000"/>
                  </a:srgbClr>
                </a:solidFill>
                <a:effectLst/>
                <a:uLnTx/>
                <a:uFillTx/>
                <a:latin typeface="Fund Light" pitchFamily="2" charset="-78"/>
                <a:ea typeface="+mn-ea"/>
                <a:cs typeface="Fund Light" pitchFamily="2" charset="-78"/>
              </a:rPr>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t>1,000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17" name="Text Placeholder 2">
            <a:extLst>
              <a:ext uri="{FF2B5EF4-FFF2-40B4-BE49-F238E27FC236}">
                <a16:creationId xmlns:a16="http://schemas.microsoft.com/office/drawing/2014/main" id="{3CC6DB02-F5DA-470F-F805-B469533AB9E4}"/>
              </a:ext>
            </a:extLst>
          </p:cNvPr>
          <p:cNvSpPr>
            <a:spLocks noGrp="1"/>
          </p:cNvSpPr>
          <p:nvPr>
            <p:custDataLst>
              <p:tags r:id="rId6"/>
            </p:custDataLst>
          </p:nvPr>
        </p:nvSpPr>
        <p:spPr bwMode="auto">
          <a:xfrm>
            <a:off x="835025" y="641350"/>
            <a:ext cx="4460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SAR Mn</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2" name="Text Placeholder 2">
            <a:extLst>
              <a:ext uri="{FF2B5EF4-FFF2-40B4-BE49-F238E27FC236}">
                <a16:creationId xmlns:a16="http://schemas.microsoft.com/office/drawing/2014/main" id="{65741619-CE17-E45D-AAC3-C65EDA375F29}"/>
              </a:ext>
            </a:extLst>
          </p:cNvPr>
          <p:cNvSpPr>
            <a:spLocks noGrp="1"/>
          </p:cNvSpPr>
          <p:nvPr>
            <p:custDataLst>
              <p:tags r:id="rId7"/>
            </p:custDataLst>
          </p:nvPr>
        </p:nvSpPr>
        <p:spPr bwMode="auto">
          <a:xfrm>
            <a:off x="1135063" y="3262313"/>
            <a:ext cx="3698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36A5F14F-DA15-40EA-9333-5E0837CC670A}" type="datetime'Y''e''''''''a''''r'' ''''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3" name="Text Placeholder 2">
            <a:extLst>
              <a:ext uri="{FF2B5EF4-FFF2-40B4-BE49-F238E27FC236}">
                <a16:creationId xmlns:a16="http://schemas.microsoft.com/office/drawing/2014/main" id="{40D1B20C-FB1F-89BB-157F-62F48C6B852D}"/>
              </a:ext>
            </a:extLst>
          </p:cNvPr>
          <p:cNvSpPr>
            <a:spLocks noGrp="1"/>
          </p:cNvSpPr>
          <p:nvPr>
            <p:custDataLst>
              <p:tags r:id="rId8"/>
            </p:custDataLst>
          </p:nvPr>
        </p:nvSpPr>
        <p:spPr bwMode="auto">
          <a:xfrm>
            <a:off x="1681163" y="3262313"/>
            <a:ext cx="3302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13059ED-6BF6-477A-A5AB-AD4C5A9A0F26}" type="datetime'''Y''''''''''''''''''''ea''''r'' ''''''1'''''">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1</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4" name="Text Placeholder 2">
            <a:extLst>
              <a:ext uri="{FF2B5EF4-FFF2-40B4-BE49-F238E27FC236}">
                <a16:creationId xmlns:a16="http://schemas.microsoft.com/office/drawing/2014/main" id="{1F87E448-7DC2-F5A6-DDA5-2E8485AB1AE3}"/>
              </a:ext>
            </a:extLst>
          </p:cNvPr>
          <p:cNvSpPr>
            <a:spLocks noGrp="1"/>
          </p:cNvSpPr>
          <p:nvPr>
            <p:custDataLst>
              <p:tags r:id="rId9"/>
            </p:custDataLst>
          </p:nvPr>
        </p:nvSpPr>
        <p:spPr bwMode="auto">
          <a:xfrm>
            <a:off x="2195513"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703DE821-FC6D-4BD5-9E0A-06D3DC4618F8}" type="datetime'Y''ea''''''''''''''''''''r'''''''''''''''''' 2'''''''''''">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2</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5" name="Text Placeholder 2">
            <a:extLst>
              <a:ext uri="{FF2B5EF4-FFF2-40B4-BE49-F238E27FC236}">
                <a16:creationId xmlns:a16="http://schemas.microsoft.com/office/drawing/2014/main" id="{3BF31A5B-C692-4018-E9DB-1BFDAFBAD6BA}"/>
              </a:ext>
            </a:extLst>
          </p:cNvPr>
          <p:cNvSpPr>
            <a:spLocks noGrp="1"/>
          </p:cNvSpPr>
          <p:nvPr>
            <p:custDataLst>
              <p:tags r:id="rId10"/>
            </p:custDataLst>
          </p:nvPr>
        </p:nvSpPr>
        <p:spPr bwMode="auto">
          <a:xfrm>
            <a:off x="272097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C2F58B6-3468-4B65-B517-DF0E95A3C729}" type="datetime'''Ye''''ar'''''''''''''''' ''''''''3'''''''''''''''''''''''">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3</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6" name="Text Placeholder 2">
            <a:extLst>
              <a:ext uri="{FF2B5EF4-FFF2-40B4-BE49-F238E27FC236}">
                <a16:creationId xmlns:a16="http://schemas.microsoft.com/office/drawing/2014/main" id="{507C9939-FB85-D63C-90BC-89119C6D828E}"/>
              </a:ext>
            </a:extLst>
          </p:cNvPr>
          <p:cNvSpPr>
            <a:spLocks noGrp="1"/>
          </p:cNvSpPr>
          <p:nvPr>
            <p:custDataLst>
              <p:tags r:id="rId11"/>
            </p:custDataLst>
          </p:nvPr>
        </p:nvSpPr>
        <p:spPr bwMode="auto">
          <a:xfrm>
            <a:off x="324802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07B75FEB-4CC1-4CDD-B30B-B07BF20F5439}" type="datetime'''''''''''Y''e''''''''a''''''''''''''r'''''''''''' ''4'''''''">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4</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7" name="Text Placeholder 2">
            <a:extLst>
              <a:ext uri="{FF2B5EF4-FFF2-40B4-BE49-F238E27FC236}">
                <a16:creationId xmlns:a16="http://schemas.microsoft.com/office/drawing/2014/main" id="{8EAA287E-5D61-DF8C-D536-D078F060DF62}"/>
              </a:ext>
            </a:extLst>
          </p:cNvPr>
          <p:cNvSpPr>
            <a:spLocks noGrp="1"/>
          </p:cNvSpPr>
          <p:nvPr>
            <p:custDataLst>
              <p:tags r:id="rId12"/>
            </p:custDataLst>
          </p:nvPr>
        </p:nvSpPr>
        <p:spPr bwMode="auto">
          <a:xfrm>
            <a:off x="3773488" y="3262313"/>
            <a:ext cx="35877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858922A-C4EE-4F6C-B261-B8EC25F80947}" type="datetime'''Y''ea''''''''''''r'''''''''''''''' ''''''5'''''''''">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5</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8" name="Text Placeholder 2">
            <a:extLst>
              <a:ext uri="{FF2B5EF4-FFF2-40B4-BE49-F238E27FC236}">
                <a16:creationId xmlns:a16="http://schemas.microsoft.com/office/drawing/2014/main" id="{2F27AB08-CDD0-0A30-B43D-58AE11EC3ED8}"/>
              </a:ext>
            </a:extLst>
          </p:cNvPr>
          <p:cNvSpPr>
            <a:spLocks noGrp="1"/>
          </p:cNvSpPr>
          <p:nvPr>
            <p:custDataLst>
              <p:tags r:id="rId13"/>
            </p:custDataLst>
          </p:nvPr>
        </p:nvSpPr>
        <p:spPr bwMode="auto">
          <a:xfrm>
            <a:off x="42973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EF3E43C8-9459-4F7E-A42F-A8E4C39CEF55}" type="datetime'''''''''''Y''e''ar'' ''''''''''''''''6'''''''''''''''''''''''">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6</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9" name="Text Placeholder 2">
            <a:extLst>
              <a:ext uri="{FF2B5EF4-FFF2-40B4-BE49-F238E27FC236}">
                <a16:creationId xmlns:a16="http://schemas.microsoft.com/office/drawing/2014/main" id="{4C3F33A2-3F3D-E6C3-2BED-1C888388B3A9}"/>
              </a:ext>
            </a:extLst>
          </p:cNvPr>
          <p:cNvSpPr>
            <a:spLocks noGrp="1"/>
          </p:cNvSpPr>
          <p:nvPr>
            <p:custDataLst>
              <p:tags r:id="rId14"/>
            </p:custDataLst>
          </p:nvPr>
        </p:nvSpPr>
        <p:spPr bwMode="auto">
          <a:xfrm>
            <a:off x="4829175"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5779142E-36BB-487C-98FF-7A88F944F3E5}" type="datetime'''Y''''''''ear'' ''7'''''''''''''''''''''''''''''">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7</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0" name="Text Placeholder 2">
            <a:extLst>
              <a:ext uri="{FF2B5EF4-FFF2-40B4-BE49-F238E27FC236}">
                <a16:creationId xmlns:a16="http://schemas.microsoft.com/office/drawing/2014/main" id="{0820717A-A34F-48A5-D046-2B47FD84FE6D}"/>
              </a:ext>
            </a:extLst>
          </p:cNvPr>
          <p:cNvSpPr>
            <a:spLocks noGrp="1"/>
          </p:cNvSpPr>
          <p:nvPr>
            <p:custDataLst>
              <p:tags r:id="rId15"/>
            </p:custDataLst>
          </p:nvPr>
        </p:nvSpPr>
        <p:spPr bwMode="auto">
          <a:xfrm>
            <a:off x="53514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B9F473F-DC2D-46D4-A910-7FF45B69B8A3}" type="datetime'''''''''''''Y''''''''''''''''''''e''a''''''''''''''''r'' ''8'">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8</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1" name="Text Placeholder 2">
            <a:extLst>
              <a:ext uri="{FF2B5EF4-FFF2-40B4-BE49-F238E27FC236}">
                <a16:creationId xmlns:a16="http://schemas.microsoft.com/office/drawing/2014/main" id="{96D0CD1B-56F3-C81B-6948-3BE048C1FCDB}"/>
              </a:ext>
            </a:extLst>
          </p:cNvPr>
          <p:cNvSpPr>
            <a:spLocks noGrp="1"/>
          </p:cNvSpPr>
          <p:nvPr>
            <p:custDataLst>
              <p:tags r:id="rId16"/>
            </p:custDataLst>
          </p:nvPr>
        </p:nvSpPr>
        <p:spPr bwMode="auto">
          <a:xfrm>
            <a:off x="5876925"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ACF2B46C-5BAD-4359-A478-F79D5217639E}" type="datetime'''''Y''''''''''''''''''''''''''e''''a''''''''r ''''9'''''''">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9</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graphicFrame>
        <p:nvGraphicFramePr>
          <p:cNvPr id="456" name="Table 141">
            <a:extLst>
              <a:ext uri="{FF2B5EF4-FFF2-40B4-BE49-F238E27FC236}">
                <a16:creationId xmlns:a16="http://schemas.microsoft.com/office/drawing/2014/main" id="{5682F1F0-D0D6-AD87-C36B-FE26E7F7026D}"/>
              </a:ext>
            </a:extLst>
          </p:cNvPr>
          <p:cNvGraphicFramePr>
            <a:graphicFrameLocks noGrp="1"/>
          </p:cNvGraphicFramePr>
          <p:nvPr/>
        </p:nvGraphicFramePr>
        <p:xfrm>
          <a:off x="6551756" y="1171575"/>
          <a:ext cx="2255146" cy="1075556"/>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7778">
                <a:tc>
                  <a:txBody>
                    <a:bodyPr/>
                    <a:lstStyle/>
                    <a:p>
                      <a:pPr algn="l" rtl="0"/>
                      <a:r>
                        <a:rPr lang="en-GB" sz="1000" b="1">
                          <a:solidFill>
                            <a:srgbClr val="000000"/>
                          </a:solidFill>
                          <a:latin typeface="Fund Light" pitchFamily="2" charset="-78"/>
                          <a:cs typeface="Fund Light" pitchFamily="2" charset="-78"/>
                        </a:rPr>
                        <a:t>Capex </a:t>
                      </a:r>
                      <a:r>
                        <a:rPr lang="en-GB" sz="1000" b="0">
                          <a:solidFill>
                            <a:srgbClr val="000000"/>
                          </a:solidFill>
                          <a:latin typeface="Fund Light" pitchFamily="2" charset="-78"/>
                          <a:cs typeface="Fund Light" pitchFamily="2" charset="-78"/>
                        </a:rPr>
                        <a:t>(SAR Mn)</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algn="ctr" rtl="0"/>
                      <a:r>
                        <a:rPr lang="en-GB" sz="1000" b="0">
                          <a:solidFill>
                            <a:srgbClr val="000000"/>
                          </a:solidFill>
                          <a:latin typeface="Fund Light" pitchFamily="2" charset="-78"/>
                          <a:cs typeface="Fund Light" pitchFamily="2" charset="-78"/>
                        </a:rPr>
                        <a:t>175-200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674150051"/>
                  </a:ext>
                </a:extLst>
              </a:tr>
              <a:tr h="537778">
                <a:tc>
                  <a:txBody>
                    <a:bodyPr/>
                    <a:lstStyle/>
                    <a:p>
                      <a:pPr algn="l" rtl="0"/>
                      <a:r>
                        <a:rPr lang="en-GB" sz="1000" b="1">
                          <a:solidFill>
                            <a:srgbClr val="000000"/>
                          </a:solidFill>
                          <a:latin typeface="Fund Light" pitchFamily="2" charset="-78"/>
                          <a:cs typeface="Fund Light" pitchFamily="2" charset="-78"/>
                        </a:rPr>
                        <a:t>IRR</a:t>
                      </a:r>
                      <a:endParaRPr lang="en-GB" sz="1000" b="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13-15%</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3569938270"/>
                  </a:ext>
                </a:extLst>
              </a:tr>
            </a:tbl>
          </a:graphicData>
        </a:graphic>
      </p:graphicFrame>
      <p:sp>
        <p:nvSpPr>
          <p:cNvPr id="94" name="Rectangle 93">
            <a:extLst>
              <a:ext uri="{FF2B5EF4-FFF2-40B4-BE49-F238E27FC236}">
                <a16:creationId xmlns:a16="http://schemas.microsoft.com/office/drawing/2014/main" id="{5EEB76D3-C839-AE95-8A00-A2FFD30C2F43}"/>
              </a:ext>
            </a:extLst>
          </p:cNvPr>
          <p:cNvSpPr/>
          <p:nvPr>
            <p:custDataLst>
              <p:tags r:id="rId17"/>
            </p:custDataLst>
          </p:nvPr>
        </p:nvSpPr>
        <p:spPr bwMode="auto">
          <a:xfrm>
            <a:off x="1403350" y="922338"/>
            <a:ext cx="160338" cy="120650"/>
          </a:xfrm>
          <a:prstGeom prst="rect">
            <a:avLst/>
          </a:prstGeom>
          <a:solidFill>
            <a:srgbClr val="C39A5C"/>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6" name="Rectangle 25">
            <a:extLst>
              <a:ext uri="{FF2B5EF4-FFF2-40B4-BE49-F238E27FC236}">
                <a16:creationId xmlns:a16="http://schemas.microsoft.com/office/drawing/2014/main" id="{B964AB21-C1C2-E02C-6CCB-73D4CCACB771}"/>
              </a:ext>
            </a:extLst>
          </p:cNvPr>
          <p:cNvSpPr/>
          <p:nvPr>
            <p:custDataLst>
              <p:tags r:id="rId18"/>
            </p:custDataLst>
          </p:nvPr>
        </p:nvSpPr>
        <p:spPr bwMode="auto">
          <a:xfrm>
            <a:off x="1403350" y="1103313"/>
            <a:ext cx="160338" cy="120650"/>
          </a:xfrm>
          <a:prstGeom prst="rect">
            <a:avLst/>
          </a:prstGeom>
          <a:solidFill>
            <a:schemeClr val="tx2"/>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7" name="Rectangle 26">
            <a:extLst>
              <a:ext uri="{FF2B5EF4-FFF2-40B4-BE49-F238E27FC236}">
                <a16:creationId xmlns:a16="http://schemas.microsoft.com/office/drawing/2014/main" id="{B2C51150-AA48-6C41-171B-AF1195A77A00}"/>
              </a:ext>
            </a:extLst>
          </p:cNvPr>
          <p:cNvSpPr/>
          <p:nvPr>
            <p:custDataLst>
              <p:tags r:id="rId19"/>
            </p:custDataLst>
          </p:nvPr>
        </p:nvSpPr>
        <p:spPr bwMode="auto">
          <a:xfrm>
            <a:off x="2265363" y="922338"/>
            <a:ext cx="160338" cy="120650"/>
          </a:xfrm>
          <a:prstGeom prst="rect">
            <a:avLst/>
          </a:prstGeom>
          <a:solidFill>
            <a:srgbClr val="B9B9B9"/>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495" name="Rectangle 494">
            <a:extLst>
              <a:ext uri="{FF2B5EF4-FFF2-40B4-BE49-F238E27FC236}">
                <a16:creationId xmlns:a16="http://schemas.microsoft.com/office/drawing/2014/main" id="{875EFDA7-2477-7CCD-CBA9-ED1F1F372CEB}"/>
              </a:ext>
            </a:extLst>
          </p:cNvPr>
          <p:cNvSpPr/>
          <p:nvPr>
            <p:custDataLst>
              <p:tags r:id="rId20"/>
            </p:custDataLst>
          </p:nvPr>
        </p:nvSpPr>
        <p:spPr bwMode="auto">
          <a:xfrm>
            <a:off x="2265363" y="1103313"/>
            <a:ext cx="160338" cy="120650"/>
          </a:xfrm>
          <a:prstGeom prst="rect">
            <a:avLst/>
          </a:prstGeom>
          <a:solidFill>
            <a:srgbClr val="5A5A5A"/>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cxnSp>
        <p:nvCxnSpPr>
          <p:cNvPr id="91" name="Straight Connector 90">
            <a:extLst>
              <a:ext uri="{FF2B5EF4-FFF2-40B4-BE49-F238E27FC236}">
                <a16:creationId xmlns:a16="http://schemas.microsoft.com/office/drawing/2014/main" id="{C44BAC23-A02E-F20C-66FB-0A6A3B5A237B}"/>
              </a:ext>
            </a:extLst>
          </p:cNvPr>
          <p:cNvCxnSpPr/>
          <p:nvPr>
            <p:custDataLst>
              <p:tags r:id="rId21"/>
            </p:custDataLst>
          </p:nvPr>
        </p:nvCxnSpPr>
        <p:spPr bwMode="gray">
          <a:xfrm>
            <a:off x="4210050" y="982663"/>
            <a:ext cx="201613" cy="0"/>
          </a:xfrm>
          <a:prstGeom prst="line">
            <a:avLst/>
          </a:prstGeom>
          <a:ln w="19050" cap="rnd" cmpd="sng" algn="ctr">
            <a:solidFill>
              <a:srgbClr val="00000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1" name="Oval 110">
            <a:extLst>
              <a:ext uri="{FF2B5EF4-FFF2-40B4-BE49-F238E27FC236}">
                <a16:creationId xmlns:a16="http://schemas.microsoft.com/office/drawing/2014/main" id="{C61B211A-F3BA-416C-1FF2-31EF534522B5}"/>
              </a:ext>
            </a:extLst>
          </p:cNvPr>
          <p:cNvSpPr/>
          <p:nvPr>
            <p:custDataLst>
              <p:tags r:id="rId22"/>
            </p:custDataLst>
          </p:nvPr>
        </p:nvSpPr>
        <p:spPr bwMode="auto">
          <a:xfrm>
            <a:off x="4284663" y="957263"/>
            <a:ext cx="50800" cy="50800"/>
          </a:xfrm>
          <a:prstGeom prst="ellipse">
            <a:avLst/>
          </a:prstGeom>
          <a:solidFill>
            <a:schemeClr val="accent1"/>
          </a:solidFill>
          <a:ln w="9525" cmpd="sng" algn="ctr">
            <a:solidFill>
              <a:schemeClr val="accent1"/>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6" name="Text Placeholder 2">
            <a:extLst>
              <a:ext uri="{FF2B5EF4-FFF2-40B4-BE49-F238E27FC236}">
                <a16:creationId xmlns:a16="http://schemas.microsoft.com/office/drawing/2014/main" id="{457A6E2C-88E2-DD20-6AB3-C0F92F52679E}"/>
              </a:ext>
            </a:extLst>
          </p:cNvPr>
          <p:cNvSpPr>
            <a:spLocks noGrp="1"/>
          </p:cNvSpPr>
          <p:nvPr>
            <p:custDataLst>
              <p:tags r:id="rId23"/>
            </p:custDataLst>
          </p:nvPr>
        </p:nvSpPr>
        <p:spPr bwMode="auto">
          <a:xfrm>
            <a:off x="1614488" y="928688"/>
            <a:ext cx="488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B7621481-A5AB-4D6E-8C90-E2933302223E}" type="datetime'''''''''''''R''''''ev''''''''e''''''''n''ue'''''''">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Revenue</a:t>
            </a:fld>
            <a:endParaRPr kumimoji="0" lang="en-US" sz="900" b="0" i="0" u="none" strike="noStrike" kern="1200" cap="none" spc="0" normalizeH="0" baseline="3000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 name="Text Placeholder 2">
            <a:extLst>
              <a:ext uri="{FF2B5EF4-FFF2-40B4-BE49-F238E27FC236}">
                <a16:creationId xmlns:a16="http://schemas.microsoft.com/office/drawing/2014/main" id="{1528EFD7-B1C4-E0EC-F4BB-C14B0C1C6473}"/>
              </a:ext>
            </a:extLst>
          </p:cNvPr>
          <p:cNvSpPr>
            <a:spLocks noGrp="1"/>
          </p:cNvSpPr>
          <p:nvPr>
            <p:custDataLst>
              <p:tags r:id="rId24"/>
            </p:custDataLst>
          </p:nvPr>
        </p:nvSpPr>
        <p:spPr bwMode="auto">
          <a:xfrm>
            <a:off x="1614488" y="1109663"/>
            <a:ext cx="3508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Capex</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8" name="Text Placeholder 2">
            <a:extLst>
              <a:ext uri="{FF2B5EF4-FFF2-40B4-BE49-F238E27FC236}">
                <a16:creationId xmlns:a16="http://schemas.microsoft.com/office/drawing/2014/main" id="{BE63498C-A687-5E67-BF91-E829C4B320CB}"/>
              </a:ext>
            </a:extLst>
          </p:cNvPr>
          <p:cNvSpPr>
            <a:spLocks noGrp="1"/>
          </p:cNvSpPr>
          <p:nvPr>
            <p:custDataLst>
              <p:tags r:id="rId25"/>
            </p:custDataLst>
          </p:nvPr>
        </p:nvSpPr>
        <p:spPr bwMode="auto">
          <a:xfrm>
            <a:off x="2476500" y="928688"/>
            <a:ext cx="935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4138F85B-45B0-4CA9-9544-F8C9CC9C0046}" type="datetime'''''''''Cost'' ''''o''''''''f'' ''''''''mate''r''''''ials'">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Cost of materials</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5" name="Text Placeholder 2">
            <a:extLst>
              <a:ext uri="{FF2B5EF4-FFF2-40B4-BE49-F238E27FC236}">
                <a16:creationId xmlns:a16="http://schemas.microsoft.com/office/drawing/2014/main" id="{F5F325E4-0C1E-C683-EA07-2B7C2C449736}"/>
              </a:ext>
            </a:extLst>
          </p:cNvPr>
          <p:cNvSpPr>
            <a:spLocks noGrp="1"/>
          </p:cNvSpPr>
          <p:nvPr>
            <p:custDataLst>
              <p:tags r:id="rId26"/>
            </p:custDataLst>
          </p:nvPr>
        </p:nvSpPr>
        <p:spPr bwMode="auto">
          <a:xfrm>
            <a:off x="2476500" y="1109663"/>
            <a:ext cx="16224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Fixed and variable overheads</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6" name="Text Placeholder 2">
            <a:extLst>
              <a:ext uri="{FF2B5EF4-FFF2-40B4-BE49-F238E27FC236}">
                <a16:creationId xmlns:a16="http://schemas.microsoft.com/office/drawing/2014/main" id="{4CD1A44B-6DEE-7480-4782-D950415C77AA}"/>
              </a:ext>
            </a:extLst>
          </p:cNvPr>
          <p:cNvSpPr>
            <a:spLocks noGrp="1"/>
          </p:cNvSpPr>
          <p:nvPr>
            <p:custDataLst>
              <p:tags r:id="rId27"/>
            </p:custDataLst>
          </p:nvPr>
        </p:nvSpPr>
        <p:spPr bwMode="auto">
          <a:xfrm>
            <a:off x="4471988" y="928688"/>
            <a:ext cx="1443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spcBef>
                <a:spcPct val="0"/>
              </a:spcBef>
              <a:spcAft>
                <a:spcPct val="0"/>
              </a:spcAft>
              <a:buNone/>
              <a:defRPr/>
            </a:pPr>
            <a:fld id="{479926C7-6319-41F1-912F-81C6C4740FF1}" type="datetime'Cum''ulati''''''v''e f''ree c''ash'''''''' ''f''''''''low'''">
              <a:rPr lang="en-US" altLang="en-US" sz="900" smtClean="0">
                <a:solidFill>
                  <a:srgbClr val="FFFFFF">
                    <a:lumMod val="50000"/>
                  </a:srgbClr>
                </a:solidFill>
                <a:latin typeface="Fund Light" pitchFamily="2" charset="-78"/>
                <a:cs typeface="Fund Light" pitchFamily="2" charset="-78"/>
              </a:rPr>
              <a:pPr marL="0" lvl="0" indent="0">
                <a:spcBef>
                  <a:spcPct val="0"/>
                </a:spcBef>
                <a:spcAft>
                  <a:spcPct val="0"/>
                </a:spcAft>
                <a:buNone/>
                <a:defRPr/>
              </a:pPr>
              <a:t>Cumulative free cash flow</a:t>
            </a:fld>
            <a:endParaRPr kumimoji="0" lang="en-US" sz="900" b="0" i="0" strike="noStrike" kern="1200" cap="none" spc="0" normalizeH="0" baseline="0" noProof="0">
              <a:ln>
                <a:noFill/>
              </a:ln>
              <a:solidFill>
                <a:srgbClr val="FFFFFF">
                  <a:lumMod val="50000"/>
                </a:srgbClr>
              </a:solidFill>
              <a:effectLst/>
              <a:uLnTx/>
              <a:uFillTx/>
              <a:latin typeface="Fund Light" pitchFamily="2" charset="-78"/>
              <a:cs typeface="Fund Light" pitchFamily="2" charset="-78"/>
            </a:endParaRPr>
          </a:p>
        </p:txBody>
      </p:sp>
      <p:sp>
        <p:nvSpPr>
          <p:cNvPr id="808" name="Rectangle 807">
            <a:extLst>
              <a:ext uri="{FF2B5EF4-FFF2-40B4-BE49-F238E27FC236}">
                <a16:creationId xmlns:a16="http://schemas.microsoft.com/office/drawing/2014/main" id="{0C4C266E-7CCE-A990-95B9-758A9EAAE34A}"/>
              </a:ext>
            </a:extLst>
          </p:cNvPr>
          <p:cNvSpPr/>
          <p:nvPr/>
        </p:nvSpPr>
        <p:spPr>
          <a:xfrm rot="16200000" flipH="1">
            <a:off x="-6012" y="1622759"/>
            <a:ext cx="932442"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Revenues</a:t>
            </a:r>
          </a:p>
        </p:txBody>
      </p:sp>
      <p:sp>
        <p:nvSpPr>
          <p:cNvPr id="809" name="Rectangle 808">
            <a:extLst>
              <a:ext uri="{FF2B5EF4-FFF2-40B4-BE49-F238E27FC236}">
                <a16:creationId xmlns:a16="http://schemas.microsoft.com/office/drawing/2014/main" id="{D6C7BA57-9AB7-60F2-CEA3-0B22B5414B6F}"/>
              </a:ext>
            </a:extLst>
          </p:cNvPr>
          <p:cNvSpPr/>
          <p:nvPr/>
        </p:nvSpPr>
        <p:spPr>
          <a:xfrm rot="16200000" flipH="1">
            <a:off x="145715" y="2383238"/>
            <a:ext cx="628985"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Costs</a:t>
            </a:r>
          </a:p>
        </p:txBody>
      </p:sp>
      <p:sp>
        <p:nvSpPr>
          <p:cNvPr id="33" name="Rectangle 32">
            <a:extLst>
              <a:ext uri="{FF2B5EF4-FFF2-40B4-BE49-F238E27FC236}">
                <a16:creationId xmlns:a16="http://schemas.microsoft.com/office/drawing/2014/main" id="{07ED1F55-CE19-1D14-DBD1-0C493DCFF551}"/>
              </a:ext>
            </a:extLst>
          </p:cNvPr>
          <p:cNvSpPr/>
          <p:nvPr/>
        </p:nvSpPr>
        <p:spPr>
          <a:xfrm flipH="1">
            <a:off x="117200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34" name="Rectangle 33">
            <a:extLst>
              <a:ext uri="{FF2B5EF4-FFF2-40B4-BE49-F238E27FC236}">
                <a16:creationId xmlns:a16="http://schemas.microsoft.com/office/drawing/2014/main" id="{4BB122E7-8EFE-40B2-8D95-A742C7DC371F}"/>
              </a:ext>
            </a:extLst>
          </p:cNvPr>
          <p:cNvSpPr/>
          <p:nvPr/>
        </p:nvSpPr>
        <p:spPr>
          <a:xfrm flipH="1">
            <a:off x="169757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50%</a:t>
            </a:r>
          </a:p>
        </p:txBody>
      </p:sp>
      <p:sp>
        <p:nvSpPr>
          <p:cNvPr id="31" name="Rectangle 30">
            <a:extLst>
              <a:ext uri="{FF2B5EF4-FFF2-40B4-BE49-F238E27FC236}">
                <a16:creationId xmlns:a16="http://schemas.microsoft.com/office/drawing/2014/main" id="{9AA5F930-A16C-5056-BA53-8DBC22549923}"/>
              </a:ext>
            </a:extLst>
          </p:cNvPr>
          <p:cNvSpPr/>
          <p:nvPr/>
        </p:nvSpPr>
        <p:spPr>
          <a:xfrm>
            <a:off x="326230" y="35161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ramp-up</a:t>
            </a:r>
          </a:p>
        </p:txBody>
      </p:sp>
      <p:sp>
        <p:nvSpPr>
          <p:cNvPr id="38" name="Rectangle 37">
            <a:extLst>
              <a:ext uri="{FF2B5EF4-FFF2-40B4-BE49-F238E27FC236}">
                <a16:creationId xmlns:a16="http://schemas.microsoft.com/office/drawing/2014/main" id="{BA6E6B77-656C-3F70-3C4E-6634C530D8CA}"/>
              </a:ext>
            </a:extLst>
          </p:cNvPr>
          <p:cNvSpPr/>
          <p:nvPr/>
        </p:nvSpPr>
        <p:spPr>
          <a:xfrm flipH="1">
            <a:off x="2216003"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39" name="Rectangle 38">
            <a:extLst>
              <a:ext uri="{FF2B5EF4-FFF2-40B4-BE49-F238E27FC236}">
                <a16:creationId xmlns:a16="http://schemas.microsoft.com/office/drawing/2014/main" id="{B84B2F15-F02B-11BF-A141-5275B5C64114}"/>
              </a:ext>
            </a:extLst>
          </p:cNvPr>
          <p:cNvSpPr/>
          <p:nvPr/>
        </p:nvSpPr>
        <p:spPr>
          <a:xfrm flipH="1">
            <a:off x="274573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40" name="Rectangle 39">
            <a:extLst>
              <a:ext uri="{FF2B5EF4-FFF2-40B4-BE49-F238E27FC236}">
                <a16:creationId xmlns:a16="http://schemas.microsoft.com/office/drawing/2014/main" id="{86B5BFAE-8C73-EB7E-2D1A-CCF5FA235F26}"/>
              </a:ext>
            </a:extLst>
          </p:cNvPr>
          <p:cNvSpPr/>
          <p:nvPr/>
        </p:nvSpPr>
        <p:spPr>
          <a:xfrm flipH="1">
            <a:off x="3276070"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3" name="Rectangle 52">
            <a:extLst>
              <a:ext uri="{FF2B5EF4-FFF2-40B4-BE49-F238E27FC236}">
                <a16:creationId xmlns:a16="http://schemas.microsoft.com/office/drawing/2014/main" id="{4493D941-5B05-F37A-98D8-A738BECED5C6}"/>
              </a:ext>
            </a:extLst>
          </p:cNvPr>
          <p:cNvSpPr/>
          <p:nvPr/>
        </p:nvSpPr>
        <p:spPr>
          <a:xfrm flipH="1">
            <a:off x="3807592"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4" name="Rectangle 53">
            <a:extLst>
              <a:ext uri="{FF2B5EF4-FFF2-40B4-BE49-F238E27FC236}">
                <a16:creationId xmlns:a16="http://schemas.microsoft.com/office/drawing/2014/main" id="{51FB2B5B-B607-6BF8-6D50-23A8F376BC43}"/>
              </a:ext>
            </a:extLst>
          </p:cNvPr>
          <p:cNvSpPr/>
          <p:nvPr/>
        </p:nvSpPr>
        <p:spPr>
          <a:xfrm flipH="1">
            <a:off x="4341494"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5" name="Rectangle 54">
            <a:extLst>
              <a:ext uri="{FF2B5EF4-FFF2-40B4-BE49-F238E27FC236}">
                <a16:creationId xmlns:a16="http://schemas.microsoft.com/office/drawing/2014/main" id="{E55BE001-3AE2-AF18-94F8-CA141CFE0822}"/>
              </a:ext>
            </a:extLst>
          </p:cNvPr>
          <p:cNvSpPr/>
          <p:nvPr/>
        </p:nvSpPr>
        <p:spPr>
          <a:xfrm flipH="1">
            <a:off x="4873016"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6" name="Rectangle 55">
            <a:extLst>
              <a:ext uri="{FF2B5EF4-FFF2-40B4-BE49-F238E27FC236}">
                <a16:creationId xmlns:a16="http://schemas.microsoft.com/office/drawing/2014/main" id="{A0969727-A1B6-73E4-0EA7-9A084C63D9C4}"/>
              </a:ext>
            </a:extLst>
          </p:cNvPr>
          <p:cNvSpPr/>
          <p:nvPr/>
        </p:nvSpPr>
        <p:spPr>
          <a:xfrm flipH="1">
            <a:off x="593962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7" name="Rectangle 56">
            <a:extLst>
              <a:ext uri="{FF2B5EF4-FFF2-40B4-BE49-F238E27FC236}">
                <a16:creationId xmlns:a16="http://schemas.microsoft.com/office/drawing/2014/main" id="{02EE3297-C954-18D6-618F-99B797B631EE}"/>
              </a:ext>
            </a:extLst>
          </p:cNvPr>
          <p:cNvSpPr/>
          <p:nvPr/>
        </p:nvSpPr>
        <p:spPr>
          <a:xfrm flipH="1">
            <a:off x="540453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21" name="Rectangle 20">
            <a:extLst>
              <a:ext uri="{FF2B5EF4-FFF2-40B4-BE49-F238E27FC236}">
                <a16:creationId xmlns:a16="http://schemas.microsoft.com/office/drawing/2014/main" id="{213475C6-BC4F-46B3-EAB5-5799B36034D4}"/>
              </a:ext>
            </a:extLst>
          </p:cNvPr>
          <p:cNvSpPr/>
          <p:nvPr/>
        </p:nvSpPr>
        <p:spPr>
          <a:xfrm>
            <a:off x="237600" y="4260737"/>
            <a:ext cx="793864" cy="20005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Sales (Mn units)</a:t>
            </a:r>
          </a:p>
        </p:txBody>
      </p:sp>
      <p:sp>
        <p:nvSpPr>
          <p:cNvPr id="19" name="Oval 18">
            <a:extLst>
              <a:ext uri="{FF2B5EF4-FFF2-40B4-BE49-F238E27FC236}">
                <a16:creationId xmlns:a16="http://schemas.microsoft.com/office/drawing/2014/main" id="{40583CBE-8618-6A8C-3738-ECA2BE93742E}"/>
              </a:ext>
            </a:extLst>
          </p:cNvPr>
          <p:cNvSpPr/>
          <p:nvPr/>
        </p:nvSpPr>
        <p:spPr>
          <a:xfrm flipH="1">
            <a:off x="1678398"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a:t>
            </a:r>
          </a:p>
        </p:txBody>
      </p:sp>
      <p:sp>
        <p:nvSpPr>
          <p:cNvPr id="20" name="Oval 19">
            <a:extLst>
              <a:ext uri="{FF2B5EF4-FFF2-40B4-BE49-F238E27FC236}">
                <a16:creationId xmlns:a16="http://schemas.microsoft.com/office/drawing/2014/main" id="{049FAAF2-A398-E553-4024-FC452443A507}"/>
              </a:ext>
            </a:extLst>
          </p:cNvPr>
          <p:cNvSpPr/>
          <p:nvPr/>
        </p:nvSpPr>
        <p:spPr>
          <a:xfrm flipH="1">
            <a:off x="2196824"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2.0</a:t>
            </a:r>
          </a:p>
        </p:txBody>
      </p:sp>
      <p:sp>
        <p:nvSpPr>
          <p:cNvPr id="22" name="Oval 21">
            <a:extLst>
              <a:ext uri="{FF2B5EF4-FFF2-40B4-BE49-F238E27FC236}">
                <a16:creationId xmlns:a16="http://schemas.microsoft.com/office/drawing/2014/main" id="{26F8DB8A-C20B-38B0-83F3-54CF092DCFAE}"/>
              </a:ext>
            </a:extLst>
          </p:cNvPr>
          <p:cNvSpPr/>
          <p:nvPr/>
        </p:nvSpPr>
        <p:spPr>
          <a:xfrm flipH="1">
            <a:off x="272656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2.1</a:t>
            </a:r>
          </a:p>
        </p:txBody>
      </p:sp>
      <p:sp>
        <p:nvSpPr>
          <p:cNvPr id="23" name="Oval 22">
            <a:extLst>
              <a:ext uri="{FF2B5EF4-FFF2-40B4-BE49-F238E27FC236}">
                <a16:creationId xmlns:a16="http://schemas.microsoft.com/office/drawing/2014/main" id="{85AF727D-9D31-5255-8834-90E27D03F159}"/>
              </a:ext>
            </a:extLst>
          </p:cNvPr>
          <p:cNvSpPr/>
          <p:nvPr/>
        </p:nvSpPr>
        <p:spPr>
          <a:xfrm flipH="1">
            <a:off x="325689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2.2</a:t>
            </a:r>
          </a:p>
        </p:txBody>
      </p:sp>
      <p:sp>
        <p:nvSpPr>
          <p:cNvPr id="24" name="Oval 23">
            <a:extLst>
              <a:ext uri="{FF2B5EF4-FFF2-40B4-BE49-F238E27FC236}">
                <a16:creationId xmlns:a16="http://schemas.microsoft.com/office/drawing/2014/main" id="{FA967205-EB04-A858-9167-0529D91F8345}"/>
              </a:ext>
            </a:extLst>
          </p:cNvPr>
          <p:cNvSpPr/>
          <p:nvPr/>
        </p:nvSpPr>
        <p:spPr>
          <a:xfrm flipH="1">
            <a:off x="3788412"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2.3</a:t>
            </a:r>
          </a:p>
        </p:txBody>
      </p:sp>
      <p:sp>
        <p:nvSpPr>
          <p:cNvPr id="25" name="Oval 24">
            <a:extLst>
              <a:ext uri="{FF2B5EF4-FFF2-40B4-BE49-F238E27FC236}">
                <a16:creationId xmlns:a16="http://schemas.microsoft.com/office/drawing/2014/main" id="{2241A994-8A0D-D798-106F-1CCEFB34505F}"/>
              </a:ext>
            </a:extLst>
          </p:cNvPr>
          <p:cNvSpPr/>
          <p:nvPr/>
        </p:nvSpPr>
        <p:spPr>
          <a:xfrm flipH="1">
            <a:off x="4322315"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2.4</a:t>
            </a:r>
          </a:p>
        </p:txBody>
      </p:sp>
      <p:sp>
        <p:nvSpPr>
          <p:cNvPr id="29" name="Oval 28">
            <a:extLst>
              <a:ext uri="{FF2B5EF4-FFF2-40B4-BE49-F238E27FC236}">
                <a16:creationId xmlns:a16="http://schemas.microsoft.com/office/drawing/2014/main" id="{D900F326-A419-5DD8-33F2-71C81C238439}"/>
              </a:ext>
            </a:extLst>
          </p:cNvPr>
          <p:cNvSpPr/>
          <p:nvPr/>
        </p:nvSpPr>
        <p:spPr>
          <a:xfrm flipH="1">
            <a:off x="4853837"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2.6</a:t>
            </a:r>
          </a:p>
        </p:txBody>
      </p:sp>
      <p:sp>
        <p:nvSpPr>
          <p:cNvPr id="30" name="Oval 29">
            <a:extLst>
              <a:ext uri="{FF2B5EF4-FFF2-40B4-BE49-F238E27FC236}">
                <a16:creationId xmlns:a16="http://schemas.microsoft.com/office/drawing/2014/main" id="{82FE7657-FF7F-2326-BB21-A28429FFDF39}"/>
              </a:ext>
            </a:extLst>
          </p:cNvPr>
          <p:cNvSpPr/>
          <p:nvPr/>
        </p:nvSpPr>
        <p:spPr>
          <a:xfrm flipH="1">
            <a:off x="538535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2.7</a:t>
            </a:r>
          </a:p>
        </p:txBody>
      </p:sp>
      <p:sp>
        <p:nvSpPr>
          <p:cNvPr id="37" name="Oval 36">
            <a:extLst>
              <a:ext uri="{FF2B5EF4-FFF2-40B4-BE49-F238E27FC236}">
                <a16:creationId xmlns:a16="http://schemas.microsoft.com/office/drawing/2014/main" id="{8807D88F-50AC-E34B-4BC0-F7492AA2BE7A}"/>
              </a:ext>
            </a:extLst>
          </p:cNvPr>
          <p:cNvSpPr/>
          <p:nvPr/>
        </p:nvSpPr>
        <p:spPr>
          <a:xfrm flipH="1">
            <a:off x="592044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2.8</a:t>
            </a:r>
          </a:p>
        </p:txBody>
      </p:sp>
      <p:sp>
        <p:nvSpPr>
          <p:cNvPr id="62" name="Oval 61">
            <a:extLst>
              <a:ext uri="{FF2B5EF4-FFF2-40B4-BE49-F238E27FC236}">
                <a16:creationId xmlns:a16="http://schemas.microsoft.com/office/drawing/2014/main" id="{2139DC56-63A0-4722-A6A3-58F5B9E51409}"/>
              </a:ext>
            </a:extLst>
          </p:cNvPr>
          <p:cNvSpPr/>
          <p:nvPr/>
        </p:nvSpPr>
        <p:spPr>
          <a:xfrm flipH="1">
            <a:off x="115282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4" name="Rectangle 773">
            <a:extLst>
              <a:ext uri="{FF2B5EF4-FFF2-40B4-BE49-F238E27FC236}">
                <a16:creationId xmlns:a16="http://schemas.microsoft.com/office/drawing/2014/main" id="{9D6FD138-AF31-A28A-55BB-6C692DD6AA35}"/>
              </a:ext>
            </a:extLst>
          </p:cNvPr>
          <p:cNvSpPr/>
          <p:nvPr/>
        </p:nvSpPr>
        <p:spPr>
          <a:xfrm flipH="1">
            <a:off x="117200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5" name="Rectangle 774">
            <a:extLst>
              <a:ext uri="{FF2B5EF4-FFF2-40B4-BE49-F238E27FC236}">
                <a16:creationId xmlns:a16="http://schemas.microsoft.com/office/drawing/2014/main" id="{ADC149B9-0BEF-1B5D-5F4F-E53436805EC2}"/>
              </a:ext>
            </a:extLst>
          </p:cNvPr>
          <p:cNvSpPr/>
          <p:nvPr/>
        </p:nvSpPr>
        <p:spPr>
          <a:xfrm flipH="1">
            <a:off x="169757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33%</a:t>
            </a:r>
          </a:p>
        </p:txBody>
      </p:sp>
      <p:sp>
        <p:nvSpPr>
          <p:cNvPr id="776" name="Rectangle 775">
            <a:extLst>
              <a:ext uri="{FF2B5EF4-FFF2-40B4-BE49-F238E27FC236}">
                <a16:creationId xmlns:a16="http://schemas.microsoft.com/office/drawing/2014/main" id="{73D9DDA8-EFE2-190D-9E74-47B50344CC23}"/>
              </a:ext>
            </a:extLst>
          </p:cNvPr>
          <p:cNvSpPr/>
          <p:nvPr/>
        </p:nvSpPr>
        <p:spPr>
          <a:xfrm>
            <a:off x="326230" y="38635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utilization</a:t>
            </a:r>
          </a:p>
        </p:txBody>
      </p:sp>
      <p:sp>
        <p:nvSpPr>
          <p:cNvPr id="777" name="Rectangle 776">
            <a:extLst>
              <a:ext uri="{FF2B5EF4-FFF2-40B4-BE49-F238E27FC236}">
                <a16:creationId xmlns:a16="http://schemas.microsoft.com/office/drawing/2014/main" id="{F1B98950-65A9-3689-C91A-5068EF2D3E1A}"/>
              </a:ext>
            </a:extLst>
          </p:cNvPr>
          <p:cNvSpPr/>
          <p:nvPr/>
        </p:nvSpPr>
        <p:spPr>
          <a:xfrm flipH="1">
            <a:off x="2216003"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67%</a:t>
            </a:r>
          </a:p>
        </p:txBody>
      </p:sp>
      <p:sp>
        <p:nvSpPr>
          <p:cNvPr id="778" name="Rectangle 777">
            <a:extLst>
              <a:ext uri="{FF2B5EF4-FFF2-40B4-BE49-F238E27FC236}">
                <a16:creationId xmlns:a16="http://schemas.microsoft.com/office/drawing/2014/main" id="{5498C892-DE76-2DC1-DC34-85DAAD329426}"/>
              </a:ext>
            </a:extLst>
          </p:cNvPr>
          <p:cNvSpPr/>
          <p:nvPr/>
        </p:nvSpPr>
        <p:spPr>
          <a:xfrm flipH="1">
            <a:off x="274573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70%</a:t>
            </a:r>
          </a:p>
        </p:txBody>
      </p:sp>
      <p:sp>
        <p:nvSpPr>
          <p:cNvPr id="779" name="Rectangle 778">
            <a:extLst>
              <a:ext uri="{FF2B5EF4-FFF2-40B4-BE49-F238E27FC236}">
                <a16:creationId xmlns:a16="http://schemas.microsoft.com/office/drawing/2014/main" id="{6B1F6566-DE9B-A97B-89F6-CC511F120909}"/>
              </a:ext>
            </a:extLst>
          </p:cNvPr>
          <p:cNvSpPr/>
          <p:nvPr/>
        </p:nvSpPr>
        <p:spPr>
          <a:xfrm flipH="1">
            <a:off x="3276070"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74%</a:t>
            </a:r>
          </a:p>
        </p:txBody>
      </p:sp>
      <p:sp>
        <p:nvSpPr>
          <p:cNvPr id="780" name="Rectangle 779">
            <a:extLst>
              <a:ext uri="{FF2B5EF4-FFF2-40B4-BE49-F238E27FC236}">
                <a16:creationId xmlns:a16="http://schemas.microsoft.com/office/drawing/2014/main" id="{715FFBDD-772A-6823-E091-63B77BA22B86}"/>
              </a:ext>
            </a:extLst>
          </p:cNvPr>
          <p:cNvSpPr/>
          <p:nvPr/>
        </p:nvSpPr>
        <p:spPr>
          <a:xfrm flipH="1">
            <a:off x="3807592"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77%</a:t>
            </a:r>
          </a:p>
        </p:txBody>
      </p:sp>
      <p:sp>
        <p:nvSpPr>
          <p:cNvPr id="781" name="Rectangle 780">
            <a:extLst>
              <a:ext uri="{FF2B5EF4-FFF2-40B4-BE49-F238E27FC236}">
                <a16:creationId xmlns:a16="http://schemas.microsoft.com/office/drawing/2014/main" id="{FEBC73E7-91B4-33E8-F8C3-A3B3A170B337}"/>
              </a:ext>
            </a:extLst>
          </p:cNvPr>
          <p:cNvSpPr/>
          <p:nvPr/>
        </p:nvSpPr>
        <p:spPr>
          <a:xfrm flipH="1">
            <a:off x="4341494"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81%</a:t>
            </a:r>
          </a:p>
        </p:txBody>
      </p:sp>
      <p:sp>
        <p:nvSpPr>
          <p:cNvPr id="782" name="Rectangle 781">
            <a:extLst>
              <a:ext uri="{FF2B5EF4-FFF2-40B4-BE49-F238E27FC236}">
                <a16:creationId xmlns:a16="http://schemas.microsoft.com/office/drawing/2014/main" id="{3DC7CE60-BCAC-FC3A-C472-01498588DC9A}"/>
              </a:ext>
            </a:extLst>
          </p:cNvPr>
          <p:cNvSpPr/>
          <p:nvPr/>
        </p:nvSpPr>
        <p:spPr>
          <a:xfrm flipH="1">
            <a:off x="4873016"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85%</a:t>
            </a:r>
          </a:p>
        </p:txBody>
      </p:sp>
      <p:sp>
        <p:nvSpPr>
          <p:cNvPr id="783" name="Rectangle 782">
            <a:extLst>
              <a:ext uri="{FF2B5EF4-FFF2-40B4-BE49-F238E27FC236}">
                <a16:creationId xmlns:a16="http://schemas.microsoft.com/office/drawing/2014/main" id="{D40A698F-4074-91F3-9C0F-536F872C6DAF}"/>
              </a:ext>
            </a:extLst>
          </p:cNvPr>
          <p:cNvSpPr/>
          <p:nvPr/>
        </p:nvSpPr>
        <p:spPr>
          <a:xfrm flipH="1">
            <a:off x="593962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94%</a:t>
            </a:r>
          </a:p>
        </p:txBody>
      </p:sp>
      <p:sp>
        <p:nvSpPr>
          <p:cNvPr id="784" name="Rectangle 783">
            <a:extLst>
              <a:ext uri="{FF2B5EF4-FFF2-40B4-BE49-F238E27FC236}">
                <a16:creationId xmlns:a16="http://schemas.microsoft.com/office/drawing/2014/main" id="{3A77C160-83E2-2B13-64A1-8FC7B37669BC}"/>
              </a:ext>
            </a:extLst>
          </p:cNvPr>
          <p:cNvSpPr/>
          <p:nvPr/>
        </p:nvSpPr>
        <p:spPr>
          <a:xfrm flipH="1">
            <a:off x="540453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89%</a:t>
            </a:r>
          </a:p>
        </p:txBody>
      </p:sp>
      <p:pic>
        <p:nvPicPr>
          <p:cNvPr id="28" name="Picture 4">
            <a:extLst>
              <a:ext uri="{FF2B5EF4-FFF2-40B4-BE49-F238E27FC236}">
                <a16:creationId xmlns:a16="http://schemas.microsoft.com/office/drawing/2014/main" id="{0A2E3EAD-FB75-FF9B-CBCF-7F03685F194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79512" y="4634955"/>
            <a:ext cx="396928" cy="39060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FDEE7FCA-EAB5-B5FF-616C-413622FF2D2C}"/>
              </a:ext>
            </a:extLst>
          </p:cNvPr>
          <p:cNvSpPr txBox="1">
            <a:spLocks/>
          </p:cNvSpPr>
          <p:nvPr/>
        </p:nvSpPr>
        <p:spPr>
          <a:xfrm>
            <a:off x="7076441" y="4684060"/>
            <a:ext cx="1464310" cy="2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defPPr>
              <a:defRPr lang="en-US"/>
            </a:defPPr>
            <a:lvl1pPr>
              <a:spcBef>
                <a:spcPts val="300"/>
              </a:spcBef>
              <a:spcAft>
                <a:spcPts val="300"/>
              </a:spcAft>
              <a:defRPr sz="12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800">
                <a:solidFill>
                  <a:srgbClr val="000000"/>
                </a:solidFill>
                <a:latin typeface="Fund Light" pitchFamily="2" charset="-78"/>
                <a:cs typeface="Fund Light" pitchFamily="2" charset="-78"/>
              </a:rPr>
              <a:t>Ready-to-plug business model template shared separately</a:t>
            </a:r>
          </a:p>
        </p:txBody>
      </p:sp>
      <p:graphicFrame>
        <p:nvGraphicFramePr>
          <p:cNvPr id="41" name="Table 141">
            <a:extLst>
              <a:ext uri="{FF2B5EF4-FFF2-40B4-BE49-F238E27FC236}">
                <a16:creationId xmlns:a16="http://schemas.microsoft.com/office/drawing/2014/main" id="{6AA348EE-56C7-9475-D466-70EDF945BB6C}"/>
              </a:ext>
            </a:extLst>
          </p:cNvPr>
          <p:cNvGraphicFramePr>
            <a:graphicFrameLocks noGrp="1"/>
          </p:cNvGraphicFramePr>
          <p:nvPr>
            <p:extLst>
              <p:ext uri="{D42A27DB-BD31-4B8C-83A1-F6EECF244321}">
                <p14:modId xmlns:p14="http://schemas.microsoft.com/office/powerpoint/2010/main" val="1164938004"/>
              </p:ext>
            </p:extLst>
          </p:nvPr>
        </p:nvGraphicFramePr>
        <p:xfrm>
          <a:off x="6573838" y="3431625"/>
          <a:ext cx="2255146" cy="1078992"/>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9496">
                <a:tc>
                  <a:txBody>
                    <a:bodyPr/>
                    <a:lstStyle/>
                    <a:p>
                      <a:pPr algn="l" rtl="0"/>
                      <a:r>
                        <a:rPr lang="en-GB" sz="1000" b="1">
                          <a:solidFill>
                            <a:srgbClr val="000000"/>
                          </a:solidFill>
                          <a:latin typeface="Fund Light" pitchFamily="2" charset="-78"/>
                          <a:cs typeface="Fund Light" pitchFamily="2" charset="-78"/>
                        </a:rPr>
                        <a:t>Break-even</a:t>
                      </a:r>
                      <a:br>
                        <a:rPr lang="en-GB" sz="1000" b="1">
                          <a:solidFill>
                            <a:srgbClr val="000000"/>
                          </a:solidFill>
                          <a:latin typeface="Fund Light" pitchFamily="2" charset="-78"/>
                          <a:cs typeface="Fund Light" pitchFamily="2" charset="-78"/>
                        </a:rPr>
                      </a:br>
                      <a:r>
                        <a:rPr lang="en-GB" sz="1000" b="1">
                          <a:solidFill>
                            <a:srgbClr val="000000"/>
                          </a:solidFill>
                          <a:latin typeface="Fund Light" pitchFamily="2" charset="-78"/>
                          <a:cs typeface="Fund Light" pitchFamily="2" charset="-78"/>
                        </a:rPr>
                        <a:t>volume </a:t>
                      </a:r>
                      <a:r>
                        <a:rPr lang="en-GB" sz="1000" b="0" i="1">
                          <a:solidFill>
                            <a:srgbClr val="000000"/>
                          </a:solidFill>
                          <a:latin typeface="Fund Light" pitchFamily="2" charset="-78"/>
                          <a:cs typeface="Fund Light" pitchFamily="2" charset="-78"/>
                        </a:rPr>
                        <a:t>(yearly)</a:t>
                      </a:r>
                      <a:endParaRPr lang="en-GB" sz="1000" b="0" i="1" baseline="3000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 Mn units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887367567"/>
                  </a:ext>
                </a:extLst>
              </a:tr>
              <a:tr h="5394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rgbClr val="000000"/>
                          </a:solidFill>
                          <a:latin typeface="Fund Light" pitchFamily="2" charset="-78"/>
                          <a:cs typeface="Fund Light" pitchFamily="2" charset="-78"/>
                        </a:rPr>
                        <a:t>Payback period</a:t>
                      </a:r>
                      <a:endParaRPr lang="en-GB" sz="1000" b="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rgbClr val="000000"/>
                          </a:solidFill>
                          <a:latin typeface="Fund Light" pitchFamily="2" charset="-78"/>
                          <a:cs typeface="Fund Light" pitchFamily="2" charset="-78"/>
                        </a:rPr>
                        <a:t>6 - 8 yrs.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434825908"/>
                  </a:ext>
                </a:extLst>
              </a:tr>
            </a:tbl>
          </a:graphicData>
        </a:graphic>
      </p:graphicFrame>
      <p:sp>
        <p:nvSpPr>
          <p:cNvPr id="2" name="Rectangle: Rounded Corners 1">
            <a:extLst>
              <a:ext uri="{FF2B5EF4-FFF2-40B4-BE49-F238E27FC236}">
                <a16:creationId xmlns:a16="http://schemas.microsoft.com/office/drawing/2014/main" id="{5FF8C289-271B-D902-F344-B763CEA69DC5}"/>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33"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9ABB522E-B146-8C0E-0442-169468F20675}"/>
              </a:ext>
            </a:extLst>
          </p:cNvPr>
          <p:cNvGrpSpPr/>
          <p:nvPr/>
        </p:nvGrpSpPr>
        <p:grpSpPr>
          <a:xfrm>
            <a:off x="3004029" y="4817276"/>
            <a:ext cx="303559" cy="303559"/>
            <a:chOff x="-577629" y="2311332"/>
            <a:chExt cx="404038" cy="404037"/>
          </a:xfrm>
        </p:grpSpPr>
        <p:sp>
          <p:nvSpPr>
            <p:cNvPr id="4" name="Oval 3">
              <a:extLst>
                <a:ext uri="{FF2B5EF4-FFF2-40B4-BE49-F238E27FC236}">
                  <a16:creationId xmlns:a16="http://schemas.microsoft.com/office/drawing/2014/main" id="{7C4F3C51-2C81-5C19-6CA3-D707FA9F0D03}"/>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246D988-6B3E-DB31-EB29-840D44940A2F}"/>
                </a:ext>
              </a:extLst>
            </p:cNvPr>
            <p:cNvPicPr>
              <a:picLocks noChangeAspect="1"/>
            </p:cNvPicPr>
            <p:nvPr/>
          </p:nvPicPr>
          <p:blipFill>
            <a:blip r:embed="rId34"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0" name="Group 9">
            <a:extLst>
              <a:ext uri="{FF2B5EF4-FFF2-40B4-BE49-F238E27FC236}">
                <a16:creationId xmlns:a16="http://schemas.microsoft.com/office/drawing/2014/main" id="{3310EE92-65BA-EDAA-A545-AE7A0B026DB4}"/>
              </a:ext>
            </a:extLst>
          </p:cNvPr>
          <p:cNvGrpSpPr/>
          <p:nvPr/>
        </p:nvGrpSpPr>
        <p:grpSpPr>
          <a:xfrm>
            <a:off x="6211995" y="4883810"/>
            <a:ext cx="168686" cy="161455"/>
            <a:chOff x="11260138" y="4194175"/>
            <a:chExt cx="360363" cy="379413"/>
          </a:xfrm>
        </p:grpSpPr>
        <p:sp>
          <p:nvSpPr>
            <p:cNvPr id="12" name="Freeform 289">
              <a:extLst>
                <a:ext uri="{FF2B5EF4-FFF2-40B4-BE49-F238E27FC236}">
                  <a16:creationId xmlns:a16="http://schemas.microsoft.com/office/drawing/2014/main" id="{495CD938-CFEF-2A76-63F0-BFCD31E86559}"/>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0">
              <a:extLst>
                <a:ext uri="{FF2B5EF4-FFF2-40B4-BE49-F238E27FC236}">
                  <a16:creationId xmlns:a16="http://schemas.microsoft.com/office/drawing/2014/main" id="{A002806C-F663-9EA0-5D01-E8658C1B2324}"/>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291">
              <a:extLst>
                <a:ext uri="{FF2B5EF4-FFF2-40B4-BE49-F238E27FC236}">
                  <a16:creationId xmlns:a16="http://schemas.microsoft.com/office/drawing/2014/main" id="{34CEDE8D-F606-8C58-6C40-490E540C5327}"/>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0" name="Speech Bubble: Rectangle 59">
            <a:extLst>
              <a:ext uri="{FF2B5EF4-FFF2-40B4-BE49-F238E27FC236}">
                <a16:creationId xmlns:a16="http://schemas.microsoft.com/office/drawing/2014/main" id="{B3745013-D1B1-779B-E68E-DE906C16CA22}"/>
              </a:ext>
            </a:extLst>
          </p:cNvPr>
          <p:cNvSpPr/>
          <p:nvPr/>
        </p:nvSpPr>
        <p:spPr>
          <a:xfrm>
            <a:off x="6573838" y="409927"/>
            <a:ext cx="2435578" cy="483542"/>
          </a:xfrm>
          <a:prstGeom prst="wedgeRectCallout">
            <a:avLst>
              <a:gd name="adj1" fmla="val -34502"/>
              <a:gd name="adj2" fmla="val 106440"/>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KPIs to inform the type of LDC agreement (output of the business case)</a:t>
            </a:r>
          </a:p>
        </p:txBody>
      </p:sp>
      <p:sp>
        <p:nvSpPr>
          <p:cNvPr id="61" name="Speech Bubble: Rectangle 60">
            <a:extLst>
              <a:ext uri="{FF2B5EF4-FFF2-40B4-BE49-F238E27FC236}">
                <a16:creationId xmlns:a16="http://schemas.microsoft.com/office/drawing/2014/main" id="{C287F208-C924-BF7D-AB74-4F9CA85FF4F1}"/>
              </a:ext>
            </a:extLst>
          </p:cNvPr>
          <p:cNvSpPr/>
          <p:nvPr/>
        </p:nvSpPr>
        <p:spPr>
          <a:xfrm>
            <a:off x="6565901" y="2949146"/>
            <a:ext cx="2435578" cy="441753"/>
          </a:xfrm>
          <a:prstGeom prst="wedgeRectCallout">
            <a:avLst>
              <a:gd name="adj1" fmla="val -36588"/>
              <a:gd name="adj2" fmla="val 65292"/>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KPIs to inform the level of the associated LDC risk (output of the business case)</a:t>
            </a:r>
          </a:p>
        </p:txBody>
      </p:sp>
      <p:grpSp>
        <p:nvGrpSpPr>
          <p:cNvPr id="58" name="Group 57">
            <a:extLst>
              <a:ext uri="{FF2B5EF4-FFF2-40B4-BE49-F238E27FC236}">
                <a16:creationId xmlns:a16="http://schemas.microsoft.com/office/drawing/2014/main" id="{921CE447-F703-E211-A8EB-3284E4AB4E1C}"/>
              </a:ext>
            </a:extLst>
          </p:cNvPr>
          <p:cNvGrpSpPr/>
          <p:nvPr/>
        </p:nvGrpSpPr>
        <p:grpSpPr>
          <a:xfrm>
            <a:off x="1349993" y="34194"/>
            <a:ext cx="5484392" cy="219841"/>
            <a:chOff x="1349993" y="34194"/>
            <a:chExt cx="5484392" cy="219841"/>
          </a:xfrm>
        </p:grpSpPr>
        <p:sp>
          <p:nvSpPr>
            <p:cNvPr id="59" name="TextBox 58">
              <a:extLst>
                <a:ext uri="{FF2B5EF4-FFF2-40B4-BE49-F238E27FC236}">
                  <a16:creationId xmlns:a16="http://schemas.microsoft.com/office/drawing/2014/main" id="{4171AC61-7D29-43FE-40B5-7C00A9B23E8D}"/>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63" name="TextBox 62">
              <a:extLst>
                <a:ext uri="{FF2B5EF4-FFF2-40B4-BE49-F238E27FC236}">
                  <a16:creationId xmlns:a16="http://schemas.microsoft.com/office/drawing/2014/main" id="{385AFCDE-C5C7-1921-9CF7-385C090EB887}"/>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448" name="TextBox 447">
              <a:extLst>
                <a:ext uri="{FF2B5EF4-FFF2-40B4-BE49-F238E27FC236}">
                  <a16:creationId xmlns:a16="http://schemas.microsoft.com/office/drawing/2014/main" id="{B203E9E2-6956-3735-BD19-7372009C67EB}"/>
                </a:ext>
              </a:extLst>
            </p:cNvPr>
            <p:cNvSpPr txBox="1"/>
            <p:nvPr/>
          </p:nvSpPr>
          <p:spPr>
            <a:xfrm>
              <a:off x="244065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solidFill>
                  <a:latin typeface="Fund Light" pitchFamily="2" charset="-78"/>
                  <a:cs typeface="Fund Light" pitchFamily="2" charset="-78"/>
                </a:rPr>
                <a:t>2. Feasibility and terms assessment</a:t>
              </a:r>
            </a:p>
          </p:txBody>
        </p:sp>
        <p:sp>
          <p:nvSpPr>
            <p:cNvPr id="449" name="TextBox 448">
              <a:extLst>
                <a:ext uri="{FF2B5EF4-FFF2-40B4-BE49-F238E27FC236}">
                  <a16:creationId xmlns:a16="http://schemas.microsoft.com/office/drawing/2014/main" id="{2668BD13-1C60-946C-F0EA-62199DF8ED3F}"/>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3. Tendering and LDC award</a:t>
              </a:r>
              <a:endParaRPr lang="en-GB" sz="700">
                <a:solidFill>
                  <a:schemeClr val="bg1">
                    <a:lumMod val="65000"/>
                  </a:schemeClr>
                </a:solidFill>
                <a:latin typeface="Fund Light" pitchFamily="2" charset="-78"/>
                <a:cs typeface="Fund Light" pitchFamily="2" charset="-78"/>
              </a:endParaRPr>
            </a:p>
          </p:txBody>
        </p:sp>
        <p:sp>
          <p:nvSpPr>
            <p:cNvPr id="450" name="TextBox 449">
              <a:extLst>
                <a:ext uri="{FF2B5EF4-FFF2-40B4-BE49-F238E27FC236}">
                  <a16:creationId xmlns:a16="http://schemas.microsoft.com/office/drawing/2014/main" id="{8B69F65A-0013-46FF-6267-F7A46182B740}"/>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454" name="Rectangle 453">
            <a:extLst>
              <a:ext uri="{FF2B5EF4-FFF2-40B4-BE49-F238E27FC236}">
                <a16:creationId xmlns:a16="http://schemas.microsoft.com/office/drawing/2014/main" id="{F88F9551-F1E5-34EF-B329-17706A9D29C2}"/>
              </a:ext>
            </a:extLst>
          </p:cNvPr>
          <p:cNvSpPr/>
          <p:nvPr/>
        </p:nvSpPr>
        <p:spPr>
          <a:xfrm>
            <a:off x="1551727" y="4767025"/>
            <a:ext cx="1405313"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US" sz="600">
                <a:solidFill>
                  <a:schemeClr val="bg1">
                    <a:lumMod val="50000"/>
                  </a:schemeClr>
                </a:solidFill>
                <a:latin typeface="Fund Light" pitchFamily="2" charset="-78"/>
                <a:cs typeface="Fund Light" pitchFamily="2" charset="-78"/>
              </a:rPr>
              <a:t>1. If NPV is negative, the investment is likely non-viable in its current form</a:t>
            </a:r>
          </a:p>
        </p:txBody>
      </p:sp>
      <p:graphicFrame>
        <p:nvGraphicFramePr>
          <p:cNvPr id="13" name="Table 141">
            <a:extLst>
              <a:ext uri="{FF2B5EF4-FFF2-40B4-BE49-F238E27FC236}">
                <a16:creationId xmlns:a16="http://schemas.microsoft.com/office/drawing/2014/main" id="{862DED7F-6AA8-1ECF-5A76-89A8BC2EF546}"/>
              </a:ext>
            </a:extLst>
          </p:cNvPr>
          <p:cNvGraphicFramePr>
            <a:graphicFrameLocks noGrp="1"/>
          </p:cNvGraphicFramePr>
          <p:nvPr>
            <p:extLst>
              <p:ext uri="{D42A27DB-BD31-4B8C-83A1-F6EECF244321}">
                <p14:modId xmlns:p14="http://schemas.microsoft.com/office/powerpoint/2010/main" val="4246821840"/>
              </p:ext>
            </p:extLst>
          </p:nvPr>
        </p:nvGraphicFramePr>
        <p:xfrm>
          <a:off x="6573838" y="2322929"/>
          <a:ext cx="2255146" cy="539496"/>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9496">
                <a:tc>
                  <a:txBody>
                    <a:bodyPr/>
                    <a:lstStyle/>
                    <a:p>
                      <a:pPr algn="l" rtl="0"/>
                      <a:r>
                        <a:rPr lang="en-GB" sz="1000" b="1">
                          <a:solidFill>
                            <a:schemeClr val="bg1">
                              <a:lumMod val="65000"/>
                            </a:schemeClr>
                          </a:solidFill>
                          <a:latin typeface="Fund Light" pitchFamily="2" charset="-78"/>
                          <a:cs typeface="Fund Light" pitchFamily="2" charset="-78"/>
                        </a:rPr>
                        <a:t>Net present value (NPV)</a:t>
                      </a:r>
                      <a:r>
                        <a:rPr lang="en-GB" sz="1000" b="0">
                          <a:solidFill>
                            <a:schemeClr val="bg1">
                              <a:lumMod val="65000"/>
                            </a:schemeClr>
                          </a:solidFill>
                          <a:latin typeface="Fund Light" pitchFamily="2" charset="-78"/>
                          <a:cs typeface="Fund Light" pitchFamily="2" charset="-78"/>
                        </a:rPr>
                        <a:t> </a:t>
                      </a:r>
                      <a:r>
                        <a:rPr lang="en-GB" sz="1000" b="0" i="0">
                          <a:solidFill>
                            <a:schemeClr val="bg1">
                              <a:lumMod val="65000"/>
                            </a:schemeClr>
                          </a:solidFill>
                          <a:latin typeface="Fund Light" pitchFamily="2" charset="-78"/>
                          <a:cs typeface="Fund Light" pitchFamily="2" charset="-78"/>
                        </a:rPr>
                        <a:t>(SAR Mn)</a:t>
                      </a:r>
                      <a:r>
                        <a:rPr lang="en-GB" sz="1000" b="0" i="0" baseline="30000">
                          <a:solidFill>
                            <a:schemeClr val="bg1">
                              <a:lumMod val="65000"/>
                            </a:schemeClr>
                          </a:solidFill>
                          <a:latin typeface="Fund Light" pitchFamily="2" charset="-78"/>
                          <a:cs typeface="Fund Light" pitchFamily="2" charset="-78"/>
                        </a:rPr>
                        <a:t>1</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chemeClr val="bg1">
                              <a:lumMod val="65000"/>
                            </a:schemeClr>
                          </a:solidFill>
                          <a:effectLst/>
                          <a:uLnTx/>
                          <a:uFillTx/>
                          <a:latin typeface="Fund Light" pitchFamily="2" charset="-78"/>
                          <a:ea typeface="+mn-ea"/>
                          <a:cs typeface="Fund Light" pitchFamily="2" charset="-78"/>
                        </a:rPr>
                        <a:t>50+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1349318006"/>
                  </a:ext>
                </a:extLst>
              </a:tr>
            </a:tbl>
          </a:graphicData>
        </a:graphic>
      </p:graphicFrame>
    </p:spTree>
    <p:extLst>
      <p:ext uri="{BB962C8B-B14F-4D97-AF65-F5344CB8AC3E}">
        <p14:creationId xmlns:p14="http://schemas.microsoft.com/office/powerpoint/2010/main" val="2258996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40143684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498080" cy="241824"/>
          </a:xfrm>
        </p:spPr>
        <p:txBody>
          <a:bodyPr vert="horz">
            <a:normAutofit fontScale="90000"/>
          </a:bodyPr>
          <a:lstStyle/>
          <a:p>
            <a:r>
              <a:rPr lang="en-US" b="1"/>
              <a:t>Stage 3 – Tendering and LDC award:</a:t>
            </a:r>
            <a:r>
              <a:rPr lang="en-US"/>
              <a:t> two types of LDC agreements and related terms need to be defined</a:t>
            </a:r>
          </a:p>
        </p:txBody>
      </p:sp>
      <p:grpSp>
        <p:nvGrpSpPr>
          <p:cNvPr id="65" name="Group 64">
            <a:extLst>
              <a:ext uri="{FF2B5EF4-FFF2-40B4-BE49-F238E27FC236}">
                <a16:creationId xmlns:a16="http://schemas.microsoft.com/office/drawing/2014/main" id="{8F947A3C-E5FA-4771-6E98-9C7887303505}"/>
              </a:ext>
            </a:extLst>
          </p:cNvPr>
          <p:cNvGrpSpPr/>
          <p:nvPr/>
        </p:nvGrpSpPr>
        <p:grpSpPr>
          <a:xfrm>
            <a:off x="1349993" y="34194"/>
            <a:ext cx="5484392" cy="219841"/>
            <a:chOff x="1349993" y="34194"/>
            <a:chExt cx="5484392" cy="219841"/>
          </a:xfrm>
        </p:grpSpPr>
        <p:sp>
          <p:nvSpPr>
            <p:cNvPr id="60" name="TextBox 59">
              <a:extLst>
                <a:ext uri="{FF2B5EF4-FFF2-40B4-BE49-F238E27FC236}">
                  <a16:creationId xmlns:a16="http://schemas.microsoft.com/office/drawing/2014/main" id="{C60ADBE6-FC5E-8D7D-935C-259AADDA31DA}"/>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4. LDC agreement sign-off</a:t>
              </a:r>
            </a:p>
          </p:txBody>
        </p:sp>
        <p:sp>
          <p:nvSpPr>
            <p:cNvPr id="61" name="TextBox 60">
              <a:extLst>
                <a:ext uri="{FF2B5EF4-FFF2-40B4-BE49-F238E27FC236}">
                  <a16:creationId xmlns:a16="http://schemas.microsoft.com/office/drawing/2014/main" id="{8BE05144-4B78-4E97-4160-D4045060EC08}"/>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62" name="TextBox 61">
              <a:extLst>
                <a:ext uri="{FF2B5EF4-FFF2-40B4-BE49-F238E27FC236}">
                  <a16:creationId xmlns:a16="http://schemas.microsoft.com/office/drawing/2014/main" id="{39A7C655-F6C8-8F84-1815-FBB886611956}"/>
                </a:ext>
              </a:extLst>
            </p:cNvPr>
            <p:cNvSpPr txBox="1"/>
            <p:nvPr/>
          </p:nvSpPr>
          <p:spPr>
            <a:xfrm>
              <a:off x="244065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2. Feasibility and terms assessment</a:t>
              </a:r>
            </a:p>
          </p:txBody>
        </p:sp>
        <p:sp>
          <p:nvSpPr>
            <p:cNvPr id="63" name="TextBox 62">
              <a:extLst>
                <a:ext uri="{FF2B5EF4-FFF2-40B4-BE49-F238E27FC236}">
                  <a16:creationId xmlns:a16="http://schemas.microsoft.com/office/drawing/2014/main" id="{40164077-AA55-31A0-BBD6-ACDBB641BBC8}"/>
                </a:ext>
              </a:extLst>
            </p:cNvPr>
            <p:cNvSpPr txBox="1"/>
            <p:nvPr/>
          </p:nvSpPr>
          <p:spPr>
            <a:xfrm>
              <a:off x="3531312"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solidFill>
                  <a:effectLst/>
                  <a:uLnTx/>
                  <a:uFillTx/>
                  <a:latin typeface="Fund Light" pitchFamily="2" charset="-78"/>
                  <a:cs typeface="Fund Light" pitchFamily="2" charset="-78"/>
                </a:defRPr>
              </a:lvl1pPr>
            </a:lstStyle>
            <a:p>
              <a:r>
                <a:rPr lang="en-US"/>
                <a:t>3. Tendering and LDC award</a:t>
              </a:r>
              <a:endParaRPr lang="en-GB"/>
            </a:p>
          </p:txBody>
        </p:sp>
        <p:sp>
          <p:nvSpPr>
            <p:cNvPr id="64" name="TextBox 63">
              <a:extLst>
                <a:ext uri="{FF2B5EF4-FFF2-40B4-BE49-F238E27FC236}">
                  <a16:creationId xmlns:a16="http://schemas.microsoft.com/office/drawing/2014/main" id="{17FC9BEC-FEE9-B0C8-63E8-BBCA6191CFD3}"/>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
        <p:nvSpPr>
          <p:cNvPr id="3" name="Rectangle 2">
            <a:extLst>
              <a:ext uri="{FF2B5EF4-FFF2-40B4-BE49-F238E27FC236}">
                <a16:creationId xmlns:a16="http://schemas.microsoft.com/office/drawing/2014/main" id="{846C5F29-844E-8DFD-939C-BC2FE69BBD7E}"/>
              </a:ext>
            </a:extLst>
          </p:cNvPr>
          <p:cNvSpPr/>
          <p:nvPr/>
        </p:nvSpPr>
        <p:spPr>
          <a:xfrm>
            <a:off x="326230" y="1371528"/>
            <a:ext cx="962820" cy="1458929"/>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20" normalizeH="0" baseline="0" noProof="0">
                <a:ln>
                  <a:noFill/>
                </a:ln>
                <a:solidFill>
                  <a:srgbClr val="C3984D"/>
                </a:solidFill>
                <a:effectLst/>
                <a:uLnTx/>
                <a:uFillTx/>
                <a:latin typeface="Fund Light" pitchFamily="2" charset="-78"/>
                <a:ea typeface="+mn-ea"/>
                <a:cs typeface="Fund Light" pitchFamily="2" charset="-78"/>
              </a:rPr>
              <a:t>Objectives</a:t>
            </a:r>
          </a:p>
        </p:txBody>
      </p:sp>
      <p:cxnSp>
        <p:nvCxnSpPr>
          <p:cNvPr id="20" name="Straight Connector 19">
            <a:extLst>
              <a:ext uri="{FF2B5EF4-FFF2-40B4-BE49-F238E27FC236}">
                <a16:creationId xmlns:a16="http://schemas.microsoft.com/office/drawing/2014/main" id="{F1485F52-2C90-F36B-A55A-AFB8C8CC35EB}"/>
              </a:ext>
            </a:extLst>
          </p:cNvPr>
          <p:cNvCxnSpPr>
            <a:cxnSpLocks/>
          </p:cNvCxnSpPr>
          <p:nvPr/>
        </p:nvCxnSpPr>
        <p:spPr>
          <a:xfrm>
            <a:off x="326230" y="2920917"/>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BE4AEE8-8FC9-3C97-B76F-4D157408A205}"/>
              </a:ext>
            </a:extLst>
          </p:cNvPr>
          <p:cNvSpPr/>
          <p:nvPr/>
        </p:nvSpPr>
        <p:spPr>
          <a:xfrm>
            <a:off x="326230" y="3011378"/>
            <a:ext cx="962820" cy="150506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marL="0" marR="0" lvl="0" indent="0" algn="l" defTabSz="609585"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20" normalizeH="0" baseline="0" noProof="0">
                <a:ln>
                  <a:noFill/>
                </a:ln>
                <a:solidFill>
                  <a:srgbClr val="C3984D"/>
                </a:solidFill>
                <a:effectLst/>
                <a:uLnTx/>
                <a:uFillTx/>
                <a:latin typeface="Fund Light" pitchFamily="2" charset="-78"/>
                <a:ea typeface="+mn-ea"/>
                <a:cs typeface="Fund Light" pitchFamily="2" charset="-78"/>
              </a:rPr>
              <a:t>Tools provided in the toolkit</a:t>
            </a:r>
          </a:p>
        </p:txBody>
      </p:sp>
      <p:sp>
        <p:nvSpPr>
          <p:cNvPr id="25" name="ee4pHeader1">
            <a:extLst>
              <a:ext uri="{FF2B5EF4-FFF2-40B4-BE49-F238E27FC236}">
                <a16:creationId xmlns:a16="http://schemas.microsoft.com/office/drawing/2014/main" id="{E894F809-C076-924E-0AF0-E56941E0C539}"/>
              </a:ext>
            </a:extLst>
          </p:cNvPr>
          <p:cNvSpPr/>
          <p:nvPr>
            <p:custDataLst>
              <p:tags r:id="rId2"/>
            </p:custDataLst>
          </p:nvPr>
        </p:nvSpPr>
        <p:spPr bwMode="auto">
          <a:xfrm>
            <a:off x="1520607" y="906892"/>
            <a:ext cx="3593873" cy="418504"/>
          </a:xfrm>
          <a:prstGeom prst="homePlate">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Request for information (</a:t>
            </a:r>
            <a:r>
              <a:rPr kumimoji="0" lang="en-GB" sz="1100" b="1" i="0" u="none" strike="noStrike" kern="1200" cap="none" spc="0" normalizeH="0" baseline="0" noProof="0" err="1">
                <a:ln>
                  <a:noFill/>
                </a:ln>
                <a:solidFill>
                  <a:srgbClr val="FFFFFF"/>
                </a:solidFill>
                <a:effectLst/>
                <a:uLnTx/>
                <a:uFillTx/>
                <a:latin typeface="Fund Light" pitchFamily="2" charset="-78"/>
                <a:ea typeface="+mn-ea"/>
                <a:cs typeface="Fund Light" pitchFamily="2" charset="-78"/>
              </a:rPr>
              <a:t>RfI</a:t>
            </a:r>
            <a:r>
              <a:rPr kumimoji="0" lang="en-GB" sz="11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32" name="ee4pHeader2">
            <a:extLst>
              <a:ext uri="{FF2B5EF4-FFF2-40B4-BE49-F238E27FC236}">
                <a16:creationId xmlns:a16="http://schemas.microsoft.com/office/drawing/2014/main" id="{6B9780B2-93F0-C04C-CAB9-88F0B1961053}"/>
              </a:ext>
            </a:extLst>
          </p:cNvPr>
          <p:cNvSpPr/>
          <p:nvPr>
            <p:custDataLst>
              <p:tags r:id="rId3"/>
            </p:custDataLst>
          </p:nvPr>
        </p:nvSpPr>
        <p:spPr bwMode="auto">
          <a:xfrm>
            <a:off x="5226276" y="906892"/>
            <a:ext cx="3593873" cy="418504"/>
          </a:xfrm>
          <a:prstGeom prst="chevron">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Request for proposal (RfP)</a:t>
            </a:r>
          </a:p>
        </p:txBody>
      </p:sp>
      <p:sp>
        <p:nvSpPr>
          <p:cNvPr id="34" name="Oval 33">
            <a:extLst>
              <a:ext uri="{FF2B5EF4-FFF2-40B4-BE49-F238E27FC236}">
                <a16:creationId xmlns:a16="http://schemas.microsoft.com/office/drawing/2014/main" id="{C31E1AAC-092C-8E8F-8ECD-96FA056941B8}"/>
              </a:ext>
            </a:extLst>
          </p:cNvPr>
          <p:cNvSpPr/>
          <p:nvPr/>
        </p:nvSpPr>
        <p:spPr>
          <a:xfrm>
            <a:off x="1397351"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2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a:t>
            </a:r>
          </a:p>
        </p:txBody>
      </p:sp>
      <p:sp>
        <p:nvSpPr>
          <p:cNvPr id="35" name="Rectangle 34">
            <a:extLst>
              <a:ext uri="{FF2B5EF4-FFF2-40B4-BE49-F238E27FC236}">
                <a16:creationId xmlns:a16="http://schemas.microsoft.com/office/drawing/2014/main" id="{FCBFDB47-E38A-6AD6-1766-04C9938C5458}"/>
              </a:ext>
            </a:extLst>
          </p:cNvPr>
          <p:cNvSpPr/>
          <p:nvPr/>
        </p:nvSpPr>
        <p:spPr>
          <a:xfrm>
            <a:off x="1520607" y="1389051"/>
            <a:ext cx="3509785" cy="1441405"/>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Formally validate supplier interest to locally supply the product</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Shortlist suppliers for RfP participation </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Validate the need to provide demand guarantees</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Understand supplier needs</a:t>
            </a:r>
          </a:p>
        </p:txBody>
      </p:sp>
      <p:sp>
        <p:nvSpPr>
          <p:cNvPr id="36" name="Rectangle 35">
            <a:extLst>
              <a:ext uri="{FF2B5EF4-FFF2-40B4-BE49-F238E27FC236}">
                <a16:creationId xmlns:a16="http://schemas.microsoft.com/office/drawing/2014/main" id="{57A9D01F-A06E-9E9B-086F-17A80888AF44}"/>
              </a:ext>
            </a:extLst>
          </p:cNvPr>
          <p:cNvSpPr/>
          <p:nvPr/>
        </p:nvSpPr>
        <p:spPr>
          <a:xfrm>
            <a:off x="5226276" y="1389051"/>
            <a:ext cx="3509785" cy="1441405"/>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Identify and select the optimal supplier to minimize risk effectively</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Ensure the best cost while ensuring best product quality with required specifications including localization needs</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Ensure that the supplier delivers the product on schedule</a:t>
            </a:r>
          </a:p>
        </p:txBody>
      </p:sp>
      <p:sp>
        <p:nvSpPr>
          <p:cNvPr id="37" name="Oval 36">
            <a:extLst>
              <a:ext uri="{FF2B5EF4-FFF2-40B4-BE49-F238E27FC236}">
                <a16:creationId xmlns:a16="http://schemas.microsoft.com/office/drawing/2014/main" id="{98BAAF45-09F2-FDF3-53F8-BF829F63C5F7}"/>
              </a:ext>
            </a:extLst>
          </p:cNvPr>
          <p:cNvSpPr/>
          <p:nvPr/>
        </p:nvSpPr>
        <p:spPr>
          <a:xfrm>
            <a:off x="5121173"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300"/>
              </a:spcBef>
              <a:spcAft>
                <a:spcPts val="300"/>
              </a:spcAft>
              <a:buClrTx/>
              <a:buSzTx/>
              <a:buFontTx/>
              <a:buNone/>
              <a:tabLst/>
              <a:defRPr/>
            </a:pPr>
            <a:r>
              <a:rPr kumimoji="0" lang="en-GB" sz="12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B</a:t>
            </a:r>
          </a:p>
        </p:txBody>
      </p:sp>
      <p:grpSp>
        <p:nvGrpSpPr>
          <p:cNvPr id="38" name="Group 37">
            <a:extLst>
              <a:ext uri="{FF2B5EF4-FFF2-40B4-BE49-F238E27FC236}">
                <a16:creationId xmlns:a16="http://schemas.microsoft.com/office/drawing/2014/main" id="{B7279BB5-BCE2-0DC8-A13F-29908D547554}"/>
              </a:ext>
            </a:extLst>
          </p:cNvPr>
          <p:cNvGrpSpPr/>
          <p:nvPr/>
        </p:nvGrpSpPr>
        <p:grpSpPr>
          <a:xfrm>
            <a:off x="1404829" y="1389051"/>
            <a:ext cx="0" cy="3127387"/>
            <a:chOff x="1414021" y="1389051"/>
            <a:chExt cx="0" cy="3127387"/>
          </a:xfrm>
        </p:grpSpPr>
        <p:cxnSp>
          <p:nvCxnSpPr>
            <p:cNvPr id="39" name="Straight Connector 38">
              <a:extLst>
                <a:ext uri="{FF2B5EF4-FFF2-40B4-BE49-F238E27FC236}">
                  <a16:creationId xmlns:a16="http://schemas.microsoft.com/office/drawing/2014/main" id="{980349D3-302E-170A-01B6-1714A00A7CDA}"/>
                </a:ext>
              </a:extLst>
            </p:cNvPr>
            <p:cNvCxnSpPr/>
            <p:nvPr/>
          </p:nvCxnSpPr>
          <p:spPr>
            <a:xfrm>
              <a:off x="1414021" y="1389051"/>
              <a:ext cx="0" cy="144140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7F072B6-58A1-8591-64C0-BB307B2AD85D}"/>
                </a:ext>
              </a:extLst>
            </p:cNvPr>
            <p:cNvCxnSpPr/>
            <p:nvPr/>
          </p:nvCxnSpPr>
          <p:spPr>
            <a:xfrm>
              <a:off x="1414021" y="3011378"/>
              <a:ext cx="0" cy="15050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51" name="Picture 50">
            <a:extLst>
              <a:ext uri="{FF2B5EF4-FFF2-40B4-BE49-F238E27FC236}">
                <a16:creationId xmlns:a16="http://schemas.microsoft.com/office/drawing/2014/main" id="{195D995A-4262-5F44-4A4B-8AB1BA90DCE5}"/>
              </a:ext>
            </a:extLst>
          </p:cNvPr>
          <p:cNvPicPr>
            <a:picLocks noChangeAspect="1"/>
          </p:cNvPicPr>
          <p:nvPr/>
        </p:nvPicPr>
        <p:blipFill>
          <a:blip r:embed="rId8"/>
          <a:srcRect l="542" t="21202" r="560" b="32840"/>
          <a:stretch/>
        </p:blipFill>
        <p:spPr>
          <a:xfrm>
            <a:off x="2150814" y="3011379"/>
            <a:ext cx="1667305" cy="1069694"/>
          </a:xfrm>
          <a:prstGeom prst="rect">
            <a:avLst/>
          </a:prstGeom>
          <a:ln>
            <a:solidFill>
              <a:srgbClr val="F3EADB"/>
            </a:solidFill>
          </a:ln>
          <a:effectLst>
            <a:outerShdw blurRad="50800" dist="38100" algn="l" rotWithShape="0">
              <a:prstClr val="black">
                <a:alpha val="40000"/>
              </a:prstClr>
            </a:outerShdw>
          </a:effectLst>
        </p:spPr>
      </p:pic>
      <p:sp>
        <p:nvSpPr>
          <p:cNvPr id="52" name="Rectangle 51">
            <a:extLst>
              <a:ext uri="{FF2B5EF4-FFF2-40B4-BE49-F238E27FC236}">
                <a16:creationId xmlns:a16="http://schemas.microsoft.com/office/drawing/2014/main" id="{62A616C0-9E4C-F264-5379-33E2D70F4D7D}"/>
              </a:ext>
            </a:extLst>
          </p:cNvPr>
          <p:cNvSpPr/>
          <p:nvPr/>
        </p:nvSpPr>
        <p:spPr>
          <a:xfrm>
            <a:off x="1524352" y="4174051"/>
            <a:ext cx="2920229" cy="318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RfI template provided as separate document as part </a:t>
            </a:r>
            <a:r>
              <a:rPr lang="en-US" sz="900">
                <a:solidFill>
                  <a:srgbClr val="00332A"/>
                </a:solidFill>
                <a:latin typeface="Fund Light" pitchFamily="2" charset="-78"/>
                <a:cs typeface="Fund Light" pitchFamily="2" charset="-78"/>
              </a:rPr>
              <a:t>of</a:t>
            </a:r>
            <a:r>
              <a:rPr kumimoji="0" lang="en-US" sz="9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 this implementation guide</a:t>
            </a:r>
          </a:p>
        </p:txBody>
      </p:sp>
      <p:pic>
        <p:nvPicPr>
          <p:cNvPr id="53" name="Picture 52">
            <a:extLst>
              <a:ext uri="{FF2B5EF4-FFF2-40B4-BE49-F238E27FC236}">
                <a16:creationId xmlns:a16="http://schemas.microsoft.com/office/drawing/2014/main" id="{71268A42-0799-17BA-5C4D-2611084B08EA}"/>
              </a:ext>
            </a:extLst>
          </p:cNvPr>
          <p:cNvPicPr>
            <a:picLocks noChangeAspect="1"/>
          </p:cNvPicPr>
          <p:nvPr/>
        </p:nvPicPr>
        <p:blipFill>
          <a:blip r:embed="rId9"/>
          <a:srcRect t="20803" b="32189"/>
          <a:stretch/>
        </p:blipFill>
        <p:spPr>
          <a:xfrm>
            <a:off x="6200543" y="3011378"/>
            <a:ext cx="1645337" cy="1069694"/>
          </a:xfrm>
          <a:prstGeom prst="rect">
            <a:avLst/>
          </a:prstGeom>
          <a:ln>
            <a:solidFill>
              <a:srgbClr val="F3EADB"/>
            </a:solidFill>
          </a:ln>
          <a:effectLst>
            <a:outerShdw blurRad="50800" dist="38100" algn="l" rotWithShape="0">
              <a:prstClr val="black">
                <a:alpha val="40000"/>
              </a:prstClr>
            </a:outerShdw>
          </a:effectLst>
        </p:spPr>
      </p:pic>
      <p:sp>
        <p:nvSpPr>
          <p:cNvPr id="54" name="Rectangle 53">
            <a:extLst>
              <a:ext uri="{FF2B5EF4-FFF2-40B4-BE49-F238E27FC236}">
                <a16:creationId xmlns:a16="http://schemas.microsoft.com/office/drawing/2014/main" id="{38C772D7-B2EE-ADB2-483B-6D7AE4297F0E}"/>
              </a:ext>
            </a:extLst>
          </p:cNvPr>
          <p:cNvSpPr/>
          <p:nvPr/>
        </p:nvSpPr>
        <p:spPr>
          <a:xfrm>
            <a:off x="5521054" y="4174051"/>
            <a:ext cx="2920229" cy="318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r>
              <a:rPr lang="en-US" sz="900">
                <a:solidFill>
                  <a:srgbClr val="00332A"/>
                </a:solidFill>
                <a:latin typeface="Fund Light" pitchFamily="2" charset="-78"/>
                <a:cs typeface="Fund Light" pitchFamily="2" charset="-78"/>
              </a:rPr>
              <a:t>RfP template provided as separate document as part of this implementation guide</a:t>
            </a:r>
          </a:p>
        </p:txBody>
      </p:sp>
    </p:spTree>
    <p:extLst>
      <p:ext uri="{BB962C8B-B14F-4D97-AF65-F5344CB8AC3E}">
        <p14:creationId xmlns:p14="http://schemas.microsoft.com/office/powerpoint/2010/main" val="545744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886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498080" cy="241824"/>
          </a:xfrm>
        </p:spPr>
        <p:txBody>
          <a:bodyPr vert="horz">
            <a:normAutofit fontScale="90000"/>
          </a:bodyPr>
          <a:lstStyle/>
          <a:p>
            <a:r>
              <a:rPr lang="en-US" b="1"/>
              <a:t>Stage 4 – Tendering and LDC award:</a:t>
            </a:r>
            <a:r>
              <a:rPr lang="en-US"/>
              <a:t> two types of LDC agreements and related terms need to be defined</a:t>
            </a:r>
          </a:p>
        </p:txBody>
      </p:sp>
      <p:sp>
        <p:nvSpPr>
          <p:cNvPr id="7" name="Rectangle 6">
            <a:extLst>
              <a:ext uri="{FF2B5EF4-FFF2-40B4-BE49-F238E27FC236}">
                <a16:creationId xmlns:a16="http://schemas.microsoft.com/office/drawing/2014/main" id="{0214B694-0303-C235-5CAB-0E2DC4B45854}"/>
              </a:ext>
            </a:extLst>
          </p:cNvPr>
          <p:cNvSpPr/>
          <p:nvPr/>
        </p:nvSpPr>
        <p:spPr>
          <a:xfrm>
            <a:off x="326229" y="1371530"/>
            <a:ext cx="1071121" cy="75906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Description</a:t>
            </a:r>
          </a:p>
        </p:txBody>
      </p:sp>
      <p:cxnSp>
        <p:nvCxnSpPr>
          <p:cNvPr id="8" name="Straight Connector 7">
            <a:extLst>
              <a:ext uri="{FF2B5EF4-FFF2-40B4-BE49-F238E27FC236}">
                <a16:creationId xmlns:a16="http://schemas.microsoft.com/office/drawing/2014/main" id="{D69664FD-2425-D8E1-CA04-4D6A519B4C0E}"/>
              </a:ext>
            </a:extLst>
          </p:cNvPr>
          <p:cNvCxnSpPr>
            <a:cxnSpLocks/>
          </p:cNvCxnSpPr>
          <p:nvPr/>
        </p:nvCxnSpPr>
        <p:spPr>
          <a:xfrm>
            <a:off x="332923" y="2164347"/>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C3FD979-F851-554B-34F6-3499B75C0F2C}"/>
              </a:ext>
            </a:extLst>
          </p:cNvPr>
          <p:cNvSpPr/>
          <p:nvPr/>
        </p:nvSpPr>
        <p:spPr>
          <a:xfrm>
            <a:off x="332923" y="2189664"/>
            <a:ext cx="1071121" cy="383386"/>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Demand commitment</a:t>
            </a:r>
          </a:p>
        </p:txBody>
      </p:sp>
      <p:sp>
        <p:nvSpPr>
          <p:cNvPr id="10" name="ee4pHeader1">
            <a:extLst>
              <a:ext uri="{FF2B5EF4-FFF2-40B4-BE49-F238E27FC236}">
                <a16:creationId xmlns:a16="http://schemas.microsoft.com/office/drawing/2014/main" id="{D3DF6D3C-AC9F-3853-D510-42257A7A87CA}"/>
              </a:ext>
            </a:extLst>
          </p:cNvPr>
          <p:cNvSpPr/>
          <p:nvPr>
            <p:custDataLst>
              <p:tags r:id="rId2"/>
            </p:custDataLst>
          </p:nvPr>
        </p:nvSpPr>
        <p:spPr bwMode="auto">
          <a:xfrm>
            <a:off x="1520607" y="906892"/>
            <a:ext cx="3593873" cy="418504"/>
          </a:xfrm>
          <a:prstGeom prst="homePlate">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Preferred </a:t>
            </a:r>
            <a:r>
              <a:rPr lang="en-GB" sz="1050" b="1">
                <a:solidFill>
                  <a:schemeClr val="bg1"/>
                </a:solidFill>
                <a:latin typeface="Fund Light" pitchFamily="2" charset="-78"/>
                <a:cs typeface="Fund Light" pitchFamily="2" charset="-78"/>
              </a:rPr>
              <a:t>s</a:t>
            </a: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upplier agreement (PSA)</a:t>
            </a:r>
          </a:p>
        </p:txBody>
      </p:sp>
      <p:sp>
        <p:nvSpPr>
          <p:cNvPr id="11" name="ee4pHeader2">
            <a:extLst>
              <a:ext uri="{FF2B5EF4-FFF2-40B4-BE49-F238E27FC236}">
                <a16:creationId xmlns:a16="http://schemas.microsoft.com/office/drawing/2014/main" id="{CA9DFC82-91E0-96F0-0E04-102987A13E0C}"/>
              </a:ext>
            </a:extLst>
          </p:cNvPr>
          <p:cNvSpPr/>
          <p:nvPr>
            <p:custDataLst>
              <p:tags r:id="rId3"/>
            </p:custDataLst>
          </p:nvPr>
        </p:nvSpPr>
        <p:spPr bwMode="auto">
          <a:xfrm>
            <a:off x="5226276" y="906892"/>
            <a:ext cx="3593873" cy="418504"/>
          </a:xfrm>
          <a:prstGeom prst="chevron">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Take-or-pay Agreement</a:t>
            </a:r>
          </a:p>
        </p:txBody>
      </p:sp>
      <p:sp>
        <p:nvSpPr>
          <p:cNvPr id="12" name="Oval 11">
            <a:extLst>
              <a:ext uri="{FF2B5EF4-FFF2-40B4-BE49-F238E27FC236}">
                <a16:creationId xmlns:a16="http://schemas.microsoft.com/office/drawing/2014/main" id="{7B5349C8-0FCF-2375-83A2-1C272C8BC6CF}"/>
              </a:ext>
            </a:extLst>
          </p:cNvPr>
          <p:cNvSpPr/>
          <p:nvPr/>
        </p:nvSpPr>
        <p:spPr>
          <a:xfrm>
            <a:off x="1397351"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A</a:t>
            </a:r>
          </a:p>
        </p:txBody>
      </p:sp>
      <p:sp>
        <p:nvSpPr>
          <p:cNvPr id="13" name="Rectangle 12">
            <a:extLst>
              <a:ext uri="{FF2B5EF4-FFF2-40B4-BE49-F238E27FC236}">
                <a16:creationId xmlns:a16="http://schemas.microsoft.com/office/drawing/2014/main" id="{25DED39D-080A-5FDB-E32F-CC4C1D0FF256}"/>
              </a:ext>
            </a:extLst>
          </p:cNvPr>
          <p:cNvSpPr/>
          <p:nvPr/>
        </p:nvSpPr>
        <p:spPr>
          <a:xfrm>
            <a:off x="1520607" y="1389052"/>
            <a:ext cx="3593872"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Prioritization of a preferred local supplier</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up to a certain annual quantity at an agreed-upon price</a:t>
            </a:r>
          </a:p>
        </p:txBody>
      </p:sp>
      <p:sp>
        <p:nvSpPr>
          <p:cNvPr id="14" name="Rectangle 13">
            <a:extLst>
              <a:ext uri="{FF2B5EF4-FFF2-40B4-BE49-F238E27FC236}">
                <a16:creationId xmlns:a16="http://schemas.microsoft.com/office/drawing/2014/main" id="{71B83C42-0862-7965-DDEE-8AA0EF04C88D}"/>
              </a:ext>
            </a:extLst>
          </p:cNvPr>
          <p:cNvSpPr/>
          <p:nvPr/>
        </p:nvSpPr>
        <p:spPr>
          <a:xfrm>
            <a:off x="5226276" y="1389052"/>
            <a:ext cx="3509785"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Demand commitments with purchase obligations </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set at a minimum annual quantity at an agreed-upon price</a:t>
            </a:r>
          </a:p>
        </p:txBody>
      </p:sp>
      <p:sp>
        <p:nvSpPr>
          <p:cNvPr id="15" name="Oval 14">
            <a:extLst>
              <a:ext uri="{FF2B5EF4-FFF2-40B4-BE49-F238E27FC236}">
                <a16:creationId xmlns:a16="http://schemas.microsoft.com/office/drawing/2014/main" id="{D69C5144-125E-9431-7C23-6DCF183F8A6C}"/>
              </a:ext>
            </a:extLst>
          </p:cNvPr>
          <p:cNvSpPr/>
          <p:nvPr/>
        </p:nvSpPr>
        <p:spPr>
          <a:xfrm>
            <a:off x="5121173"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B</a:t>
            </a:r>
          </a:p>
        </p:txBody>
      </p:sp>
      <p:cxnSp>
        <p:nvCxnSpPr>
          <p:cNvPr id="17" name="Straight Connector 16">
            <a:extLst>
              <a:ext uri="{FF2B5EF4-FFF2-40B4-BE49-F238E27FC236}">
                <a16:creationId xmlns:a16="http://schemas.microsoft.com/office/drawing/2014/main" id="{CC8F96EE-BB6E-4241-6575-6B5BF385AEB7}"/>
              </a:ext>
            </a:extLst>
          </p:cNvPr>
          <p:cNvCxnSpPr>
            <a:cxnSpLocks/>
          </p:cNvCxnSpPr>
          <p:nvPr/>
        </p:nvCxnSpPr>
        <p:spPr>
          <a:xfrm>
            <a:off x="1455629" y="1389051"/>
            <a:ext cx="0" cy="7315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7DB4EDF-8848-EF83-EDDC-75B46189668C}"/>
              </a:ext>
            </a:extLst>
          </p:cNvPr>
          <p:cNvCxnSpPr>
            <a:cxnSpLocks/>
          </p:cNvCxnSpPr>
          <p:nvPr/>
        </p:nvCxnSpPr>
        <p:spPr>
          <a:xfrm>
            <a:off x="1462323" y="2189664"/>
            <a:ext cx="0" cy="37704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0D27B95-F186-6ABD-5147-54F7591B447A}"/>
              </a:ext>
            </a:extLst>
          </p:cNvPr>
          <p:cNvSpPr/>
          <p:nvPr/>
        </p:nvSpPr>
        <p:spPr>
          <a:xfrm>
            <a:off x="1527301" y="2203144"/>
            <a:ext cx="3593872"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Only if business needs arise</a:t>
            </a:r>
          </a:p>
        </p:txBody>
      </p:sp>
      <p:sp>
        <p:nvSpPr>
          <p:cNvPr id="27" name="Rectangle 26">
            <a:extLst>
              <a:ext uri="{FF2B5EF4-FFF2-40B4-BE49-F238E27FC236}">
                <a16:creationId xmlns:a16="http://schemas.microsoft.com/office/drawing/2014/main" id="{CC3AC5B1-49F1-3FCA-D137-216B05E269F2}"/>
              </a:ext>
            </a:extLst>
          </p:cNvPr>
          <p:cNvSpPr/>
          <p:nvPr/>
        </p:nvSpPr>
        <p:spPr>
          <a:xfrm>
            <a:off x="5232970" y="2203144"/>
            <a:ext cx="3509785"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p>
        </p:txBody>
      </p:sp>
      <p:cxnSp>
        <p:nvCxnSpPr>
          <p:cNvPr id="29" name="Straight Connector 28">
            <a:extLst>
              <a:ext uri="{FF2B5EF4-FFF2-40B4-BE49-F238E27FC236}">
                <a16:creationId xmlns:a16="http://schemas.microsoft.com/office/drawing/2014/main" id="{41B02281-2EE7-4648-EB82-55F1570342B1}"/>
              </a:ext>
            </a:extLst>
          </p:cNvPr>
          <p:cNvCxnSpPr>
            <a:cxnSpLocks/>
          </p:cNvCxnSpPr>
          <p:nvPr/>
        </p:nvCxnSpPr>
        <p:spPr>
          <a:xfrm>
            <a:off x="359587" y="259237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112947B-3BFD-7E66-45E8-EAB9E44773C6}"/>
              </a:ext>
            </a:extLst>
          </p:cNvPr>
          <p:cNvSpPr/>
          <p:nvPr/>
        </p:nvSpPr>
        <p:spPr>
          <a:xfrm>
            <a:off x="326229" y="2628884"/>
            <a:ext cx="1071121" cy="1230472"/>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Risks to the buyer </a:t>
            </a:r>
            <a:r>
              <a:rPr lang="en-US" sz="900" i="1" spc="-20">
                <a:solidFill>
                  <a:schemeClr val="bg2"/>
                </a:solidFill>
                <a:latin typeface="Fund Light" pitchFamily="2" charset="-78"/>
                <a:cs typeface="Fund Light" pitchFamily="2" charset="-78"/>
              </a:rPr>
              <a:t>(agreements to have equivalent clauses to mitigate them)</a:t>
            </a:r>
          </a:p>
        </p:txBody>
      </p:sp>
      <p:cxnSp>
        <p:nvCxnSpPr>
          <p:cNvPr id="31" name="Straight Connector 30">
            <a:extLst>
              <a:ext uri="{FF2B5EF4-FFF2-40B4-BE49-F238E27FC236}">
                <a16:creationId xmlns:a16="http://schemas.microsoft.com/office/drawing/2014/main" id="{48E2038B-1176-AA20-7B75-E3C253CF9E43}"/>
              </a:ext>
            </a:extLst>
          </p:cNvPr>
          <p:cNvCxnSpPr>
            <a:cxnSpLocks/>
          </p:cNvCxnSpPr>
          <p:nvPr/>
        </p:nvCxnSpPr>
        <p:spPr>
          <a:xfrm>
            <a:off x="1455629" y="2628884"/>
            <a:ext cx="0" cy="12101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0717446-30A3-C3A3-81C6-E05462EA3F56}"/>
              </a:ext>
            </a:extLst>
          </p:cNvPr>
          <p:cNvSpPr/>
          <p:nvPr/>
        </p:nvSpPr>
        <p:spPr>
          <a:xfrm>
            <a:off x="1520607" y="2635099"/>
            <a:ext cx="3593872"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Technology risk</a:t>
            </a:r>
          </a:p>
        </p:txBody>
      </p:sp>
      <p:cxnSp>
        <p:nvCxnSpPr>
          <p:cNvPr id="6" name="Straight Connector 5">
            <a:extLst>
              <a:ext uri="{FF2B5EF4-FFF2-40B4-BE49-F238E27FC236}">
                <a16:creationId xmlns:a16="http://schemas.microsoft.com/office/drawing/2014/main" id="{1D7C885D-870B-C396-6726-BEC3B5B1B7B2}"/>
              </a:ext>
            </a:extLst>
          </p:cNvPr>
          <p:cNvCxnSpPr>
            <a:cxnSpLocks/>
          </p:cNvCxnSpPr>
          <p:nvPr/>
        </p:nvCxnSpPr>
        <p:spPr>
          <a:xfrm>
            <a:off x="359587" y="387264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ED3F57D-11A3-3D31-A7B4-C7B4401DCDB0}"/>
              </a:ext>
            </a:extLst>
          </p:cNvPr>
          <p:cNvSpPr/>
          <p:nvPr/>
        </p:nvSpPr>
        <p:spPr>
          <a:xfrm>
            <a:off x="326229" y="3909154"/>
            <a:ext cx="1071121" cy="764445"/>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Ready-to-plug template</a:t>
            </a:r>
          </a:p>
        </p:txBody>
      </p:sp>
      <p:cxnSp>
        <p:nvCxnSpPr>
          <p:cNvPr id="19" name="Straight Connector 18">
            <a:extLst>
              <a:ext uri="{FF2B5EF4-FFF2-40B4-BE49-F238E27FC236}">
                <a16:creationId xmlns:a16="http://schemas.microsoft.com/office/drawing/2014/main" id="{19568D45-4B97-92A7-3F7A-AE4EC604DBEF}"/>
              </a:ext>
            </a:extLst>
          </p:cNvPr>
          <p:cNvCxnSpPr>
            <a:cxnSpLocks/>
          </p:cNvCxnSpPr>
          <p:nvPr/>
        </p:nvCxnSpPr>
        <p:spPr>
          <a:xfrm>
            <a:off x="1455629" y="3909154"/>
            <a:ext cx="0" cy="7517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9701FAA-7F00-E014-4DB8-55A8085EF2AF}"/>
              </a:ext>
            </a:extLst>
          </p:cNvPr>
          <p:cNvSpPr/>
          <p:nvPr/>
        </p:nvSpPr>
        <p:spPr>
          <a:xfrm>
            <a:off x="2849909" y="4067481"/>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PSA template provided as </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separate document as part of this implementation guide</a:t>
            </a:r>
          </a:p>
        </p:txBody>
      </p:sp>
      <p:sp>
        <p:nvSpPr>
          <p:cNvPr id="23" name="Rectangle 22">
            <a:extLst>
              <a:ext uri="{FF2B5EF4-FFF2-40B4-BE49-F238E27FC236}">
                <a16:creationId xmlns:a16="http://schemas.microsoft.com/office/drawing/2014/main" id="{911E7452-92B8-2959-7771-8CDAB33D5426}"/>
              </a:ext>
            </a:extLst>
          </p:cNvPr>
          <p:cNvSpPr/>
          <p:nvPr/>
        </p:nvSpPr>
        <p:spPr>
          <a:xfrm>
            <a:off x="6556086" y="4067481"/>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Take-or-pay template provided as separate document as part of this implementation guide</a:t>
            </a:r>
          </a:p>
        </p:txBody>
      </p:sp>
      <p:sp>
        <p:nvSpPr>
          <p:cNvPr id="2" name="Rectangle 1">
            <a:extLst>
              <a:ext uri="{FF2B5EF4-FFF2-40B4-BE49-F238E27FC236}">
                <a16:creationId xmlns:a16="http://schemas.microsoft.com/office/drawing/2014/main" id="{1B292972-4D57-EC46-A34D-F13CEBFB13FB}"/>
              </a:ext>
            </a:extLst>
          </p:cNvPr>
          <p:cNvSpPr/>
          <p:nvPr/>
        </p:nvSpPr>
        <p:spPr>
          <a:xfrm>
            <a:off x="5200875" y="2635099"/>
            <a:ext cx="3593872"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Liability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Technology risk</a:t>
            </a:r>
          </a:p>
        </p:txBody>
      </p:sp>
      <p:pic>
        <p:nvPicPr>
          <p:cNvPr id="24" name="Picture 23">
            <a:extLst>
              <a:ext uri="{FF2B5EF4-FFF2-40B4-BE49-F238E27FC236}">
                <a16:creationId xmlns:a16="http://schemas.microsoft.com/office/drawing/2014/main" id="{183B60F2-8A66-6905-7A6F-16937DFA0314}"/>
              </a:ext>
            </a:extLst>
          </p:cNvPr>
          <p:cNvPicPr>
            <a:picLocks noChangeAspect="1"/>
          </p:cNvPicPr>
          <p:nvPr/>
        </p:nvPicPr>
        <p:blipFill>
          <a:blip r:embed="rId8"/>
          <a:stretch>
            <a:fillRect/>
          </a:stretch>
        </p:blipFill>
        <p:spPr>
          <a:xfrm>
            <a:off x="1666874" y="4018283"/>
            <a:ext cx="1071122" cy="641335"/>
          </a:xfrm>
          <a:prstGeom prst="rect">
            <a:avLst/>
          </a:prstGeom>
          <a:effectLst>
            <a:outerShdw blurRad="50800" dist="38100" dir="2700000" algn="tl" rotWithShape="0">
              <a:prstClr val="black">
                <a:alpha val="40000"/>
              </a:prstClr>
            </a:outerShdw>
          </a:effectLst>
        </p:spPr>
      </p:pic>
      <p:grpSp>
        <p:nvGrpSpPr>
          <p:cNvPr id="28" name="Group 27">
            <a:extLst>
              <a:ext uri="{FF2B5EF4-FFF2-40B4-BE49-F238E27FC236}">
                <a16:creationId xmlns:a16="http://schemas.microsoft.com/office/drawing/2014/main" id="{CF492350-2CFE-753D-DAB6-7F4765B9D5C5}"/>
              </a:ext>
            </a:extLst>
          </p:cNvPr>
          <p:cNvGrpSpPr/>
          <p:nvPr/>
        </p:nvGrpSpPr>
        <p:grpSpPr>
          <a:xfrm>
            <a:off x="4835115" y="3872645"/>
            <a:ext cx="365760" cy="364795"/>
            <a:chOff x="2688384" y="3834733"/>
            <a:chExt cx="365760" cy="364795"/>
          </a:xfrm>
        </p:grpSpPr>
        <p:sp>
          <p:nvSpPr>
            <p:cNvPr id="40" name="Oval 39">
              <a:extLst>
                <a:ext uri="{FF2B5EF4-FFF2-40B4-BE49-F238E27FC236}">
                  <a16:creationId xmlns:a16="http://schemas.microsoft.com/office/drawing/2014/main" id="{94B15DD4-EA05-A8B4-F035-B7531085A860}"/>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41" name="Group 40">
              <a:extLst>
                <a:ext uri="{FF2B5EF4-FFF2-40B4-BE49-F238E27FC236}">
                  <a16:creationId xmlns:a16="http://schemas.microsoft.com/office/drawing/2014/main" id="{A4B39F4D-76A2-97DA-334C-9F9DB57DF7D1}"/>
                </a:ext>
              </a:extLst>
            </p:cNvPr>
            <p:cNvGrpSpPr/>
            <p:nvPr/>
          </p:nvGrpSpPr>
          <p:grpSpPr>
            <a:xfrm>
              <a:off x="2851400" y="3905407"/>
              <a:ext cx="39729" cy="223447"/>
              <a:chOff x="2836160" y="3903439"/>
              <a:chExt cx="39729" cy="223447"/>
            </a:xfrm>
          </p:grpSpPr>
          <p:sp>
            <p:nvSpPr>
              <p:cNvPr id="42" name="Freeform: Shape 41">
                <a:extLst>
                  <a:ext uri="{FF2B5EF4-FFF2-40B4-BE49-F238E27FC236}">
                    <a16:creationId xmlns:a16="http://schemas.microsoft.com/office/drawing/2014/main" id="{B8DDFAA9-905B-C2E6-F8F5-BDA36B1A6825}"/>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E9B987D2-F3A3-3E08-D9F4-B67175F2DDEF}"/>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grpSp>
        <p:nvGrpSpPr>
          <p:cNvPr id="44" name="Group 43">
            <a:extLst>
              <a:ext uri="{FF2B5EF4-FFF2-40B4-BE49-F238E27FC236}">
                <a16:creationId xmlns:a16="http://schemas.microsoft.com/office/drawing/2014/main" id="{7D287139-586F-3D24-2841-7E823611455C}"/>
              </a:ext>
            </a:extLst>
          </p:cNvPr>
          <p:cNvGrpSpPr/>
          <p:nvPr/>
        </p:nvGrpSpPr>
        <p:grpSpPr>
          <a:xfrm>
            <a:off x="8700149" y="3897522"/>
            <a:ext cx="365760" cy="364795"/>
            <a:chOff x="2688384" y="3834733"/>
            <a:chExt cx="365760" cy="364795"/>
          </a:xfrm>
        </p:grpSpPr>
        <p:sp>
          <p:nvSpPr>
            <p:cNvPr id="45" name="Oval 44">
              <a:extLst>
                <a:ext uri="{FF2B5EF4-FFF2-40B4-BE49-F238E27FC236}">
                  <a16:creationId xmlns:a16="http://schemas.microsoft.com/office/drawing/2014/main" id="{528999C6-E4DF-DD7E-785F-0EB9354A506B}"/>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46" name="Group 45">
              <a:extLst>
                <a:ext uri="{FF2B5EF4-FFF2-40B4-BE49-F238E27FC236}">
                  <a16:creationId xmlns:a16="http://schemas.microsoft.com/office/drawing/2014/main" id="{8B76DBF5-FCBB-796F-A7C3-580B1B81D256}"/>
                </a:ext>
              </a:extLst>
            </p:cNvPr>
            <p:cNvGrpSpPr/>
            <p:nvPr/>
          </p:nvGrpSpPr>
          <p:grpSpPr>
            <a:xfrm>
              <a:off x="2851400" y="3905407"/>
              <a:ext cx="39729" cy="223447"/>
              <a:chOff x="2836160" y="3903439"/>
              <a:chExt cx="39729" cy="223447"/>
            </a:xfrm>
          </p:grpSpPr>
          <p:sp>
            <p:nvSpPr>
              <p:cNvPr id="47" name="Freeform: Shape 46">
                <a:extLst>
                  <a:ext uri="{FF2B5EF4-FFF2-40B4-BE49-F238E27FC236}">
                    <a16:creationId xmlns:a16="http://schemas.microsoft.com/office/drawing/2014/main" id="{01FAC416-82C0-E323-CA7C-A91EF15498B0}"/>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48" name="Freeform: Shape 47">
                <a:extLst>
                  <a:ext uri="{FF2B5EF4-FFF2-40B4-BE49-F238E27FC236}">
                    <a16:creationId xmlns:a16="http://schemas.microsoft.com/office/drawing/2014/main" id="{92DFD096-3A0B-3F63-578C-010B263CEC75}"/>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pic>
        <p:nvPicPr>
          <p:cNvPr id="50" name="Picture 49">
            <a:extLst>
              <a:ext uri="{FF2B5EF4-FFF2-40B4-BE49-F238E27FC236}">
                <a16:creationId xmlns:a16="http://schemas.microsoft.com/office/drawing/2014/main" id="{F315606D-DE89-F49A-1789-C81047A3054D}"/>
              </a:ext>
            </a:extLst>
          </p:cNvPr>
          <p:cNvPicPr>
            <a:picLocks noChangeAspect="1"/>
          </p:cNvPicPr>
          <p:nvPr/>
        </p:nvPicPr>
        <p:blipFill>
          <a:blip r:embed="rId9"/>
          <a:stretch>
            <a:fillRect/>
          </a:stretch>
        </p:blipFill>
        <p:spPr>
          <a:xfrm>
            <a:off x="5363891" y="4033519"/>
            <a:ext cx="1059823" cy="640080"/>
          </a:xfrm>
          <a:prstGeom prst="rect">
            <a:avLst/>
          </a:prstGeom>
          <a:effectLst>
            <a:outerShdw blurRad="50800" dist="38100" dir="2700000" algn="tl" rotWithShape="0">
              <a:prstClr val="black">
                <a:alpha val="40000"/>
              </a:prstClr>
            </a:outerShdw>
          </a:effectLst>
        </p:spPr>
      </p:pic>
      <p:grpSp>
        <p:nvGrpSpPr>
          <p:cNvPr id="3" name="Group 2">
            <a:extLst>
              <a:ext uri="{FF2B5EF4-FFF2-40B4-BE49-F238E27FC236}">
                <a16:creationId xmlns:a16="http://schemas.microsoft.com/office/drawing/2014/main" id="{230A2CB4-5DC5-93BB-A0D0-56D43EE51A97}"/>
              </a:ext>
            </a:extLst>
          </p:cNvPr>
          <p:cNvGrpSpPr/>
          <p:nvPr/>
        </p:nvGrpSpPr>
        <p:grpSpPr>
          <a:xfrm>
            <a:off x="1349993" y="34194"/>
            <a:ext cx="5484392" cy="219841"/>
            <a:chOff x="1349993" y="34194"/>
            <a:chExt cx="5484392" cy="219841"/>
          </a:xfrm>
        </p:grpSpPr>
        <p:sp>
          <p:nvSpPr>
            <p:cNvPr id="20" name="TextBox 19">
              <a:extLst>
                <a:ext uri="{FF2B5EF4-FFF2-40B4-BE49-F238E27FC236}">
                  <a16:creationId xmlns:a16="http://schemas.microsoft.com/office/drawing/2014/main" id="{6E7F7316-E831-1EB1-6DBC-95BECFC46A0F}"/>
                </a:ext>
              </a:extLst>
            </p:cNvPr>
            <p:cNvSpPr txBox="1"/>
            <p:nvPr/>
          </p:nvSpPr>
          <p:spPr>
            <a:xfrm>
              <a:off x="4621971"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solidFill>
                  <a:effectLst/>
                  <a:uLnTx/>
                  <a:uFillTx/>
                  <a:latin typeface="Fund Light" pitchFamily="2" charset="-78"/>
                  <a:cs typeface="Fund Light" pitchFamily="2" charset="-78"/>
                </a:defRPr>
              </a:lvl1pPr>
            </a:lstStyle>
            <a:p>
              <a:r>
                <a:rPr lang="en-US"/>
                <a:t>4. LDC agreement sign-off</a:t>
              </a:r>
            </a:p>
          </p:txBody>
        </p:sp>
        <p:sp>
          <p:nvSpPr>
            <p:cNvPr id="21" name="TextBox 20">
              <a:extLst>
                <a:ext uri="{FF2B5EF4-FFF2-40B4-BE49-F238E27FC236}">
                  <a16:creationId xmlns:a16="http://schemas.microsoft.com/office/drawing/2014/main" id="{E7AB4494-30C3-4E1C-8659-A2CF7EF00196}"/>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25" name="TextBox 24">
              <a:extLst>
                <a:ext uri="{FF2B5EF4-FFF2-40B4-BE49-F238E27FC236}">
                  <a16:creationId xmlns:a16="http://schemas.microsoft.com/office/drawing/2014/main" id="{35BAF1B7-4CF2-75B4-EEBF-430B871CEAA7}"/>
                </a:ext>
              </a:extLst>
            </p:cNvPr>
            <p:cNvSpPr txBox="1"/>
            <p:nvPr/>
          </p:nvSpPr>
          <p:spPr>
            <a:xfrm>
              <a:off x="244065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2. Feasibility and terms assessment</a:t>
              </a:r>
            </a:p>
          </p:txBody>
        </p:sp>
        <p:sp>
          <p:nvSpPr>
            <p:cNvPr id="32" name="TextBox 31">
              <a:extLst>
                <a:ext uri="{FF2B5EF4-FFF2-40B4-BE49-F238E27FC236}">
                  <a16:creationId xmlns:a16="http://schemas.microsoft.com/office/drawing/2014/main" id="{3E6972FA-06D1-7CA1-41B0-F3BBD14E48A5}"/>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3. Tendering and LDC award</a:t>
              </a:r>
              <a:endParaRPr lang="en-GB"/>
            </a:p>
          </p:txBody>
        </p:sp>
        <p:sp>
          <p:nvSpPr>
            <p:cNvPr id="34" name="TextBox 33">
              <a:extLst>
                <a:ext uri="{FF2B5EF4-FFF2-40B4-BE49-F238E27FC236}">
                  <a16:creationId xmlns:a16="http://schemas.microsoft.com/office/drawing/2014/main" id="{2AE1613F-EEA0-C41F-5A4B-3D7279D13F05}"/>
                </a:ext>
              </a:extLst>
            </p:cNvPr>
            <p:cNvSpPr txBox="1"/>
            <p:nvPr/>
          </p:nvSpPr>
          <p:spPr>
            <a:xfrm>
              <a:off x="5711638"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91440" indent="-91440"/>
              <a:r>
                <a:rPr lang="en-US" sz="700">
                  <a:solidFill>
                    <a:schemeClr val="bg1">
                      <a:lumMod val="65000"/>
                    </a:schemeClr>
                  </a:solidFill>
                  <a:latin typeface="Fund Light" pitchFamily="2" charset="-78"/>
                  <a:cs typeface="Fund Light" pitchFamily="2" charset="-78"/>
                </a:rPr>
                <a:t>5. LDC execution </a:t>
              </a:r>
              <a:br>
                <a:rPr lang="en-US" sz="700">
                  <a:solidFill>
                    <a:schemeClr val="bg1">
                      <a:lumMod val="65000"/>
                    </a:schemeClr>
                  </a:solidFill>
                  <a:latin typeface="Fund Light" pitchFamily="2" charset="-78"/>
                  <a:cs typeface="Fund Light" pitchFamily="2" charset="-78"/>
                </a:rPr>
              </a:br>
              <a:r>
                <a:rPr lang="en-US" sz="700">
                  <a:solidFill>
                    <a:schemeClr val="bg1">
                      <a:lumMod val="65000"/>
                    </a:schemeClr>
                  </a:solidFill>
                  <a:latin typeface="Fund Light" pitchFamily="2" charset="-78"/>
                  <a:cs typeface="Fund Light" pitchFamily="2" charset="-78"/>
                </a:rPr>
                <a:t>and monitoring</a:t>
              </a:r>
            </a:p>
          </p:txBody>
        </p:sp>
      </p:grpSp>
    </p:spTree>
    <p:extLst>
      <p:ext uri="{BB962C8B-B14F-4D97-AF65-F5344CB8AC3E}">
        <p14:creationId xmlns:p14="http://schemas.microsoft.com/office/powerpoint/2010/main" val="3091347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57844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7" y="255973"/>
            <a:ext cx="7498080" cy="241824"/>
          </a:xfrm>
        </p:spPr>
        <p:txBody>
          <a:bodyPr vert="horz">
            <a:normAutofit fontScale="90000"/>
          </a:bodyPr>
          <a:lstStyle/>
          <a:p>
            <a:r>
              <a:rPr lang="en-US" b="1"/>
              <a:t>Stage 5 – LDC execution and monitoring: </a:t>
            </a:r>
            <a:r>
              <a:rPr lang="en-US"/>
              <a:t>Recommended governance to monitor LDC </a:t>
            </a:r>
            <a:endParaRPr lang="en-SA"/>
          </a:p>
        </p:txBody>
      </p:sp>
      <p:grpSp>
        <p:nvGrpSpPr>
          <p:cNvPr id="13" name="Group 12">
            <a:extLst>
              <a:ext uri="{FF2B5EF4-FFF2-40B4-BE49-F238E27FC236}">
                <a16:creationId xmlns:a16="http://schemas.microsoft.com/office/drawing/2014/main" id="{A86768CD-24E0-D11B-1A77-DB55816DE658}"/>
              </a:ext>
            </a:extLst>
          </p:cNvPr>
          <p:cNvGrpSpPr/>
          <p:nvPr/>
        </p:nvGrpSpPr>
        <p:grpSpPr>
          <a:xfrm>
            <a:off x="1349993" y="34194"/>
            <a:ext cx="5484392" cy="219841"/>
            <a:chOff x="1349993" y="34194"/>
            <a:chExt cx="5484392" cy="219841"/>
          </a:xfrm>
        </p:grpSpPr>
        <p:sp>
          <p:nvSpPr>
            <p:cNvPr id="8" name="TextBox 7">
              <a:extLst>
                <a:ext uri="{FF2B5EF4-FFF2-40B4-BE49-F238E27FC236}">
                  <a16:creationId xmlns:a16="http://schemas.microsoft.com/office/drawing/2014/main" id="{8D7D2740-0858-8EC2-BD5E-EBD7E8EFE4BD}"/>
                </a:ext>
              </a:extLst>
            </p:cNvPr>
            <p:cNvSpPr txBox="1"/>
            <p:nvPr/>
          </p:nvSpPr>
          <p:spPr>
            <a:xfrm>
              <a:off x="4621971"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4. LDC agreement sign-off</a:t>
              </a:r>
            </a:p>
          </p:txBody>
        </p:sp>
        <p:sp>
          <p:nvSpPr>
            <p:cNvPr id="9" name="TextBox 8">
              <a:extLst>
                <a:ext uri="{FF2B5EF4-FFF2-40B4-BE49-F238E27FC236}">
                  <a16:creationId xmlns:a16="http://schemas.microsoft.com/office/drawing/2014/main" id="{8BC568B9-1B4D-3BEA-9D97-61D2C42AD6A8}"/>
                </a:ext>
              </a:extLst>
            </p:cNvPr>
            <p:cNvSpPr txBox="1"/>
            <p:nvPr/>
          </p:nvSpPr>
          <p:spPr>
            <a:xfrm>
              <a:off x="1349993" y="34194"/>
              <a:ext cx="1122747" cy="219841"/>
            </a:xfrm>
            <a:prstGeom prst="homePlate">
              <a:avLst>
                <a:gd name="adj" fmla="val 25366"/>
              </a:avLst>
            </a:prstGeom>
            <a:solidFill>
              <a:srgbClr val="F2F2F2"/>
            </a:solidFill>
            <a:ln w="6350">
              <a:noFill/>
              <a:miter lim="800000"/>
            </a:ln>
          </p:spPr>
          <p:txBody>
            <a:bodyPr vert="horz" wrap="square" lIns="60960" rIns="0" anchor="ctr">
              <a:noAutofit/>
            </a:bodyPr>
            <a:lstStyle/>
            <a:p>
              <a:pPr marR="0" lvl="0" algn="l" defTabSz="1219170" rtl="0" eaLnBrk="1" fontAlgn="auto" latinLnBrk="0" hangingPunct="1">
                <a:spcAft>
                  <a:spcPts val="0"/>
                </a:spcAft>
                <a:buClrTx/>
                <a:buSzTx/>
                <a:tabLst/>
                <a:defRPr/>
              </a:pPr>
              <a:r>
                <a:rPr kumimoji="0" lang="en-US" sz="700" b="1" i="0" u="none" strike="noStrike" kern="1200" cap="none" spc="0" normalizeH="0" baseline="0" noProof="0">
                  <a:ln>
                    <a:noFill/>
                  </a:ln>
                  <a:solidFill>
                    <a:srgbClr val="A6A6A6"/>
                  </a:solidFill>
                  <a:effectLst/>
                  <a:uLnTx/>
                  <a:uFillTx/>
                  <a:latin typeface="Fund Light" pitchFamily="2" charset="-78"/>
                  <a:cs typeface="Fund Light" pitchFamily="2" charset="-78"/>
                </a:rPr>
                <a:t>1. Product selection</a:t>
              </a:r>
              <a:endParaRPr kumimoji="0" lang="en-GB" sz="700" b="1" i="0" u="none" strike="noStrike" kern="1200" cap="none" spc="0" normalizeH="0" baseline="0" noProof="0">
                <a:ln>
                  <a:noFill/>
                </a:ln>
                <a:solidFill>
                  <a:srgbClr val="A6A6A6"/>
                </a:solidFill>
                <a:effectLst/>
                <a:uLnTx/>
                <a:uFillTx/>
                <a:latin typeface="Fund Light" pitchFamily="2" charset="-78"/>
                <a:cs typeface="Fund Light" pitchFamily="2" charset="-78"/>
              </a:endParaRPr>
            </a:p>
          </p:txBody>
        </p:sp>
        <p:sp>
          <p:nvSpPr>
            <p:cNvPr id="10" name="TextBox 9">
              <a:extLst>
                <a:ext uri="{FF2B5EF4-FFF2-40B4-BE49-F238E27FC236}">
                  <a16:creationId xmlns:a16="http://schemas.microsoft.com/office/drawing/2014/main" id="{D2474EA1-813B-FB5C-7B9E-EF5245019116}"/>
                </a:ext>
              </a:extLst>
            </p:cNvPr>
            <p:cNvSpPr txBox="1"/>
            <p:nvPr/>
          </p:nvSpPr>
          <p:spPr>
            <a:xfrm>
              <a:off x="244065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2. Feasibility and terms assessment</a:t>
              </a:r>
            </a:p>
          </p:txBody>
        </p:sp>
        <p:sp>
          <p:nvSpPr>
            <p:cNvPr id="11" name="TextBox 10">
              <a:extLst>
                <a:ext uri="{FF2B5EF4-FFF2-40B4-BE49-F238E27FC236}">
                  <a16:creationId xmlns:a16="http://schemas.microsoft.com/office/drawing/2014/main" id="{CB4E4B5A-A621-2F29-CF25-FE9136D917AB}"/>
                </a:ext>
              </a:extLst>
            </p:cNvPr>
            <p:cNvSpPr txBox="1"/>
            <p:nvPr/>
          </p:nvSpPr>
          <p:spPr>
            <a:xfrm>
              <a:off x="3531312" y="34194"/>
              <a:ext cx="1122747" cy="219841"/>
            </a:xfrm>
            <a:prstGeom prst="chevron">
              <a:avLst>
                <a:gd name="adj" fmla="val 23394"/>
              </a:avLst>
            </a:prstGeom>
            <a:solidFill>
              <a:schemeClr val="bg1">
                <a:lumMod val="95000"/>
              </a:schemeClr>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lumMod val="65000"/>
                    </a:schemeClr>
                  </a:solidFill>
                  <a:effectLst/>
                  <a:uLnTx/>
                  <a:uFillTx/>
                  <a:latin typeface="Fund Light" pitchFamily="2" charset="-78"/>
                  <a:cs typeface="Fund Light" pitchFamily="2" charset="-78"/>
                </a:defRPr>
              </a:lvl1pPr>
            </a:lstStyle>
            <a:p>
              <a:r>
                <a:rPr lang="en-US"/>
                <a:t>3. Tendering and LDC award</a:t>
              </a:r>
              <a:endParaRPr lang="en-GB"/>
            </a:p>
          </p:txBody>
        </p:sp>
        <p:sp>
          <p:nvSpPr>
            <p:cNvPr id="12" name="TextBox 11">
              <a:extLst>
                <a:ext uri="{FF2B5EF4-FFF2-40B4-BE49-F238E27FC236}">
                  <a16:creationId xmlns:a16="http://schemas.microsoft.com/office/drawing/2014/main" id="{2D65CB11-9318-7435-C695-1BDA9ED1E852}"/>
                </a:ext>
              </a:extLst>
            </p:cNvPr>
            <p:cNvSpPr txBox="1"/>
            <p:nvPr/>
          </p:nvSpPr>
          <p:spPr>
            <a:xfrm>
              <a:off x="5711638" y="34194"/>
              <a:ext cx="1122747" cy="219841"/>
            </a:xfrm>
            <a:prstGeom prst="chevron">
              <a:avLst>
                <a:gd name="adj" fmla="val 23394"/>
              </a:avLst>
            </a:prstGeom>
            <a:solidFill>
              <a:srgbClr val="C3984D"/>
            </a:solidFill>
            <a:ln w="6350">
              <a:noFill/>
              <a:miter lim="800000"/>
            </a:ln>
          </p:spPr>
          <p:txBody>
            <a:bodyPr vert="horz" wrap="square" lIns="60960" rIns="0" anchor="ctr">
              <a:noAutofit/>
            </a:bodyPr>
            <a:lstStyle>
              <a:defPPr>
                <a:defRPr lang="en-US"/>
              </a:defPPr>
              <a:lvl1pPr marL="91440" marR="0" lvl="0" indent="-91440" defTabSz="1219170" fontAlgn="auto">
                <a:lnSpc>
                  <a:spcPct val="100000"/>
                </a:lnSpc>
                <a:spcBef>
                  <a:spcPts val="0"/>
                </a:spcBef>
                <a:spcAft>
                  <a:spcPts val="0"/>
                </a:spcAft>
                <a:buClrTx/>
                <a:buSzTx/>
                <a:buFontTx/>
                <a:buNone/>
                <a:tabLst/>
                <a:defRPr kumimoji="0" sz="700" b="1" i="0" u="none" strike="noStrike" cap="none" spc="0" normalizeH="0" baseline="0">
                  <a:ln>
                    <a:noFill/>
                  </a:ln>
                  <a:solidFill>
                    <a:schemeClr val="bg1"/>
                  </a:solidFill>
                  <a:effectLst/>
                  <a:uLnTx/>
                  <a:uFillTx/>
                  <a:latin typeface="Fund Light" pitchFamily="2" charset="-78"/>
                  <a:cs typeface="Fund Light" pitchFamily="2" charset="-78"/>
                </a:defRPr>
              </a:lvl1pPr>
            </a:lstStyle>
            <a:p>
              <a:r>
                <a:rPr lang="en-US"/>
                <a:t>5. LDC execution </a:t>
              </a:r>
              <a:br>
                <a:rPr lang="en-US"/>
              </a:br>
              <a:r>
                <a:rPr lang="en-US"/>
                <a:t>and monitoring</a:t>
              </a:r>
            </a:p>
          </p:txBody>
        </p:sp>
      </p:grpSp>
      <p:sp>
        <p:nvSpPr>
          <p:cNvPr id="2" name="Rectangle: Rounded Corners 1">
            <a:extLst>
              <a:ext uri="{FF2B5EF4-FFF2-40B4-BE49-F238E27FC236}">
                <a16:creationId xmlns:a16="http://schemas.microsoft.com/office/drawing/2014/main" id="{A168D37C-8FAA-76DA-32B0-2F3C1786229F}"/>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learnings on LC unit (</a:t>
            </a:r>
            <a:r>
              <a:rPr lang="en-US" sz="1000">
                <a:solidFill>
                  <a:srgbClr val="000000"/>
                </a:solidFill>
                <a:latin typeface="Fund Light" pitchFamily="2" charset="-78"/>
                <a:cs typeface="Fund Light" pitchFamily="2" charset="-78"/>
                <a:hlinkClick r:id="rId6"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C8D18725-506A-2C26-667F-4DFAD9C39237}"/>
              </a:ext>
            </a:extLst>
          </p:cNvPr>
          <p:cNvGrpSpPr/>
          <p:nvPr/>
        </p:nvGrpSpPr>
        <p:grpSpPr>
          <a:xfrm>
            <a:off x="3004029" y="4817276"/>
            <a:ext cx="303559" cy="303559"/>
            <a:chOff x="-577629" y="2311332"/>
            <a:chExt cx="404038" cy="404037"/>
          </a:xfrm>
        </p:grpSpPr>
        <p:sp>
          <p:nvSpPr>
            <p:cNvPr id="6" name="Oval 5">
              <a:extLst>
                <a:ext uri="{FF2B5EF4-FFF2-40B4-BE49-F238E27FC236}">
                  <a16:creationId xmlns:a16="http://schemas.microsoft.com/office/drawing/2014/main" id="{FF7DDE37-76FF-3E7F-A3E1-68A7D3941B8E}"/>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16958DB-F8CD-B784-C402-23213F0FFF32}"/>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4" name="Group 13">
            <a:extLst>
              <a:ext uri="{FF2B5EF4-FFF2-40B4-BE49-F238E27FC236}">
                <a16:creationId xmlns:a16="http://schemas.microsoft.com/office/drawing/2014/main" id="{14AD6538-7361-5614-2131-E2721F81E7FD}"/>
              </a:ext>
            </a:extLst>
          </p:cNvPr>
          <p:cNvGrpSpPr/>
          <p:nvPr/>
        </p:nvGrpSpPr>
        <p:grpSpPr>
          <a:xfrm>
            <a:off x="6211995" y="4883810"/>
            <a:ext cx="168686" cy="161455"/>
            <a:chOff x="11260138" y="4194175"/>
            <a:chExt cx="360363" cy="379413"/>
          </a:xfrm>
        </p:grpSpPr>
        <p:sp>
          <p:nvSpPr>
            <p:cNvPr id="15" name="Freeform 289">
              <a:extLst>
                <a:ext uri="{FF2B5EF4-FFF2-40B4-BE49-F238E27FC236}">
                  <a16:creationId xmlns:a16="http://schemas.microsoft.com/office/drawing/2014/main" id="{1B310941-D58B-885D-6F28-B09C51D01277}"/>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0">
              <a:extLst>
                <a:ext uri="{FF2B5EF4-FFF2-40B4-BE49-F238E27FC236}">
                  <a16:creationId xmlns:a16="http://schemas.microsoft.com/office/drawing/2014/main" id="{20010CC3-64BD-888C-DCC5-E0840A4AEB57}"/>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291">
              <a:extLst>
                <a:ext uri="{FF2B5EF4-FFF2-40B4-BE49-F238E27FC236}">
                  <a16:creationId xmlns:a16="http://schemas.microsoft.com/office/drawing/2014/main" id="{0BF2DA50-8B9F-9FEC-3487-639E075051B5}"/>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0859D69D-BF99-C2B0-F5FA-0E5602F7C40A}"/>
              </a:ext>
            </a:extLst>
          </p:cNvPr>
          <p:cNvGrpSpPr/>
          <p:nvPr/>
        </p:nvGrpSpPr>
        <p:grpSpPr>
          <a:xfrm>
            <a:off x="363613" y="710038"/>
            <a:ext cx="3522587" cy="237588"/>
            <a:chOff x="280895" y="1300700"/>
            <a:chExt cx="2637669" cy="237588"/>
          </a:xfrm>
        </p:grpSpPr>
        <p:cxnSp>
          <p:nvCxnSpPr>
            <p:cNvPr id="21" name="Straight Connector 20">
              <a:extLst>
                <a:ext uri="{FF2B5EF4-FFF2-40B4-BE49-F238E27FC236}">
                  <a16:creationId xmlns:a16="http://schemas.microsoft.com/office/drawing/2014/main" id="{F9CF7355-79A4-94E5-964B-3C40CD5488EC}"/>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0491672-6F06-C0C8-B6A9-89BD3A901469}"/>
                </a:ext>
              </a:extLst>
            </p:cNvPr>
            <p:cNvSpPr txBox="1"/>
            <p:nvPr/>
          </p:nvSpPr>
          <p:spPr>
            <a:xfrm>
              <a:off x="280895" y="1300700"/>
              <a:ext cx="2637669" cy="230832"/>
            </a:xfrm>
            <a:prstGeom prst="rect">
              <a:avLst/>
            </a:prstGeom>
            <a:noFill/>
          </p:spPr>
          <p:txBody>
            <a:bodyPr wrap="square" rtlCol="0" anchor="b">
              <a:spAutoFit/>
            </a:bodyPr>
            <a:lstStyle/>
            <a:p>
              <a:r>
                <a:rPr lang="en-US" sz="900" b="1">
                  <a:solidFill>
                    <a:srgbClr val="C4984F"/>
                  </a:solidFill>
                  <a:latin typeface="Fund Light" pitchFamily="2" charset="-78"/>
                  <a:cs typeface="Fund Light" pitchFamily="2" charset="-78"/>
                </a:rPr>
                <a:t>LDC governance</a:t>
              </a:r>
            </a:p>
          </p:txBody>
        </p:sp>
      </p:grpSp>
      <p:grpSp>
        <p:nvGrpSpPr>
          <p:cNvPr id="46" name="Group 45">
            <a:extLst>
              <a:ext uri="{FF2B5EF4-FFF2-40B4-BE49-F238E27FC236}">
                <a16:creationId xmlns:a16="http://schemas.microsoft.com/office/drawing/2014/main" id="{9CD39F94-AED2-C456-CB17-FD474BE96263}"/>
              </a:ext>
            </a:extLst>
          </p:cNvPr>
          <p:cNvGrpSpPr/>
          <p:nvPr/>
        </p:nvGrpSpPr>
        <p:grpSpPr>
          <a:xfrm>
            <a:off x="3939541" y="710038"/>
            <a:ext cx="4877084" cy="237588"/>
            <a:chOff x="280895" y="1300700"/>
            <a:chExt cx="2637669" cy="237588"/>
          </a:xfrm>
        </p:grpSpPr>
        <p:cxnSp>
          <p:nvCxnSpPr>
            <p:cNvPr id="47" name="Straight Connector 46">
              <a:extLst>
                <a:ext uri="{FF2B5EF4-FFF2-40B4-BE49-F238E27FC236}">
                  <a16:creationId xmlns:a16="http://schemas.microsoft.com/office/drawing/2014/main" id="{66F27D7E-5CF5-FDF6-9257-7B9F5420F47D}"/>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8C8847F-0BE3-FB69-78A2-E8DB106185B3}"/>
                </a:ext>
              </a:extLst>
            </p:cNvPr>
            <p:cNvSpPr txBox="1"/>
            <p:nvPr/>
          </p:nvSpPr>
          <p:spPr>
            <a:xfrm>
              <a:off x="280895" y="1300700"/>
              <a:ext cx="2637669" cy="230832"/>
            </a:xfrm>
            <a:prstGeom prst="rect">
              <a:avLst/>
            </a:prstGeom>
            <a:noFill/>
          </p:spPr>
          <p:txBody>
            <a:bodyPr wrap="square" rtlCol="0" anchor="b">
              <a:spAutoFit/>
            </a:bodyPr>
            <a:lstStyle/>
            <a:p>
              <a:r>
                <a:rPr lang="en-US" sz="900" b="1">
                  <a:solidFill>
                    <a:srgbClr val="C4984F"/>
                  </a:solidFill>
                  <a:latin typeface="Fund Light" pitchFamily="2" charset="-78"/>
                  <a:cs typeface="Fund Light" pitchFamily="2" charset="-78"/>
                </a:rPr>
                <a:t>Roles and responsibilities</a:t>
              </a:r>
            </a:p>
          </p:txBody>
        </p:sp>
      </p:grpSp>
      <p:cxnSp>
        <p:nvCxnSpPr>
          <p:cNvPr id="49" name="Straight Connector 48">
            <a:extLst>
              <a:ext uri="{FF2B5EF4-FFF2-40B4-BE49-F238E27FC236}">
                <a16:creationId xmlns:a16="http://schemas.microsoft.com/office/drawing/2014/main" id="{4BB260E8-81DF-8851-CC29-EE909A537D50}"/>
              </a:ext>
            </a:extLst>
          </p:cNvPr>
          <p:cNvCxnSpPr>
            <a:cxnSpLocks/>
          </p:cNvCxnSpPr>
          <p:nvPr/>
        </p:nvCxnSpPr>
        <p:spPr>
          <a:xfrm>
            <a:off x="3269054" y="1715201"/>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5D7D022-ABC2-E198-4654-167FD5AEF5F3}"/>
              </a:ext>
            </a:extLst>
          </p:cNvPr>
          <p:cNvCxnSpPr>
            <a:cxnSpLocks/>
          </p:cNvCxnSpPr>
          <p:nvPr/>
        </p:nvCxnSpPr>
        <p:spPr>
          <a:xfrm>
            <a:off x="3269054" y="2336383"/>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788A035-A575-58F9-0F75-C20040FA4C03}"/>
              </a:ext>
            </a:extLst>
          </p:cNvPr>
          <p:cNvCxnSpPr>
            <a:cxnSpLocks/>
          </p:cNvCxnSpPr>
          <p:nvPr/>
        </p:nvCxnSpPr>
        <p:spPr>
          <a:xfrm>
            <a:off x="3269054" y="3777744"/>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E212315-2F80-AB0D-5186-8D5D63C3A47B}"/>
              </a:ext>
            </a:extLst>
          </p:cNvPr>
          <p:cNvSpPr txBox="1"/>
          <p:nvPr/>
        </p:nvSpPr>
        <p:spPr>
          <a:xfrm>
            <a:off x="3939540" y="1113475"/>
            <a:ext cx="4877084" cy="468853"/>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Approve high-liability LDC agreements </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Set localization vision / targets at a company level</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p:txBody>
      </p:sp>
      <p:sp>
        <p:nvSpPr>
          <p:cNvPr id="53" name="TextBox 52">
            <a:extLst>
              <a:ext uri="{FF2B5EF4-FFF2-40B4-BE49-F238E27FC236}">
                <a16:creationId xmlns:a16="http://schemas.microsoft.com/office/drawing/2014/main" id="{42273852-05FE-4140-546C-98034EC2A661}"/>
              </a:ext>
            </a:extLst>
          </p:cNvPr>
          <p:cNvSpPr txBox="1"/>
          <p:nvPr/>
        </p:nvSpPr>
        <p:spPr>
          <a:xfrm>
            <a:off x="3939540" y="1864373"/>
            <a:ext cx="4877084" cy="374240"/>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Approve all LDC agreements</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Approve supplier selection based on the RfP responses</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p:txBody>
      </p:sp>
      <p:sp>
        <p:nvSpPr>
          <p:cNvPr id="54" name="TextBox 53">
            <a:extLst>
              <a:ext uri="{FF2B5EF4-FFF2-40B4-BE49-F238E27FC236}">
                <a16:creationId xmlns:a16="http://schemas.microsoft.com/office/drawing/2014/main" id="{066F382F-2792-580C-A8C4-456996546986}"/>
              </a:ext>
            </a:extLst>
          </p:cNvPr>
          <p:cNvSpPr txBox="1"/>
          <p:nvPr/>
        </p:nvSpPr>
        <p:spPr>
          <a:xfrm>
            <a:off x="3939540" y="2469347"/>
            <a:ext cx="4877084" cy="1147140"/>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[Product selection] Endorse recommendations of the LC unit</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[Feasibility assessment] Provide inputs to the LC unit to build the business case</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[Tender and award] Coordinate the </a:t>
            </a:r>
            <a:r>
              <a:rPr kumimoji="0" lang="en-GB" sz="900" b="0" i="0" u="none" strike="noStrike" kern="1200" cap="none" spc="0" normalizeH="0" baseline="0" noProof="0" err="1">
                <a:ln>
                  <a:noFill/>
                </a:ln>
                <a:solidFill>
                  <a:srgbClr val="000000"/>
                </a:solidFill>
                <a:effectLst/>
                <a:uLnTx/>
                <a:uFillTx/>
                <a:latin typeface="Fund Light"/>
                <a:ea typeface="+mn-ea"/>
                <a:cs typeface="+mn-cs"/>
              </a:rPr>
              <a:t>RfI</a:t>
            </a:r>
            <a:r>
              <a:rPr kumimoji="0" lang="en-GB" sz="900" b="0" i="0" u="none" strike="noStrike" kern="1200" cap="none" spc="0" normalizeH="0" baseline="0" noProof="0">
                <a:ln>
                  <a:noFill/>
                </a:ln>
                <a:solidFill>
                  <a:srgbClr val="000000"/>
                </a:solidFill>
                <a:effectLst/>
                <a:uLnTx/>
                <a:uFillTx/>
                <a:latin typeface="Fund Light"/>
                <a:ea typeface="+mn-ea"/>
                <a:cs typeface="+mn-cs"/>
              </a:rPr>
              <a:t> / </a:t>
            </a:r>
            <a:r>
              <a:rPr kumimoji="0" lang="en-GB" sz="900" b="0" i="0" u="none" strike="noStrike" kern="1200" cap="none" spc="0" normalizeH="0" baseline="0" noProof="0" err="1">
                <a:ln>
                  <a:noFill/>
                </a:ln>
                <a:solidFill>
                  <a:srgbClr val="000000"/>
                </a:solidFill>
                <a:effectLst/>
                <a:uLnTx/>
                <a:uFillTx/>
                <a:latin typeface="Fund Light"/>
                <a:ea typeface="+mn-ea"/>
                <a:cs typeface="+mn-cs"/>
              </a:rPr>
              <a:t>RfP</a:t>
            </a:r>
            <a:r>
              <a:rPr lang="en-GB" sz="900">
                <a:solidFill>
                  <a:srgbClr val="000000"/>
                </a:solidFill>
                <a:latin typeface="Fund Light"/>
              </a:rPr>
              <a:t> process across various stakeholders and provide inputs to the LC unit</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US" sz="900">
                <a:solidFill>
                  <a:srgbClr val="000000"/>
                </a:solidFill>
                <a:latin typeface="Fund Light"/>
              </a:rPr>
              <a:t>[Terms and conditions] Provide inputs as needed</a:t>
            </a:r>
            <a:endParaRPr lang="en-GB" sz="900">
              <a:solidFill>
                <a:srgbClr val="FF0000"/>
              </a:solidFill>
              <a:latin typeface="Fund Light"/>
            </a:endParaRP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[Monitoring] Oversee d</a:t>
            </a:r>
            <a:r>
              <a:rPr kumimoji="0" lang="en-GB" sz="900" b="0" i="0" u="none" strike="noStrike" kern="1200" cap="none" spc="0" normalizeH="0" baseline="0" noProof="0">
                <a:ln>
                  <a:noFill/>
                </a:ln>
                <a:solidFill>
                  <a:srgbClr val="000000"/>
                </a:solidFill>
                <a:effectLst/>
                <a:uLnTx/>
                <a:uFillTx/>
                <a:latin typeface="Fund Light"/>
                <a:ea typeface="+mn-ea"/>
                <a:cs typeface="+mn-cs"/>
              </a:rPr>
              <a:t>ay-to-day issue resolution / </a:t>
            </a:r>
            <a:r>
              <a:rPr lang="en-GB" sz="900">
                <a:solidFill>
                  <a:srgbClr val="000000"/>
                </a:solidFill>
                <a:latin typeface="Fund Light"/>
              </a:rPr>
              <a:t>manage and own tracking </a:t>
            </a:r>
          </a:p>
        </p:txBody>
      </p:sp>
      <p:sp>
        <p:nvSpPr>
          <p:cNvPr id="55" name="TextBox 54">
            <a:extLst>
              <a:ext uri="{FF2B5EF4-FFF2-40B4-BE49-F238E27FC236}">
                <a16:creationId xmlns:a16="http://schemas.microsoft.com/office/drawing/2014/main" id="{016844BE-B682-5014-2CBA-91919D582D2C}"/>
              </a:ext>
            </a:extLst>
          </p:cNvPr>
          <p:cNvSpPr txBox="1"/>
          <p:nvPr/>
        </p:nvSpPr>
        <p:spPr>
          <a:xfrm>
            <a:off x="3939540" y="3854946"/>
            <a:ext cx="4877084" cy="468853"/>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Own of all localization initiatives </a:t>
            </a:r>
            <a:r>
              <a:rPr lang="en-GB" sz="900">
                <a:solidFill>
                  <a:srgbClr val="000000"/>
                </a:solidFill>
                <a:latin typeface="Fund Light"/>
              </a:rPr>
              <a:t>including LDC mechanism</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a:p>
            <a:pPr marL="228600" indent="-228600" defTabSz="914400">
              <a:spcBef>
                <a:spcPts val="600"/>
              </a:spcBef>
              <a:buFont typeface="+mj-lt"/>
              <a:buAutoNum type="arabicPeriod"/>
              <a:defRPr/>
            </a:pPr>
            <a:r>
              <a:rPr kumimoji="0" lang="en-GB" sz="900" b="0" i="0" u="none" strike="noStrike" kern="1200" cap="none" spc="0" normalizeH="0" baseline="0" noProof="0">
                <a:ln>
                  <a:noFill/>
                </a:ln>
                <a:solidFill>
                  <a:srgbClr val="000000"/>
                </a:solidFill>
                <a:effectLst/>
                <a:uLnTx/>
                <a:uFillTx/>
                <a:latin typeface="Fund Light"/>
                <a:ea typeface="+mn-ea"/>
                <a:cs typeface="+mn-cs"/>
              </a:rPr>
              <a:t>Manage and drive the LDC process, across the 5 stages</a:t>
            </a:r>
          </a:p>
        </p:txBody>
      </p:sp>
      <p:sp>
        <p:nvSpPr>
          <p:cNvPr id="57" name="Rectangle 56">
            <a:extLst>
              <a:ext uri="{FF2B5EF4-FFF2-40B4-BE49-F238E27FC236}">
                <a16:creationId xmlns:a16="http://schemas.microsoft.com/office/drawing/2014/main" id="{BF72789B-3A96-02A5-38F4-2C646AB496C5}"/>
              </a:ext>
            </a:extLst>
          </p:cNvPr>
          <p:cNvSpPr/>
          <p:nvPr/>
        </p:nvSpPr>
        <p:spPr>
          <a:xfrm>
            <a:off x="1104819" y="1327990"/>
            <a:ext cx="1705056" cy="235371"/>
          </a:xfrm>
          <a:prstGeom prst="rect">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Board of directors</a:t>
            </a:r>
          </a:p>
        </p:txBody>
      </p:sp>
      <p:sp>
        <p:nvSpPr>
          <p:cNvPr id="58" name="Rectangle 57">
            <a:extLst>
              <a:ext uri="{FF2B5EF4-FFF2-40B4-BE49-F238E27FC236}">
                <a16:creationId xmlns:a16="http://schemas.microsoft.com/office/drawing/2014/main" id="{FB70A1EE-E920-FC55-2529-A49AFDDA3364}"/>
              </a:ext>
            </a:extLst>
          </p:cNvPr>
          <p:cNvSpPr/>
          <p:nvPr/>
        </p:nvSpPr>
        <p:spPr>
          <a:xfrm>
            <a:off x="1020772" y="1924540"/>
            <a:ext cx="1873149" cy="235371"/>
          </a:xfrm>
          <a:prstGeom prst="rect">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Executive management</a:t>
            </a:r>
          </a:p>
        </p:txBody>
      </p:sp>
      <p:sp>
        <p:nvSpPr>
          <p:cNvPr id="59" name="Oval 58">
            <a:extLst>
              <a:ext uri="{FF2B5EF4-FFF2-40B4-BE49-F238E27FC236}">
                <a16:creationId xmlns:a16="http://schemas.microsoft.com/office/drawing/2014/main" id="{B7B99E58-1216-7BFC-983D-32B29B05DC6E}"/>
              </a:ext>
            </a:extLst>
          </p:cNvPr>
          <p:cNvSpPr/>
          <p:nvPr/>
        </p:nvSpPr>
        <p:spPr>
          <a:xfrm>
            <a:off x="1116012" y="2650205"/>
            <a:ext cx="1693863" cy="411558"/>
          </a:xfrm>
          <a:prstGeom prst="ellipse">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LDC taskforce</a:t>
            </a:r>
          </a:p>
        </p:txBody>
      </p:sp>
      <p:sp>
        <p:nvSpPr>
          <p:cNvPr id="60" name="Rectangle 59">
            <a:extLst>
              <a:ext uri="{FF2B5EF4-FFF2-40B4-BE49-F238E27FC236}">
                <a16:creationId xmlns:a16="http://schemas.microsoft.com/office/drawing/2014/main" id="{E01A2A20-D1A3-9635-AAC1-AE95059ABC07}"/>
              </a:ext>
            </a:extLst>
          </p:cNvPr>
          <p:cNvSpPr/>
          <p:nvPr/>
        </p:nvSpPr>
        <p:spPr>
          <a:xfrm>
            <a:off x="363448" y="2981622"/>
            <a:ext cx="657324" cy="411558"/>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Ops / supply chain</a:t>
            </a:r>
          </a:p>
        </p:txBody>
      </p:sp>
      <p:sp>
        <p:nvSpPr>
          <p:cNvPr id="61" name="Rectangle 60">
            <a:extLst>
              <a:ext uri="{FF2B5EF4-FFF2-40B4-BE49-F238E27FC236}">
                <a16:creationId xmlns:a16="http://schemas.microsoft.com/office/drawing/2014/main" id="{980365CA-5A75-6774-16D9-50F75BD94D6A}"/>
              </a:ext>
            </a:extLst>
          </p:cNvPr>
          <p:cNvSpPr/>
          <p:nvPr/>
        </p:nvSpPr>
        <p:spPr>
          <a:xfrm>
            <a:off x="1116012" y="3204931"/>
            <a:ext cx="65732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Finance</a:t>
            </a:r>
          </a:p>
        </p:txBody>
      </p:sp>
      <p:sp>
        <p:nvSpPr>
          <p:cNvPr id="62" name="Rectangle 61">
            <a:extLst>
              <a:ext uri="{FF2B5EF4-FFF2-40B4-BE49-F238E27FC236}">
                <a16:creationId xmlns:a16="http://schemas.microsoft.com/office/drawing/2014/main" id="{B9C02BA6-0EE6-6201-A2B9-CFC3DB0179D2}"/>
              </a:ext>
            </a:extLst>
          </p:cNvPr>
          <p:cNvSpPr/>
          <p:nvPr/>
        </p:nvSpPr>
        <p:spPr>
          <a:xfrm>
            <a:off x="1868576" y="3204930"/>
            <a:ext cx="65732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Business teams</a:t>
            </a:r>
          </a:p>
        </p:txBody>
      </p:sp>
      <p:sp>
        <p:nvSpPr>
          <p:cNvPr id="63" name="Rectangle 62">
            <a:extLst>
              <a:ext uri="{FF2B5EF4-FFF2-40B4-BE49-F238E27FC236}">
                <a16:creationId xmlns:a16="http://schemas.microsoft.com/office/drawing/2014/main" id="{15A90FAF-7D54-5F09-5F7E-000F51860402}"/>
              </a:ext>
            </a:extLst>
          </p:cNvPr>
          <p:cNvSpPr/>
          <p:nvPr/>
        </p:nvSpPr>
        <p:spPr>
          <a:xfrm>
            <a:off x="2621140" y="3077004"/>
            <a:ext cx="75256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Procurement team</a:t>
            </a:r>
          </a:p>
        </p:txBody>
      </p:sp>
      <p:sp>
        <p:nvSpPr>
          <p:cNvPr id="64" name="Rectangle 63">
            <a:extLst>
              <a:ext uri="{FF2B5EF4-FFF2-40B4-BE49-F238E27FC236}">
                <a16:creationId xmlns:a16="http://schemas.microsoft.com/office/drawing/2014/main" id="{B1DB2DA6-DE3A-84B0-DF5A-D9F60D7CFA76}"/>
              </a:ext>
            </a:extLst>
          </p:cNvPr>
          <p:cNvSpPr/>
          <p:nvPr/>
        </p:nvSpPr>
        <p:spPr>
          <a:xfrm>
            <a:off x="150990" y="2700690"/>
            <a:ext cx="752564" cy="155294"/>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Legal</a:t>
            </a:r>
          </a:p>
        </p:txBody>
      </p:sp>
      <p:sp>
        <p:nvSpPr>
          <p:cNvPr id="65" name="Rectangle 64">
            <a:extLst>
              <a:ext uri="{FF2B5EF4-FFF2-40B4-BE49-F238E27FC236}">
                <a16:creationId xmlns:a16="http://schemas.microsoft.com/office/drawing/2014/main" id="{53BC8C58-201A-5064-2C44-4CDE0283E486}"/>
              </a:ext>
            </a:extLst>
          </p:cNvPr>
          <p:cNvSpPr/>
          <p:nvPr/>
        </p:nvSpPr>
        <p:spPr>
          <a:xfrm>
            <a:off x="733340" y="4088446"/>
            <a:ext cx="2448012" cy="235371"/>
          </a:xfrm>
          <a:prstGeom prst="rect">
            <a:avLst/>
          </a:prstGeom>
          <a:solidFill>
            <a:schemeClr val="tx1"/>
          </a:solidFill>
          <a:ln w="6350">
            <a:no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1"/>
                </a:solidFill>
                <a:latin typeface="Fund Light" pitchFamily="2" charset="-78"/>
                <a:cs typeface="Fund Light" pitchFamily="2" charset="-78"/>
              </a:rPr>
              <a:t>LC unit</a:t>
            </a:r>
          </a:p>
        </p:txBody>
      </p:sp>
      <p:sp>
        <p:nvSpPr>
          <p:cNvPr id="66" name="Rectangle 65">
            <a:extLst>
              <a:ext uri="{FF2B5EF4-FFF2-40B4-BE49-F238E27FC236}">
                <a16:creationId xmlns:a16="http://schemas.microsoft.com/office/drawing/2014/main" id="{02D9A811-454C-EF89-F313-8E9D532002D3}"/>
              </a:ext>
            </a:extLst>
          </p:cNvPr>
          <p:cNvSpPr/>
          <p:nvPr/>
        </p:nvSpPr>
        <p:spPr>
          <a:xfrm>
            <a:off x="2892772" y="2683874"/>
            <a:ext cx="752564" cy="211294"/>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a:t>
            </a:r>
          </a:p>
        </p:txBody>
      </p:sp>
      <p:grpSp>
        <p:nvGrpSpPr>
          <p:cNvPr id="67" name="Group 66">
            <a:extLst>
              <a:ext uri="{FF2B5EF4-FFF2-40B4-BE49-F238E27FC236}">
                <a16:creationId xmlns:a16="http://schemas.microsoft.com/office/drawing/2014/main" id="{5C3CDE60-1EA5-CCD7-4CF0-46765085FA6A}"/>
              </a:ext>
            </a:extLst>
          </p:cNvPr>
          <p:cNvGrpSpPr/>
          <p:nvPr/>
        </p:nvGrpSpPr>
        <p:grpSpPr>
          <a:xfrm>
            <a:off x="1867365" y="1591656"/>
            <a:ext cx="179965" cy="309098"/>
            <a:chOff x="1218132" y="1849871"/>
            <a:chExt cx="179965" cy="232230"/>
          </a:xfrm>
        </p:grpSpPr>
        <p:cxnSp>
          <p:nvCxnSpPr>
            <p:cNvPr id="83" name="Straight Arrow Connector 82">
              <a:extLst>
                <a:ext uri="{FF2B5EF4-FFF2-40B4-BE49-F238E27FC236}">
                  <a16:creationId xmlns:a16="http://schemas.microsoft.com/office/drawing/2014/main" id="{1CCFDA02-2775-31FF-4FEE-6F481AAE9269}"/>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84DD8AE-EC83-E8DC-A926-9B3E71ECFB68}"/>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CEC6450D-62F0-DFAA-7C3E-DFCC7048DCEC}"/>
              </a:ext>
            </a:extLst>
          </p:cNvPr>
          <p:cNvSpPr/>
          <p:nvPr/>
        </p:nvSpPr>
        <p:spPr>
          <a:xfrm>
            <a:off x="790840" y="1662831"/>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Direction and</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approvals</a:t>
            </a:r>
          </a:p>
        </p:txBody>
      </p:sp>
      <p:grpSp>
        <p:nvGrpSpPr>
          <p:cNvPr id="69" name="Group 68">
            <a:extLst>
              <a:ext uri="{FF2B5EF4-FFF2-40B4-BE49-F238E27FC236}">
                <a16:creationId xmlns:a16="http://schemas.microsoft.com/office/drawing/2014/main" id="{DDDA6113-9DFA-5968-6E2B-365318B9653E}"/>
              </a:ext>
            </a:extLst>
          </p:cNvPr>
          <p:cNvGrpSpPr/>
          <p:nvPr/>
        </p:nvGrpSpPr>
        <p:grpSpPr>
          <a:xfrm>
            <a:off x="1867365" y="2241817"/>
            <a:ext cx="179965" cy="309098"/>
            <a:chOff x="1218132" y="1849871"/>
            <a:chExt cx="179965" cy="232230"/>
          </a:xfrm>
        </p:grpSpPr>
        <p:cxnSp>
          <p:nvCxnSpPr>
            <p:cNvPr id="81" name="Straight Arrow Connector 80">
              <a:extLst>
                <a:ext uri="{FF2B5EF4-FFF2-40B4-BE49-F238E27FC236}">
                  <a16:creationId xmlns:a16="http://schemas.microsoft.com/office/drawing/2014/main" id="{A8405F64-2F0D-C659-4685-90263EC6249E}"/>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7E93C59B-EC02-8178-7C67-D3A93039440F}"/>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0" name="Rectangle 69">
            <a:extLst>
              <a:ext uri="{FF2B5EF4-FFF2-40B4-BE49-F238E27FC236}">
                <a16:creationId xmlns:a16="http://schemas.microsoft.com/office/drawing/2014/main" id="{E2FC7A90-620A-76C5-F37B-54DEADE1C1F1}"/>
              </a:ext>
            </a:extLst>
          </p:cNvPr>
          <p:cNvSpPr/>
          <p:nvPr/>
        </p:nvSpPr>
        <p:spPr>
          <a:xfrm>
            <a:off x="705811" y="2330410"/>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Direction and</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approvals</a:t>
            </a:r>
          </a:p>
        </p:txBody>
      </p:sp>
      <p:grpSp>
        <p:nvGrpSpPr>
          <p:cNvPr id="77" name="Group 76">
            <a:extLst>
              <a:ext uri="{FF2B5EF4-FFF2-40B4-BE49-F238E27FC236}">
                <a16:creationId xmlns:a16="http://schemas.microsoft.com/office/drawing/2014/main" id="{D299EFDF-C7D9-D0FC-991B-640938F74190}"/>
              </a:ext>
            </a:extLst>
          </p:cNvPr>
          <p:cNvGrpSpPr/>
          <p:nvPr/>
        </p:nvGrpSpPr>
        <p:grpSpPr>
          <a:xfrm>
            <a:off x="1867365" y="3655607"/>
            <a:ext cx="179965" cy="411559"/>
            <a:chOff x="1218132" y="1849871"/>
            <a:chExt cx="179965" cy="232230"/>
          </a:xfrm>
        </p:grpSpPr>
        <p:cxnSp>
          <p:nvCxnSpPr>
            <p:cNvPr id="79" name="Straight Arrow Connector 78">
              <a:extLst>
                <a:ext uri="{FF2B5EF4-FFF2-40B4-BE49-F238E27FC236}">
                  <a16:creationId xmlns:a16="http://schemas.microsoft.com/office/drawing/2014/main" id="{C07BF867-8C8B-2FA0-8AB6-8ECDC7EBA90A}"/>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33316C9-E312-1A10-CAE4-B4DD7959ACF6}"/>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Rectangle 77">
            <a:extLst>
              <a:ext uri="{FF2B5EF4-FFF2-40B4-BE49-F238E27FC236}">
                <a16:creationId xmlns:a16="http://schemas.microsoft.com/office/drawing/2014/main" id="{947786C3-0A25-6E69-4CF1-95DCC00E2D9E}"/>
              </a:ext>
            </a:extLst>
          </p:cNvPr>
          <p:cNvSpPr/>
          <p:nvPr/>
        </p:nvSpPr>
        <p:spPr>
          <a:xfrm>
            <a:off x="716067" y="3819037"/>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Monitoring and support</a:t>
            </a:r>
          </a:p>
        </p:txBody>
      </p:sp>
      <p:sp>
        <p:nvSpPr>
          <p:cNvPr id="85" name="Rectangle 84">
            <a:extLst>
              <a:ext uri="{FF2B5EF4-FFF2-40B4-BE49-F238E27FC236}">
                <a16:creationId xmlns:a16="http://schemas.microsoft.com/office/drawing/2014/main" id="{0A555C53-E3F0-DAD6-D299-6A10C9DFEF7B}"/>
              </a:ext>
            </a:extLst>
          </p:cNvPr>
          <p:cNvSpPr/>
          <p:nvPr/>
        </p:nvSpPr>
        <p:spPr>
          <a:xfrm>
            <a:off x="5075767" y="552128"/>
            <a:ext cx="3794199" cy="1764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i="1" u="sng">
                <a:solidFill>
                  <a:srgbClr val="000000"/>
                </a:solidFill>
                <a:latin typeface="Fund Light" pitchFamily="2" charset="-78"/>
                <a:cs typeface="Fund Light" pitchFamily="2" charset="-78"/>
              </a:rPr>
              <a:t>Illustrative – Should be customized according to each company’s context </a:t>
            </a:r>
          </a:p>
        </p:txBody>
      </p:sp>
    </p:spTree>
    <p:extLst>
      <p:ext uri="{BB962C8B-B14F-4D97-AF65-F5344CB8AC3E}">
        <p14:creationId xmlns:p14="http://schemas.microsoft.com/office/powerpoint/2010/main" val="2214498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8615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
        <p:nvSpPr>
          <p:cNvPr id="2" name="Text Placeholder 5">
            <a:extLst>
              <a:ext uri="{FF2B5EF4-FFF2-40B4-BE49-F238E27FC236}">
                <a16:creationId xmlns:a16="http://schemas.microsoft.com/office/drawing/2014/main" id="{0B3746FF-1A76-3CA7-E636-348DB3608AB9}"/>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Tree>
    <p:extLst>
      <p:ext uri="{BB962C8B-B14F-4D97-AF65-F5344CB8AC3E}">
        <p14:creationId xmlns:p14="http://schemas.microsoft.com/office/powerpoint/2010/main" val="1914630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8254534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1 of 5 − Product selection: </a:t>
            </a:r>
            <a:r>
              <a:rPr lang="en-US"/>
              <a:t>Section preface</a:t>
            </a:r>
          </a:p>
        </p:txBody>
      </p:sp>
      <p:sp>
        <p:nvSpPr>
          <p:cNvPr id="7" name="Rectangle 6">
            <a:extLst>
              <a:ext uri="{FF2B5EF4-FFF2-40B4-BE49-F238E27FC236}">
                <a16:creationId xmlns:a16="http://schemas.microsoft.com/office/drawing/2014/main" id="{5C6A77BB-7CC5-F0BC-823C-CFE0129451B8}"/>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8" name="Rectangle 7">
            <a:extLst>
              <a:ext uri="{FF2B5EF4-FFF2-40B4-BE49-F238E27FC236}">
                <a16:creationId xmlns:a16="http://schemas.microsoft.com/office/drawing/2014/main" id="{5594876C-391D-A345-B20D-6E975558FB63}"/>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9" name="Rectangle 8">
            <a:extLst>
              <a:ext uri="{FF2B5EF4-FFF2-40B4-BE49-F238E27FC236}">
                <a16:creationId xmlns:a16="http://schemas.microsoft.com/office/drawing/2014/main" id="{F5FF7A6E-27EC-0237-1F11-435000CD8CF9}"/>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0" name="Rectangle 9">
            <a:extLst>
              <a:ext uri="{FF2B5EF4-FFF2-40B4-BE49-F238E27FC236}">
                <a16:creationId xmlns:a16="http://schemas.microsoft.com/office/drawing/2014/main" id="{BBA7C6E6-05A7-DA6C-A38F-6A1D1D8B8BCB}"/>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2" name="Rectangle 11">
            <a:extLst>
              <a:ext uri="{FF2B5EF4-FFF2-40B4-BE49-F238E27FC236}">
                <a16:creationId xmlns:a16="http://schemas.microsoft.com/office/drawing/2014/main" id="{5B2641C8-11CF-D90F-05D2-101FE75C3B7E}"/>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LC unit</a:t>
            </a:r>
            <a:r>
              <a:rPr lang="en-US" sz="1000" baseline="30000">
                <a:solidFill>
                  <a:srgbClr val="000000"/>
                </a:solidFill>
                <a:latin typeface="Fund Light" pitchFamily="2" charset="-78"/>
                <a:cs typeface="Fund Light" pitchFamily="2" charset="-78"/>
              </a:rPr>
              <a:t>1</a:t>
            </a:r>
            <a:r>
              <a:rPr lang="en-US" sz="1000">
                <a:solidFill>
                  <a:srgbClr val="000000"/>
                </a:solidFill>
                <a:latin typeface="Fund Light" pitchFamily="2" charset="-78"/>
                <a:cs typeface="Fund Light" pitchFamily="2" charset="-78"/>
              </a:rPr>
              <a:t> [owner of the process]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Business team [provide suggestions on product choices]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Procurement / finance team / LDC taskforce [data to inform the framework]</a:t>
            </a:r>
          </a:p>
        </p:txBody>
      </p:sp>
      <p:sp>
        <p:nvSpPr>
          <p:cNvPr id="13" name="Rectangle 12">
            <a:extLst>
              <a:ext uri="{FF2B5EF4-FFF2-40B4-BE49-F238E27FC236}">
                <a16:creationId xmlns:a16="http://schemas.microsoft.com/office/drawing/2014/main" id="{0A89F3AA-EA57-27D0-E715-E934325F5207}"/>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Framework and methodology to select and appropriate product which can be localized and needs demand commitment, from a longer-list of products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Tools to create the output to inform the analysis</a:t>
            </a:r>
          </a:p>
        </p:txBody>
      </p:sp>
      <p:sp>
        <p:nvSpPr>
          <p:cNvPr id="14" name="Rectangle 13">
            <a:extLst>
              <a:ext uri="{FF2B5EF4-FFF2-40B4-BE49-F238E27FC236}">
                <a16:creationId xmlns:a16="http://schemas.microsoft.com/office/drawing/2014/main" id="{28A5AB9B-8717-3786-CEA4-6674060B01A2}"/>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Key questions to inform the choice of product</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The product selection framework and how to use it</a:t>
            </a: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Product Selection</a:t>
            </a:r>
          </a:p>
        </p:txBody>
      </p:sp>
      <p:grpSp>
        <p:nvGrpSpPr>
          <p:cNvPr id="27" name="Group 26">
            <a:extLst>
              <a:ext uri="{FF2B5EF4-FFF2-40B4-BE49-F238E27FC236}">
                <a16:creationId xmlns:a16="http://schemas.microsoft.com/office/drawing/2014/main" id="{1B7CE3E9-5A8F-6EE2-9B54-61A2DB7F3A23}"/>
              </a:ext>
            </a:extLst>
          </p:cNvPr>
          <p:cNvGrpSpPr/>
          <p:nvPr/>
        </p:nvGrpSpPr>
        <p:grpSpPr>
          <a:xfrm>
            <a:off x="2300148" y="2882436"/>
            <a:ext cx="2979067" cy="323165"/>
            <a:chOff x="-224771" y="2786437"/>
            <a:chExt cx="2766395" cy="323165"/>
          </a:xfrm>
        </p:grpSpPr>
        <p:sp>
          <p:nvSpPr>
            <p:cNvPr id="28" name="Rectangle 27">
              <a:extLst>
                <a:ext uri="{FF2B5EF4-FFF2-40B4-BE49-F238E27FC236}">
                  <a16:creationId xmlns:a16="http://schemas.microsoft.com/office/drawing/2014/main" id="{850678AC-CFB2-4DD3-9EA8-709DDCC522BA}"/>
                </a:ext>
              </a:extLst>
            </p:cNvPr>
            <p:cNvSpPr/>
            <p:nvPr/>
          </p:nvSpPr>
          <p:spPr>
            <a:xfrm>
              <a:off x="1440448" y="2786437"/>
              <a:ext cx="1101176"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Product selection framework</a:t>
              </a:r>
            </a:p>
          </p:txBody>
        </p:sp>
        <p:sp>
          <p:nvSpPr>
            <p:cNvPr id="29" name="Oval 28">
              <a:extLst>
                <a:ext uri="{FF2B5EF4-FFF2-40B4-BE49-F238E27FC236}">
                  <a16:creationId xmlns:a16="http://schemas.microsoft.com/office/drawing/2014/main" id="{0B6665E9-4D42-BC4A-338C-6451BB87C06E}"/>
                </a:ext>
              </a:extLst>
            </p:cNvPr>
            <p:cNvSpPr/>
            <p:nvPr/>
          </p:nvSpPr>
          <p:spPr>
            <a:xfrm>
              <a:off x="-224771" y="2850612"/>
              <a:ext cx="169824" cy="182880"/>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A</a:t>
              </a:r>
            </a:p>
          </p:txBody>
        </p:sp>
      </p:grpSp>
      <p:pic>
        <p:nvPicPr>
          <p:cNvPr id="30" name="Picture 29">
            <a:extLst>
              <a:ext uri="{FF2B5EF4-FFF2-40B4-BE49-F238E27FC236}">
                <a16:creationId xmlns:a16="http://schemas.microsoft.com/office/drawing/2014/main" id="{9F5BC62E-EF2A-C359-915A-C151984009B3}"/>
              </a:ext>
            </a:extLst>
          </p:cNvPr>
          <p:cNvPicPr>
            <a:picLocks noChangeAspect="1"/>
          </p:cNvPicPr>
          <p:nvPr/>
        </p:nvPicPr>
        <p:blipFill>
          <a:blip r:embed="rId6"/>
          <a:stretch>
            <a:fillRect/>
          </a:stretch>
        </p:blipFill>
        <p:spPr>
          <a:xfrm>
            <a:off x="2655570" y="2571750"/>
            <a:ext cx="1120969" cy="62137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1" name="Picture 30">
            <a:extLst>
              <a:ext uri="{FF2B5EF4-FFF2-40B4-BE49-F238E27FC236}">
                <a16:creationId xmlns:a16="http://schemas.microsoft.com/office/drawing/2014/main" id="{CEA8DFAF-C23F-B6C1-D9E2-2483F6552E75}"/>
              </a:ext>
            </a:extLst>
          </p:cNvPr>
          <p:cNvPicPr>
            <a:picLocks noChangeAspect="1"/>
          </p:cNvPicPr>
          <p:nvPr/>
        </p:nvPicPr>
        <p:blipFill>
          <a:blip r:embed="rId7"/>
          <a:stretch>
            <a:fillRect/>
          </a:stretch>
        </p:blipFill>
        <p:spPr>
          <a:xfrm>
            <a:off x="2644951" y="2882747"/>
            <a:ext cx="1329580" cy="56708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4" name="Rectangle 33">
            <a:extLst>
              <a:ext uri="{FF2B5EF4-FFF2-40B4-BE49-F238E27FC236}">
                <a16:creationId xmlns:a16="http://schemas.microsoft.com/office/drawing/2014/main" id="{3675907B-FF93-7183-E115-13F45A6EE985}"/>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Localization Unit</a:t>
            </a:r>
          </a:p>
        </p:txBody>
      </p:sp>
    </p:spTree>
    <p:extLst>
      <p:ext uri="{BB962C8B-B14F-4D97-AF65-F5344CB8AC3E}">
        <p14:creationId xmlns:p14="http://schemas.microsoft.com/office/powerpoint/2010/main" val="1265449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7432491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7" y="255973"/>
            <a:ext cx="7481656" cy="241824"/>
          </a:xfrm>
        </p:spPr>
        <p:txBody>
          <a:bodyPr vert="horz"/>
          <a:lstStyle/>
          <a:p>
            <a:r>
              <a:rPr lang="en-US"/>
              <a:t>Selecting eligible products for LDC requires assessment based on three screening criteria</a:t>
            </a:r>
          </a:p>
        </p:txBody>
      </p:sp>
      <p:grpSp>
        <p:nvGrpSpPr>
          <p:cNvPr id="8" name="Group 7">
            <a:extLst>
              <a:ext uri="{FF2B5EF4-FFF2-40B4-BE49-F238E27FC236}">
                <a16:creationId xmlns:a16="http://schemas.microsoft.com/office/drawing/2014/main" id="{176B77CA-7320-4607-B391-8D6D3AD213D7}"/>
              </a:ext>
            </a:extLst>
          </p:cNvPr>
          <p:cNvGrpSpPr/>
          <p:nvPr/>
        </p:nvGrpSpPr>
        <p:grpSpPr>
          <a:xfrm>
            <a:off x="4983571" y="1143257"/>
            <a:ext cx="3833054" cy="3516052"/>
            <a:chOff x="4983571" y="902624"/>
            <a:chExt cx="3833054" cy="3516052"/>
          </a:xfrm>
        </p:grpSpPr>
        <p:sp>
          <p:nvSpPr>
            <p:cNvPr id="83" name="TextBox 82">
              <a:extLst>
                <a:ext uri="{FF2B5EF4-FFF2-40B4-BE49-F238E27FC236}">
                  <a16:creationId xmlns:a16="http://schemas.microsoft.com/office/drawing/2014/main" id="{AF19ABB8-F438-4A74-BDBF-D1A343B3B37B}"/>
                </a:ext>
              </a:extLst>
            </p:cNvPr>
            <p:cNvSpPr txBox="1"/>
            <p:nvPr/>
          </p:nvSpPr>
          <p:spPr>
            <a:xfrm>
              <a:off x="4983571" y="902624"/>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Criticality of the product for localization in terms of company spend size and the company-level procurement from foreign over local suppliers</a:t>
              </a:r>
            </a:p>
          </p:txBody>
        </p:sp>
        <p:cxnSp>
          <p:nvCxnSpPr>
            <p:cNvPr id="84" name="Straight Connector 83">
              <a:extLst>
                <a:ext uri="{FF2B5EF4-FFF2-40B4-BE49-F238E27FC236}">
                  <a16:creationId xmlns:a16="http://schemas.microsoft.com/office/drawing/2014/main" id="{C4448F27-5FEB-40B5-8E74-0C204B2E8F13}"/>
                </a:ext>
              </a:extLst>
            </p:cNvPr>
            <p:cNvCxnSpPr/>
            <p:nvPr/>
          </p:nvCxnSpPr>
          <p:spPr>
            <a:xfrm>
              <a:off x="4983571" y="1909615"/>
              <a:ext cx="3833054" cy="0"/>
            </a:xfrm>
            <a:prstGeom prst="line">
              <a:avLst/>
            </a:prstGeom>
            <a:noFill/>
            <a:ln w="19050" cap="rnd" cmpd="sng" algn="ctr">
              <a:solidFill>
                <a:schemeClr val="bg1">
                  <a:lumMod val="50000"/>
                </a:schemeClr>
              </a:solidFill>
              <a:prstDash val="sysDot"/>
            </a:ln>
            <a:effectLst/>
          </p:spPr>
        </p:cxnSp>
        <p:sp>
          <p:nvSpPr>
            <p:cNvPr id="85" name="TextBox 84">
              <a:extLst>
                <a:ext uri="{FF2B5EF4-FFF2-40B4-BE49-F238E27FC236}">
                  <a16:creationId xmlns:a16="http://schemas.microsoft.com/office/drawing/2014/main" id="{15B7EF42-ECDC-406C-97ED-C462968B4335}"/>
                </a:ext>
              </a:extLst>
            </p:cNvPr>
            <p:cNvSpPr txBox="1"/>
            <p:nvPr/>
          </p:nvSpPr>
          <p:spPr>
            <a:xfrm>
              <a:off x="4983572" y="2089973"/>
              <a:ext cx="3753162" cy="1141352"/>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Rapid qualitative evaluation if there are any technical roadblocks that would hinder localization of the product (e.g., availability of critical raw material, </a:t>
              </a:r>
              <a:r>
                <a:rPr lang="en-US" sz="1200" kern="0">
                  <a:solidFill>
                    <a:srgbClr val="000000"/>
                  </a:solidFill>
                  <a:latin typeface="Fund Light" pitchFamily="2" charset="-78"/>
                  <a:cs typeface="Fund Light" pitchFamily="2" charset="-78"/>
                  <a:sym typeface="Arial"/>
                </a:rPr>
                <a:t>access</a:t>
              </a:r>
              <a:r>
                <a:rPr kumimoji="0" lang="en-US"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 to specialized workforce capabilities)</a:t>
              </a:r>
              <a:endParaRPr kumimoji="0" lang="en-GB"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endParaRPr>
            </a:p>
          </p:txBody>
        </p:sp>
        <p:cxnSp>
          <p:nvCxnSpPr>
            <p:cNvPr id="86" name="Straight Connector 85">
              <a:extLst>
                <a:ext uri="{FF2B5EF4-FFF2-40B4-BE49-F238E27FC236}">
                  <a16:creationId xmlns:a16="http://schemas.microsoft.com/office/drawing/2014/main" id="{E175A90B-F3E4-438E-A8E6-78BE8D8EC967}"/>
                </a:ext>
              </a:extLst>
            </p:cNvPr>
            <p:cNvCxnSpPr/>
            <p:nvPr/>
          </p:nvCxnSpPr>
          <p:spPr>
            <a:xfrm>
              <a:off x="4983571" y="3411683"/>
              <a:ext cx="3833054" cy="0"/>
            </a:xfrm>
            <a:prstGeom prst="line">
              <a:avLst/>
            </a:prstGeom>
            <a:noFill/>
            <a:ln w="19050" cap="rnd" cmpd="sng" algn="ctr">
              <a:solidFill>
                <a:schemeClr val="bg1">
                  <a:lumMod val="50000"/>
                </a:schemeClr>
              </a:solidFill>
              <a:prstDash val="sysDot"/>
            </a:ln>
            <a:effectLst/>
          </p:spPr>
        </p:cxnSp>
        <p:sp>
          <p:nvSpPr>
            <p:cNvPr id="87" name="TextBox 86">
              <a:extLst>
                <a:ext uri="{FF2B5EF4-FFF2-40B4-BE49-F238E27FC236}">
                  <a16:creationId xmlns:a16="http://schemas.microsoft.com/office/drawing/2014/main" id="{8657F3AC-382E-46E8-BCFE-FE43A9DC5AA6}"/>
                </a:ext>
              </a:extLst>
            </p:cNvPr>
            <p:cNvSpPr txBox="1"/>
            <p:nvPr/>
          </p:nvSpPr>
          <p:spPr>
            <a:xfrm>
              <a:off x="4983571" y="3592043"/>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lang="en-GB" sz="1200" kern="0">
                  <a:solidFill>
                    <a:srgbClr val="000000"/>
                  </a:solidFill>
                  <a:latin typeface="Fund Light" pitchFamily="2" charset="-78"/>
                  <a:cs typeface="Fund Light" pitchFamily="2" charset="-78"/>
                  <a:sym typeface="Arial"/>
                </a:rPr>
                <a:t>High-level evaluation of the investor risk based </a:t>
              </a:r>
              <a:br>
                <a:rPr lang="en-GB" sz="1200" kern="0">
                  <a:solidFill>
                    <a:srgbClr val="000000"/>
                  </a:solidFill>
                  <a:latin typeface="Fund Light" pitchFamily="2" charset="-78"/>
                  <a:cs typeface="Fund Light" pitchFamily="2" charset="-78"/>
                  <a:sym typeface="Arial"/>
                </a:rPr>
              </a:br>
              <a:r>
                <a:rPr lang="en-GB" sz="1200" kern="0">
                  <a:solidFill>
                    <a:srgbClr val="000000"/>
                  </a:solidFill>
                  <a:latin typeface="Fund Light" pitchFamily="2" charset="-78"/>
                  <a:cs typeface="Fund Light" pitchFamily="2" charset="-78"/>
                  <a:sym typeface="Arial"/>
                </a:rPr>
                <a:t>on the KSA demand concentration and KSA supply concentration (in line with market requirements)</a:t>
              </a:r>
              <a:endParaRPr kumimoji="0" lang="en-GB"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endParaRPr>
            </a:p>
          </p:txBody>
        </p:sp>
      </p:grpSp>
      <p:cxnSp>
        <p:nvCxnSpPr>
          <p:cNvPr id="71" name="Straight Connector 70">
            <a:extLst>
              <a:ext uri="{FF2B5EF4-FFF2-40B4-BE49-F238E27FC236}">
                <a16:creationId xmlns:a16="http://schemas.microsoft.com/office/drawing/2014/main" id="{ED825565-4166-41A4-BCB1-6198F8BB9EB4}"/>
              </a:ext>
            </a:extLst>
          </p:cNvPr>
          <p:cNvCxnSpPr>
            <a:cxnSpLocks/>
          </p:cNvCxnSpPr>
          <p:nvPr/>
        </p:nvCxnSpPr>
        <p:spPr>
          <a:xfrm>
            <a:off x="4066674" y="1634476"/>
            <a:ext cx="788966" cy="0"/>
          </a:xfrm>
          <a:prstGeom prst="line">
            <a:avLst/>
          </a:prstGeom>
          <a:noFill/>
          <a:ln w="19050" cap="rnd" cmpd="sng" algn="ctr">
            <a:solidFill>
              <a:schemeClr val="bg2"/>
            </a:solidFill>
            <a:prstDash val="sysDot"/>
            <a:tailEnd type="oval"/>
          </a:ln>
          <a:effectLst/>
        </p:spPr>
      </p:cxnSp>
      <p:cxnSp>
        <p:nvCxnSpPr>
          <p:cNvPr id="72" name="Straight Connector 71">
            <a:extLst>
              <a:ext uri="{FF2B5EF4-FFF2-40B4-BE49-F238E27FC236}">
                <a16:creationId xmlns:a16="http://schemas.microsoft.com/office/drawing/2014/main" id="{CAB9E218-D75F-46FB-9A6D-18766148D948}"/>
              </a:ext>
            </a:extLst>
          </p:cNvPr>
          <p:cNvCxnSpPr>
            <a:cxnSpLocks/>
          </p:cNvCxnSpPr>
          <p:nvPr/>
        </p:nvCxnSpPr>
        <p:spPr>
          <a:xfrm>
            <a:off x="3681663" y="2848815"/>
            <a:ext cx="1173979" cy="0"/>
          </a:xfrm>
          <a:prstGeom prst="line">
            <a:avLst/>
          </a:prstGeom>
          <a:noFill/>
          <a:ln w="19050" cap="rnd" cmpd="sng" algn="ctr">
            <a:solidFill>
              <a:schemeClr val="bg2"/>
            </a:solidFill>
            <a:prstDash val="sysDot"/>
            <a:tailEnd type="oval"/>
          </a:ln>
          <a:effectLst/>
        </p:spPr>
      </p:cxnSp>
      <p:cxnSp>
        <p:nvCxnSpPr>
          <p:cNvPr id="73" name="Straight Connector 72">
            <a:extLst>
              <a:ext uri="{FF2B5EF4-FFF2-40B4-BE49-F238E27FC236}">
                <a16:creationId xmlns:a16="http://schemas.microsoft.com/office/drawing/2014/main" id="{95F25E70-B9CB-402A-AA3F-DDA6B3D1F1D0}"/>
              </a:ext>
            </a:extLst>
          </p:cNvPr>
          <p:cNvCxnSpPr>
            <a:cxnSpLocks/>
          </p:cNvCxnSpPr>
          <p:nvPr/>
        </p:nvCxnSpPr>
        <p:spPr>
          <a:xfrm>
            <a:off x="3328737" y="4025565"/>
            <a:ext cx="1526904" cy="0"/>
          </a:xfrm>
          <a:prstGeom prst="line">
            <a:avLst/>
          </a:prstGeom>
          <a:noFill/>
          <a:ln w="19050" cap="rnd" cmpd="sng" algn="ctr">
            <a:solidFill>
              <a:schemeClr val="bg2"/>
            </a:solidFill>
            <a:prstDash val="sysDot"/>
            <a:tailEnd type="oval"/>
          </a:ln>
          <a:effectLst/>
        </p:spPr>
      </p:cxnSp>
      <p:grpSp>
        <p:nvGrpSpPr>
          <p:cNvPr id="13" name="Group 12">
            <a:extLst>
              <a:ext uri="{FF2B5EF4-FFF2-40B4-BE49-F238E27FC236}">
                <a16:creationId xmlns:a16="http://schemas.microsoft.com/office/drawing/2014/main" id="{E8A9CB09-35FE-46F7-B6D4-5D28E8631367}"/>
              </a:ext>
            </a:extLst>
          </p:cNvPr>
          <p:cNvGrpSpPr/>
          <p:nvPr/>
        </p:nvGrpSpPr>
        <p:grpSpPr>
          <a:xfrm>
            <a:off x="344486" y="1129633"/>
            <a:ext cx="3895227" cy="3543300"/>
            <a:chOff x="344486" y="889000"/>
            <a:chExt cx="3895227" cy="3543300"/>
          </a:xfrm>
        </p:grpSpPr>
        <p:grpSp>
          <p:nvGrpSpPr>
            <p:cNvPr id="10" name="Group 9">
              <a:extLst>
                <a:ext uri="{FF2B5EF4-FFF2-40B4-BE49-F238E27FC236}">
                  <a16:creationId xmlns:a16="http://schemas.microsoft.com/office/drawing/2014/main" id="{77D2B9DD-BA2A-4B89-8DCF-FF9A5D258F67}"/>
                </a:ext>
              </a:extLst>
            </p:cNvPr>
            <p:cNvGrpSpPr/>
            <p:nvPr/>
          </p:nvGrpSpPr>
          <p:grpSpPr>
            <a:xfrm>
              <a:off x="344486" y="889000"/>
              <a:ext cx="3895227" cy="947525"/>
              <a:chOff x="344486" y="889000"/>
              <a:chExt cx="3895227" cy="947525"/>
            </a:xfrm>
          </p:grpSpPr>
          <p:sp>
            <p:nvSpPr>
              <p:cNvPr id="69" name="Freeform: Shape 68">
                <a:extLst>
                  <a:ext uri="{FF2B5EF4-FFF2-40B4-BE49-F238E27FC236}">
                    <a16:creationId xmlns:a16="http://schemas.microsoft.com/office/drawing/2014/main" id="{34B9A733-56CD-4402-A38F-115929B72447}"/>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Should the product be localized? </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70" name="Oval 15">
                <a:extLst>
                  <a:ext uri="{FF2B5EF4-FFF2-40B4-BE49-F238E27FC236}">
                    <a16:creationId xmlns:a16="http://schemas.microsoft.com/office/drawing/2014/main" id="{3F14D9B5-4A45-464F-B96A-5F28CA44E0A0}"/>
                  </a:ext>
                </a:extLst>
              </p:cNvPr>
              <p:cNvSpPr>
                <a:spLocks noChangeArrowheads="1"/>
              </p:cNvSpPr>
              <p:nvPr/>
            </p:nvSpPr>
            <p:spPr bwMode="auto">
              <a:xfrm>
                <a:off x="413863" y="889000"/>
                <a:ext cx="3825850" cy="246165"/>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4" name="Oval 73">
                <a:extLst>
                  <a:ext uri="{FF2B5EF4-FFF2-40B4-BE49-F238E27FC236}">
                    <a16:creationId xmlns:a16="http://schemas.microsoft.com/office/drawing/2014/main" id="{431EFD5E-1D81-4483-AC78-C3A935DF0BEB}"/>
                  </a:ext>
                </a:extLst>
              </p:cNvPr>
              <p:cNvSpPr/>
              <p:nvPr/>
            </p:nvSpPr>
            <p:spPr>
              <a:xfrm>
                <a:off x="344486" y="126763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1</a:t>
                </a:r>
              </a:p>
            </p:txBody>
          </p:sp>
        </p:grpSp>
        <p:grpSp>
          <p:nvGrpSpPr>
            <p:cNvPr id="11" name="Group 10">
              <a:extLst>
                <a:ext uri="{FF2B5EF4-FFF2-40B4-BE49-F238E27FC236}">
                  <a16:creationId xmlns:a16="http://schemas.microsoft.com/office/drawing/2014/main" id="{92E37CEC-9489-42E3-8C24-C101D6E995C0}"/>
                </a:ext>
              </a:extLst>
            </p:cNvPr>
            <p:cNvGrpSpPr/>
            <p:nvPr/>
          </p:nvGrpSpPr>
          <p:grpSpPr>
            <a:xfrm>
              <a:off x="753383" y="2148747"/>
              <a:ext cx="3076208" cy="983417"/>
              <a:chOff x="753383" y="2169335"/>
              <a:chExt cx="3076208" cy="983417"/>
            </a:xfrm>
          </p:grpSpPr>
          <p:sp>
            <p:nvSpPr>
              <p:cNvPr id="64" name="Freeform: Shape 63">
                <a:extLst>
                  <a:ext uri="{FF2B5EF4-FFF2-40B4-BE49-F238E27FC236}">
                    <a16:creationId xmlns:a16="http://schemas.microsoft.com/office/drawing/2014/main" id="{593DBAD3-E655-487E-B6DD-D731F279A69C}"/>
                  </a:ext>
                </a:extLst>
              </p:cNvPr>
              <p:cNvSpPr/>
              <p:nvPr/>
            </p:nvSpPr>
            <p:spPr bwMode="auto">
              <a:xfrm>
                <a:off x="826430" y="2330372"/>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localization of the product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technically feasible?</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65" name="Oval 12">
                <a:extLst>
                  <a:ext uri="{FF2B5EF4-FFF2-40B4-BE49-F238E27FC236}">
                    <a16:creationId xmlns:a16="http://schemas.microsoft.com/office/drawing/2014/main" id="{E114306D-93D4-4693-A630-F111F28ADAEA}"/>
                  </a:ext>
                </a:extLst>
              </p:cNvPr>
              <p:cNvSpPr>
                <a:spLocks noChangeArrowheads="1"/>
              </p:cNvSpPr>
              <p:nvPr/>
            </p:nvSpPr>
            <p:spPr bwMode="auto">
              <a:xfrm>
                <a:off x="826430" y="2205228"/>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5" name="Oval 74">
                <a:extLst>
                  <a:ext uri="{FF2B5EF4-FFF2-40B4-BE49-F238E27FC236}">
                    <a16:creationId xmlns:a16="http://schemas.microsoft.com/office/drawing/2014/main" id="{22BBBD60-F60F-4097-B07F-D33E05B8CC21}"/>
                  </a:ext>
                </a:extLst>
              </p:cNvPr>
              <p:cNvSpPr/>
              <p:nvPr/>
            </p:nvSpPr>
            <p:spPr>
              <a:xfrm>
                <a:off x="753383" y="258592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2</a:t>
                </a:r>
              </a:p>
            </p:txBody>
          </p:sp>
          <p:sp>
            <p:nvSpPr>
              <p:cNvPr id="88" name="Oval 19" descr="Outlined diamond">
                <a:extLst>
                  <a:ext uri="{FF2B5EF4-FFF2-40B4-BE49-F238E27FC236}">
                    <a16:creationId xmlns:a16="http://schemas.microsoft.com/office/drawing/2014/main" id="{6FB5DD80-F8BE-4C63-9786-715DA9F4A45F}"/>
                  </a:ext>
                </a:extLst>
              </p:cNvPr>
              <p:cNvSpPr>
                <a:spLocks noChangeArrowheads="1"/>
              </p:cNvSpPr>
              <p:nvPr>
                <p:custDataLst>
                  <p:tags r:id="rId3"/>
                </p:custDataLst>
              </p:nvPr>
            </p:nvSpPr>
            <p:spPr bwMode="gray">
              <a:xfrm rot="5400000">
                <a:off x="2189656" y="806108"/>
                <a:ext cx="276708" cy="3003162"/>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sp>
          <p:nvSpPr>
            <p:cNvPr id="89" name="Arrow: Down 88">
              <a:extLst>
                <a:ext uri="{FF2B5EF4-FFF2-40B4-BE49-F238E27FC236}">
                  <a16:creationId xmlns:a16="http://schemas.microsoft.com/office/drawing/2014/main" id="{383C165D-16B6-4CF0-B955-41064D7CDC70}"/>
                </a:ext>
              </a:extLst>
            </p:cNvPr>
            <p:cNvSpPr/>
            <p:nvPr/>
          </p:nvSpPr>
          <p:spPr>
            <a:xfrm>
              <a:off x="2135011" y="1873817"/>
              <a:ext cx="383555" cy="237638"/>
            </a:xfrm>
            <a:prstGeom prst="downArrow">
              <a:avLst>
                <a:gd name="adj1" fmla="val 47705"/>
                <a:gd name="adj2" fmla="val 378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grpSp>
          <p:nvGrpSpPr>
            <p:cNvPr id="12" name="Group 11">
              <a:extLst>
                <a:ext uri="{FF2B5EF4-FFF2-40B4-BE49-F238E27FC236}">
                  <a16:creationId xmlns:a16="http://schemas.microsoft.com/office/drawing/2014/main" id="{BF74A792-81A0-4216-98BB-68CD1DB03CF1}"/>
                </a:ext>
              </a:extLst>
            </p:cNvPr>
            <p:cNvGrpSpPr/>
            <p:nvPr/>
          </p:nvGrpSpPr>
          <p:grpSpPr>
            <a:xfrm>
              <a:off x="1148520" y="3444385"/>
              <a:ext cx="2264691" cy="987915"/>
              <a:chOff x="1148520" y="3444385"/>
              <a:chExt cx="2264691" cy="987915"/>
            </a:xfrm>
          </p:grpSpPr>
          <p:sp>
            <p:nvSpPr>
              <p:cNvPr id="56" name="Freeform: Shape 55">
                <a:extLst>
                  <a:ext uri="{FF2B5EF4-FFF2-40B4-BE49-F238E27FC236}">
                    <a16:creationId xmlns:a16="http://schemas.microsoft.com/office/drawing/2014/main" id="{2C5D3C26-7A18-4F54-AC55-A12478520416}"/>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demand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commitment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required?</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63" name="Oval 9">
                <a:extLst>
                  <a:ext uri="{FF2B5EF4-FFF2-40B4-BE49-F238E27FC236}">
                    <a16:creationId xmlns:a16="http://schemas.microsoft.com/office/drawing/2014/main" id="{A2388D11-C0E0-4BE0-8BD2-0707C067A0D5}"/>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82" name="Oval 81">
                <a:extLst>
                  <a:ext uri="{FF2B5EF4-FFF2-40B4-BE49-F238E27FC236}">
                    <a16:creationId xmlns:a16="http://schemas.microsoft.com/office/drawing/2014/main" id="{9A1A3752-78E5-42B2-BEA5-5F41ADB5E1B1}"/>
                  </a:ext>
                </a:extLst>
              </p:cNvPr>
              <p:cNvSpPr/>
              <p:nvPr/>
            </p:nvSpPr>
            <p:spPr>
              <a:xfrm>
                <a:off x="1148520" y="3863409"/>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3</a:t>
                </a:r>
              </a:p>
            </p:txBody>
          </p:sp>
          <p:sp>
            <p:nvSpPr>
              <p:cNvPr id="90" name="Oval 19" descr="Outlined diamond">
                <a:extLst>
                  <a:ext uri="{FF2B5EF4-FFF2-40B4-BE49-F238E27FC236}">
                    <a16:creationId xmlns:a16="http://schemas.microsoft.com/office/drawing/2014/main" id="{45630DBB-6667-4CDA-8BD3-D90DC3969B08}"/>
                  </a:ext>
                </a:extLst>
              </p:cNvPr>
              <p:cNvSpPr>
                <a:spLocks noChangeArrowheads="1"/>
              </p:cNvSpPr>
              <p:nvPr>
                <p:custDataLst>
                  <p:tags r:id="rId2"/>
                </p:custDataLst>
              </p:nvPr>
            </p:nvSpPr>
            <p:spPr bwMode="gray">
              <a:xfrm rot="5400000">
                <a:off x="2188435" y="2496318"/>
                <a:ext cx="276708" cy="2172841"/>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sp>
          <p:nvSpPr>
            <p:cNvPr id="91" name="Arrow: Down 90">
              <a:extLst>
                <a:ext uri="{FF2B5EF4-FFF2-40B4-BE49-F238E27FC236}">
                  <a16:creationId xmlns:a16="http://schemas.microsoft.com/office/drawing/2014/main" id="{F9BD6716-4EAE-459E-8FBE-A0B893A7D77E}"/>
                </a:ext>
              </a:extLst>
            </p:cNvPr>
            <p:cNvSpPr/>
            <p:nvPr/>
          </p:nvSpPr>
          <p:spPr>
            <a:xfrm>
              <a:off x="2135013" y="3174603"/>
              <a:ext cx="383555" cy="237638"/>
            </a:xfrm>
            <a:prstGeom prst="downArrow">
              <a:avLst>
                <a:gd name="adj1" fmla="val 47705"/>
                <a:gd name="adj2" fmla="val 378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92" name="Rectangle 91">
              <a:extLst>
                <a:ext uri="{FF2B5EF4-FFF2-40B4-BE49-F238E27FC236}">
                  <a16:creationId xmlns:a16="http://schemas.microsoft.com/office/drawing/2014/main" id="{0BE20D98-F2F8-4941-92B7-1A9F64BE66AB}"/>
                </a:ext>
              </a:extLst>
            </p:cNvPr>
            <p:cNvSpPr/>
            <p:nvPr/>
          </p:nvSpPr>
          <p:spPr>
            <a:xfrm>
              <a:off x="2529940" y="1878964"/>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chemeClr val="tx1"/>
                  </a:solidFill>
                  <a:latin typeface="Fund Light" pitchFamily="2" charset="-78"/>
                  <a:cs typeface="Fund Light" pitchFamily="2" charset="-78"/>
                </a:rPr>
                <a:t>Yes</a:t>
              </a:r>
            </a:p>
          </p:txBody>
        </p:sp>
        <p:sp>
          <p:nvSpPr>
            <p:cNvPr id="93" name="Rectangle 92">
              <a:extLst>
                <a:ext uri="{FF2B5EF4-FFF2-40B4-BE49-F238E27FC236}">
                  <a16:creationId xmlns:a16="http://schemas.microsoft.com/office/drawing/2014/main" id="{1579E948-70AB-4309-A9AB-0E52E829304F}"/>
                </a:ext>
              </a:extLst>
            </p:cNvPr>
            <p:cNvSpPr/>
            <p:nvPr/>
          </p:nvSpPr>
          <p:spPr>
            <a:xfrm>
              <a:off x="2529940" y="3174603"/>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chemeClr val="tx1"/>
                  </a:solidFill>
                  <a:latin typeface="Fund Light" pitchFamily="2" charset="-78"/>
                  <a:cs typeface="Fund Light" pitchFamily="2" charset="-78"/>
                </a:rPr>
                <a:t>Yes</a:t>
              </a:r>
            </a:p>
          </p:txBody>
        </p:sp>
      </p:grpSp>
      <p:sp>
        <p:nvSpPr>
          <p:cNvPr id="98" name="Rectangle 97">
            <a:extLst>
              <a:ext uri="{FF2B5EF4-FFF2-40B4-BE49-F238E27FC236}">
                <a16:creationId xmlns:a16="http://schemas.microsoft.com/office/drawing/2014/main" id="{64208975-E7EB-449B-A398-08EE91B36435}"/>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t>
            </a:r>
          </a:p>
        </p:txBody>
      </p:sp>
      <p:sp>
        <p:nvSpPr>
          <p:cNvPr id="2" name="TextBox 1">
            <a:extLst>
              <a:ext uri="{FF2B5EF4-FFF2-40B4-BE49-F238E27FC236}">
                <a16:creationId xmlns:a16="http://schemas.microsoft.com/office/drawing/2014/main" id="{9E6D507D-40E4-6100-5B9F-186956094B87}"/>
              </a:ext>
            </a:extLst>
          </p:cNvPr>
          <p:cNvSpPr txBox="1"/>
          <p:nvPr/>
        </p:nvSpPr>
        <p:spPr>
          <a:xfrm>
            <a:off x="407267" y="604558"/>
            <a:ext cx="8409358" cy="355774"/>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In order to select a product, three questions need to answered. Each question is a screening criterion – only those products that pass the criterion for question 1 should be evaluated for question 2, and so on</a:t>
            </a:r>
          </a:p>
        </p:txBody>
      </p:sp>
      <p:sp>
        <p:nvSpPr>
          <p:cNvPr id="3" name="Text Placeholder 6">
            <a:extLst>
              <a:ext uri="{FF2B5EF4-FFF2-40B4-BE49-F238E27FC236}">
                <a16:creationId xmlns:a16="http://schemas.microsoft.com/office/drawing/2014/main" id="{96B506ED-330A-3B05-A338-AF50B57CC3D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Product Selection</a:t>
            </a:r>
          </a:p>
        </p:txBody>
      </p:sp>
    </p:spTree>
    <p:extLst>
      <p:ext uri="{BB962C8B-B14F-4D97-AF65-F5344CB8AC3E}">
        <p14:creationId xmlns:p14="http://schemas.microsoft.com/office/powerpoint/2010/main" val="3255808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174325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LDC product selection – screening criteria</a:t>
            </a:r>
          </a:p>
        </p:txBody>
      </p:sp>
      <p:grpSp>
        <p:nvGrpSpPr>
          <p:cNvPr id="8" name="Group 7">
            <a:extLst>
              <a:ext uri="{FF2B5EF4-FFF2-40B4-BE49-F238E27FC236}">
                <a16:creationId xmlns:a16="http://schemas.microsoft.com/office/drawing/2014/main" id="{176B77CA-7320-4607-B391-8D6D3AD213D7}"/>
              </a:ext>
            </a:extLst>
          </p:cNvPr>
          <p:cNvGrpSpPr/>
          <p:nvPr/>
        </p:nvGrpSpPr>
        <p:grpSpPr>
          <a:xfrm>
            <a:off x="4983571" y="902624"/>
            <a:ext cx="3833054" cy="3516052"/>
            <a:chOff x="4983571" y="902624"/>
            <a:chExt cx="3833054" cy="3516052"/>
          </a:xfrm>
        </p:grpSpPr>
        <p:sp>
          <p:nvSpPr>
            <p:cNvPr id="83" name="TextBox 82">
              <a:extLst>
                <a:ext uri="{FF2B5EF4-FFF2-40B4-BE49-F238E27FC236}">
                  <a16:creationId xmlns:a16="http://schemas.microsoft.com/office/drawing/2014/main" id="{AF19ABB8-F438-4A74-BDBF-D1A343B3B37B}"/>
                </a:ext>
              </a:extLst>
            </p:cNvPr>
            <p:cNvSpPr txBox="1"/>
            <p:nvPr/>
          </p:nvSpPr>
          <p:spPr>
            <a:xfrm>
              <a:off x="4983571" y="902624"/>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a:ln>
                    <a:noFill/>
                  </a:ln>
                  <a:effectLst/>
                  <a:uLnTx/>
                  <a:uFillTx/>
                  <a:latin typeface="Fund Light" pitchFamily="2" charset="-78"/>
                  <a:cs typeface="Fund Light" pitchFamily="2" charset="-78"/>
                  <a:sym typeface="Arial"/>
                </a:rPr>
                <a:t>Criticality of the product for localization in terms of spend size and the overall level of procurement from foreign over local suppliers</a:t>
              </a:r>
            </a:p>
          </p:txBody>
        </p:sp>
        <p:cxnSp>
          <p:nvCxnSpPr>
            <p:cNvPr id="84" name="Straight Connector 83">
              <a:extLst>
                <a:ext uri="{FF2B5EF4-FFF2-40B4-BE49-F238E27FC236}">
                  <a16:creationId xmlns:a16="http://schemas.microsoft.com/office/drawing/2014/main" id="{C4448F27-5FEB-40B5-8E74-0C204B2E8F13}"/>
                </a:ext>
              </a:extLst>
            </p:cNvPr>
            <p:cNvCxnSpPr/>
            <p:nvPr/>
          </p:nvCxnSpPr>
          <p:spPr>
            <a:xfrm>
              <a:off x="4983571" y="1909615"/>
              <a:ext cx="3833054" cy="0"/>
            </a:xfrm>
            <a:prstGeom prst="line">
              <a:avLst/>
            </a:prstGeom>
            <a:noFill/>
            <a:ln w="19050" cap="rnd" cmpd="sng" algn="ctr">
              <a:solidFill>
                <a:schemeClr val="bg1">
                  <a:lumMod val="50000"/>
                </a:schemeClr>
              </a:solidFill>
              <a:prstDash val="sysDot"/>
            </a:ln>
            <a:effectLst/>
          </p:spPr>
        </p:cxnSp>
        <p:sp>
          <p:nvSpPr>
            <p:cNvPr id="85" name="TextBox 84">
              <a:extLst>
                <a:ext uri="{FF2B5EF4-FFF2-40B4-BE49-F238E27FC236}">
                  <a16:creationId xmlns:a16="http://schemas.microsoft.com/office/drawing/2014/main" id="{15B7EF42-ECDC-406C-97ED-C462968B4335}"/>
                </a:ext>
              </a:extLst>
            </p:cNvPr>
            <p:cNvSpPr txBox="1"/>
            <p:nvPr/>
          </p:nvSpPr>
          <p:spPr>
            <a:xfrm>
              <a:off x="4983572" y="2089973"/>
              <a:ext cx="3753162" cy="1141352"/>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a:ln>
                    <a:noFill/>
                  </a:ln>
                  <a:solidFill>
                    <a:schemeClr val="bg1">
                      <a:lumMod val="85000"/>
                    </a:schemeClr>
                  </a:solidFill>
                  <a:effectLst/>
                  <a:uLnTx/>
                  <a:uFillTx/>
                  <a:latin typeface="Fund Light" pitchFamily="2" charset="-78"/>
                  <a:cs typeface="Fund Light" pitchFamily="2" charset="-78"/>
                  <a:sym typeface="Arial"/>
                </a:rPr>
                <a:t>Rapid qualitative evaluation if there are any technical roadblocks that would hinder localization of the product (E.g., availability of critical raw material, access to labor)</a:t>
              </a:r>
              <a:endParaRPr kumimoji="0" lang="en-GB" sz="1200" b="0" i="0" u="none" strike="noStrike" kern="0" cap="none" spc="0" normalizeH="0" baseline="0" noProof="0">
                <a:ln>
                  <a:noFill/>
                </a:ln>
                <a:solidFill>
                  <a:schemeClr val="bg1">
                    <a:lumMod val="85000"/>
                  </a:schemeClr>
                </a:solidFill>
                <a:effectLst/>
                <a:uLnTx/>
                <a:uFillTx/>
                <a:latin typeface="Fund Light" pitchFamily="2" charset="-78"/>
                <a:cs typeface="Fund Light" pitchFamily="2" charset="-78"/>
                <a:sym typeface="Arial"/>
              </a:endParaRPr>
            </a:p>
          </p:txBody>
        </p:sp>
        <p:cxnSp>
          <p:nvCxnSpPr>
            <p:cNvPr id="86" name="Straight Connector 85">
              <a:extLst>
                <a:ext uri="{FF2B5EF4-FFF2-40B4-BE49-F238E27FC236}">
                  <a16:creationId xmlns:a16="http://schemas.microsoft.com/office/drawing/2014/main" id="{E175A90B-F3E4-438E-A8E6-78BE8D8EC967}"/>
                </a:ext>
              </a:extLst>
            </p:cNvPr>
            <p:cNvCxnSpPr/>
            <p:nvPr/>
          </p:nvCxnSpPr>
          <p:spPr>
            <a:xfrm>
              <a:off x="4983571" y="3411683"/>
              <a:ext cx="3833054" cy="0"/>
            </a:xfrm>
            <a:prstGeom prst="line">
              <a:avLst/>
            </a:prstGeom>
            <a:noFill/>
            <a:ln w="19050" cap="rnd" cmpd="sng" algn="ctr">
              <a:solidFill>
                <a:schemeClr val="bg1">
                  <a:lumMod val="50000"/>
                </a:schemeClr>
              </a:solidFill>
              <a:prstDash val="sysDot"/>
            </a:ln>
            <a:effectLst/>
          </p:spPr>
        </p:cxnSp>
        <p:sp>
          <p:nvSpPr>
            <p:cNvPr id="87" name="TextBox 86">
              <a:extLst>
                <a:ext uri="{FF2B5EF4-FFF2-40B4-BE49-F238E27FC236}">
                  <a16:creationId xmlns:a16="http://schemas.microsoft.com/office/drawing/2014/main" id="{8657F3AC-382E-46E8-BCFE-FE43A9DC5AA6}"/>
                </a:ext>
              </a:extLst>
            </p:cNvPr>
            <p:cNvSpPr txBox="1"/>
            <p:nvPr/>
          </p:nvSpPr>
          <p:spPr>
            <a:xfrm>
              <a:off x="4983571" y="3592043"/>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lang="en-GB" sz="1200" kern="0">
                  <a:solidFill>
                    <a:schemeClr val="bg1">
                      <a:lumMod val="85000"/>
                    </a:schemeClr>
                  </a:solidFill>
                  <a:latin typeface="Fund Light" pitchFamily="2" charset="-78"/>
                  <a:cs typeface="Fund Light" pitchFamily="2" charset="-78"/>
                  <a:sym typeface="Arial"/>
                </a:rPr>
                <a:t>High-level evaluation of the investor risk based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on the demand concentration and availability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of existing supply capacity (in line with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market requirements)</a:t>
              </a:r>
              <a:endParaRPr kumimoji="0" lang="en-GB" sz="1200" b="0" i="0" u="none" strike="noStrike" kern="0" cap="none" spc="0" normalizeH="0" baseline="0" noProof="0">
                <a:ln>
                  <a:noFill/>
                </a:ln>
                <a:solidFill>
                  <a:schemeClr val="bg1">
                    <a:lumMod val="85000"/>
                  </a:schemeClr>
                </a:solidFill>
                <a:effectLst/>
                <a:uLnTx/>
                <a:uFillTx/>
                <a:latin typeface="Fund Light" pitchFamily="2" charset="-78"/>
                <a:cs typeface="Fund Light" pitchFamily="2" charset="-78"/>
                <a:sym typeface="Arial"/>
              </a:endParaRPr>
            </a:p>
          </p:txBody>
        </p:sp>
      </p:grpSp>
      <p:cxnSp>
        <p:nvCxnSpPr>
          <p:cNvPr id="71" name="Straight Connector 70">
            <a:extLst>
              <a:ext uri="{FF2B5EF4-FFF2-40B4-BE49-F238E27FC236}">
                <a16:creationId xmlns:a16="http://schemas.microsoft.com/office/drawing/2014/main" id="{ED825565-4166-41A4-BCB1-6198F8BB9EB4}"/>
              </a:ext>
            </a:extLst>
          </p:cNvPr>
          <p:cNvCxnSpPr>
            <a:cxnSpLocks/>
          </p:cNvCxnSpPr>
          <p:nvPr/>
        </p:nvCxnSpPr>
        <p:spPr>
          <a:xfrm>
            <a:off x="4066674" y="1393843"/>
            <a:ext cx="788966" cy="0"/>
          </a:xfrm>
          <a:prstGeom prst="line">
            <a:avLst/>
          </a:prstGeom>
          <a:noFill/>
          <a:ln w="19050" cap="rnd" cmpd="sng" algn="ctr">
            <a:solidFill>
              <a:schemeClr val="bg2"/>
            </a:solidFill>
            <a:prstDash val="sysDot"/>
            <a:tailEnd type="oval"/>
          </a:ln>
          <a:effectLst/>
        </p:spPr>
      </p:cxnSp>
      <p:cxnSp>
        <p:nvCxnSpPr>
          <p:cNvPr id="72" name="Straight Connector 71">
            <a:extLst>
              <a:ext uri="{FF2B5EF4-FFF2-40B4-BE49-F238E27FC236}">
                <a16:creationId xmlns:a16="http://schemas.microsoft.com/office/drawing/2014/main" id="{CAB9E218-D75F-46FB-9A6D-18766148D948}"/>
              </a:ext>
            </a:extLst>
          </p:cNvPr>
          <p:cNvCxnSpPr>
            <a:cxnSpLocks/>
          </p:cNvCxnSpPr>
          <p:nvPr/>
        </p:nvCxnSpPr>
        <p:spPr>
          <a:xfrm>
            <a:off x="3681663" y="2608182"/>
            <a:ext cx="1173979" cy="0"/>
          </a:xfrm>
          <a:prstGeom prst="line">
            <a:avLst/>
          </a:prstGeom>
          <a:noFill/>
          <a:ln w="19050" cap="rnd" cmpd="sng" algn="ctr">
            <a:solidFill>
              <a:schemeClr val="bg2"/>
            </a:solidFill>
            <a:prstDash val="sysDot"/>
            <a:tailEnd type="oval"/>
          </a:ln>
          <a:effectLst/>
        </p:spPr>
      </p:cxnSp>
      <p:cxnSp>
        <p:nvCxnSpPr>
          <p:cNvPr id="73" name="Straight Connector 72">
            <a:extLst>
              <a:ext uri="{FF2B5EF4-FFF2-40B4-BE49-F238E27FC236}">
                <a16:creationId xmlns:a16="http://schemas.microsoft.com/office/drawing/2014/main" id="{95F25E70-B9CB-402A-AA3F-DDA6B3D1F1D0}"/>
              </a:ext>
            </a:extLst>
          </p:cNvPr>
          <p:cNvCxnSpPr>
            <a:cxnSpLocks/>
          </p:cNvCxnSpPr>
          <p:nvPr/>
        </p:nvCxnSpPr>
        <p:spPr>
          <a:xfrm>
            <a:off x="3328737" y="3784932"/>
            <a:ext cx="1526904" cy="0"/>
          </a:xfrm>
          <a:prstGeom prst="line">
            <a:avLst/>
          </a:prstGeom>
          <a:noFill/>
          <a:ln w="19050" cap="rnd" cmpd="sng" algn="ctr">
            <a:solidFill>
              <a:schemeClr val="bg2"/>
            </a:solidFill>
            <a:prstDash val="sysDot"/>
            <a:tailEnd type="oval"/>
          </a:ln>
          <a:effectLst/>
        </p:spPr>
      </p:cxnSp>
      <p:grpSp>
        <p:nvGrpSpPr>
          <p:cNvPr id="10" name="Group 9">
            <a:extLst>
              <a:ext uri="{FF2B5EF4-FFF2-40B4-BE49-F238E27FC236}">
                <a16:creationId xmlns:a16="http://schemas.microsoft.com/office/drawing/2014/main" id="{77D2B9DD-BA2A-4B89-8DCF-FF9A5D258F67}"/>
              </a:ext>
            </a:extLst>
          </p:cNvPr>
          <p:cNvGrpSpPr/>
          <p:nvPr/>
        </p:nvGrpSpPr>
        <p:grpSpPr>
          <a:xfrm>
            <a:off x="344486" y="889000"/>
            <a:ext cx="3895227" cy="947525"/>
            <a:chOff x="344486" y="889000"/>
            <a:chExt cx="3895227" cy="947525"/>
          </a:xfrm>
        </p:grpSpPr>
        <p:sp>
          <p:nvSpPr>
            <p:cNvPr id="69" name="Freeform: Shape 68">
              <a:extLst>
                <a:ext uri="{FF2B5EF4-FFF2-40B4-BE49-F238E27FC236}">
                  <a16:creationId xmlns:a16="http://schemas.microsoft.com/office/drawing/2014/main" id="{34B9A733-56CD-4402-A38F-115929B72447}"/>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Should the product be localized? </a:t>
              </a:r>
              <a:endParaRPr kumimoji="0" lang="en-GB"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endParaRPr>
            </a:p>
          </p:txBody>
        </p:sp>
        <p:sp>
          <p:nvSpPr>
            <p:cNvPr id="70" name="Oval 15">
              <a:extLst>
                <a:ext uri="{FF2B5EF4-FFF2-40B4-BE49-F238E27FC236}">
                  <a16:creationId xmlns:a16="http://schemas.microsoft.com/office/drawing/2014/main" id="{3F14D9B5-4A45-464F-B96A-5F28CA44E0A0}"/>
                </a:ext>
              </a:extLst>
            </p:cNvPr>
            <p:cNvSpPr>
              <a:spLocks noChangeArrowheads="1"/>
            </p:cNvSpPr>
            <p:nvPr/>
          </p:nvSpPr>
          <p:spPr bwMode="auto">
            <a:xfrm>
              <a:off x="413863" y="889000"/>
              <a:ext cx="3825850" cy="246165"/>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4" name="Oval 73">
              <a:extLst>
                <a:ext uri="{FF2B5EF4-FFF2-40B4-BE49-F238E27FC236}">
                  <a16:creationId xmlns:a16="http://schemas.microsoft.com/office/drawing/2014/main" id="{431EFD5E-1D81-4483-AC78-C3A935DF0BEB}"/>
                </a:ext>
              </a:extLst>
            </p:cNvPr>
            <p:cNvSpPr/>
            <p:nvPr/>
          </p:nvSpPr>
          <p:spPr>
            <a:xfrm>
              <a:off x="344486" y="126763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1</a:t>
              </a:r>
            </a:p>
          </p:txBody>
        </p:sp>
      </p:grpSp>
      <p:sp>
        <p:nvSpPr>
          <p:cNvPr id="64" name="Freeform: Shape 63">
            <a:extLst>
              <a:ext uri="{FF2B5EF4-FFF2-40B4-BE49-F238E27FC236}">
                <a16:creationId xmlns:a16="http://schemas.microsoft.com/office/drawing/2014/main" id="{593DBAD3-E655-487E-B6DD-D731F279A69C}"/>
              </a:ext>
            </a:extLst>
          </p:cNvPr>
          <p:cNvSpPr/>
          <p:nvPr/>
        </p:nvSpPr>
        <p:spPr bwMode="auto">
          <a:xfrm>
            <a:off x="826430" y="2309784"/>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a:solidFill>
                  <a:srgbClr val="E7E7E7"/>
                </a:solidFill>
                <a:latin typeface="Fund Light" pitchFamily="2" charset="-78"/>
                <a:cs typeface="Fund Light" pitchFamily="2" charset="-78"/>
                <a:sym typeface="Arial"/>
              </a:rPr>
              <a:t>Is localization of the product </a:t>
            </a:r>
            <a:br>
              <a:rPr lang="en-US" sz="1000" kern="0">
                <a:solidFill>
                  <a:srgbClr val="E7E7E7"/>
                </a:solidFill>
                <a:latin typeface="Fund Light" pitchFamily="2" charset="-78"/>
                <a:cs typeface="Fund Light" pitchFamily="2" charset="-78"/>
                <a:sym typeface="Arial"/>
              </a:rPr>
            </a:br>
            <a:r>
              <a:rPr lang="en-US" sz="1000" kern="0">
                <a:solidFill>
                  <a:srgbClr val="E7E7E7"/>
                </a:solidFill>
                <a:latin typeface="Fund Light" pitchFamily="2" charset="-78"/>
                <a:cs typeface="Fund Light" pitchFamily="2" charset="-78"/>
                <a:sym typeface="Arial"/>
              </a:rPr>
              <a:t>technically feasible?</a:t>
            </a:r>
            <a:endParaRPr lang="en-GB" sz="1000" kern="0">
              <a:solidFill>
                <a:srgbClr val="E7E7E7"/>
              </a:solidFill>
              <a:latin typeface="Fund Light" pitchFamily="2" charset="-78"/>
              <a:cs typeface="Fund Light" pitchFamily="2" charset="-78"/>
              <a:sym typeface="Arial"/>
            </a:endParaRPr>
          </a:p>
        </p:txBody>
      </p:sp>
      <p:sp>
        <p:nvSpPr>
          <p:cNvPr id="65" name="Oval 12">
            <a:extLst>
              <a:ext uri="{FF2B5EF4-FFF2-40B4-BE49-F238E27FC236}">
                <a16:creationId xmlns:a16="http://schemas.microsoft.com/office/drawing/2014/main" id="{E114306D-93D4-4693-A630-F111F28ADAEA}"/>
              </a:ext>
            </a:extLst>
          </p:cNvPr>
          <p:cNvSpPr>
            <a:spLocks noChangeArrowheads="1"/>
          </p:cNvSpPr>
          <p:nvPr/>
        </p:nvSpPr>
        <p:spPr bwMode="auto">
          <a:xfrm>
            <a:off x="826430" y="2184640"/>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5" name="Oval 74">
            <a:extLst>
              <a:ext uri="{FF2B5EF4-FFF2-40B4-BE49-F238E27FC236}">
                <a16:creationId xmlns:a16="http://schemas.microsoft.com/office/drawing/2014/main" id="{22BBBD60-F60F-4097-B07F-D33E05B8CC21}"/>
              </a:ext>
            </a:extLst>
          </p:cNvPr>
          <p:cNvSpPr/>
          <p:nvPr/>
        </p:nvSpPr>
        <p:spPr>
          <a:xfrm>
            <a:off x="753383" y="2565336"/>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2</a:t>
            </a:r>
          </a:p>
        </p:txBody>
      </p:sp>
      <p:sp>
        <p:nvSpPr>
          <p:cNvPr id="88" name="Oval 19" descr="Outlined diamond">
            <a:extLst>
              <a:ext uri="{FF2B5EF4-FFF2-40B4-BE49-F238E27FC236}">
                <a16:creationId xmlns:a16="http://schemas.microsoft.com/office/drawing/2014/main" id="{6FB5DD80-F8BE-4C63-9786-715DA9F4A45F}"/>
              </a:ext>
            </a:extLst>
          </p:cNvPr>
          <p:cNvSpPr>
            <a:spLocks noChangeArrowheads="1"/>
          </p:cNvSpPr>
          <p:nvPr>
            <p:custDataLst>
              <p:tags r:id="rId2"/>
            </p:custDataLst>
          </p:nvPr>
        </p:nvSpPr>
        <p:spPr bwMode="gray">
          <a:xfrm rot="5400000">
            <a:off x="2189656" y="785520"/>
            <a:ext cx="276708" cy="3003162"/>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sp>
        <p:nvSpPr>
          <p:cNvPr id="89" name="Arrow: Down 88">
            <a:extLst>
              <a:ext uri="{FF2B5EF4-FFF2-40B4-BE49-F238E27FC236}">
                <a16:creationId xmlns:a16="http://schemas.microsoft.com/office/drawing/2014/main" id="{383C165D-16B6-4CF0-B955-41064D7CDC70}"/>
              </a:ext>
            </a:extLst>
          </p:cNvPr>
          <p:cNvSpPr/>
          <p:nvPr/>
        </p:nvSpPr>
        <p:spPr>
          <a:xfrm>
            <a:off x="2135011" y="1873817"/>
            <a:ext cx="383555" cy="237638"/>
          </a:xfrm>
          <a:prstGeom prst="downArrow">
            <a:avLst>
              <a:gd name="adj1" fmla="val 47705"/>
              <a:gd name="adj2" fmla="val 3782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56" name="Freeform: Shape 55">
            <a:extLst>
              <a:ext uri="{FF2B5EF4-FFF2-40B4-BE49-F238E27FC236}">
                <a16:creationId xmlns:a16="http://schemas.microsoft.com/office/drawing/2014/main" id="{2C5D3C26-7A18-4F54-AC55-A12478520416}"/>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Is demand </a:t>
            </a:r>
            <a:b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b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commitment </a:t>
            </a:r>
            <a:b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b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required?</a:t>
            </a:r>
            <a:endParaRPr kumimoji="0" lang="en-GB"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endParaRPr>
          </a:p>
        </p:txBody>
      </p:sp>
      <p:sp>
        <p:nvSpPr>
          <p:cNvPr id="63" name="Oval 9">
            <a:extLst>
              <a:ext uri="{FF2B5EF4-FFF2-40B4-BE49-F238E27FC236}">
                <a16:creationId xmlns:a16="http://schemas.microsoft.com/office/drawing/2014/main" id="{A2388D11-C0E0-4BE0-8BD2-0707C067A0D5}"/>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82" name="Oval 81">
            <a:extLst>
              <a:ext uri="{FF2B5EF4-FFF2-40B4-BE49-F238E27FC236}">
                <a16:creationId xmlns:a16="http://schemas.microsoft.com/office/drawing/2014/main" id="{9A1A3752-78E5-42B2-BEA5-5F41ADB5E1B1}"/>
              </a:ext>
            </a:extLst>
          </p:cNvPr>
          <p:cNvSpPr/>
          <p:nvPr/>
        </p:nvSpPr>
        <p:spPr>
          <a:xfrm>
            <a:off x="1148520" y="3863409"/>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3</a:t>
            </a:r>
          </a:p>
        </p:txBody>
      </p:sp>
      <p:sp>
        <p:nvSpPr>
          <p:cNvPr id="90" name="Oval 19" descr="Outlined diamond">
            <a:extLst>
              <a:ext uri="{FF2B5EF4-FFF2-40B4-BE49-F238E27FC236}">
                <a16:creationId xmlns:a16="http://schemas.microsoft.com/office/drawing/2014/main" id="{45630DBB-6667-4CDA-8BD3-D90DC3969B08}"/>
              </a:ext>
            </a:extLst>
          </p:cNvPr>
          <p:cNvSpPr>
            <a:spLocks noChangeArrowheads="1"/>
          </p:cNvSpPr>
          <p:nvPr>
            <p:custDataLst>
              <p:tags r:id="rId3"/>
            </p:custDataLst>
          </p:nvPr>
        </p:nvSpPr>
        <p:spPr bwMode="gray">
          <a:xfrm rot="5400000">
            <a:off x="2188435" y="2496318"/>
            <a:ext cx="276708" cy="2172841"/>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sp>
        <p:nvSpPr>
          <p:cNvPr id="91" name="Arrow: Down 90">
            <a:extLst>
              <a:ext uri="{FF2B5EF4-FFF2-40B4-BE49-F238E27FC236}">
                <a16:creationId xmlns:a16="http://schemas.microsoft.com/office/drawing/2014/main" id="{F9BD6716-4EAE-459E-8FBE-A0B893A7D77E}"/>
              </a:ext>
            </a:extLst>
          </p:cNvPr>
          <p:cNvSpPr/>
          <p:nvPr/>
        </p:nvSpPr>
        <p:spPr>
          <a:xfrm>
            <a:off x="2135013" y="3174603"/>
            <a:ext cx="383555" cy="237638"/>
          </a:xfrm>
          <a:prstGeom prst="downArrow">
            <a:avLst>
              <a:gd name="adj1" fmla="val 47705"/>
              <a:gd name="adj2" fmla="val 3782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92" name="Rectangle 91">
            <a:extLst>
              <a:ext uri="{FF2B5EF4-FFF2-40B4-BE49-F238E27FC236}">
                <a16:creationId xmlns:a16="http://schemas.microsoft.com/office/drawing/2014/main" id="{0BE20D98-F2F8-4941-92B7-1A9F64BE66AB}"/>
              </a:ext>
            </a:extLst>
          </p:cNvPr>
          <p:cNvSpPr/>
          <p:nvPr/>
        </p:nvSpPr>
        <p:spPr>
          <a:xfrm>
            <a:off x="2529940" y="1878964"/>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chemeClr val="tx1"/>
                </a:solidFill>
                <a:latin typeface="Fund Light" pitchFamily="2" charset="-78"/>
                <a:cs typeface="Fund Light" pitchFamily="2" charset="-78"/>
              </a:rPr>
              <a:t>Yes</a:t>
            </a:r>
          </a:p>
        </p:txBody>
      </p:sp>
      <p:sp>
        <p:nvSpPr>
          <p:cNvPr id="93" name="Rectangle 92">
            <a:extLst>
              <a:ext uri="{FF2B5EF4-FFF2-40B4-BE49-F238E27FC236}">
                <a16:creationId xmlns:a16="http://schemas.microsoft.com/office/drawing/2014/main" id="{1579E948-70AB-4309-A9AB-0E52E829304F}"/>
              </a:ext>
            </a:extLst>
          </p:cNvPr>
          <p:cNvSpPr/>
          <p:nvPr/>
        </p:nvSpPr>
        <p:spPr>
          <a:xfrm>
            <a:off x="2529940" y="3174603"/>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rgbClr val="E7E7E7"/>
                </a:solidFill>
                <a:latin typeface="Fund Light" pitchFamily="2" charset="-78"/>
                <a:cs typeface="Fund Light" pitchFamily="2" charset="-78"/>
              </a:rPr>
              <a:t>Yes</a:t>
            </a:r>
          </a:p>
        </p:txBody>
      </p:sp>
      <p:sp>
        <p:nvSpPr>
          <p:cNvPr id="98" name="Rectangle 97">
            <a:extLst>
              <a:ext uri="{FF2B5EF4-FFF2-40B4-BE49-F238E27FC236}">
                <a16:creationId xmlns:a16="http://schemas.microsoft.com/office/drawing/2014/main" id="{64208975-E7EB-449B-A398-08EE91B36435}"/>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t>
            </a:r>
          </a:p>
        </p:txBody>
      </p:sp>
      <p:sp>
        <p:nvSpPr>
          <p:cNvPr id="2" name="Text Placeholder 6">
            <a:extLst>
              <a:ext uri="{FF2B5EF4-FFF2-40B4-BE49-F238E27FC236}">
                <a16:creationId xmlns:a16="http://schemas.microsoft.com/office/drawing/2014/main" id="{846EBF5F-BF3A-851D-9C31-E2DEA359EE76}"/>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Should the product be localized?</a:t>
            </a:r>
          </a:p>
        </p:txBody>
      </p:sp>
      <p:sp>
        <p:nvSpPr>
          <p:cNvPr id="3" name="Oval 2">
            <a:extLst>
              <a:ext uri="{FF2B5EF4-FFF2-40B4-BE49-F238E27FC236}">
                <a16:creationId xmlns:a16="http://schemas.microsoft.com/office/drawing/2014/main" id="{4F238969-29B6-B57D-495A-7FBC77F369F6}"/>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Tree>
    <p:extLst>
      <p:ext uri="{BB962C8B-B14F-4D97-AF65-F5344CB8AC3E}">
        <p14:creationId xmlns:p14="http://schemas.microsoft.com/office/powerpoint/2010/main" val="1155564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9789330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6908482" cy="241824"/>
          </a:xfrm>
        </p:spPr>
        <p:txBody>
          <a:bodyPr vert="horz"/>
          <a:lstStyle/>
          <a:p>
            <a:r>
              <a:rPr lang="en-US"/>
              <a:t>Scale of demand and level of local procurement indicate a potential for localization </a:t>
            </a:r>
          </a:p>
        </p:txBody>
      </p:sp>
      <p:pic>
        <p:nvPicPr>
          <p:cNvPr id="9" name="Picture 4">
            <a:extLst>
              <a:ext uri="{FF2B5EF4-FFF2-40B4-BE49-F238E27FC236}">
                <a16:creationId xmlns:a16="http://schemas.microsoft.com/office/drawing/2014/main" id="{9A448926-4D86-4C24-B6B0-E750EA60AE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9512" y="4634955"/>
            <a:ext cx="396928" cy="39060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38">
            <a:extLst>
              <a:ext uri="{FF2B5EF4-FFF2-40B4-BE49-F238E27FC236}">
                <a16:creationId xmlns:a16="http://schemas.microsoft.com/office/drawing/2014/main" id="{1E2A4634-7313-40CB-833A-AB1924C63939}"/>
              </a:ext>
            </a:extLst>
          </p:cNvPr>
          <p:cNvGraphicFramePr>
            <a:graphicFrameLocks noGrp="1"/>
          </p:cNvGraphicFramePr>
          <p:nvPr>
            <p:extLst>
              <p:ext uri="{D42A27DB-BD31-4B8C-83A1-F6EECF244321}">
                <p14:modId xmlns:p14="http://schemas.microsoft.com/office/powerpoint/2010/main" val="4133865403"/>
              </p:ext>
            </p:extLst>
          </p:nvPr>
        </p:nvGraphicFramePr>
        <p:xfrm>
          <a:off x="327746" y="965817"/>
          <a:ext cx="8488507" cy="3259772"/>
        </p:xfrm>
        <a:graphic>
          <a:graphicData uri="http://schemas.openxmlformats.org/drawingml/2006/table">
            <a:tbl>
              <a:tblPr firstRow="1" bandRow="1">
                <a:tableStyleId>{5940675A-B579-460E-94D1-54222C63F5DA}</a:tableStyleId>
              </a:tblPr>
              <a:tblGrid>
                <a:gridCol w="277956">
                  <a:extLst>
                    <a:ext uri="{9D8B030D-6E8A-4147-A177-3AD203B41FA5}">
                      <a16:colId xmlns:a16="http://schemas.microsoft.com/office/drawing/2014/main" val="157672397"/>
                    </a:ext>
                  </a:extLst>
                </a:gridCol>
                <a:gridCol w="897467">
                  <a:extLst>
                    <a:ext uri="{9D8B030D-6E8A-4147-A177-3AD203B41FA5}">
                      <a16:colId xmlns:a16="http://schemas.microsoft.com/office/drawing/2014/main" val="3836002713"/>
                    </a:ext>
                  </a:extLst>
                </a:gridCol>
                <a:gridCol w="1397000">
                  <a:extLst>
                    <a:ext uri="{9D8B030D-6E8A-4147-A177-3AD203B41FA5}">
                      <a16:colId xmlns:a16="http://schemas.microsoft.com/office/drawing/2014/main" val="3997732386"/>
                    </a:ext>
                  </a:extLst>
                </a:gridCol>
                <a:gridCol w="4368800">
                  <a:extLst>
                    <a:ext uri="{9D8B030D-6E8A-4147-A177-3AD203B41FA5}">
                      <a16:colId xmlns:a16="http://schemas.microsoft.com/office/drawing/2014/main" val="2281871367"/>
                    </a:ext>
                  </a:extLst>
                </a:gridCol>
                <a:gridCol w="1547284">
                  <a:extLst>
                    <a:ext uri="{9D8B030D-6E8A-4147-A177-3AD203B41FA5}">
                      <a16:colId xmlns:a16="http://schemas.microsoft.com/office/drawing/2014/main" val="1687379143"/>
                    </a:ext>
                  </a:extLst>
                </a:gridCol>
              </a:tblGrid>
              <a:tr h="3243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baseline="0">
                          <a:solidFill>
                            <a:srgbClr val="000000"/>
                          </a:solidFill>
                          <a:latin typeface="Fund Light" pitchFamily="2" charset="-78"/>
                          <a:cs typeface="Fund Light" pitchFamily="2" charset="-78"/>
                        </a:rPr>
                        <a:t>#</a:t>
                      </a: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baseline="0">
                          <a:solidFill>
                            <a:srgbClr val="000000"/>
                          </a:solidFill>
                          <a:latin typeface="Fund Light" pitchFamily="2" charset="-78"/>
                          <a:cs typeface="Fund Light" pitchFamily="2" charset="-78"/>
                        </a:rPr>
                        <a:t>Dimension</a:t>
                      </a: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baseline="0">
                          <a:solidFill>
                            <a:srgbClr val="000000"/>
                          </a:solidFill>
                          <a:latin typeface="Fund Light" pitchFamily="2" charset="-78"/>
                          <a:cs typeface="Fund Light" pitchFamily="2" charset="-78"/>
                        </a:rPr>
                        <a:t>Metric</a:t>
                      </a: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50" b="1" baseline="0">
                          <a:solidFill>
                            <a:srgbClr val="000000"/>
                          </a:solidFill>
                          <a:latin typeface="Fund Light" pitchFamily="2" charset="-78"/>
                          <a:cs typeface="Fund Light" pitchFamily="2" charset="-78"/>
                        </a:rPr>
                        <a:t>Calculation methodology</a:t>
                      </a: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50" b="1" baseline="0">
                          <a:solidFill>
                            <a:srgbClr val="000000"/>
                          </a:solidFill>
                          <a:latin typeface="Fund Light" pitchFamily="2" charset="-78"/>
                          <a:cs typeface="Fund Light" pitchFamily="2" charset="-78"/>
                        </a:rPr>
                        <a:t>Data sources</a:t>
                      </a: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6341744"/>
                  </a:ext>
                </a:extLst>
              </a:tr>
              <a:tr h="13310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chemeClr val="bg2"/>
                          </a:solidFill>
                          <a:latin typeface="Fund Light" pitchFamily="2" charset="-78"/>
                          <a:cs typeface="Fund Light" pitchFamily="2" charset="-78"/>
                        </a:rPr>
                        <a:t>1</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chemeClr val="bg2"/>
                          </a:solidFill>
                          <a:latin typeface="Fund Light" pitchFamily="2" charset="-78"/>
                          <a:cs typeface="Fund Light" pitchFamily="2" charset="-78"/>
                        </a:rPr>
                        <a:t>Scale of demand</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aseline="0">
                          <a:solidFill>
                            <a:srgbClr val="000000"/>
                          </a:solidFill>
                          <a:latin typeface="Fund Light" pitchFamily="2" charset="-78"/>
                          <a:cs typeface="Fund Light" pitchFamily="2" charset="-78"/>
                        </a:rPr>
                        <a:t>Annual product spend (</a:t>
                      </a:r>
                      <a:r>
                        <a:rPr lang="en-US" sz="1000" i="1" baseline="0">
                          <a:solidFill>
                            <a:srgbClr val="000000"/>
                          </a:solidFill>
                          <a:latin typeface="Fund Light" pitchFamily="2" charset="-78"/>
                          <a:cs typeface="Fund Light" pitchFamily="2" charset="-78"/>
                        </a:rPr>
                        <a:t>average</a:t>
                      </a:r>
                      <a:br>
                        <a:rPr lang="en-US" sz="1000" i="1" baseline="0">
                          <a:solidFill>
                            <a:srgbClr val="000000"/>
                          </a:solidFill>
                          <a:latin typeface="Fund Light" pitchFamily="2" charset="-78"/>
                          <a:cs typeface="Fund Light" pitchFamily="2" charset="-78"/>
                        </a:rPr>
                      </a:br>
                      <a:r>
                        <a:rPr lang="en-US" sz="1000" i="1" baseline="0">
                          <a:solidFill>
                            <a:srgbClr val="000000"/>
                          </a:solidFill>
                          <a:latin typeface="Fund Light" pitchFamily="2" charset="-78"/>
                          <a:cs typeface="Fund Light" pitchFamily="2" charset="-78"/>
                        </a:rPr>
                        <a:t>future forecast</a:t>
                      </a:r>
                      <a:r>
                        <a:rPr lang="en-US" sz="1000" i="1" baseline="30000">
                          <a:solidFill>
                            <a:srgbClr val="000000"/>
                          </a:solidFill>
                          <a:latin typeface="Fund Light" pitchFamily="2" charset="-78"/>
                          <a:cs typeface="Fund Light" pitchFamily="2" charset="-78"/>
                        </a:rPr>
                        <a:t>1</a:t>
                      </a:r>
                      <a:r>
                        <a:rPr lang="en-US" sz="1000" baseline="0">
                          <a:solidFill>
                            <a:srgbClr val="000000"/>
                          </a:solidFill>
                          <a:latin typeface="Fund Light" pitchFamily="2" charset="-78"/>
                          <a:cs typeface="Fund Light" pitchFamily="2" charset="-78"/>
                        </a:rPr>
                        <a:t>) as </a:t>
                      </a:r>
                      <a:br>
                        <a:rPr lang="en-US" sz="1000" baseline="0">
                          <a:solidFill>
                            <a:srgbClr val="000000"/>
                          </a:solidFill>
                          <a:latin typeface="Fund Light" pitchFamily="2" charset="-78"/>
                          <a:cs typeface="Fund Light" pitchFamily="2" charset="-78"/>
                        </a:rPr>
                      </a:br>
                      <a:r>
                        <a:rPr lang="en-US" sz="1000" baseline="0">
                          <a:solidFill>
                            <a:srgbClr val="000000"/>
                          </a:solidFill>
                          <a:latin typeface="Fund Light" pitchFamily="2" charset="-78"/>
                          <a:cs typeface="Fund Light" pitchFamily="2" charset="-78"/>
                        </a:rPr>
                        <a:t>% of the total annual procurement spend across products</a:t>
                      </a:r>
                      <a:endParaRPr lang="en-GB" sz="100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List all current and expected product procurement categories (opex and capex)</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Remove product categories without recurring </a:t>
                      </a:r>
                      <a:b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long-term (10+ years) demand outlook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Compile current (base year) procurement demand </a:t>
                      </a:r>
                      <a:b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 SAR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Compile demand forecast (at-least three years) and calculate average annual demand </a:t>
                      </a:r>
                      <a:endPar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marT="182880">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LC sheets</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Internal financial reporting</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Annual business plans </a:t>
                      </a: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marT="182880">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413220"/>
                  </a:ext>
                </a:extLst>
              </a:tr>
              <a:tr h="14876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baseline="0">
                          <a:solidFill>
                            <a:schemeClr val="bg2"/>
                          </a:solidFill>
                          <a:latin typeface="Fund Light" pitchFamily="2" charset="-78"/>
                          <a:ea typeface="+mn-ea"/>
                          <a:cs typeface="Fund Light" pitchFamily="2" charset="-78"/>
                        </a:rPr>
                        <a:t>2</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baseline="0">
                          <a:solidFill>
                            <a:schemeClr val="bg2"/>
                          </a:solidFill>
                          <a:latin typeface="Fund Light" pitchFamily="2" charset="-78"/>
                          <a:ea typeface="+mn-ea"/>
                          <a:cs typeface="Fund Light" pitchFamily="2" charset="-78"/>
                        </a:rPr>
                        <a:t>Level of imports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kern="1200" baseline="0">
                          <a:solidFill>
                            <a:srgbClr val="000000"/>
                          </a:solidFill>
                          <a:latin typeface="Fund Light" pitchFamily="2" charset="-78"/>
                          <a:ea typeface="+mn-ea"/>
                          <a:cs typeface="Fund Light" pitchFamily="2" charset="-78"/>
                        </a:rPr>
                        <a:t>% Share of product demand volume procured from foreign suppliers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Compile current (base year) procurement volumes from </a:t>
                      </a:r>
                      <a:b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local suppliers for product procurement categories with </a:t>
                      </a:r>
                      <a:b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recurring demand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 case the product is not procured in the base year, but will be going forward, estimate share of foreign procurement based on supplier relationships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Calculate share of foreign procurement as </a:t>
                      </a:r>
                      <a:b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of the average demand for each product category</a:t>
                      </a:r>
                    </a:p>
                  </a:txBody>
                  <a:tcPr marL="45720" marR="45720" marT="182880">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Procurement team</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Internal financial reporting</a:t>
                      </a:r>
                    </a:p>
                  </a:txBody>
                  <a:tcPr marL="45720" marR="45720" marT="182880">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4401292"/>
                  </a:ext>
                </a:extLst>
              </a:tr>
            </a:tbl>
          </a:graphicData>
        </a:graphic>
      </p:graphicFrame>
      <p:sp>
        <p:nvSpPr>
          <p:cNvPr id="10" name="TextBox 9">
            <a:extLst>
              <a:ext uri="{FF2B5EF4-FFF2-40B4-BE49-F238E27FC236}">
                <a16:creationId xmlns:a16="http://schemas.microsoft.com/office/drawing/2014/main" id="{27FB55E3-FBC0-4D00-8A74-AFAE938F7504}"/>
              </a:ext>
            </a:extLst>
          </p:cNvPr>
          <p:cNvSpPr txBox="1">
            <a:spLocks/>
          </p:cNvSpPr>
          <p:nvPr/>
        </p:nvSpPr>
        <p:spPr>
          <a:xfrm>
            <a:off x="7160235" y="4684060"/>
            <a:ext cx="1297966" cy="2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defPPr>
              <a:defRPr lang="en-US"/>
            </a:defPPr>
            <a:lvl1pPr>
              <a:spcBef>
                <a:spcPts val="300"/>
              </a:spcBef>
              <a:spcAft>
                <a:spcPts val="300"/>
              </a:spcAft>
              <a:defRPr sz="12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800">
                <a:solidFill>
                  <a:srgbClr val="000000"/>
                </a:solidFill>
                <a:latin typeface="Fund Light" pitchFamily="2" charset="-78"/>
                <a:cs typeface="Fund Light" pitchFamily="2" charset="-78"/>
              </a:rPr>
              <a:t>Ready-to-plug template shared separately</a:t>
            </a:r>
          </a:p>
        </p:txBody>
      </p:sp>
      <p:sp>
        <p:nvSpPr>
          <p:cNvPr id="16" name="Rectangle 15">
            <a:extLst>
              <a:ext uri="{FF2B5EF4-FFF2-40B4-BE49-F238E27FC236}">
                <a16:creationId xmlns:a16="http://schemas.microsoft.com/office/drawing/2014/main" id="{80272FA9-69F2-4F93-8BC6-6ECF0462CC0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and tool</a:t>
            </a:r>
          </a:p>
        </p:txBody>
      </p:sp>
      <p:sp>
        <p:nvSpPr>
          <p:cNvPr id="6" name="TextBox 5">
            <a:extLst>
              <a:ext uri="{FF2B5EF4-FFF2-40B4-BE49-F238E27FC236}">
                <a16:creationId xmlns:a16="http://schemas.microsoft.com/office/drawing/2014/main" id="{58616FF0-5713-AD4E-13DA-5CE56356B874}"/>
              </a:ext>
            </a:extLst>
          </p:cNvPr>
          <p:cNvSpPr txBox="1"/>
          <p:nvPr/>
        </p:nvSpPr>
        <p:spPr>
          <a:xfrm>
            <a:off x="328434" y="4434372"/>
            <a:ext cx="7835126" cy="200055"/>
          </a:xfrm>
          <a:prstGeom prst="rect">
            <a:avLst/>
          </a:prstGeom>
          <a:noFill/>
        </p:spPr>
        <p:txBody>
          <a:bodyPr wrap="square" rtlCol="0">
            <a:spAutoFit/>
          </a:bodyPr>
          <a:lstStyle/>
          <a:p>
            <a:pPr lvl="0" defTabSz="914400">
              <a:buClr>
                <a:srgbClr val="00332A"/>
              </a:buClr>
            </a:pPr>
            <a:r>
              <a:rPr lang="en-US" sz="700">
                <a:solidFill>
                  <a:srgbClr val="000000"/>
                </a:solidFill>
                <a:latin typeface="Fund Light" pitchFamily="2" charset="-78"/>
                <a:cs typeface="Fund Light" pitchFamily="2" charset="-78"/>
              </a:rPr>
              <a:t>1 – Future forecast should be based on best available data. Although a 10-year forecast is ideal, a minimum of a three-year forecast should be considered</a:t>
            </a:r>
          </a:p>
        </p:txBody>
      </p:sp>
      <p:sp>
        <p:nvSpPr>
          <p:cNvPr id="3" name="Text Placeholder 6">
            <a:extLst>
              <a:ext uri="{FF2B5EF4-FFF2-40B4-BE49-F238E27FC236}">
                <a16:creationId xmlns:a16="http://schemas.microsoft.com/office/drawing/2014/main" id="{CE1AA2CA-51FB-1F95-A914-D24ABCB81A25}"/>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Should the product be localized?</a:t>
            </a:r>
          </a:p>
        </p:txBody>
      </p:sp>
      <p:sp>
        <p:nvSpPr>
          <p:cNvPr id="7" name="Oval 6">
            <a:extLst>
              <a:ext uri="{FF2B5EF4-FFF2-40B4-BE49-F238E27FC236}">
                <a16:creationId xmlns:a16="http://schemas.microsoft.com/office/drawing/2014/main" id="{A2A55F7D-355F-4DBC-779D-B2BCE27DE55A}"/>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12" name="TextBox 11">
            <a:extLst>
              <a:ext uri="{FF2B5EF4-FFF2-40B4-BE49-F238E27FC236}">
                <a16:creationId xmlns:a16="http://schemas.microsoft.com/office/drawing/2014/main" id="{2AA2ABB1-C616-FEB0-2E30-78E68CC23369}"/>
              </a:ext>
            </a:extLst>
          </p:cNvPr>
          <p:cNvSpPr txBox="1"/>
          <p:nvPr/>
        </p:nvSpPr>
        <p:spPr>
          <a:xfrm>
            <a:off x="407267" y="604558"/>
            <a:ext cx="8409358" cy="355774"/>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Map each product procured by your company along the following two dimensions:</a:t>
            </a:r>
          </a:p>
        </p:txBody>
      </p:sp>
      <p:sp>
        <p:nvSpPr>
          <p:cNvPr id="13" name="Text Placeholder 1">
            <a:extLst>
              <a:ext uri="{FF2B5EF4-FFF2-40B4-BE49-F238E27FC236}">
                <a16:creationId xmlns:a16="http://schemas.microsoft.com/office/drawing/2014/main" id="{2D0A6B41-15AF-D91D-D3CF-5ECCE7500A7B}"/>
              </a:ext>
            </a:extLst>
          </p:cNvPr>
          <p:cNvSpPr txBox="1">
            <a:spLocks/>
          </p:cNvSpPr>
          <p:nvPr/>
        </p:nvSpPr>
        <p:spPr>
          <a:xfrm>
            <a:off x="1551727" y="4767025"/>
            <a:ext cx="5197319" cy="274834"/>
          </a:xfrm>
          <a:prstGeom prst="rect">
            <a:avLst/>
          </a:prstGeom>
        </p:spPr>
        <p:txBody>
          <a:bodyPr anchor="t"/>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sz="600"/>
              <a:t>Note: The average annual demand should be tailored to align with the projected timeline for high-certainty demand outlook</a:t>
            </a:r>
          </a:p>
        </p:txBody>
      </p:sp>
    </p:spTree>
    <p:extLst>
      <p:ext uri="{BB962C8B-B14F-4D97-AF65-F5344CB8AC3E}">
        <p14:creationId xmlns:p14="http://schemas.microsoft.com/office/powerpoint/2010/main" val="1186081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33AAC8A-FAE8-D913-E778-B426319674F5}"/>
              </a:ext>
            </a:extLst>
          </p:cNvPr>
          <p:cNvGraphicFramePr>
            <a:graphicFrameLocks noChangeAspect="1"/>
          </p:cNvGraphicFramePr>
          <p:nvPr>
            <p:custDataLst>
              <p:tags r:id="rId1"/>
            </p:custDataLst>
            <p:extLst>
              <p:ext uri="{D42A27DB-BD31-4B8C-83A1-F6EECF244321}">
                <p14:modId xmlns:p14="http://schemas.microsoft.com/office/powerpoint/2010/main" val="1165137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B33AAC8A-FAE8-D913-E778-B426319674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AB2E8A5-24DF-8C9D-A4D2-12425979CEC8}"/>
              </a:ext>
            </a:extLst>
          </p:cNvPr>
          <p:cNvSpPr>
            <a:spLocks noGrp="1"/>
          </p:cNvSpPr>
          <p:nvPr>
            <p:ph type="title"/>
          </p:nvPr>
        </p:nvSpPr>
        <p:spPr>
          <a:xfrm>
            <a:off x="1255077" y="255973"/>
            <a:ext cx="6217920" cy="241824"/>
          </a:xfrm>
        </p:spPr>
        <p:txBody>
          <a:bodyPr vert="horz"/>
          <a:lstStyle/>
          <a:p>
            <a:r>
              <a:rPr lang="en-US" dirty="0"/>
              <a:t>Output example of estimating the 2 dimensions</a:t>
            </a:r>
          </a:p>
        </p:txBody>
      </p:sp>
      <p:sp>
        <p:nvSpPr>
          <p:cNvPr id="4" name="Rectangle 3">
            <a:extLst>
              <a:ext uri="{FF2B5EF4-FFF2-40B4-BE49-F238E27FC236}">
                <a16:creationId xmlns:a16="http://schemas.microsoft.com/office/drawing/2014/main" id="{04241C6E-9DDE-BA58-4FF7-939E7909D1E7}"/>
              </a:ext>
            </a:extLst>
          </p:cNvPr>
          <p:cNvSpPr/>
          <p:nvPr/>
        </p:nvSpPr>
        <p:spPr>
          <a:xfrm>
            <a:off x="3677463" y="0"/>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Output example</a:t>
            </a:r>
          </a:p>
        </p:txBody>
      </p:sp>
      <p:sp>
        <p:nvSpPr>
          <p:cNvPr id="7" name="Text Placeholder 6">
            <a:extLst>
              <a:ext uri="{FF2B5EF4-FFF2-40B4-BE49-F238E27FC236}">
                <a16:creationId xmlns:a16="http://schemas.microsoft.com/office/drawing/2014/main" id="{D08E5AF0-6BC6-D08C-9CAA-E85A6C208696}"/>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Should the product be localized?</a:t>
            </a:r>
          </a:p>
        </p:txBody>
      </p:sp>
      <p:sp>
        <p:nvSpPr>
          <p:cNvPr id="8" name="Oval 7">
            <a:extLst>
              <a:ext uri="{FF2B5EF4-FFF2-40B4-BE49-F238E27FC236}">
                <a16:creationId xmlns:a16="http://schemas.microsoft.com/office/drawing/2014/main" id="{42F03706-ED16-6C08-1A94-F1AE4339AEF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graphicFrame>
        <p:nvGraphicFramePr>
          <p:cNvPr id="16" name="Table 38">
            <a:extLst>
              <a:ext uri="{FF2B5EF4-FFF2-40B4-BE49-F238E27FC236}">
                <a16:creationId xmlns:a16="http://schemas.microsoft.com/office/drawing/2014/main" id="{79EA0268-D9AD-DCB2-2401-378E38C586D5}"/>
              </a:ext>
            </a:extLst>
          </p:cNvPr>
          <p:cNvGraphicFramePr>
            <a:graphicFrameLocks noGrp="1"/>
          </p:cNvGraphicFramePr>
          <p:nvPr>
            <p:extLst>
              <p:ext uri="{D42A27DB-BD31-4B8C-83A1-F6EECF244321}">
                <p14:modId xmlns:p14="http://schemas.microsoft.com/office/powerpoint/2010/main" val="752728432"/>
              </p:ext>
            </p:extLst>
          </p:nvPr>
        </p:nvGraphicFramePr>
        <p:xfrm>
          <a:off x="316239" y="1324667"/>
          <a:ext cx="8671615" cy="2466117"/>
        </p:xfrm>
        <a:graphic>
          <a:graphicData uri="http://schemas.openxmlformats.org/drawingml/2006/table">
            <a:tbl>
              <a:tblPr firstRow="1" bandRow="1">
                <a:tableStyleId>{5940675A-B579-460E-94D1-54222C63F5DA}</a:tableStyleId>
              </a:tblPr>
              <a:tblGrid>
                <a:gridCol w="215283">
                  <a:extLst>
                    <a:ext uri="{9D8B030D-6E8A-4147-A177-3AD203B41FA5}">
                      <a16:colId xmlns:a16="http://schemas.microsoft.com/office/drawing/2014/main" val="157672397"/>
                    </a:ext>
                  </a:extLst>
                </a:gridCol>
                <a:gridCol w="700378">
                  <a:extLst>
                    <a:ext uri="{9D8B030D-6E8A-4147-A177-3AD203B41FA5}">
                      <a16:colId xmlns:a16="http://schemas.microsoft.com/office/drawing/2014/main" val="3836002713"/>
                    </a:ext>
                  </a:extLst>
                </a:gridCol>
                <a:gridCol w="774700">
                  <a:extLst>
                    <a:ext uri="{9D8B030D-6E8A-4147-A177-3AD203B41FA5}">
                      <a16:colId xmlns:a16="http://schemas.microsoft.com/office/drawing/2014/main" val="2920152776"/>
                    </a:ext>
                  </a:extLst>
                </a:gridCol>
                <a:gridCol w="493776">
                  <a:extLst>
                    <a:ext uri="{9D8B030D-6E8A-4147-A177-3AD203B41FA5}">
                      <a16:colId xmlns:a16="http://schemas.microsoft.com/office/drawing/2014/main" val="3997732386"/>
                    </a:ext>
                  </a:extLst>
                </a:gridCol>
                <a:gridCol w="493776">
                  <a:extLst>
                    <a:ext uri="{9D8B030D-6E8A-4147-A177-3AD203B41FA5}">
                      <a16:colId xmlns:a16="http://schemas.microsoft.com/office/drawing/2014/main" val="2281871367"/>
                    </a:ext>
                  </a:extLst>
                </a:gridCol>
                <a:gridCol w="493776">
                  <a:extLst>
                    <a:ext uri="{9D8B030D-6E8A-4147-A177-3AD203B41FA5}">
                      <a16:colId xmlns:a16="http://schemas.microsoft.com/office/drawing/2014/main" val="223493915"/>
                    </a:ext>
                  </a:extLst>
                </a:gridCol>
                <a:gridCol w="493776">
                  <a:extLst>
                    <a:ext uri="{9D8B030D-6E8A-4147-A177-3AD203B41FA5}">
                      <a16:colId xmlns:a16="http://schemas.microsoft.com/office/drawing/2014/main" val="1224023555"/>
                    </a:ext>
                  </a:extLst>
                </a:gridCol>
                <a:gridCol w="279641">
                  <a:extLst>
                    <a:ext uri="{9D8B030D-6E8A-4147-A177-3AD203B41FA5}">
                      <a16:colId xmlns:a16="http://schemas.microsoft.com/office/drawing/2014/main" val="3958919751"/>
                    </a:ext>
                  </a:extLst>
                </a:gridCol>
                <a:gridCol w="640080">
                  <a:extLst>
                    <a:ext uri="{9D8B030D-6E8A-4147-A177-3AD203B41FA5}">
                      <a16:colId xmlns:a16="http://schemas.microsoft.com/office/drawing/2014/main" val="84695641"/>
                    </a:ext>
                  </a:extLst>
                </a:gridCol>
                <a:gridCol w="620336">
                  <a:extLst>
                    <a:ext uri="{9D8B030D-6E8A-4147-A177-3AD203B41FA5}">
                      <a16:colId xmlns:a16="http://schemas.microsoft.com/office/drawing/2014/main" val="2960981062"/>
                    </a:ext>
                  </a:extLst>
                </a:gridCol>
                <a:gridCol w="585120">
                  <a:extLst>
                    <a:ext uri="{9D8B030D-6E8A-4147-A177-3AD203B41FA5}">
                      <a16:colId xmlns:a16="http://schemas.microsoft.com/office/drawing/2014/main" val="3169410198"/>
                    </a:ext>
                  </a:extLst>
                </a:gridCol>
                <a:gridCol w="528293">
                  <a:extLst>
                    <a:ext uri="{9D8B030D-6E8A-4147-A177-3AD203B41FA5}">
                      <a16:colId xmlns:a16="http://schemas.microsoft.com/office/drawing/2014/main" val="2347716804"/>
                    </a:ext>
                  </a:extLst>
                </a:gridCol>
                <a:gridCol w="528293">
                  <a:extLst>
                    <a:ext uri="{9D8B030D-6E8A-4147-A177-3AD203B41FA5}">
                      <a16:colId xmlns:a16="http://schemas.microsoft.com/office/drawing/2014/main" val="3975978933"/>
                    </a:ext>
                  </a:extLst>
                </a:gridCol>
                <a:gridCol w="528293">
                  <a:extLst>
                    <a:ext uri="{9D8B030D-6E8A-4147-A177-3AD203B41FA5}">
                      <a16:colId xmlns:a16="http://schemas.microsoft.com/office/drawing/2014/main" val="2208135409"/>
                    </a:ext>
                  </a:extLst>
                </a:gridCol>
                <a:gridCol w="229692">
                  <a:extLst>
                    <a:ext uri="{9D8B030D-6E8A-4147-A177-3AD203B41FA5}">
                      <a16:colId xmlns:a16="http://schemas.microsoft.com/office/drawing/2014/main" val="538068846"/>
                    </a:ext>
                  </a:extLst>
                </a:gridCol>
                <a:gridCol w="1066402">
                  <a:extLst>
                    <a:ext uri="{9D8B030D-6E8A-4147-A177-3AD203B41FA5}">
                      <a16:colId xmlns:a16="http://schemas.microsoft.com/office/drawing/2014/main" val="4023396137"/>
                    </a:ext>
                  </a:extLst>
                </a:gridCol>
              </a:tblGrid>
              <a:tr h="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Product</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 Is the spend recurring?</a:t>
                      </a:r>
                      <a:r>
                        <a:rPr lang="en-US" sz="1000" b="0" baseline="0">
                          <a:solidFill>
                            <a:srgbClr val="000000"/>
                          </a:solidFill>
                          <a:latin typeface="Fund Light" pitchFamily="2" charset="-78"/>
                          <a:cs typeface="Fund Light" pitchFamily="2" charset="-78"/>
                        </a:rPr>
                        <a:t> </a:t>
                      </a:r>
                      <a:r>
                        <a:rPr lang="en-US" sz="1000" b="0" i="1" baseline="0">
                          <a:solidFill>
                            <a:srgbClr val="000000"/>
                          </a:solidFill>
                          <a:latin typeface="Fund Light" pitchFamily="2" charset="-78"/>
                          <a:cs typeface="Fund Light" pitchFamily="2" charset="-78"/>
                        </a:rPr>
                        <a:t>(Yes / No) </a:t>
                      </a:r>
                    </a:p>
                  </a:txBody>
                  <a:tcPr marL="45720" marR="45720" anchor="ctr">
                    <a:lnL w="12700" cmpd="sng">
                      <a:noFill/>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Company Spend</a:t>
                      </a:r>
                    </a:p>
                  </a:txBody>
                  <a:tcPr marL="45720" marR="45720"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spcBef>
                          <a:spcPts val="0"/>
                        </a:spcBef>
                      </a:pPr>
                      <a:r>
                        <a:rPr lang="en-US" sz="1000" b="1" baseline="0">
                          <a:solidFill>
                            <a:srgbClr val="000000"/>
                          </a:solidFill>
                          <a:latin typeface="Fund Light" pitchFamily="2" charset="-78"/>
                          <a:cs typeface="Fund Light" pitchFamily="2" charset="-78"/>
                        </a:rPr>
                        <a:t>Procurement from foreign suppliers</a:t>
                      </a:r>
                    </a:p>
                  </a:txBody>
                  <a:tcPr marL="45720" marR="4572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spcBef>
                          <a:spcPts val="0"/>
                        </a:spcBef>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6341744"/>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baseline="0">
                        <a:solidFill>
                          <a:srgbClr val="000000"/>
                        </a:solidFill>
                        <a:latin typeface="Fund Light" pitchFamily="2" charset="-78"/>
                        <a:cs typeface="Fund Light" pitchFamily="2" charset="-78"/>
                      </a:endParaRPr>
                    </a:p>
                  </a:txBody>
                  <a:tcPr marL="45720" marR="45720" anchor="ctr">
                    <a:lnL w="12700" cmpd="sng">
                      <a:noFill/>
                    </a:lnL>
                    <a:lnR w="635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Year 0 </a:t>
                      </a:r>
                      <a:r>
                        <a:rPr lang="en-US" sz="800" b="0" baseline="0">
                          <a:solidFill>
                            <a:srgbClr val="000000"/>
                          </a:solidFill>
                          <a:latin typeface="Fund Light" pitchFamily="2" charset="-78"/>
                          <a:cs typeface="Fund Light" pitchFamily="2" charset="-78"/>
                        </a:rPr>
                        <a:t>(SAR Mn)</a:t>
                      </a:r>
                      <a:endParaRPr lang="en-US" sz="1000" b="0" baseline="0">
                        <a:solidFill>
                          <a:srgbClr val="000000"/>
                        </a:solidFill>
                        <a:latin typeface="Fund Light" pitchFamily="2" charset="-78"/>
                        <a:cs typeface="Fund Light" pitchFamily="2" charset="-78"/>
                      </a:endParaRPr>
                    </a:p>
                  </a:txBody>
                  <a:tcPr marL="45720" marR="45720" anchor="ctr">
                    <a:lnL w="12700" cmpd="sng">
                      <a:noFill/>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1 </a:t>
                      </a: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(SAR Mn)</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2 </a:t>
                      </a: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(SAR Mn)</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3 </a:t>
                      </a: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(SAR Mn)</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00" b="1" baseline="0">
                          <a:solidFill>
                            <a:srgbClr val="000000"/>
                          </a:solidFill>
                          <a:latin typeface="Fund Light" pitchFamily="2" charset="-78"/>
                          <a:cs typeface="Fund Light" pitchFamily="2" charset="-78"/>
                        </a:rPr>
                        <a:t>....</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00" b="1" baseline="0">
                          <a:solidFill>
                            <a:srgbClr val="000000"/>
                          </a:solidFill>
                          <a:latin typeface="Fund Light" pitchFamily="2" charset="-78"/>
                          <a:cs typeface="Fund Light" pitchFamily="2" charset="-78"/>
                        </a:rPr>
                        <a:t>Average annual Spend</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00" b="1" baseline="0">
                          <a:solidFill>
                            <a:srgbClr val="000000"/>
                          </a:solidFill>
                          <a:latin typeface="Fund Light" pitchFamily="2" charset="-78"/>
                          <a:cs typeface="Fund Light" pitchFamily="2" charset="-78"/>
                        </a:rPr>
                        <a:t>Scale of demand</a:t>
                      </a:r>
                    </a:p>
                  </a:txBody>
                  <a:tcPr marL="45720" marR="45720" anchor="ctr">
                    <a:lnL w="635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baseline="0">
                          <a:solidFill>
                            <a:srgbClr val="000000"/>
                          </a:solidFill>
                          <a:latin typeface="Fund Light" pitchFamily="2" charset="-78"/>
                          <a:cs typeface="Fund Light" pitchFamily="2" charset="-78"/>
                        </a:rPr>
                        <a:t>Year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baseline="0">
                          <a:solidFill>
                            <a:srgbClr val="000000"/>
                          </a:solidFill>
                          <a:latin typeface="Fund Light" pitchFamily="2" charset="-78"/>
                          <a:cs typeface="Fund Light" pitchFamily="2" charset="-78"/>
                        </a:rPr>
                        <a:t>(%)</a:t>
                      </a:r>
                    </a:p>
                  </a:txBody>
                  <a:tcPr marL="45720" marR="45720" anchor="ctr">
                    <a:lnL w="12700" cap="flat" cmpd="sng" algn="ctr">
                      <a:solidFill>
                        <a:schemeClr val="bg1">
                          <a:lumMod val="50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Year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00" b="1" baseline="0">
                          <a:solidFill>
                            <a:srgbClr val="000000"/>
                          </a:solidFill>
                          <a:latin typeface="Fund Light" pitchFamily="2" charset="-78"/>
                          <a:cs typeface="Fund Light" pitchFamily="2" charset="-78"/>
                        </a:rPr>
                        <a:t>....</a:t>
                      </a:r>
                    </a:p>
                  </a:txBody>
                  <a:tcPr marL="45720" marR="4572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1000" b="1" baseline="0">
                          <a:solidFill>
                            <a:srgbClr val="000000"/>
                          </a:solidFill>
                          <a:latin typeface="Fund Light" pitchFamily="2" charset="-78"/>
                          <a:cs typeface="Fund Light" pitchFamily="2" charset="-78"/>
                        </a:rPr>
                        <a:t>Level of imports</a:t>
                      </a:r>
                    </a:p>
                  </a:txBody>
                  <a:tcPr marL="45720" marR="45720" anchor="ctr">
                    <a:lnL w="635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3402771110"/>
                  </a:ext>
                </a:extLst>
              </a:tr>
              <a:tr h="3020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chemeClr val="bg2"/>
                          </a:solidFill>
                          <a:latin typeface="Fund Light" pitchFamily="2" charset="-78"/>
                          <a:cs typeface="Fund Light" pitchFamily="2" charset="-78"/>
                        </a:rPr>
                        <a:t>1</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rgbClr val="000000"/>
                          </a:solidFill>
                          <a:latin typeface="Fund Light" pitchFamily="2" charset="-78"/>
                          <a:cs typeface="Fund Light" pitchFamily="2" charset="-78"/>
                        </a:rPr>
                        <a:t>Product 1</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Yes</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500</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550</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600</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650</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575</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49%</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25%</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35%</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45%</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50%</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39%</a:t>
                      </a:r>
                    </a:p>
                  </a:txBody>
                  <a:tcPr marL="45720" marR="45720" anchor="ctr">
                    <a:lnL w="12700" cmpd="sng">
                      <a:noFill/>
                    </a:lnL>
                    <a:lnR w="12700" cmpd="sng">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901413220"/>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baseline="0">
                          <a:solidFill>
                            <a:schemeClr val="bg2"/>
                          </a:solidFill>
                          <a:latin typeface="Fund Light" pitchFamily="2" charset="-78"/>
                          <a:ea typeface="+mn-ea"/>
                          <a:cs typeface="Fund Light" pitchFamily="2" charset="-78"/>
                        </a:rPr>
                        <a:t>2</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rgbClr val="000000"/>
                          </a:solidFill>
                          <a:latin typeface="Fund Light" pitchFamily="2" charset="-78"/>
                          <a:cs typeface="Fund Light" pitchFamily="2" charset="-78"/>
                        </a:rPr>
                        <a:t>Product 2</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Yes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350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350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26%</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064401292"/>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baseline="0">
                          <a:solidFill>
                            <a:schemeClr val="bg2"/>
                          </a:solidFill>
                          <a:latin typeface="Fund Light" pitchFamily="2" charset="-78"/>
                          <a:ea typeface="+mn-ea"/>
                          <a:cs typeface="Fund Light" pitchFamily="2" charset="-78"/>
                        </a:rPr>
                        <a:t>3</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rgbClr val="000000"/>
                          </a:solidFill>
                          <a:latin typeface="Fund Light" pitchFamily="2" charset="-78"/>
                          <a:cs typeface="Fund Light" pitchFamily="2" charset="-78"/>
                        </a:rPr>
                        <a:t>Product 3</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Yes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275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500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325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300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26%</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50%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19%</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836821043"/>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baseline="0">
                          <a:solidFill>
                            <a:schemeClr val="bg2"/>
                          </a:solidFill>
                          <a:latin typeface="Fund Light" pitchFamily="2" charset="-78"/>
                          <a:ea typeface="+mn-ea"/>
                          <a:cs typeface="Fund Light" pitchFamily="2" charset="-78"/>
                        </a:rPr>
                        <a:t>4</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rgbClr val="000000"/>
                          </a:solidFill>
                          <a:latin typeface="Fund Light" pitchFamily="2" charset="-78"/>
                          <a:cs typeface="Fund Light" pitchFamily="2" charset="-78"/>
                        </a:rPr>
                        <a:t>Product 4</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No</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2,000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3692244641"/>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kern="1200" baseline="0">
                        <a:solidFill>
                          <a:schemeClr val="bg2"/>
                        </a:solidFill>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chemeClr val="bg2"/>
                          </a:solidFill>
                          <a:latin typeface="Fund Light" pitchFamily="2" charset="-78"/>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i="0"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i="0"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18524830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kern="1200" baseline="0">
                        <a:solidFill>
                          <a:schemeClr val="bg2"/>
                        </a:solidFill>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baseline="0">
                          <a:solidFill>
                            <a:schemeClr val="bg2"/>
                          </a:solidFill>
                          <a:latin typeface="Fund Light" pitchFamily="2" charset="-78"/>
                          <a:cs typeface="Fund Light" pitchFamily="2" charset="-78"/>
                        </a:rPr>
                        <a:t>Total</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i="0"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baseline="0">
                          <a:solidFill>
                            <a:srgbClr val="000000"/>
                          </a:solidFill>
                          <a:latin typeface="Fund Light" pitchFamily="2" charset="-78"/>
                          <a:cs typeface="Fund Light" pitchFamily="2" charset="-78"/>
                        </a:rPr>
                        <a:t>1,125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1,400</a:t>
                      </a:r>
                    </a:p>
                  </a:txBody>
                  <a:tcPr marL="45720" marR="45720">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1,000</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1,175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1,175</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907490775"/>
                  </a:ext>
                </a:extLst>
              </a:tr>
            </a:tbl>
          </a:graphicData>
        </a:graphic>
      </p:graphicFrame>
      <p:sp>
        <p:nvSpPr>
          <p:cNvPr id="18" name="Rectangle 17">
            <a:extLst>
              <a:ext uri="{FF2B5EF4-FFF2-40B4-BE49-F238E27FC236}">
                <a16:creationId xmlns:a16="http://schemas.microsoft.com/office/drawing/2014/main" id="{BD884298-6D0D-0B63-01AE-F55A14FCD293}"/>
              </a:ext>
            </a:extLst>
          </p:cNvPr>
          <p:cNvSpPr/>
          <p:nvPr/>
        </p:nvSpPr>
        <p:spPr>
          <a:xfrm>
            <a:off x="5520416" y="595650"/>
            <a:ext cx="3361978"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r">
              <a:spcBef>
                <a:spcPts val="300"/>
              </a:spcBef>
              <a:spcAft>
                <a:spcPts val="300"/>
              </a:spcAft>
            </a:pPr>
            <a:r>
              <a:rPr lang="en-GB" sz="1100" b="1" i="1" u="sng">
                <a:solidFill>
                  <a:srgbClr val="000000"/>
                </a:solidFill>
                <a:latin typeface="Fund Light" pitchFamily="2" charset="-78"/>
                <a:cs typeface="Fund Light" pitchFamily="2" charset="-78"/>
              </a:rPr>
              <a:t>Illustrative example</a:t>
            </a:r>
          </a:p>
        </p:txBody>
      </p:sp>
      <p:sp>
        <p:nvSpPr>
          <p:cNvPr id="5" name="Speech Bubble: Rectangle 4">
            <a:extLst>
              <a:ext uri="{FF2B5EF4-FFF2-40B4-BE49-F238E27FC236}">
                <a16:creationId xmlns:a16="http://schemas.microsoft.com/office/drawing/2014/main" id="{7EB99EC3-2CF3-B359-E341-67CE838C18AC}"/>
              </a:ext>
            </a:extLst>
          </p:cNvPr>
          <p:cNvSpPr/>
          <p:nvPr/>
        </p:nvSpPr>
        <p:spPr>
          <a:xfrm>
            <a:off x="2434749" y="3990406"/>
            <a:ext cx="1506336" cy="408284"/>
          </a:xfrm>
          <a:prstGeom prst="wedgeRectCallout">
            <a:avLst>
              <a:gd name="adj1" fmla="val 29191"/>
              <a:gd name="adj2" fmla="val -115840"/>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Exclude one-time spends (e.g., Product 4)</a:t>
            </a:r>
          </a:p>
        </p:txBody>
      </p:sp>
      <p:sp>
        <p:nvSpPr>
          <p:cNvPr id="10" name="Speech Bubble: Rectangle 9">
            <a:extLst>
              <a:ext uri="{FF2B5EF4-FFF2-40B4-BE49-F238E27FC236}">
                <a16:creationId xmlns:a16="http://schemas.microsoft.com/office/drawing/2014/main" id="{5104A144-8D62-A9A4-8188-67FB00435ACC}"/>
              </a:ext>
            </a:extLst>
          </p:cNvPr>
          <p:cNvSpPr/>
          <p:nvPr/>
        </p:nvSpPr>
        <p:spPr>
          <a:xfrm>
            <a:off x="4047068" y="4130157"/>
            <a:ext cx="3013508" cy="676753"/>
          </a:xfrm>
          <a:prstGeom prst="wedgeRectCallout">
            <a:avLst>
              <a:gd name="adj1" fmla="val -18590"/>
              <a:gd name="adj2" fmla="val -173083"/>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solidFill>
                  <a:srgbClr val="000000"/>
                </a:solidFill>
                <a:latin typeface="Fund Light" pitchFamily="2" charset="-78"/>
                <a:cs typeface="Fund Light" pitchFamily="2" charset="-78"/>
              </a:rPr>
              <a:t>Estimated as ratio of average spend on one product to total average company spend. E.g., for Product 1, the ratio is (575/1,175 = 49%)</a:t>
            </a:r>
          </a:p>
        </p:txBody>
      </p:sp>
      <p:sp>
        <p:nvSpPr>
          <p:cNvPr id="17" name="Speech Bubble: Rectangle 16">
            <a:extLst>
              <a:ext uri="{FF2B5EF4-FFF2-40B4-BE49-F238E27FC236}">
                <a16:creationId xmlns:a16="http://schemas.microsoft.com/office/drawing/2014/main" id="{5ED25989-A565-ACFB-3C2E-70387AB2FFF5}"/>
              </a:ext>
            </a:extLst>
          </p:cNvPr>
          <p:cNvSpPr/>
          <p:nvPr/>
        </p:nvSpPr>
        <p:spPr>
          <a:xfrm>
            <a:off x="1242192" y="744810"/>
            <a:ext cx="1913616" cy="408284"/>
          </a:xfrm>
          <a:prstGeom prst="wedgeRectCallout">
            <a:avLst>
              <a:gd name="adj1" fmla="val 41098"/>
              <a:gd name="adj2" fmla="val 137875"/>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Add data for more years as available (ideally, up to year 10)</a:t>
            </a:r>
          </a:p>
        </p:txBody>
      </p:sp>
      <p:sp>
        <p:nvSpPr>
          <p:cNvPr id="19" name="Speech Bubble: Rectangle 18">
            <a:extLst>
              <a:ext uri="{FF2B5EF4-FFF2-40B4-BE49-F238E27FC236}">
                <a16:creationId xmlns:a16="http://schemas.microsoft.com/office/drawing/2014/main" id="{B8E0415E-B632-F9E3-5675-EABF8A84358F}"/>
              </a:ext>
            </a:extLst>
          </p:cNvPr>
          <p:cNvSpPr/>
          <p:nvPr/>
        </p:nvSpPr>
        <p:spPr>
          <a:xfrm>
            <a:off x="95014" y="3922587"/>
            <a:ext cx="1506336" cy="408284"/>
          </a:xfrm>
          <a:prstGeom prst="wedgeRectCallout">
            <a:avLst>
              <a:gd name="adj1" fmla="val 37060"/>
              <a:gd name="adj2" fmla="val -210195"/>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Given one-time spend, do not consider for estimating scale</a:t>
            </a:r>
          </a:p>
        </p:txBody>
      </p:sp>
      <p:sp>
        <p:nvSpPr>
          <p:cNvPr id="3" name="Rectangle: Rounded Corners 2">
            <a:extLst>
              <a:ext uri="{FF2B5EF4-FFF2-40B4-BE49-F238E27FC236}">
                <a16:creationId xmlns:a16="http://schemas.microsoft.com/office/drawing/2014/main" id="{39590B1A-CC2E-4278-E30D-345FE12321A5}"/>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5" action="ppaction://hlinksldjump"/>
              </a:rPr>
              <a:t>Contacts</a:t>
            </a:r>
            <a:r>
              <a:rPr lang="en-US" sz="1000">
                <a:solidFill>
                  <a:srgbClr val="000000"/>
                </a:solidFill>
                <a:latin typeface="Fund Light" pitchFamily="2" charset="-78"/>
                <a:cs typeface="Fund Light" pitchFamily="2" charset="-78"/>
              </a:rPr>
              <a:t>)</a:t>
            </a:r>
          </a:p>
        </p:txBody>
      </p:sp>
      <p:grpSp>
        <p:nvGrpSpPr>
          <p:cNvPr id="9" name="Group 8">
            <a:extLst>
              <a:ext uri="{FF2B5EF4-FFF2-40B4-BE49-F238E27FC236}">
                <a16:creationId xmlns:a16="http://schemas.microsoft.com/office/drawing/2014/main" id="{3F4963DB-DDCA-1A2D-E622-5DE9E8553D6A}"/>
              </a:ext>
            </a:extLst>
          </p:cNvPr>
          <p:cNvGrpSpPr/>
          <p:nvPr/>
        </p:nvGrpSpPr>
        <p:grpSpPr>
          <a:xfrm>
            <a:off x="3004029" y="4817276"/>
            <a:ext cx="303559" cy="303559"/>
            <a:chOff x="-577629" y="2311332"/>
            <a:chExt cx="404038" cy="404037"/>
          </a:xfrm>
        </p:grpSpPr>
        <p:sp>
          <p:nvSpPr>
            <p:cNvPr id="11" name="Oval 10">
              <a:extLst>
                <a:ext uri="{FF2B5EF4-FFF2-40B4-BE49-F238E27FC236}">
                  <a16:creationId xmlns:a16="http://schemas.microsoft.com/office/drawing/2014/main" id="{18139555-2E92-1815-EE89-ADECFB4E7913}"/>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4F0841D-652A-7863-607F-307215BDB2F5}"/>
                </a:ext>
              </a:extLst>
            </p:cNvPr>
            <p:cNvPicPr>
              <a:picLocks noChangeAspect="1"/>
            </p:cNvPicPr>
            <p:nvPr/>
          </p:nvPicPr>
          <p:blipFill>
            <a:blip r:embed="rId6"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3" name="Group 12">
            <a:extLst>
              <a:ext uri="{FF2B5EF4-FFF2-40B4-BE49-F238E27FC236}">
                <a16:creationId xmlns:a16="http://schemas.microsoft.com/office/drawing/2014/main" id="{F4FF32A5-6938-240E-0689-38E841FF9B91}"/>
              </a:ext>
            </a:extLst>
          </p:cNvPr>
          <p:cNvGrpSpPr/>
          <p:nvPr/>
        </p:nvGrpSpPr>
        <p:grpSpPr>
          <a:xfrm>
            <a:off x="6211995" y="4883810"/>
            <a:ext cx="168686" cy="161455"/>
            <a:chOff x="11260138" y="4194175"/>
            <a:chExt cx="360363" cy="379413"/>
          </a:xfrm>
        </p:grpSpPr>
        <p:sp>
          <p:nvSpPr>
            <p:cNvPr id="14" name="Freeform 289">
              <a:extLst>
                <a:ext uri="{FF2B5EF4-FFF2-40B4-BE49-F238E27FC236}">
                  <a16:creationId xmlns:a16="http://schemas.microsoft.com/office/drawing/2014/main" id="{370C0624-BACC-E1B7-BD12-F0C61A7FFDA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290">
              <a:extLst>
                <a:ext uri="{FF2B5EF4-FFF2-40B4-BE49-F238E27FC236}">
                  <a16:creationId xmlns:a16="http://schemas.microsoft.com/office/drawing/2014/main" id="{5C9FE291-52BD-8E74-6251-5228F0933C2D}"/>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91">
              <a:extLst>
                <a:ext uri="{FF2B5EF4-FFF2-40B4-BE49-F238E27FC236}">
                  <a16:creationId xmlns:a16="http://schemas.microsoft.com/office/drawing/2014/main" id="{F1FF09B4-E8E2-1361-04DD-536CB8987972}"/>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1" name="Speech Bubble: Rectangle 20">
            <a:extLst>
              <a:ext uri="{FF2B5EF4-FFF2-40B4-BE49-F238E27FC236}">
                <a16:creationId xmlns:a16="http://schemas.microsoft.com/office/drawing/2014/main" id="{2B5FA1C3-1E46-E78C-AD72-1A77C00854F2}"/>
              </a:ext>
            </a:extLst>
          </p:cNvPr>
          <p:cNvSpPr/>
          <p:nvPr/>
        </p:nvSpPr>
        <p:spPr>
          <a:xfrm>
            <a:off x="7157311" y="4126729"/>
            <a:ext cx="1891675" cy="676753"/>
          </a:xfrm>
          <a:prstGeom prst="wedgeRectCallout">
            <a:avLst>
              <a:gd name="adj1" fmla="val -2997"/>
              <a:gd name="adj2" fmla="val -181800"/>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Estimated as ratio of avg. of foreign procurement %. E.g., For Product 1, the ratio is (avg. of 25%, 35%, 45%, 50%  = 39%)</a:t>
            </a:r>
          </a:p>
        </p:txBody>
      </p:sp>
    </p:spTree>
    <p:extLst>
      <p:ext uri="{BB962C8B-B14F-4D97-AF65-F5344CB8AC3E}">
        <p14:creationId xmlns:p14="http://schemas.microsoft.com/office/powerpoint/2010/main" val="3053876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040356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F6AB2B32-A9CE-01F6-682F-494DC1B66C89}"/>
              </a:ext>
            </a:extLst>
          </p:cNvPr>
          <p:cNvSpPr/>
          <p:nvPr/>
        </p:nvSpPr>
        <p:spPr>
          <a:xfrm>
            <a:off x="794645" y="1652243"/>
            <a:ext cx="7988800" cy="238255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EC9CD7D-4A93-45F3-8EAD-38723FF99B8D}"/>
              </a:ext>
            </a:extLst>
          </p:cNvPr>
          <p:cNvSpPr/>
          <p:nvPr/>
        </p:nvSpPr>
        <p:spPr>
          <a:xfrm>
            <a:off x="528099" y="1168385"/>
            <a:ext cx="3909023" cy="38232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spcBef>
                <a:spcPts val="400"/>
              </a:spcBef>
            </a:pPr>
            <a:r>
              <a:rPr lang="en-GB" sz="1050" b="1">
                <a:solidFill>
                  <a:srgbClr val="000000"/>
                </a:solidFill>
                <a:latin typeface="Fund Light" pitchFamily="2" charset="-78"/>
                <a:cs typeface="Fund Light" pitchFamily="2" charset="-78"/>
              </a:rPr>
              <a:t>Scale of demand</a:t>
            </a:r>
            <a:r>
              <a:rPr lang="en-GB" sz="1050" b="1" baseline="30000">
                <a:solidFill>
                  <a:srgbClr val="000000"/>
                </a:solidFill>
                <a:latin typeface="Fund Light" pitchFamily="2" charset="-78"/>
                <a:cs typeface="Fund Light" pitchFamily="2" charset="-78"/>
              </a:rPr>
              <a:t>1</a:t>
            </a:r>
            <a:r>
              <a:rPr lang="en-GB" sz="1050" b="1">
                <a:solidFill>
                  <a:srgbClr val="000000"/>
                </a:solidFill>
                <a:latin typeface="Fund Light" pitchFamily="2" charset="-78"/>
                <a:cs typeface="Fund Light" pitchFamily="2" charset="-78"/>
              </a:rPr>
              <a:t> </a:t>
            </a:r>
            <a:r>
              <a:rPr lang="en-GB" sz="1050" i="1">
                <a:solidFill>
                  <a:srgbClr val="000000"/>
                </a:solidFill>
                <a:latin typeface="Fund Light" pitchFamily="2" charset="-78"/>
                <a:cs typeface="Fund Light" pitchFamily="2" charset="-78"/>
              </a:rPr>
              <a:t>(average </a:t>
            </a:r>
            <a:r>
              <a:rPr lang="en-US" sz="1050" i="1">
                <a:solidFill>
                  <a:srgbClr val="000000"/>
                </a:solidFill>
                <a:latin typeface="Fund Light" pitchFamily="2" charset="-78"/>
                <a:cs typeface="Fund Light" pitchFamily="2" charset="-78"/>
              </a:rPr>
              <a:t>annual product spend as % of the total annual average company procurement spend)</a:t>
            </a:r>
            <a:endParaRPr lang="en-GB" sz="1050" i="1">
              <a:solidFill>
                <a:srgbClr val="000000"/>
              </a:solidFill>
              <a:latin typeface="Fund Light" pitchFamily="2" charset="-78"/>
              <a:cs typeface="Fund Light" pitchFamily="2" charset="-78"/>
            </a:endParaRPr>
          </a:p>
        </p:txBody>
      </p:sp>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Visualization template to select products for localization </a:t>
            </a:r>
          </a:p>
        </p:txBody>
      </p:sp>
      <p:sp>
        <p:nvSpPr>
          <p:cNvPr id="27" name="Rectangle 26">
            <a:extLst>
              <a:ext uri="{FF2B5EF4-FFF2-40B4-BE49-F238E27FC236}">
                <a16:creationId xmlns:a16="http://schemas.microsoft.com/office/drawing/2014/main" id="{05ABD9BC-0594-4191-86EF-EB9F60F1788A}"/>
              </a:ext>
            </a:extLst>
          </p:cNvPr>
          <p:cNvSpPr/>
          <p:nvPr/>
        </p:nvSpPr>
        <p:spPr>
          <a:xfrm>
            <a:off x="5748867" y="4178467"/>
            <a:ext cx="3062421" cy="539888"/>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r">
              <a:spcBef>
                <a:spcPts val="400"/>
              </a:spcBef>
            </a:pPr>
            <a:r>
              <a:rPr lang="en-GB" sz="1050" b="1">
                <a:solidFill>
                  <a:srgbClr val="000000"/>
                </a:solidFill>
                <a:latin typeface="Fund Light" pitchFamily="2" charset="-78"/>
                <a:cs typeface="Fund Light" pitchFamily="2" charset="-78"/>
              </a:rPr>
              <a:t>Level of imports</a:t>
            </a:r>
            <a:r>
              <a:rPr lang="en-GB" sz="1050" b="1" baseline="30000">
                <a:solidFill>
                  <a:srgbClr val="000000"/>
                </a:solidFill>
                <a:latin typeface="Fund Light" pitchFamily="2" charset="-78"/>
                <a:cs typeface="Fund Light" pitchFamily="2" charset="-78"/>
              </a:rPr>
              <a:t>1</a:t>
            </a:r>
          </a:p>
          <a:p>
            <a:pPr algn="r"/>
            <a:r>
              <a:rPr lang="en-GB" sz="1050" i="1">
                <a:solidFill>
                  <a:srgbClr val="000000"/>
                </a:solidFill>
                <a:latin typeface="Fund Light" pitchFamily="2" charset="-78"/>
                <a:cs typeface="Fund Light" pitchFamily="2" charset="-78"/>
              </a:rPr>
              <a:t>(</a:t>
            </a:r>
            <a:r>
              <a:rPr lang="en-US" sz="1050" i="1">
                <a:solidFill>
                  <a:srgbClr val="000000"/>
                </a:solidFill>
                <a:latin typeface="Fund Light" pitchFamily="2" charset="-78"/>
                <a:cs typeface="Fund Light" pitchFamily="2" charset="-78"/>
              </a:rPr>
              <a:t>% Share of product demand volume procured from foreign suppliers</a:t>
            </a:r>
            <a:r>
              <a:rPr lang="en-GB" sz="1050" i="1">
                <a:solidFill>
                  <a:srgbClr val="000000"/>
                </a:solidFill>
                <a:latin typeface="Fund Light" pitchFamily="2" charset="-78"/>
                <a:cs typeface="Fund Light" pitchFamily="2" charset="-78"/>
              </a:rPr>
              <a:t>)</a:t>
            </a:r>
            <a:endParaRPr lang="en-US" sz="1050" i="1">
              <a:solidFill>
                <a:srgbClr val="000000"/>
              </a:solidFill>
              <a:latin typeface="Fund Light" pitchFamily="2" charset="-78"/>
              <a:cs typeface="Fund Light" pitchFamily="2" charset="-78"/>
            </a:endParaRPr>
          </a:p>
        </p:txBody>
      </p:sp>
      <p:sp>
        <p:nvSpPr>
          <p:cNvPr id="30" name="Oval 29">
            <a:extLst>
              <a:ext uri="{FF2B5EF4-FFF2-40B4-BE49-F238E27FC236}">
                <a16:creationId xmlns:a16="http://schemas.microsoft.com/office/drawing/2014/main" id="{928583C2-3D86-4853-A725-9A418AF76AF2}"/>
              </a:ext>
            </a:extLst>
          </p:cNvPr>
          <p:cNvSpPr/>
          <p:nvPr/>
        </p:nvSpPr>
        <p:spPr>
          <a:xfrm>
            <a:off x="7436736" y="4203378"/>
            <a:ext cx="182880" cy="18495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spcBef>
                <a:spcPts val="300"/>
              </a:spcBef>
              <a:spcAft>
                <a:spcPts val="300"/>
              </a:spcAft>
            </a:pPr>
            <a:r>
              <a:rPr lang="en-US" sz="1200">
                <a:solidFill>
                  <a:schemeClr val="bg1"/>
                </a:solidFill>
                <a:latin typeface="Fund Light" pitchFamily="2" charset="-78"/>
                <a:cs typeface="Fund Light" pitchFamily="2" charset="-78"/>
              </a:rPr>
              <a:t>2</a:t>
            </a:r>
          </a:p>
        </p:txBody>
      </p:sp>
      <p:sp>
        <p:nvSpPr>
          <p:cNvPr id="31" name="Oval 30">
            <a:extLst>
              <a:ext uri="{FF2B5EF4-FFF2-40B4-BE49-F238E27FC236}">
                <a16:creationId xmlns:a16="http://schemas.microsoft.com/office/drawing/2014/main" id="{9341E943-1595-410E-B02B-7ADA38EA08C6}"/>
              </a:ext>
            </a:extLst>
          </p:cNvPr>
          <p:cNvSpPr/>
          <p:nvPr/>
        </p:nvSpPr>
        <p:spPr>
          <a:xfrm>
            <a:off x="338655" y="1214315"/>
            <a:ext cx="182880" cy="18495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spcBef>
                <a:spcPts val="300"/>
              </a:spcBef>
              <a:spcAft>
                <a:spcPts val="300"/>
              </a:spcAft>
            </a:pPr>
            <a:r>
              <a:rPr lang="en-US" sz="1200">
                <a:solidFill>
                  <a:schemeClr val="bg1"/>
                </a:solidFill>
                <a:latin typeface="Fund Light" pitchFamily="2" charset="-78"/>
                <a:cs typeface="Fund Light" pitchFamily="2" charset="-78"/>
              </a:rPr>
              <a:t>1</a:t>
            </a:r>
          </a:p>
        </p:txBody>
      </p:sp>
      <p:sp>
        <p:nvSpPr>
          <p:cNvPr id="36" name="Rectangle 35">
            <a:extLst>
              <a:ext uri="{FF2B5EF4-FFF2-40B4-BE49-F238E27FC236}">
                <a16:creationId xmlns:a16="http://schemas.microsoft.com/office/drawing/2014/main" id="{0FE6D769-FBDA-409F-968D-B6FC32C03DB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Template</a:t>
            </a:r>
          </a:p>
        </p:txBody>
      </p:sp>
      <p:cxnSp>
        <p:nvCxnSpPr>
          <p:cNvPr id="32" name="Straight Arrow Connector 31">
            <a:extLst>
              <a:ext uri="{FF2B5EF4-FFF2-40B4-BE49-F238E27FC236}">
                <a16:creationId xmlns:a16="http://schemas.microsoft.com/office/drawing/2014/main" id="{C277E170-8CCD-4A1E-8C76-AB12E6EA0A40}"/>
              </a:ext>
            </a:extLst>
          </p:cNvPr>
          <p:cNvCxnSpPr>
            <a:cxnSpLocks/>
          </p:cNvCxnSpPr>
          <p:nvPr/>
        </p:nvCxnSpPr>
        <p:spPr>
          <a:xfrm flipV="1">
            <a:off x="800333" y="1646826"/>
            <a:ext cx="0" cy="2387975"/>
          </a:xfrm>
          <a:prstGeom prst="straightConnector1">
            <a:avLst/>
          </a:prstGeom>
          <a:ln w="1270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B86FACE-7DA3-4D0D-BED4-CA48CEB7A990}"/>
              </a:ext>
            </a:extLst>
          </p:cNvPr>
          <p:cNvCxnSpPr>
            <a:cxnSpLocks/>
          </p:cNvCxnSpPr>
          <p:nvPr/>
        </p:nvCxnSpPr>
        <p:spPr>
          <a:xfrm>
            <a:off x="800333" y="4034801"/>
            <a:ext cx="7975684" cy="0"/>
          </a:xfrm>
          <a:prstGeom prst="straightConnector1">
            <a:avLst/>
          </a:prstGeom>
          <a:ln w="1270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F69BB9CF-1880-C9B6-B46D-F629927AE472}"/>
              </a:ext>
            </a:extLst>
          </p:cNvPr>
          <p:cNvSpPr/>
          <p:nvPr/>
        </p:nvSpPr>
        <p:spPr>
          <a:xfrm>
            <a:off x="3412198" y="1638589"/>
            <a:ext cx="5371247" cy="1398554"/>
          </a:xfrm>
          <a:custGeom>
            <a:avLst/>
            <a:gdLst>
              <a:gd name="connsiteX0" fmla="*/ 4096 w 5371247"/>
              <a:gd name="connsiteY0" fmla="*/ 0 h 1398554"/>
              <a:gd name="connsiteX1" fmla="*/ 5371247 w 5371247"/>
              <a:gd name="connsiteY1" fmla="*/ 0 h 1398554"/>
              <a:gd name="connsiteX2" fmla="*/ 5371247 w 5371247"/>
              <a:gd name="connsiteY2" fmla="*/ 1393456 h 1398554"/>
              <a:gd name="connsiteX3" fmla="*/ 4998720 w 5371247"/>
              <a:gd name="connsiteY3" fmla="*/ 1398554 h 1398554"/>
              <a:gd name="connsiteX4" fmla="*/ 0 w 5371247"/>
              <a:gd name="connsiteY4" fmla="*/ 43904 h 1398554"/>
              <a:gd name="connsiteX5" fmla="*/ 4096 w 5371247"/>
              <a:gd name="connsiteY5" fmla="*/ 0 h 13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247" h="1398554">
                <a:moveTo>
                  <a:pt x="4096" y="0"/>
                </a:moveTo>
                <a:lnTo>
                  <a:pt x="5371247" y="0"/>
                </a:lnTo>
                <a:lnTo>
                  <a:pt x="5371247" y="1393456"/>
                </a:lnTo>
                <a:lnTo>
                  <a:pt x="4998720" y="1398554"/>
                </a:lnTo>
                <a:cubicBezTo>
                  <a:pt x="2238003" y="1398554"/>
                  <a:pt x="0" y="792057"/>
                  <a:pt x="0" y="43904"/>
                </a:cubicBezTo>
                <a:lnTo>
                  <a:pt x="4096" y="0"/>
                </a:lnTo>
                <a:close/>
              </a:path>
            </a:pathLst>
          </a:custGeom>
          <a:solidFill>
            <a:schemeClr val="bg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Rectangle 2">
            <a:extLst>
              <a:ext uri="{FF2B5EF4-FFF2-40B4-BE49-F238E27FC236}">
                <a16:creationId xmlns:a16="http://schemas.microsoft.com/office/drawing/2014/main" id="{F340A3E6-BFD0-454A-3DDC-F6C3691A2F48}"/>
              </a:ext>
            </a:extLst>
          </p:cNvPr>
          <p:cNvSpPr/>
          <p:nvPr/>
        </p:nvSpPr>
        <p:spPr>
          <a:xfrm>
            <a:off x="4462523" y="1544140"/>
            <a:ext cx="4308945" cy="54618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b" anchorCtr="0" forceAA="0" compatLnSpc="1">
            <a:prstTxWarp prst="textNoShape">
              <a:avLst/>
            </a:prstTxWarp>
            <a:noAutofit/>
          </a:bodyPr>
          <a:lstStyle/>
          <a:p>
            <a:pPr algn="r">
              <a:spcBef>
                <a:spcPts val="400"/>
              </a:spcBef>
              <a:spcAft>
                <a:spcPts val="400"/>
              </a:spcAft>
            </a:pPr>
            <a:r>
              <a:rPr lang="it-IT" sz="1000" i="1">
                <a:solidFill>
                  <a:schemeClr val="bg1"/>
                </a:solidFill>
                <a:latin typeface="Fund Light" pitchFamily="2" charset="-78"/>
                <a:cs typeface="Fund Light" pitchFamily="2" charset="-78"/>
              </a:rPr>
              <a:t>Prioritized products:</a:t>
            </a:r>
            <a:br>
              <a:rPr lang="it-IT" sz="1000" i="1">
                <a:solidFill>
                  <a:schemeClr val="bg1"/>
                </a:solidFill>
                <a:latin typeface="Fund Light" pitchFamily="2" charset="-78"/>
                <a:cs typeface="Fund Light" pitchFamily="2" charset="-78"/>
              </a:rPr>
            </a:br>
            <a:r>
              <a:rPr lang="it-IT" sz="1000" b="1">
                <a:solidFill>
                  <a:schemeClr val="bg1"/>
                </a:solidFill>
                <a:latin typeface="Fund Light" pitchFamily="2" charset="-78"/>
                <a:cs typeface="Fund Light" pitchFamily="2" charset="-78"/>
              </a:rPr>
              <a:t>Medium-high scale and high reliance on imports</a:t>
            </a:r>
            <a:endParaRPr lang="en-US" sz="1000" b="1">
              <a:solidFill>
                <a:schemeClr val="bg1"/>
              </a:solidFill>
              <a:latin typeface="Fund Light" pitchFamily="2" charset="-78"/>
              <a:cs typeface="Fund Light" pitchFamily="2" charset="-78"/>
            </a:endParaRPr>
          </a:p>
        </p:txBody>
      </p:sp>
      <p:sp>
        <p:nvSpPr>
          <p:cNvPr id="11" name="Rectangle 10">
            <a:extLst>
              <a:ext uri="{FF2B5EF4-FFF2-40B4-BE49-F238E27FC236}">
                <a16:creationId xmlns:a16="http://schemas.microsoft.com/office/drawing/2014/main" id="{7FCC6D70-6A6E-7542-3FEC-3DE0CA34281F}"/>
              </a:ext>
            </a:extLst>
          </p:cNvPr>
          <p:cNvSpPr/>
          <p:nvPr/>
        </p:nvSpPr>
        <p:spPr>
          <a:xfrm>
            <a:off x="846891" y="3495040"/>
            <a:ext cx="3590234" cy="41744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spcBef>
                <a:spcPts val="400"/>
              </a:spcBef>
              <a:spcAft>
                <a:spcPts val="400"/>
              </a:spcAft>
            </a:pPr>
            <a:r>
              <a:rPr lang="it-IT" sz="1000" i="1">
                <a:solidFill>
                  <a:schemeClr val="bg1">
                    <a:lumMod val="50000"/>
                  </a:schemeClr>
                </a:solidFill>
                <a:latin typeface="Fund Light" pitchFamily="2" charset="-78"/>
                <a:cs typeface="Fund Light" pitchFamily="2" charset="-78"/>
              </a:rPr>
              <a:t>Deprioritized products:</a:t>
            </a:r>
            <a:br>
              <a:rPr lang="it-IT" sz="1000">
                <a:solidFill>
                  <a:schemeClr val="bg1">
                    <a:lumMod val="50000"/>
                  </a:schemeClr>
                </a:solidFill>
                <a:latin typeface="Fund Light" pitchFamily="2" charset="-78"/>
                <a:cs typeface="Fund Light" pitchFamily="2" charset="-78"/>
              </a:rPr>
            </a:br>
            <a:r>
              <a:rPr lang="it-IT" sz="1000" b="1">
                <a:solidFill>
                  <a:schemeClr val="bg1">
                    <a:lumMod val="50000"/>
                  </a:schemeClr>
                </a:solidFill>
                <a:latin typeface="Fund Light" pitchFamily="2" charset="-78"/>
                <a:cs typeface="Fund Light" pitchFamily="2" charset="-78"/>
              </a:rPr>
              <a:t>Low-to-medium scale and medium-to-high localization</a:t>
            </a:r>
            <a:endParaRPr lang="en-US" sz="1000" b="1">
              <a:solidFill>
                <a:schemeClr val="bg1">
                  <a:lumMod val="50000"/>
                </a:schemeClr>
              </a:solidFill>
              <a:latin typeface="Fund Light" pitchFamily="2" charset="-78"/>
              <a:cs typeface="Fund Light" pitchFamily="2" charset="-78"/>
            </a:endParaRPr>
          </a:p>
        </p:txBody>
      </p:sp>
      <p:cxnSp>
        <p:nvCxnSpPr>
          <p:cNvPr id="13" name="Straight Arrow Connector 12">
            <a:extLst>
              <a:ext uri="{FF2B5EF4-FFF2-40B4-BE49-F238E27FC236}">
                <a16:creationId xmlns:a16="http://schemas.microsoft.com/office/drawing/2014/main" id="{C14F4515-DAFD-BDDF-FC05-14316F27BA3E}"/>
              </a:ext>
            </a:extLst>
          </p:cNvPr>
          <p:cNvCxnSpPr>
            <a:cxnSpLocks/>
          </p:cNvCxnSpPr>
          <p:nvPr/>
        </p:nvCxnSpPr>
        <p:spPr>
          <a:xfrm flipV="1">
            <a:off x="1455376" y="1775930"/>
            <a:ext cx="0" cy="1651000"/>
          </a:xfrm>
          <a:prstGeom prst="straightConnector1">
            <a:avLst/>
          </a:prstGeom>
          <a:ln>
            <a:solidFill>
              <a:schemeClr val="bg1">
                <a:lumMod val="50000"/>
              </a:schemeClr>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9CB543-23F0-B514-9B24-11321ECD7A21}"/>
              </a:ext>
            </a:extLst>
          </p:cNvPr>
          <p:cNvCxnSpPr>
            <a:cxnSpLocks/>
          </p:cNvCxnSpPr>
          <p:nvPr/>
        </p:nvCxnSpPr>
        <p:spPr>
          <a:xfrm flipV="1">
            <a:off x="4437127" y="3703764"/>
            <a:ext cx="4254023" cy="0"/>
          </a:xfrm>
          <a:prstGeom prst="straightConnector1">
            <a:avLst/>
          </a:prstGeom>
          <a:ln>
            <a:solidFill>
              <a:schemeClr val="bg1">
                <a:lumMod val="50000"/>
              </a:schemeClr>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05B7A1D2-2D13-E454-9F4C-9EEB994C3CB2}"/>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Should the product be localized?</a:t>
            </a:r>
          </a:p>
        </p:txBody>
      </p:sp>
      <p:sp>
        <p:nvSpPr>
          <p:cNvPr id="8" name="Oval 7">
            <a:extLst>
              <a:ext uri="{FF2B5EF4-FFF2-40B4-BE49-F238E27FC236}">
                <a16:creationId xmlns:a16="http://schemas.microsoft.com/office/drawing/2014/main" id="{6ECAD2DF-2547-C5B6-2EBD-61B0F7FC90EB}"/>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12" name="TextBox 11">
            <a:extLst>
              <a:ext uri="{FF2B5EF4-FFF2-40B4-BE49-F238E27FC236}">
                <a16:creationId xmlns:a16="http://schemas.microsoft.com/office/drawing/2014/main" id="{315A90E1-9D31-9118-C718-E4CF6D5FE461}"/>
              </a:ext>
            </a:extLst>
          </p:cNvPr>
          <p:cNvSpPr txBox="1"/>
          <p:nvPr/>
        </p:nvSpPr>
        <p:spPr>
          <a:xfrm>
            <a:off x="292100" y="597717"/>
            <a:ext cx="8519188" cy="400110"/>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Post mapping every product along the two dimensions, plot them on an XY chart – Y-axis being the scale of demand and X-axis being the level of imports. Select for further evaluation only those products that are at the top right </a:t>
            </a:r>
            <a:r>
              <a:rPr kumimoji="0" lang="en-US" sz="1000" b="0" i="1" u="none" strike="noStrike" kern="0" cap="none" spc="0" normalizeH="0" baseline="0" noProof="0">
                <a:ln>
                  <a:noFill/>
                </a:ln>
                <a:solidFill>
                  <a:srgbClr val="000000"/>
                </a:solidFill>
                <a:effectLst/>
                <a:uLnTx/>
                <a:uFillTx/>
                <a:latin typeface="Fund Light" pitchFamily="2" charset="-78"/>
                <a:cs typeface="Fund Light" pitchFamily="2" charset="-78"/>
                <a:sym typeface="Arial"/>
              </a:rPr>
              <a:t>(high scale and high imports)</a:t>
            </a:r>
            <a:endParaRPr lang="en-US" sz="1000" i="1"/>
          </a:p>
        </p:txBody>
      </p:sp>
      <p:sp>
        <p:nvSpPr>
          <p:cNvPr id="17" name="Rectangle 16">
            <a:extLst>
              <a:ext uri="{FF2B5EF4-FFF2-40B4-BE49-F238E27FC236}">
                <a16:creationId xmlns:a16="http://schemas.microsoft.com/office/drawing/2014/main" id="{B9253FD4-5C62-557B-5406-2A126EA11907}"/>
              </a:ext>
            </a:extLst>
          </p:cNvPr>
          <p:cNvSpPr/>
          <p:nvPr/>
        </p:nvSpPr>
        <p:spPr>
          <a:xfrm>
            <a:off x="292100" y="1770014"/>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High</a:t>
            </a:r>
          </a:p>
          <a:p>
            <a:pPr algn="ctr">
              <a:spcBef>
                <a:spcPts val="400"/>
              </a:spcBef>
            </a:pPr>
            <a:r>
              <a:rPr lang="en-GB" sz="1000">
                <a:solidFill>
                  <a:schemeClr val="tx1"/>
                </a:solidFill>
                <a:latin typeface="Fund Light" pitchFamily="2" charset="-78"/>
                <a:cs typeface="Fund Light" pitchFamily="2" charset="-78"/>
              </a:rPr>
              <a:t>(20%)</a:t>
            </a:r>
          </a:p>
        </p:txBody>
      </p:sp>
      <p:sp>
        <p:nvSpPr>
          <p:cNvPr id="18" name="Rectangle 17">
            <a:extLst>
              <a:ext uri="{FF2B5EF4-FFF2-40B4-BE49-F238E27FC236}">
                <a16:creationId xmlns:a16="http://schemas.microsoft.com/office/drawing/2014/main" id="{DB1E866C-64CC-28EA-00A5-427647F6C8BC}"/>
              </a:ext>
            </a:extLst>
          </p:cNvPr>
          <p:cNvSpPr/>
          <p:nvPr/>
        </p:nvSpPr>
        <p:spPr>
          <a:xfrm>
            <a:off x="292100" y="3932918"/>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Low</a:t>
            </a:r>
          </a:p>
          <a:p>
            <a:pPr algn="ctr">
              <a:spcBef>
                <a:spcPts val="400"/>
              </a:spcBef>
            </a:pPr>
            <a:r>
              <a:rPr lang="en-GB" sz="1000">
                <a:solidFill>
                  <a:schemeClr val="tx1"/>
                </a:solidFill>
                <a:latin typeface="Fund Light" pitchFamily="2" charset="-78"/>
                <a:cs typeface="Fund Light" pitchFamily="2" charset="-78"/>
              </a:rPr>
              <a:t>(1%)</a:t>
            </a:r>
          </a:p>
        </p:txBody>
      </p:sp>
      <p:sp>
        <p:nvSpPr>
          <p:cNvPr id="19" name="Rectangle 18">
            <a:extLst>
              <a:ext uri="{FF2B5EF4-FFF2-40B4-BE49-F238E27FC236}">
                <a16:creationId xmlns:a16="http://schemas.microsoft.com/office/drawing/2014/main" id="{F0D6E779-D9B6-D75F-75DA-4FDF425D6703}"/>
              </a:ext>
            </a:extLst>
          </p:cNvPr>
          <p:cNvSpPr/>
          <p:nvPr/>
        </p:nvSpPr>
        <p:spPr>
          <a:xfrm>
            <a:off x="292100" y="2829819"/>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Medium</a:t>
            </a:r>
          </a:p>
          <a:p>
            <a:pPr algn="ctr">
              <a:spcBef>
                <a:spcPts val="400"/>
              </a:spcBef>
            </a:pPr>
            <a:r>
              <a:rPr lang="en-GB" sz="1000">
                <a:solidFill>
                  <a:schemeClr val="tx1"/>
                </a:solidFill>
                <a:latin typeface="Fund Light" pitchFamily="2" charset="-78"/>
                <a:cs typeface="Fund Light" pitchFamily="2" charset="-78"/>
              </a:rPr>
              <a:t>(5%)</a:t>
            </a:r>
          </a:p>
        </p:txBody>
      </p:sp>
      <p:sp>
        <p:nvSpPr>
          <p:cNvPr id="29" name="Rectangle 28">
            <a:extLst>
              <a:ext uri="{FF2B5EF4-FFF2-40B4-BE49-F238E27FC236}">
                <a16:creationId xmlns:a16="http://schemas.microsoft.com/office/drawing/2014/main" id="{DB325F35-788C-368C-FDE7-4A9CBAB3814E}"/>
              </a:ext>
            </a:extLst>
          </p:cNvPr>
          <p:cNvSpPr/>
          <p:nvPr/>
        </p:nvSpPr>
        <p:spPr>
          <a:xfrm>
            <a:off x="720742" y="4082803"/>
            <a:ext cx="1307441"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Low (0%)</a:t>
            </a:r>
          </a:p>
        </p:txBody>
      </p:sp>
      <p:sp>
        <p:nvSpPr>
          <p:cNvPr id="34" name="Rectangle 33">
            <a:extLst>
              <a:ext uri="{FF2B5EF4-FFF2-40B4-BE49-F238E27FC236}">
                <a16:creationId xmlns:a16="http://schemas.microsoft.com/office/drawing/2014/main" id="{5F6E5480-C89A-5E64-2BC4-378498928BC7}"/>
              </a:ext>
            </a:extLst>
          </p:cNvPr>
          <p:cNvSpPr/>
          <p:nvPr/>
        </p:nvSpPr>
        <p:spPr>
          <a:xfrm>
            <a:off x="7782646" y="4082803"/>
            <a:ext cx="1000799"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High (100%)</a:t>
            </a:r>
          </a:p>
        </p:txBody>
      </p:sp>
      <p:sp>
        <p:nvSpPr>
          <p:cNvPr id="35" name="Rectangle 34">
            <a:extLst>
              <a:ext uri="{FF2B5EF4-FFF2-40B4-BE49-F238E27FC236}">
                <a16:creationId xmlns:a16="http://schemas.microsoft.com/office/drawing/2014/main" id="{3DDD4F55-DF98-0B43-8B86-90D793D63778}"/>
              </a:ext>
            </a:extLst>
          </p:cNvPr>
          <p:cNvSpPr/>
          <p:nvPr/>
        </p:nvSpPr>
        <p:spPr>
          <a:xfrm>
            <a:off x="4370283" y="4082803"/>
            <a:ext cx="1307441"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Medium (50%)</a:t>
            </a:r>
          </a:p>
        </p:txBody>
      </p:sp>
      <p:sp>
        <p:nvSpPr>
          <p:cNvPr id="37" name="Text Placeholder 1">
            <a:extLst>
              <a:ext uri="{FF2B5EF4-FFF2-40B4-BE49-F238E27FC236}">
                <a16:creationId xmlns:a16="http://schemas.microsoft.com/office/drawing/2014/main" id="{CF30069B-7C0F-B5A8-4698-59CB9BFF5C7E}"/>
              </a:ext>
            </a:extLst>
          </p:cNvPr>
          <p:cNvSpPr txBox="1">
            <a:spLocks/>
          </p:cNvSpPr>
          <p:nvPr/>
        </p:nvSpPr>
        <p:spPr>
          <a:xfrm>
            <a:off x="1551727" y="4767025"/>
            <a:ext cx="6656706" cy="274834"/>
          </a:xfrm>
          <a:prstGeom prst="rect">
            <a:avLst/>
          </a:prstGeom>
        </p:spPr>
        <p:txBody>
          <a:bodyPr anchor="t"/>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sz="600"/>
              <a:t>Notes: The thresholds / categories will vary by category / company – overall, prioritize categories in the top right quadrant (high spend and high imports)</a:t>
            </a:r>
          </a:p>
        </p:txBody>
      </p:sp>
      <p:sp>
        <p:nvSpPr>
          <p:cNvPr id="20" name="Speech Bubble: Rectangle 19">
            <a:extLst>
              <a:ext uri="{FF2B5EF4-FFF2-40B4-BE49-F238E27FC236}">
                <a16:creationId xmlns:a16="http://schemas.microsoft.com/office/drawing/2014/main" id="{7FC25BD1-3FAC-FB21-F4BA-904B9960E3E9}"/>
              </a:ext>
            </a:extLst>
          </p:cNvPr>
          <p:cNvSpPr/>
          <p:nvPr/>
        </p:nvSpPr>
        <p:spPr>
          <a:xfrm>
            <a:off x="232034" y="4425352"/>
            <a:ext cx="4501151" cy="234442"/>
          </a:xfrm>
          <a:prstGeom prst="wedgeRectCallout">
            <a:avLst>
              <a:gd name="adj1" fmla="val -27702"/>
              <a:gd name="adj2" fmla="val -3528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1. Only refers to company level procurement spend, not across the country</a:t>
            </a:r>
          </a:p>
        </p:txBody>
      </p:sp>
    </p:spTree>
    <p:extLst>
      <p:ext uri="{BB962C8B-B14F-4D97-AF65-F5344CB8AC3E}">
        <p14:creationId xmlns:p14="http://schemas.microsoft.com/office/powerpoint/2010/main" val="3472988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63" name="Group 62">
            <a:extLst>
              <a:ext uri="{FF2B5EF4-FFF2-40B4-BE49-F238E27FC236}">
                <a16:creationId xmlns:a16="http://schemas.microsoft.com/office/drawing/2014/main" id="{F2DF364F-3B57-6ED9-6B7D-0B03C2B50092}"/>
              </a:ext>
            </a:extLst>
          </p:cNvPr>
          <p:cNvGrpSpPr/>
          <p:nvPr/>
        </p:nvGrpSpPr>
        <p:grpSpPr>
          <a:xfrm>
            <a:off x="702322" y="1595064"/>
            <a:ext cx="7885301" cy="2360754"/>
            <a:chOff x="848906" y="1445549"/>
            <a:chExt cx="7885301" cy="2360754"/>
          </a:xfrm>
        </p:grpSpPr>
        <p:grpSp>
          <p:nvGrpSpPr>
            <p:cNvPr id="61" name="Group 60">
              <a:extLst>
                <a:ext uri="{FF2B5EF4-FFF2-40B4-BE49-F238E27FC236}">
                  <a16:creationId xmlns:a16="http://schemas.microsoft.com/office/drawing/2014/main" id="{3D440A72-E9C0-868C-60C5-C384B27D16A7}"/>
                </a:ext>
              </a:extLst>
            </p:cNvPr>
            <p:cNvGrpSpPr/>
            <p:nvPr/>
          </p:nvGrpSpPr>
          <p:grpSpPr>
            <a:xfrm>
              <a:off x="848906" y="1445549"/>
              <a:ext cx="7885301" cy="2360754"/>
              <a:chOff x="848906" y="1445549"/>
              <a:chExt cx="7885301" cy="2360754"/>
            </a:xfrm>
          </p:grpSpPr>
          <p:sp>
            <p:nvSpPr>
              <p:cNvPr id="9" name="Rectangle 8">
                <a:extLst>
                  <a:ext uri="{FF2B5EF4-FFF2-40B4-BE49-F238E27FC236}">
                    <a16:creationId xmlns:a16="http://schemas.microsoft.com/office/drawing/2014/main" id="{F30FAC16-6411-EF2D-6A90-0D478850AE66}"/>
                  </a:ext>
                </a:extLst>
              </p:cNvPr>
              <p:cNvSpPr/>
              <p:nvPr/>
            </p:nvSpPr>
            <p:spPr>
              <a:xfrm>
                <a:off x="848906" y="1445549"/>
                <a:ext cx="2634864" cy="769192"/>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sp>
            <p:nvSpPr>
              <p:cNvPr id="11" name="Rectangle 10">
                <a:extLst>
                  <a:ext uri="{FF2B5EF4-FFF2-40B4-BE49-F238E27FC236}">
                    <a16:creationId xmlns:a16="http://schemas.microsoft.com/office/drawing/2014/main" id="{A67AFEE2-E740-65D9-8DA8-B2F7BE3655F5}"/>
                  </a:ext>
                </a:extLst>
              </p:cNvPr>
              <p:cNvSpPr/>
              <p:nvPr/>
            </p:nvSpPr>
            <p:spPr>
              <a:xfrm>
                <a:off x="848906" y="2183798"/>
                <a:ext cx="2634864" cy="884256"/>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sp>
            <p:nvSpPr>
              <p:cNvPr id="21" name="Rectangle 20">
                <a:extLst>
                  <a:ext uri="{FF2B5EF4-FFF2-40B4-BE49-F238E27FC236}">
                    <a16:creationId xmlns:a16="http://schemas.microsoft.com/office/drawing/2014/main" id="{8A438910-F2F2-4E75-2B24-6F9965FDFA67}"/>
                  </a:ext>
                </a:extLst>
              </p:cNvPr>
              <p:cNvSpPr/>
              <p:nvPr/>
            </p:nvSpPr>
            <p:spPr>
              <a:xfrm>
                <a:off x="848906" y="3037111"/>
                <a:ext cx="2634864" cy="769192"/>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sp>
            <p:nvSpPr>
              <p:cNvPr id="25" name="Rectangle 24">
                <a:extLst>
                  <a:ext uri="{FF2B5EF4-FFF2-40B4-BE49-F238E27FC236}">
                    <a16:creationId xmlns:a16="http://schemas.microsoft.com/office/drawing/2014/main" id="{DF8BE37C-709F-30ED-825C-57890A99646B}"/>
                  </a:ext>
                </a:extLst>
              </p:cNvPr>
              <p:cNvSpPr/>
              <p:nvPr/>
            </p:nvSpPr>
            <p:spPr>
              <a:xfrm>
                <a:off x="3461095" y="1445549"/>
                <a:ext cx="2634863" cy="769192"/>
              </a:xfrm>
              <a:prstGeom prst="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algn="ctr">
                  <a:spcBef>
                    <a:spcPts val="400"/>
                  </a:spcBef>
                  <a:spcAft>
                    <a:spcPts val="400"/>
                  </a:spcAft>
                </a:pPr>
                <a:r>
                  <a:rPr lang="it-IT" sz="1000" b="1">
                    <a:solidFill>
                      <a:srgbClr val="7F7F7F"/>
                    </a:solidFill>
                    <a:latin typeface="Fund Light" pitchFamily="2" charset="-78"/>
                    <a:cs typeface="Fund Light" pitchFamily="2" charset="-78"/>
                  </a:rPr>
                  <a:t>High spend, medium localization</a:t>
                </a:r>
                <a:endParaRPr lang="en-US" sz="1000" b="1">
                  <a:solidFill>
                    <a:srgbClr val="7F7F7F"/>
                  </a:solidFill>
                  <a:latin typeface="Fund Light" pitchFamily="2" charset="-78"/>
                  <a:cs typeface="Fund Light" pitchFamily="2" charset="-78"/>
                </a:endParaRPr>
              </a:p>
            </p:txBody>
          </p:sp>
          <p:sp>
            <p:nvSpPr>
              <p:cNvPr id="27" name="Rectangle 26">
                <a:extLst>
                  <a:ext uri="{FF2B5EF4-FFF2-40B4-BE49-F238E27FC236}">
                    <a16:creationId xmlns:a16="http://schemas.microsoft.com/office/drawing/2014/main" id="{28D33FD3-D749-E958-CFE3-6E1CC874578A}"/>
                  </a:ext>
                </a:extLst>
              </p:cNvPr>
              <p:cNvSpPr/>
              <p:nvPr/>
            </p:nvSpPr>
            <p:spPr>
              <a:xfrm>
                <a:off x="3461095" y="2183798"/>
                <a:ext cx="2634863" cy="884256"/>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sp>
            <p:nvSpPr>
              <p:cNvPr id="30" name="Rectangle 29">
                <a:extLst>
                  <a:ext uri="{FF2B5EF4-FFF2-40B4-BE49-F238E27FC236}">
                    <a16:creationId xmlns:a16="http://schemas.microsoft.com/office/drawing/2014/main" id="{02815A1E-37E7-0C7F-5B5F-95017006A233}"/>
                  </a:ext>
                </a:extLst>
              </p:cNvPr>
              <p:cNvSpPr/>
              <p:nvPr/>
            </p:nvSpPr>
            <p:spPr>
              <a:xfrm>
                <a:off x="3461095" y="3037111"/>
                <a:ext cx="2634863" cy="769192"/>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sp>
            <p:nvSpPr>
              <p:cNvPr id="37" name="Rectangle 36">
                <a:extLst>
                  <a:ext uri="{FF2B5EF4-FFF2-40B4-BE49-F238E27FC236}">
                    <a16:creationId xmlns:a16="http://schemas.microsoft.com/office/drawing/2014/main" id="{FA801F9D-06C8-E43E-C5AE-65D2C4F3408D}"/>
                  </a:ext>
                </a:extLst>
              </p:cNvPr>
              <p:cNvSpPr/>
              <p:nvPr/>
            </p:nvSpPr>
            <p:spPr>
              <a:xfrm>
                <a:off x="6038850" y="2183798"/>
                <a:ext cx="2695357" cy="884256"/>
              </a:xfrm>
              <a:prstGeom prst="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algn="ctr">
                  <a:spcBef>
                    <a:spcPts val="400"/>
                  </a:spcBef>
                  <a:spcAft>
                    <a:spcPts val="400"/>
                  </a:spcAft>
                </a:pPr>
                <a:r>
                  <a:rPr lang="it-IT" sz="1000" b="1">
                    <a:solidFill>
                      <a:srgbClr val="7F7F7F"/>
                    </a:solidFill>
                    <a:latin typeface="Fund Light" pitchFamily="2" charset="-78"/>
                    <a:cs typeface="Fund Light" pitchFamily="2" charset="-78"/>
                  </a:rPr>
                  <a:t>Medium spend, low localizaiton</a:t>
                </a:r>
                <a:endParaRPr lang="en-US" sz="1000" b="1">
                  <a:solidFill>
                    <a:srgbClr val="7F7F7F"/>
                  </a:solidFill>
                  <a:latin typeface="Fund Light" pitchFamily="2" charset="-78"/>
                  <a:cs typeface="Fund Light" pitchFamily="2" charset="-78"/>
                </a:endParaRPr>
              </a:p>
            </p:txBody>
          </p:sp>
          <p:sp>
            <p:nvSpPr>
              <p:cNvPr id="45" name="Rectangle 44">
                <a:extLst>
                  <a:ext uri="{FF2B5EF4-FFF2-40B4-BE49-F238E27FC236}">
                    <a16:creationId xmlns:a16="http://schemas.microsoft.com/office/drawing/2014/main" id="{51B5D732-633D-5143-DBD2-11D4D503B221}"/>
                  </a:ext>
                </a:extLst>
              </p:cNvPr>
              <p:cNvSpPr/>
              <p:nvPr/>
            </p:nvSpPr>
            <p:spPr>
              <a:xfrm>
                <a:off x="6038850" y="3037111"/>
                <a:ext cx="2695357" cy="769192"/>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lumMod val="50000"/>
                    </a:schemeClr>
                  </a:solidFill>
                  <a:latin typeface="Fund Light" pitchFamily="2" charset="-78"/>
                  <a:cs typeface="Fund Light" pitchFamily="2" charset="-78"/>
                </a:endParaRPr>
              </a:p>
            </p:txBody>
          </p:sp>
        </p:grpSp>
        <p:sp>
          <p:nvSpPr>
            <p:cNvPr id="31" name="Rectangle 30">
              <a:extLst>
                <a:ext uri="{FF2B5EF4-FFF2-40B4-BE49-F238E27FC236}">
                  <a16:creationId xmlns:a16="http://schemas.microsoft.com/office/drawing/2014/main" id="{D67BF062-497A-A5B3-8753-62E29C65BC21}"/>
                </a:ext>
              </a:extLst>
            </p:cNvPr>
            <p:cNvSpPr/>
            <p:nvPr/>
          </p:nvSpPr>
          <p:spPr>
            <a:xfrm>
              <a:off x="6038850" y="1445549"/>
              <a:ext cx="2695357" cy="769192"/>
            </a:xfrm>
            <a:prstGeom prst="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algn="ctr">
                <a:spcBef>
                  <a:spcPts val="400"/>
                </a:spcBef>
                <a:spcAft>
                  <a:spcPts val="400"/>
                </a:spcAft>
              </a:pPr>
              <a:r>
                <a:rPr lang="it-IT" sz="1000" b="1">
                  <a:solidFill>
                    <a:srgbClr val="7F7F7F"/>
                  </a:solidFill>
                  <a:latin typeface="Fund Light" pitchFamily="2" charset="-78"/>
                  <a:cs typeface="Fund Light" pitchFamily="2" charset="-78"/>
                </a:rPr>
                <a:t>High spend, low localization</a:t>
              </a:r>
              <a:endParaRPr lang="en-US" sz="1000" b="1">
                <a:solidFill>
                  <a:srgbClr val="7F7F7F"/>
                </a:solidFill>
                <a:latin typeface="Fund Light" pitchFamily="2" charset="-78"/>
                <a:cs typeface="Fund Light" pitchFamily="2" charset="-78"/>
              </a:endParaRPr>
            </a:p>
          </p:txBody>
        </p:sp>
      </p:grpSp>
      <p:sp>
        <p:nvSpPr>
          <p:cNvPr id="59" name="Freeform: Shape 58">
            <a:extLst>
              <a:ext uri="{FF2B5EF4-FFF2-40B4-BE49-F238E27FC236}">
                <a16:creationId xmlns:a16="http://schemas.microsoft.com/office/drawing/2014/main" id="{7AF07E6A-BCBD-1581-B9AF-FC564DD565AF}"/>
              </a:ext>
            </a:extLst>
          </p:cNvPr>
          <p:cNvSpPr/>
          <p:nvPr/>
        </p:nvSpPr>
        <p:spPr>
          <a:xfrm>
            <a:off x="3265614" y="1595064"/>
            <a:ext cx="5371247" cy="1398554"/>
          </a:xfrm>
          <a:custGeom>
            <a:avLst/>
            <a:gdLst>
              <a:gd name="connsiteX0" fmla="*/ 4096 w 5371247"/>
              <a:gd name="connsiteY0" fmla="*/ 0 h 1398554"/>
              <a:gd name="connsiteX1" fmla="*/ 5371247 w 5371247"/>
              <a:gd name="connsiteY1" fmla="*/ 0 h 1398554"/>
              <a:gd name="connsiteX2" fmla="*/ 5371247 w 5371247"/>
              <a:gd name="connsiteY2" fmla="*/ 1393456 h 1398554"/>
              <a:gd name="connsiteX3" fmla="*/ 4998720 w 5371247"/>
              <a:gd name="connsiteY3" fmla="*/ 1398554 h 1398554"/>
              <a:gd name="connsiteX4" fmla="*/ 0 w 5371247"/>
              <a:gd name="connsiteY4" fmla="*/ 43904 h 1398554"/>
              <a:gd name="connsiteX5" fmla="*/ 4096 w 5371247"/>
              <a:gd name="connsiteY5" fmla="*/ 0 h 139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247" h="1398554">
                <a:moveTo>
                  <a:pt x="4096" y="0"/>
                </a:moveTo>
                <a:lnTo>
                  <a:pt x="5371247" y="0"/>
                </a:lnTo>
                <a:lnTo>
                  <a:pt x="5371247" y="1393456"/>
                </a:lnTo>
                <a:lnTo>
                  <a:pt x="4998720" y="1398554"/>
                </a:lnTo>
                <a:cubicBezTo>
                  <a:pt x="2238003" y="1398554"/>
                  <a:pt x="0" y="792057"/>
                  <a:pt x="0" y="43904"/>
                </a:cubicBezTo>
                <a:lnTo>
                  <a:pt x="4096" y="0"/>
                </a:lnTo>
                <a:close/>
              </a:path>
            </a:pathLst>
          </a:custGeom>
          <a:solidFill>
            <a:schemeClr val="bg2"/>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Output example for selecting products for localization</a:t>
            </a:r>
          </a:p>
        </p:txBody>
      </p:sp>
      <p:sp>
        <p:nvSpPr>
          <p:cNvPr id="36" name="Rectangle 35">
            <a:extLst>
              <a:ext uri="{FF2B5EF4-FFF2-40B4-BE49-F238E27FC236}">
                <a16:creationId xmlns:a16="http://schemas.microsoft.com/office/drawing/2014/main" id="{0FE6D769-FBDA-409F-968D-B6FC32C03DB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Output example</a:t>
            </a:r>
          </a:p>
        </p:txBody>
      </p:sp>
      <p:sp>
        <p:nvSpPr>
          <p:cNvPr id="3" name="Rectangle 2">
            <a:extLst>
              <a:ext uri="{FF2B5EF4-FFF2-40B4-BE49-F238E27FC236}">
                <a16:creationId xmlns:a16="http://schemas.microsoft.com/office/drawing/2014/main" id="{EFB722DB-533E-6FBB-9EEE-4A069D03443F}"/>
              </a:ext>
            </a:extLst>
          </p:cNvPr>
          <p:cNvSpPr/>
          <p:nvPr/>
        </p:nvSpPr>
        <p:spPr>
          <a:xfrm>
            <a:off x="381515" y="1124860"/>
            <a:ext cx="3729857" cy="38232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spcBef>
                <a:spcPts val="400"/>
              </a:spcBef>
            </a:pPr>
            <a:r>
              <a:rPr lang="en-GB" sz="1067" b="1">
                <a:solidFill>
                  <a:srgbClr val="000000"/>
                </a:solidFill>
                <a:latin typeface="Fund Light" pitchFamily="2" charset="-78"/>
                <a:cs typeface="Fund Light" pitchFamily="2" charset="-78"/>
              </a:rPr>
              <a:t>Scale of demand </a:t>
            </a:r>
            <a:r>
              <a:rPr lang="en-GB" sz="1067" i="1">
                <a:solidFill>
                  <a:srgbClr val="000000"/>
                </a:solidFill>
                <a:latin typeface="Fund Light" pitchFamily="2" charset="-78"/>
                <a:cs typeface="Fund Light" pitchFamily="2" charset="-78"/>
              </a:rPr>
              <a:t>(</a:t>
            </a:r>
            <a:r>
              <a:rPr lang="en-US" sz="1067" i="1">
                <a:solidFill>
                  <a:srgbClr val="000000"/>
                </a:solidFill>
                <a:latin typeface="Fund Light" pitchFamily="2" charset="-78"/>
                <a:cs typeface="Fund Light" pitchFamily="2" charset="-78"/>
              </a:rPr>
              <a:t>Annual product spend as % of the total annual company procurement spend)</a:t>
            </a:r>
            <a:endParaRPr lang="en-GB" sz="1067" i="1">
              <a:solidFill>
                <a:srgbClr val="000000"/>
              </a:solidFill>
              <a:latin typeface="Fund Light" pitchFamily="2" charset="-78"/>
              <a:cs typeface="Fund Light" pitchFamily="2" charset="-78"/>
            </a:endParaRPr>
          </a:p>
        </p:txBody>
      </p:sp>
      <p:sp>
        <p:nvSpPr>
          <p:cNvPr id="8" name="Oval 7">
            <a:extLst>
              <a:ext uri="{FF2B5EF4-FFF2-40B4-BE49-F238E27FC236}">
                <a16:creationId xmlns:a16="http://schemas.microsoft.com/office/drawing/2014/main" id="{60203E85-1A94-A46B-B834-B396A15AE1AC}"/>
              </a:ext>
            </a:extLst>
          </p:cNvPr>
          <p:cNvSpPr/>
          <p:nvPr/>
        </p:nvSpPr>
        <p:spPr>
          <a:xfrm>
            <a:off x="192071" y="1170790"/>
            <a:ext cx="182880" cy="18495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spcBef>
                <a:spcPts val="300"/>
              </a:spcBef>
              <a:spcAft>
                <a:spcPts val="300"/>
              </a:spcAft>
            </a:pPr>
            <a:r>
              <a:rPr lang="en-US" sz="1050">
                <a:solidFill>
                  <a:schemeClr val="bg1"/>
                </a:solidFill>
                <a:latin typeface="Fund Light" pitchFamily="2" charset="-78"/>
                <a:cs typeface="Fund Light" pitchFamily="2" charset="-78"/>
              </a:rPr>
              <a:t>1</a:t>
            </a:r>
          </a:p>
        </p:txBody>
      </p:sp>
      <p:sp>
        <p:nvSpPr>
          <p:cNvPr id="46" name="Rectangle 45">
            <a:extLst>
              <a:ext uri="{FF2B5EF4-FFF2-40B4-BE49-F238E27FC236}">
                <a16:creationId xmlns:a16="http://schemas.microsoft.com/office/drawing/2014/main" id="{718AC1E6-8A52-A2D0-7C20-A5BE4596D214}"/>
              </a:ext>
            </a:extLst>
          </p:cNvPr>
          <p:cNvSpPr/>
          <p:nvPr/>
        </p:nvSpPr>
        <p:spPr>
          <a:xfrm>
            <a:off x="145516" y="1682795"/>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High</a:t>
            </a:r>
          </a:p>
          <a:p>
            <a:pPr algn="ctr">
              <a:spcBef>
                <a:spcPts val="400"/>
              </a:spcBef>
            </a:pPr>
            <a:r>
              <a:rPr lang="en-GB" sz="1000">
                <a:solidFill>
                  <a:schemeClr val="tx1"/>
                </a:solidFill>
                <a:latin typeface="Fund Light" pitchFamily="2" charset="-78"/>
                <a:cs typeface="Fund Light" pitchFamily="2" charset="-78"/>
              </a:rPr>
              <a:t>(20%)</a:t>
            </a:r>
          </a:p>
        </p:txBody>
      </p:sp>
      <p:sp>
        <p:nvSpPr>
          <p:cNvPr id="47" name="Rectangle 46">
            <a:extLst>
              <a:ext uri="{FF2B5EF4-FFF2-40B4-BE49-F238E27FC236}">
                <a16:creationId xmlns:a16="http://schemas.microsoft.com/office/drawing/2014/main" id="{E3386C1A-1036-EDCF-F282-FF5F4177A19B}"/>
              </a:ext>
            </a:extLst>
          </p:cNvPr>
          <p:cNvSpPr/>
          <p:nvPr/>
        </p:nvSpPr>
        <p:spPr>
          <a:xfrm>
            <a:off x="145516" y="3845699"/>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Low</a:t>
            </a:r>
          </a:p>
          <a:p>
            <a:pPr algn="ctr">
              <a:spcBef>
                <a:spcPts val="400"/>
              </a:spcBef>
            </a:pPr>
            <a:r>
              <a:rPr lang="en-GB" sz="1000">
                <a:solidFill>
                  <a:schemeClr val="tx1"/>
                </a:solidFill>
                <a:latin typeface="Fund Light" pitchFamily="2" charset="-78"/>
                <a:cs typeface="Fund Light" pitchFamily="2" charset="-78"/>
              </a:rPr>
              <a:t>(1%)</a:t>
            </a:r>
          </a:p>
        </p:txBody>
      </p:sp>
      <p:sp>
        <p:nvSpPr>
          <p:cNvPr id="48" name="Rectangle 47">
            <a:extLst>
              <a:ext uri="{FF2B5EF4-FFF2-40B4-BE49-F238E27FC236}">
                <a16:creationId xmlns:a16="http://schemas.microsoft.com/office/drawing/2014/main" id="{10506DC6-552D-1E74-0E92-5569C78226A9}"/>
              </a:ext>
            </a:extLst>
          </p:cNvPr>
          <p:cNvSpPr/>
          <p:nvPr/>
        </p:nvSpPr>
        <p:spPr>
          <a:xfrm>
            <a:off x="574158" y="4026734"/>
            <a:ext cx="1307441"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Low (0%)</a:t>
            </a:r>
          </a:p>
        </p:txBody>
      </p:sp>
      <p:cxnSp>
        <p:nvCxnSpPr>
          <p:cNvPr id="49" name="Straight Arrow Connector 48">
            <a:extLst>
              <a:ext uri="{FF2B5EF4-FFF2-40B4-BE49-F238E27FC236}">
                <a16:creationId xmlns:a16="http://schemas.microsoft.com/office/drawing/2014/main" id="{71978DA4-99E8-A16B-8167-32B9EFFF8591}"/>
              </a:ext>
            </a:extLst>
          </p:cNvPr>
          <p:cNvCxnSpPr>
            <a:cxnSpLocks/>
          </p:cNvCxnSpPr>
          <p:nvPr/>
        </p:nvCxnSpPr>
        <p:spPr>
          <a:xfrm flipV="1">
            <a:off x="653749" y="1603301"/>
            <a:ext cx="0" cy="2387975"/>
          </a:xfrm>
          <a:prstGeom prst="straightConnector1">
            <a:avLst/>
          </a:prstGeom>
          <a:ln w="1270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4F2A230-FC58-DE00-57C3-0B9CADADB009}"/>
              </a:ext>
            </a:extLst>
          </p:cNvPr>
          <p:cNvCxnSpPr>
            <a:cxnSpLocks/>
          </p:cNvCxnSpPr>
          <p:nvPr/>
        </p:nvCxnSpPr>
        <p:spPr>
          <a:xfrm>
            <a:off x="653749" y="3991276"/>
            <a:ext cx="7975684" cy="0"/>
          </a:xfrm>
          <a:prstGeom prst="straightConnector1">
            <a:avLst/>
          </a:prstGeom>
          <a:ln w="1270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3A09995A-6DF9-6307-B946-89CC4747EB5D}"/>
              </a:ext>
            </a:extLst>
          </p:cNvPr>
          <p:cNvSpPr/>
          <p:nvPr/>
        </p:nvSpPr>
        <p:spPr>
          <a:xfrm>
            <a:off x="7636062" y="4026734"/>
            <a:ext cx="1000799"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High (100%)</a:t>
            </a:r>
          </a:p>
        </p:txBody>
      </p:sp>
      <p:sp>
        <p:nvSpPr>
          <p:cNvPr id="55" name="Rectangle 54">
            <a:extLst>
              <a:ext uri="{FF2B5EF4-FFF2-40B4-BE49-F238E27FC236}">
                <a16:creationId xmlns:a16="http://schemas.microsoft.com/office/drawing/2014/main" id="{6E3B0D38-BCDB-AE60-53F7-78A1CF1F7B7F}"/>
              </a:ext>
            </a:extLst>
          </p:cNvPr>
          <p:cNvSpPr/>
          <p:nvPr/>
        </p:nvSpPr>
        <p:spPr>
          <a:xfrm>
            <a:off x="5346589" y="1575372"/>
            <a:ext cx="3252897" cy="1010850"/>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182880" rIns="91440" bIns="91440" numCol="1" spcCol="0" rtlCol="0" fromWordArt="0" anchor="ctr" anchorCtr="0" forceAA="0" compatLnSpc="1">
            <a:prstTxWarp prst="textNoShape">
              <a:avLst/>
            </a:prstTxWarp>
            <a:noAutofit/>
          </a:bodyPr>
          <a:lstStyle/>
          <a:p>
            <a:pPr algn="ctr">
              <a:spcBef>
                <a:spcPts val="400"/>
              </a:spcBef>
              <a:spcAft>
                <a:spcPts val="400"/>
              </a:spcAft>
            </a:pPr>
            <a:endParaRPr lang="en-US" sz="1000" b="1">
              <a:solidFill>
                <a:schemeClr val="bg1"/>
              </a:solidFill>
              <a:latin typeface="Fund Light" pitchFamily="2" charset="-78"/>
              <a:cs typeface="Fund Light" pitchFamily="2" charset="-78"/>
            </a:endParaRPr>
          </a:p>
        </p:txBody>
      </p:sp>
      <p:sp>
        <p:nvSpPr>
          <p:cNvPr id="40" name="Rectangle 39">
            <a:extLst>
              <a:ext uri="{FF2B5EF4-FFF2-40B4-BE49-F238E27FC236}">
                <a16:creationId xmlns:a16="http://schemas.microsoft.com/office/drawing/2014/main" id="{9788B1E2-51E9-53F6-541D-A52AFCF98B74}"/>
              </a:ext>
            </a:extLst>
          </p:cNvPr>
          <p:cNvSpPr/>
          <p:nvPr/>
        </p:nvSpPr>
        <p:spPr>
          <a:xfrm>
            <a:off x="2254538" y="3601243"/>
            <a:ext cx="1469579"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a:solidFill>
                  <a:schemeClr val="tx1"/>
                </a:solidFill>
                <a:latin typeface="Fund Light" pitchFamily="2" charset="-78"/>
                <a:cs typeface="Fund Light" pitchFamily="2" charset="-78"/>
              </a:rPr>
              <a:t>Office furniture</a:t>
            </a:r>
          </a:p>
        </p:txBody>
      </p:sp>
      <p:sp>
        <p:nvSpPr>
          <p:cNvPr id="41" name="Flowchart: Connector 40">
            <a:extLst>
              <a:ext uri="{FF2B5EF4-FFF2-40B4-BE49-F238E27FC236}">
                <a16:creationId xmlns:a16="http://schemas.microsoft.com/office/drawing/2014/main" id="{E1510F1D-6D07-69E7-654F-D242FAEF417C}"/>
              </a:ext>
            </a:extLst>
          </p:cNvPr>
          <p:cNvSpPr/>
          <p:nvPr/>
        </p:nvSpPr>
        <p:spPr>
          <a:xfrm>
            <a:off x="3683372" y="3683923"/>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Text Placeholder 6">
            <a:extLst>
              <a:ext uri="{FF2B5EF4-FFF2-40B4-BE49-F238E27FC236}">
                <a16:creationId xmlns:a16="http://schemas.microsoft.com/office/drawing/2014/main" id="{4329F4F4-1757-F0F1-947E-EE7A8DEE84B4}"/>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Should the product be localized?</a:t>
            </a:r>
          </a:p>
        </p:txBody>
      </p:sp>
      <p:sp>
        <p:nvSpPr>
          <p:cNvPr id="58" name="Oval 57">
            <a:extLst>
              <a:ext uri="{FF2B5EF4-FFF2-40B4-BE49-F238E27FC236}">
                <a16:creationId xmlns:a16="http://schemas.microsoft.com/office/drawing/2014/main" id="{01999F8C-FF51-D3AB-732C-B52BCB329A55}"/>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64" name="Speech Bubble: Rectangle 63">
            <a:extLst>
              <a:ext uri="{FF2B5EF4-FFF2-40B4-BE49-F238E27FC236}">
                <a16:creationId xmlns:a16="http://schemas.microsoft.com/office/drawing/2014/main" id="{1414B1D6-E736-76DB-5ADD-E3EE6BAE409C}"/>
              </a:ext>
            </a:extLst>
          </p:cNvPr>
          <p:cNvSpPr/>
          <p:nvPr/>
        </p:nvSpPr>
        <p:spPr>
          <a:xfrm>
            <a:off x="4030133" y="828346"/>
            <a:ext cx="4921795" cy="533920"/>
          </a:xfrm>
          <a:prstGeom prst="wedgeRectCallout">
            <a:avLst>
              <a:gd name="adj1" fmla="val -12757"/>
              <a:gd name="adj2" fmla="val 84990"/>
            </a:avLst>
          </a:prstGeom>
          <a:solidFill>
            <a:schemeClr val="bg1"/>
          </a:solidFill>
          <a:ln>
            <a:solidFill>
              <a:schemeClr val="bg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rgbClr val="000000"/>
                </a:solidFill>
                <a:latin typeface="Fund Light" pitchFamily="2" charset="-78"/>
                <a:cs typeface="Fund Light" pitchFamily="2" charset="-78"/>
              </a:rPr>
              <a:t>In this example, four products </a:t>
            </a:r>
            <a:r>
              <a:rPr lang="en-US" sz="1000" i="1">
                <a:solidFill>
                  <a:srgbClr val="000000"/>
                </a:solidFill>
                <a:latin typeface="Fund Light" pitchFamily="2" charset="-78"/>
                <a:cs typeface="Fund Light" pitchFamily="2" charset="-78"/>
              </a:rPr>
              <a:t>(electronics, telecom maintenance equipment, network infrastructure, tooling equipment) </a:t>
            </a:r>
            <a:r>
              <a:rPr lang="en-US" sz="1000">
                <a:solidFill>
                  <a:srgbClr val="000000"/>
                </a:solidFill>
                <a:latin typeface="Fund Light" pitchFamily="2" charset="-78"/>
                <a:cs typeface="Fund Light" pitchFamily="2" charset="-78"/>
              </a:rPr>
              <a:t>should be prioritized for further evaluation, given medium-high scale and high imports</a:t>
            </a:r>
          </a:p>
        </p:txBody>
      </p:sp>
      <p:sp>
        <p:nvSpPr>
          <p:cNvPr id="65" name="Rectangle 64">
            <a:extLst>
              <a:ext uri="{FF2B5EF4-FFF2-40B4-BE49-F238E27FC236}">
                <a16:creationId xmlns:a16="http://schemas.microsoft.com/office/drawing/2014/main" id="{34C76ECD-EFBF-1193-67C0-059C6EE8A922}"/>
              </a:ext>
            </a:extLst>
          </p:cNvPr>
          <p:cNvSpPr/>
          <p:nvPr/>
        </p:nvSpPr>
        <p:spPr>
          <a:xfrm>
            <a:off x="5274883" y="595650"/>
            <a:ext cx="3361978"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r">
              <a:spcBef>
                <a:spcPts val="300"/>
              </a:spcBef>
              <a:spcAft>
                <a:spcPts val="300"/>
              </a:spcAft>
            </a:pPr>
            <a:r>
              <a:rPr lang="en-GB" sz="1100" b="1" i="1">
                <a:solidFill>
                  <a:srgbClr val="000000"/>
                </a:solidFill>
                <a:latin typeface="Fund Light" pitchFamily="2" charset="-78"/>
                <a:cs typeface="Fund Light" pitchFamily="2" charset="-78"/>
              </a:rPr>
              <a:t>Illustrative example</a:t>
            </a:r>
          </a:p>
        </p:txBody>
      </p:sp>
      <p:sp>
        <p:nvSpPr>
          <p:cNvPr id="2" name="Rectangle 1">
            <a:extLst>
              <a:ext uri="{FF2B5EF4-FFF2-40B4-BE49-F238E27FC236}">
                <a16:creationId xmlns:a16="http://schemas.microsoft.com/office/drawing/2014/main" id="{384D79CD-F149-A2A3-E955-24B00D1D58E5}"/>
              </a:ext>
            </a:extLst>
          </p:cNvPr>
          <p:cNvSpPr/>
          <p:nvPr/>
        </p:nvSpPr>
        <p:spPr>
          <a:xfrm>
            <a:off x="145516" y="2742600"/>
            <a:ext cx="428642"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a:spcBef>
                <a:spcPts val="400"/>
              </a:spcBef>
            </a:pPr>
            <a:r>
              <a:rPr lang="en-GB" sz="1000">
                <a:solidFill>
                  <a:schemeClr val="tx1"/>
                </a:solidFill>
                <a:latin typeface="Fund Light" pitchFamily="2" charset="-78"/>
                <a:cs typeface="Fund Light" pitchFamily="2" charset="-78"/>
              </a:rPr>
              <a:t>Medium</a:t>
            </a:r>
          </a:p>
          <a:p>
            <a:pPr algn="ctr">
              <a:spcBef>
                <a:spcPts val="400"/>
              </a:spcBef>
            </a:pPr>
            <a:r>
              <a:rPr lang="en-GB" sz="1000">
                <a:solidFill>
                  <a:schemeClr val="tx1"/>
                </a:solidFill>
                <a:latin typeface="Fund Light" pitchFamily="2" charset="-78"/>
                <a:cs typeface="Fund Light" pitchFamily="2" charset="-78"/>
              </a:rPr>
              <a:t>(8%)</a:t>
            </a:r>
          </a:p>
        </p:txBody>
      </p:sp>
      <p:sp>
        <p:nvSpPr>
          <p:cNvPr id="12" name="Rectangle 11">
            <a:extLst>
              <a:ext uri="{FF2B5EF4-FFF2-40B4-BE49-F238E27FC236}">
                <a16:creationId xmlns:a16="http://schemas.microsoft.com/office/drawing/2014/main" id="{BBA9A599-ACFA-0419-9494-BAA64F46CFFC}"/>
              </a:ext>
            </a:extLst>
          </p:cNvPr>
          <p:cNvSpPr/>
          <p:nvPr/>
        </p:nvSpPr>
        <p:spPr>
          <a:xfrm>
            <a:off x="4223699" y="4026734"/>
            <a:ext cx="1307441" cy="137341"/>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spcBef>
                <a:spcPts val="400"/>
              </a:spcBef>
            </a:pPr>
            <a:r>
              <a:rPr lang="en-GB" sz="1000">
                <a:solidFill>
                  <a:schemeClr val="tx1"/>
                </a:solidFill>
                <a:latin typeface="Fund Light" pitchFamily="2" charset="-78"/>
                <a:cs typeface="Fund Light" pitchFamily="2" charset="-78"/>
              </a:rPr>
              <a:t>Medium (50%)</a:t>
            </a:r>
          </a:p>
        </p:txBody>
      </p:sp>
      <p:sp>
        <p:nvSpPr>
          <p:cNvPr id="14" name="Rectangle 13">
            <a:extLst>
              <a:ext uri="{FF2B5EF4-FFF2-40B4-BE49-F238E27FC236}">
                <a16:creationId xmlns:a16="http://schemas.microsoft.com/office/drawing/2014/main" id="{2DE00CA6-D407-8E92-2E4E-2762C8C2D7EA}"/>
              </a:ext>
            </a:extLst>
          </p:cNvPr>
          <p:cNvSpPr/>
          <p:nvPr/>
        </p:nvSpPr>
        <p:spPr>
          <a:xfrm>
            <a:off x="2451557" y="2657428"/>
            <a:ext cx="1469579"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a:solidFill>
                  <a:schemeClr val="tx1"/>
                </a:solidFill>
                <a:latin typeface="Fund Light" pitchFamily="2" charset="-78"/>
                <a:cs typeface="Fund Light" pitchFamily="2" charset="-78"/>
              </a:rPr>
              <a:t>Wires</a:t>
            </a:r>
          </a:p>
        </p:txBody>
      </p:sp>
      <p:sp>
        <p:nvSpPr>
          <p:cNvPr id="17" name="Flowchart: Connector 16">
            <a:extLst>
              <a:ext uri="{FF2B5EF4-FFF2-40B4-BE49-F238E27FC236}">
                <a16:creationId xmlns:a16="http://schemas.microsoft.com/office/drawing/2014/main" id="{2674F3AC-6E0C-8357-9432-5B4E5BF09177}"/>
              </a:ext>
            </a:extLst>
          </p:cNvPr>
          <p:cNvSpPr/>
          <p:nvPr/>
        </p:nvSpPr>
        <p:spPr>
          <a:xfrm>
            <a:off x="3851015" y="2899955"/>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ectangle 17">
            <a:extLst>
              <a:ext uri="{FF2B5EF4-FFF2-40B4-BE49-F238E27FC236}">
                <a16:creationId xmlns:a16="http://schemas.microsoft.com/office/drawing/2014/main" id="{F959A772-50AE-5CA1-CFB2-4316987234C3}"/>
              </a:ext>
            </a:extLst>
          </p:cNvPr>
          <p:cNvSpPr/>
          <p:nvPr/>
        </p:nvSpPr>
        <p:spPr>
          <a:xfrm>
            <a:off x="7611104" y="2647242"/>
            <a:ext cx="1263894"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latin typeface="Fund Light" pitchFamily="2" charset="-78"/>
                <a:cs typeface="Fund Light" pitchFamily="2" charset="-78"/>
              </a:rPr>
              <a:t>Tooling equipment</a:t>
            </a:r>
            <a:endParaRPr lang="en-US" sz="1000" baseline="30000">
              <a:latin typeface="Fund Light" pitchFamily="2" charset="-78"/>
              <a:cs typeface="Fund Light" pitchFamily="2" charset="-78"/>
            </a:endParaRPr>
          </a:p>
        </p:txBody>
      </p:sp>
      <p:sp>
        <p:nvSpPr>
          <p:cNvPr id="52" name="Flowchart: Connector 51">
            <a:extLst>
              <a:ext uri="{FF2B5EF4-FFF2-40B4-BE49-F238E27FC236}">
                <a16:creationId xmlns:a16="http://schemas.microsoft.com/office/drawing/2014/main" id="{E1A21D42-D14C-BA69-5B77-241FCAE457F1}"/>
              </a:ext>
            </a:extLst>
          </p:cNvPr>
          <p:cNvSpPr/>
          <p:nvPr/>
        </p:nvSpPr>
        <p:spPr>
          <a:xfrm>
            <a:off x="7519849" y="2743614"/>
            <a:ext cx="113355" cy="11335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E65CEE6-A063-63B9-533B-873CDFF8A94D}"/>
              </a:ext>
            </a:extLst>
          </p:cNvPr>
          <p:cNvSpPr/>
          <p:nvPr/>
        </p:nvSpPr>
        <p:spPr>
          <a:xfrm>
            <a:off x="5971658" y="2065012"/>
            <a:ext cx="2176852"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latin typeface="Fund Light" pitchFamily="2" charset="-78"/>
                <a:cs typeface="Fund Light" pitchFamily="2" charset="-78"/>
              </a:rPr>
              <a:t>Telecom maintenance </a:t>
            </a:r>
            <a:br>
              <a:rPr lang="en-US" sz="1000">
                <a:latin typeface="Fund Light" pitchFamily="2" charset="-78"/>
                <a:cs typeface="Fund Light" pitchFamily="2" charset="-78"/>
              </a:rPr>
            </a:br>
            <a:r>
              <a:rPr lang="en-US" sz="1000">
                <a:latin typeface="Fund Light" pitchFamily="2" charset="-78"/>
                <a:cs typeface="Fund Light" pitchFamily="2" charset="-78"/>
              </a:rPr>
              <a:t>equipment</a:t>
            </a:r>
            <a:endParaRPr lang="en-US" sz="1000" baseline="30000">
              <a:latin typeface="Fund Light" pitchFamily="2" charset="-78"/>
              <a:cs typeface="Fund Light" pitchFamily="2" charset="-78"/>
            </a:endParaRPr>
          </a:p>
        </p:txBody>
      </p:sp>
      <p:sp>
        <p:nvSpPr>
          <p:cNvPr id="54" name="Flowchart: Connector 53">
            <a:extLst>
              <a:ext uri="{FF2B5EF4-FFF2-40B4-BE49-F238E27FC236}">
                <a16:creationId xmlns:a16="http://schemas.microsoft.com/office/drawing/2014/main" id="{3D4DE256-BEDB-3F82-A039-3B2CBCFE948C}"/>
              </a:ext>
            </a:extLst>
          </p:cNvPr>
          <p:cNvSpPr/>
          <p:nvPr/>
        </p:nvSpPr>
        <p:spPr>
          <a:xfrm>
            <a:off x="5880403" y="2161384"/>
            <a:ext cx="113355" cy="11335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234B73F-05FE-3397-EB02-54908131779C}"/>
              </a:ext>
            </a:extLst>
          </p:cNvPr>
          <p:cNvSpPr/>
          <p:nvPr/>
        </p:nvSpPr>
        <p:spPr>
          <a:xfrm>
            <a:off x="7499197" y="1837741"/>
            <a:ext cx="2176852"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latin typeface="Fund Light" pitchFamily="2" charset="-78"/>
                <a:cs typeface="Fund Light" pitchFamily="2" charset="-78"/>
              </a:rPr>
              <a:t>Electronics</a:t>
            </a:r>
            <a:endParaRPr lang="en-US" sz="1000" baseline="30000">
              <a:latin typeface="Fund Light" pitchFamily="2" charset="-78"/>
              <a:cs typeface="Fund Light" pitchFamily="2" charset="-78"/>
            </a:endParaRPr>
          </a:p>
        </p:txBody>
      </p:sp>
      <p:sp>
        <p:nvSpPr>
          <p:cNvPr id="62" name="Flowchart: Connector 61">
            <a:extLst>
              <a:ext uri="{FF2B5EF4-FFF2-40B4-BE49-F238E27FC236}">
                <a16:creationId xmlns:a16="http://schemas.microsoft.com/office/drawing/2014/main" id="{2A20540B-3743-59D2-3138-EAA44C1B1712}"/>
              </a:ext>
            </a:extLst>
          </p:cNvPr>
          <p:cNvSpPr/>
          <p:nvPr/>
        </p:nvSpPr>
        <p:spPr>
          <a:xfrm>
            <a:off x="7392865" y="1937433"/>
            <a:ext cx="113355" cy="11335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C349899-7E62-7F94-2971-C65208601E6F}"/>
              </a:ext>
            </a:extLst>
          </p:cNvPr>
          <p:cNvSpPr/>
          <p:nvPr/>
        </p:nvSpPr>
        <p:spPr>
          <a:xfrm>
            <a:off x="5472863" y="2415073"/>
            <a:ext cx="1635501"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a:latin typeface="Fund Light" pitchFamily="2" charset="-78"/>
                <a:cs typeface="Fund Light" pitchFamily="2" charset="-78"/>
              </a:rPr>
              <a:t>Network infrastructure</a:t>
            </a:r>
            <a:endParaRPr lang="en-US" sz="1000" baseline="30000">
              <a:latin typeface="Fund Light" pitchFamily="2" charset="-78"/>
              <a:cs typeface="Fund Light" pitchFamily="2" charset="-78"/>
            </a:endParaRPr>
          </a:p>
        </p:txBody>
      </p:sp>
      <p:sp>
        <p:nvSpPr>
          <p:cNvPr id="67" name="Flowchart: Connector 66">
            <a:extLst>
              <a:ext uri="{FF2B5EF4-FFF2-40B4-BE49-F238E27FC236}">
                <a16:creationId xmlns:a16="http://schemas.microsoft.com/office/drawing/2014/main" id="{7213AE0E-F966-301B-270C-0BF489F85C81}"/>
              </a:ext>
            </a:extLst>
          </p:cNvPr>
          <p:cNvSpPr/>
          <p:nvPr/>
        </p:nvSpPr>
        <p:spPr>
          <a:xfrm>
            <a:off x="7108364" y="2511445"/>
            <a:ext cx="113355" cy="113355"/>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CB37E3A-536E-F90D-796F-D9EA0F0407E2}"/>
              </a:ext>
            </a:extLst>
          </p:cNvPr>
          <p:cNvSpPr/>
          <p:nvPr/>
        </p:nvSpPr>
        <p:spPr>
          <a:xfrm>
            <a:off x="4562469" y="2779762"/>
            <a:ext cx="2176852"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Gas and fuel</a:t>
            </a:r>
          </a:p>
        </p:txBody>
      </p:sp>
      <p:sp>
        <p:nvSpPr>
          <p:cNvPr id="69" name="Flowchart: Connector 68">
            <a:extLst>
              <a:ext uri="{FF2B5EF4-FFF2-40B4-BE49-F238E27FC236}">
                <a16:creationId xmlns:a16="http://schemas.microsoft.com/office/drawing/2014/main" id="{05EF0C1C-B716-2D48-B522-DE1B7CD67503}"/>
              </a:ext>
            </a:extLst>
          </p:cNvPr>
          <p:cNvSpPr/>
          <p:nvPr/>
        </p:nvSpPr>
        <p:spPr>
          <a:xfrm>
            <a:off x="4471214" y="2876134"/>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Rectangle 69">
            <a:extLst>
              <a:ext uri="{FF2B5EF4-FFF2-40B4-BE49-F238E27FC236}">
                <a16:creationId xmlns:a16="http://schemas.microsoft.com/office/drawing/2014/main" id="{3F378C9D-74CA-F3F8-13F2-D407D3061A3B}"/>
              </a:ext>
            </a:extLst>
          </p:cNvPr>
          <p:cNvSpPr/>
          <p:nvPr/>
        </p:nvSpPr>
        <p:spPr>
          <a:xfrm>
            <a:off x="5652228" y="3244314"/>
            <a:ext cx="1469579"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000">
                <a:solidFill>
                  <a:schemeClr val="tx1"/>
                </a:solidFill>
                <a:latin typeface="Fund Light" pitchFamily="2" charset="-78"/>
                <a:cs typeface="Fund Light" pitchFamily="2" charset="-78"/>
              </a:rPr>
              <a:t>Paint and coating</a:t>
            </a:r>
          </a:p>
        </p:txBody>
      </p:sp>
      <p:sp>
        <p:nvSpPr>
          <p:cNvPr id="71" name="Flowchart: Connector 70">
            <a:extLst>
              <a:ext uri="{FF2B5EF4-FFF2-40B4-BE49-F238E27FC236}">
                <a16:creationId xmlns:a16="http://schemas.microsoft.com/office/drawing/2014/main" id="{80B00817-5037-0F4C-B840-6538844393A0}"/>
              </a:ext>
            </a:extLst>
          </p:cNvPr>
          <p:cNvSpPr/>
          <p:nvPr/>
        </p:nvSpPr>
        <p:spPr>
          <a:xfrm>
            <a:off x="7051686" y="3486841"/>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Flowchart: Connector 72">
            <a:extLst>
              <a:ext uri="{FF2B5EF4-FFF2-40B4-BE49-F238E27FC236}">
                <a16:creationId xmlns:a16="http://schemas.microsoft.com/office/drawing/2014/main" id="{CE5BBAF0-F544-CF61-5666-542CE6B4058A}"/>
              </a:ext>
            </a:extLst>
          </p:cNvPr>
          <p:cNvSpPr/>
          <p:nvPr/>
        </p:nvSpPr>
        <p:spPr>
          <a:xfrm>
            <a:off x="3998018" y="3201390"/>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Rectangle 73">
            <a:extLst>
              <a:ext uri="{FF2B5EF4-FFF2-40B4-BE49-F238E27FC236}">
                <a16:creationId xmlns:a16="http://schemas.microsoft.com/office/drawing/2014/main" id="{17B32422-8E24-0499-30BF-1C354F9CF8E8}"/>
              </a:ext>
            </a:extLst>
          </p:cNvPr>
          <p:cNvSpPr/>
          <p:nvPr/>
        </p:nvSpPr>
        <p:spPr>
          <a:xfrm>
            <a:off x="3193421" y="3118753"/>
            <a:ext cx="1469579"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Chemicals</a:t>
            </a:r>
          </a:p>
        </p:txBody>
      </p:sp>
      <p:sp>
        <p:nvSpPr>
          <p:cNvPr id="76" name="Rectangle 75">
            <a:extLst>
              <a:ext uri="{FF2B5EF4-FFF2-40B4-BE49-F238E27FC236}">
                <a16:creationId xmlns:a16="http://schemas.microsoft.com/office/drawing/2014/main" id="{F9B57041-ADD5-59E0-F0A3-8B8932227C1D}"/>
              </a:ext>
            </a:extLst>
          </p:cNvPr>
          <p:cNvSpPr/>
          <p:nvPr/>
        </p:nvSpPr>
        <p:spPr>
          <a:xfrm>
            <a:off x="6062913" y="3685423"/>
            <a:ext cx="1034887"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IT hardware and software</a:t>
            </a:r>
          </a:p>
        </p:txBody>
      </p:sp>
      <p:sp>
        <p:nvSpPr>
          <p:cNvPr id="77" name="Flowchart: Connector 76">
            <a:extLst>
              <a:ext uri="{FF2B5EF4-FFF2-40B4-BE49-F238E27FC236}">
                <a16:creationId xmlns:a16="http://schemas.microsoft.com/office/drawing/2014/main" id="{0A5879D0-3A8B-28C3-1B66-BB846DB76B04}"/>
              </a:ext>
            </a:extLst>
          </p:cNvPr>
          <p:cNvSpPr/>
          <p:nvPr/>
        </p:nvSpPr>
        <p:spPr>
          <a:xfrm>
            <a:off x="5971658" y="3781795"/>
            <a:ext cx="113355" cy="113355"/>
          </a:xfrm>
          <a:prstGeom prst="flowChartConnector">
            <a:avLst/>
          </a:prstGeom>
          <a:solidFill>
            <a:srgbClr val="005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Rectangle 77">
            <a:extLst>
              <a:ext uri="{FF2B5EF4-FFF2-40B4-BE49-F238E27FC236}">
                <a16:creationId xmlns:a16="http://schemas.microsoft.com/office/drawing/2014/main" id="{F3E0154A-BEA4-31DF-A2FC-811A9651554F}"/>
              </a:ext>
            </a:extLst>
          </p:cNvPr>
          <p:cNvSpPr/>
          <p:nvPr/>
        </p:nvSpPr>
        <p:spPr>
          <a:xfrm>
            <a:off x="6271104" y="3637360"/>
            <a:ext cx="2176852" cy="3081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000">
              <a:solidFill>
                <a:schemeClr val="tx1"/>
              </a:solidFill>
              <a:latin typeface="Fund Light" pitchFamily="2" charset="-78"/>
              <a:cs typeface="Fund Light" pitchFamily="2" charset="-78"/>
            </a:endParaRPr>
          </a:p>
        </p:txBody>
      </p:sp>
      <p:sp>
        <p:nvSpPr>
          <p:cNvPr id="15" name="Rectangle 14">
            <a:extLst>
              <a:ext uri="{FF2B5EF4-FFF2-40B4-BE49-F238E27FC236}">
                <a16:creationId xmlns:a16="http://schemas.microsoft.com/office/drawing/2014/main" id="{016CB921-0DDC-4EB6-7B91-BB05FFAB2069}"/>
              </a:ext>
            </a:extLst>
          </p:cNvPr>
          <p:cNvSpPr/>
          <p:nvPr/>
        </p:nvSpPr>
        <p:spPr>
          <a:xfrm>
            <a:off x="5566589" y="4200450"/>
            <a:ext cx="3062421" cy="558386"/>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noAutofit/>
          </a:bodyPr>
          <a:lstStyle/>
          <a:p>
            <a:pPr algn="r">
              <a:spcBef>
                <a:spcPts val="400"/>
              </a:spcBef>
            </a:pPr>
            <a:r>
              <a:rPr lang="en-GB" sz="1067" b="1">
                <a:solidFill>
                  <a:srgbClr val="000000"/>
                </a:solidFill>
                <a:latin typeface="Fund Light" pitchFamily="2" charset="-78"/>
                <a:cs typeface="Fund Light" pitchFamily="2" charset="-78"/>
              </a:rPr>
              <a:t>Level of imports</a:t>
            </a:r>
            <a:br>
              <a:rPr lang="en-GB" sz="1067" b="1">
                <a:solidFill>
                  <a:srgbClr val="000000"/>
                </a:solidFill>
                <a:latin typeface="Fund Light" pitchFamily="2" charset="-78"/>
                <a:cs typeface="Fund Light" pitchFamily="2" charset="-78"/>
              </a:rPr>
            </a:br>
            <a:r>
              <a:rPr lang="en-GB" sz="1067" i="1">
                <a:solidFill>
                  <a:srgbClr val="000000"/>
                </a:solidFill>
                <a:latin typeface="Fund Light" pitchFamily="2" charset="-78"/>
                <a:cs typeface="Fund Light" pitchFamily="2" charset="-78"/>
              </a:rPr>
              <a:t>(</a:t>
            </a:r>
            <a:r>
              <a:rPr lang="en-US" sz="1067" i="1">
                <a:solidFill>
                  <a:srgbClr val="000000"/>
                </a:solidFill>
                <a:latin typeface="Fund Light" pitchFamily="2" charset="-78"/>
                <a:cs typeface="Fund Light" pitchFamily="2" charset="-78"/>
              </a:rPr>
              <a:t>% Share of product demand volume procured from foreign suppliers</a:t>
            </a:r>
            <a:r>
              <a:rPr lang="en-GB" sz="1067" i="1">
                <a:solidFill>
                  <a:srgbClr val="000000"/>
                </a:solidFill>
                <a:latin typeface="Fund Light" pitchFamily="2" charset="-78"/>
                <a:cs typeface="Fund Light" pitchFamily="2" charset="-78"/>
              </a:rPr>
              <a:t>)</a:t>
            </a:r>
            <a:endParaRPr lang="en-US" sz="1067" i="1">
              <a:solidFill>
                <a:srgbClr val="000000"/>
              </a:solidFill>
              <a:latin typeface="Fund Light" pitchFamily="2" charset="-78"/>
              <a:cs typeface="Fund Light" pitchFamily="2" charset="-78"/>
            </a:endParaRPr>
          </a:p>
        </p:txBody>
      </p:sp>
      <p:sp>
        <p:nvSpPr>
          <p:cNvPr id="16" name="Oval 15">
            <a:extLst>
              <a:ext uri="{FF2B5EF4-FFF2-40B4-BE49-F238E27FC236}">
                <a16:creationId xmlns:a16="http://schemas.microsoft.com/office/drawing/2014/main" id="{9AC1EBBF-C00B-4D62-52E5-B73084FFEFE1}"/>
              </a:ext>
            </a:extLst>
          </p:cNvPr>
          <p:cNvSpPr/>
          <p:nvPr/>
        </p:nvSpPr>
        <p:spPr>
          <a:xfrm>
            <a:off x="6551725" y="4237436"/>
            <a:ext cx="182880" cy="18495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spcBef>
                <a:spcPts val="300"/>
              </a:spcBef>
              <a:spcAft>
                <a:spcPts val="300"/>
              </a:spcAft>
            </a:pPr>
            <a:r>
              <a:rPr lang="en-US" sz="1050">
                <a:solidFill>
                  <a:schemeClr val="bg1"/>
                </a:solidFill>
                <a:latin typeface="Fund Light" pitchFamily="2" charset="-78"/>
                <a:cs typeface="Fund Light" pitchFamily="2" charset="-78"/>
              </a:rPr>
              <a:t>2</a:t>
            </a:r>
          </a:p>
        </p:txBody>
      </p:sp>
    </p:spTree>
    <p:extLst>
      <p:ext uri="{BB962C8B-B14F-4D97-AF65-F5344CB8AC3E}">
        <p14:creationId xmlns:p14="http://schemas.microsoft.com/office/powerpoint/2010/main" val="416599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1856843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Products for LDC are selected along three dimensions</a:t>
            </a:r>
          </a:p>
        </p:txBody>
      </p:sp>
      <p:sp>
        <p:nvSpPr>
          <p:cNvPr id="83" name="TextBox 82">
            <a:extLst>
              <a:ext uri="{FF2B5EF4-FFF2-40B4-BE49-F238E27FC236}">
                <a16:creationId xmlns:a16="http://schemas.microsoft.com/office/drawing/2014/main" id="{AF19ABB8-F438-4A74-BDBF-D1A343B3B37B}"/>
              </a:ext>
            </a:extLst>
          </p:cNvPr>
          <p:cNvSpPr txBox="1"/>
          <p:nvPr/>
        </p:nvSpPr>
        <p:spPr>
          <a:xfrm>
            <a:off x="4983571" y="902624"/>
            <a:ext cx="3753162" cy="826633"/>
          </a:xfrm>
          <a:prstGeom prst="rect">
            <a:avLst/>
          </a:prstGeom>
          <a:noFill/>
        </p:spPr>
        <p:txBody>
          <a:bodyPr wrap="square" lIns="0" tIns="0" rIns="0" bIns="0" rtlCol="0" anchor="ctr" anchorCtr="0">
            <a:noAutofit/>
          </a:bodyPr>
          <a:lstStyle>
            <a:defPPr>
              <a:defRPr lang="en-US"/>
            </a:defPPr>
            <a:lvl1pPr marR="0" lvl="0" defTabSz="914400" fontAlgn="auto">
              <a:lnSpc>
                <a:spcPct val="100000"/>
              </a:lnSpc>
              <a:spcBef>
                <a:spcPct val="0"/>
              </a:spcBef>
              <a:spcAft>
                <a:spcPts val="300"/>
              </a:spcAft>
              <a:buClrTx/>
              <a:buSzTx/>
              <a:defRPr kumimoji="0" sz="1200" b="0" i="0" u="none" strike="noStrike" kern="0" cap="none" spc="0" normalizeH="0" baseline="0">
                <a:ln>
                  <a:noFill/>
                </a:ln>
                <a:solidFill>
                  <a:schemeClr val="bg1">
                    <a:lumMod val="85000"/>
                  </a:schemeClr>
                </a:solidFill>
                <a:effectLst/>
                <a:uLnTx/>
                <a:uFillTx/>
                <a:latin typeface="Fund Light" pitchFamily="2" charset="-78"/>
                <a:cs typeface="Fund Light" pitchFamily="2" charset="-78"/>
              </a:defRPr>
            </a:lvl1pPr>
            <a:lvl2pPr defTabSz="914400"/>
            <a:lvl3pPr defTabSz="914400"/>
            <a:lvl4pPr defTabSz="914400"/>
            <a:lvl5pPr defTabSz="914400"/>
            <a:lvl6pPr defTabSz="914400"/>
            <a:lvl7pPr defTabSz="914400"/>
            <a:lvl8pPr defTabSz="914400"/>
            <a:lvl9pPr defTabSz="914400"/>
          </a:lstStyle>
          <a:p>
            <a:r>
              <a:rPr lang="en-US">
                <a:sym typeface="Arial"/>
              </a:rPr>
              <a:t>Criticality of the product for localization in terms of spend size and the overall level of procurement from foreign over local suppliers</a:t>
            </a:r>
          </a:p>
        </p:txBody>
      </p:sp>
      <p:cxnSp>
        <p:nvCxnSpPr>
          <p:cNvPr id="84" name="Straight Connector 83">
            <a:extLst>
              <a:ext uri="{FF2B5EF4-FFF2-40B4-BE49-F238E27FC236}">
                <a16:creationId xmlns:a16="http://schemas.microsoft.com/office/drawing/2014/main" id="{C4448F27-5FEB-40B5-8E74-0C204B2E8F13}"/>
              </a:ext>
            </a:extLst>
          </p:cNvPr>
          <p:cNvCxnSpPr/>
          <p:nvPr/>
        </p:nvCxnSpPr>
        <p:spPr>
          <a:xfrm>
            <a:off x="4983571" y="1909615"/>
            <a:ext cx="3833054" cy="0"/>
          </a:xfrm>
          <a:prstGeom prst="line">
            <a:avLst/>
          </a:prstGeom>
          <a:noFill/>
          <a:ln w="19050" cap="rnd" cmpd="sng" algn="ctr">
            <a:solidFill>
              <a:schemeClr val="bg1">
                <a:lumMod val="50000"/>
              </a:schemeClr>
            </a:solidFill>
            <a:prstDash val="sysDot"/>
          </a:ln>
          <a:effectLst/>
        </p:spPr>
      </p:cxnSp>
      <p:sp>
        <p:nvSpPr>
          <p:cNvPr id="85" name="TextBox 84">
            <a:extLst>
              <a:ext uri="{FF2B5EF4-FFF2-40B4-BE49-F238E27FC236}">
                <a16:creationId xmlns:a16="http://schemas.microsoft.com/office/drawing/2014/main" id="{15B7EF42-ECDC-406C-97ED-C462968B4335}"/>
              </a:ext>
            </a:extLst>
          </p:cNvPr>
          <p:cNvSpPr txBox="1"/>
          <p:nvPr/>
        </p:nvSpPr>
        <p:spPr>
          <a:xfrm>
            <a:off x="4983572" y="2089973"/>
            <a:ext cx="3753162" cy="1141352"/>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kumimoji="0" lang="en-US" sz="12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t>Rapid qualitative evaluation if there are any technical roadblocks that would hinder localization of the product (e.g., availability of critical raw material, access to labor)</a:t>
            </a:r>
            <a:endParaRPr kumimoji="0" lang="en-GB" sz="12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endParaRPr>
          </a:p>
        </p:txBody>
      </p:sp>
      <p:cxnSp>
        <p:nvCxnSpPr>
          <p:cNvPr id="86" name="Straight Connector 85">
            <a:extLst>
              <a:ext uri="{FF2B5EF4-FFF2-40B4-BE49-F238E27FC236}">
                <a16:creationId xmlns:a16="http://schemas.microsoft.com/office/drawing/2014/main" id="{E175A90B-F3E4-438E-A8E6-78BE8D8EC967}"/>
              </a:ext>
            </a:extLst>
          </p:cNvPr>
          <p:cNvCxnSpPr/>
          <p:nvPr/>
        </p:nvCxnSpPr>
        <p:spPr>
          <a:xfrm>
            <a:off x="4983571" y="3411683"/>
            <a:ext cx="3833054" cy="0"/>
          </a:xfrm>
          <a:prstGeom prst="line">
            <a:avLst/>
          </a:prstGeom>
          <a:noFill/>
          <a:ln w="19050" cap="rnd" cmpd="sng" algn="ctr">
            <a:solidFill>
              <a:schemeClr val="bg1">
                <a:lumMod val="50000"/>
              </a:schemeClr>
            </a:solidFill>
            <a:prstDash val="sysDot"/>
          </a:ln>
          <a:effectLst/>
        </p:spPr>
      </p:cxnSp>
      <p:sp>
        <p:nvSpPr>
          <p:cNvPr id="87" name="TextBox 86">
            <a:extLst>
              <a:ext uri="{FF2B5EF4-FFF2-40B4-BE49-F238E27FC236}">
                <a16:creationId xmlns:a16="http://schemas.microsoft.com/office/drawing/2014/main" id="{8657F3AC-382E-46E8-BCFE-FE43A9DC5AA6}"/>
              </a:ext>
            </a:extLst>
          </p:cNvPr>
          <p:cNvSpPr txBox="1"/>
          <p:nvPr/>
        </p:nvSpPr>
        <p:spPr>
          <a:xfrm>
            <a:off x="4983571" y="3592043"/>
            <a:ext cx="3753162" cy="826633"/>
          </a:xfrm>
          <a:prstGeom prst="rect">
            <a:avLst/>
          </a:prstGeom>
          <a:noFill/>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ct val="0"/>
              </a:spcBef>
              <a:spcAft>
                <a:spcPts val="300"/>
              </a:spcAft>
              <a:buClrTx/>
              <a:buSzTx/>
              <a:defRPr/>
            </a:pPr>
            <a:r>
              <a:rPr lang="en-GB" sz="1200" kern="0">
                <a:solidFill>
                  <a:schemeClr val="bg1">
                    <a:lumMod val="85000"/>
                  </a:schemeClr>
                </a:solidFill>
                <a:latin typeface="Fund Light" pitchFamily="2" charset="-78"/>
                <a:cs typeface="Fund Light" pitchFamily="2" charset="-78"/>
                <a:sym typeface="Arial"/>
              </a:rPr>
              <a:t>High-level evaluation of the investor risk based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on the demand concentration and availability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of existing supply capacity (in line with </a:t>
            </a:r>
            <a:br>
              <a:rPr lang="en-GB" sz="1200" kern="0">
                <a:solidFill>
                  <a:schemeClr val="bg1">
                    <a:lumMod val="85000"/>
                  </a:schemeClr>
                </a:solidFill>
                <a:latin typeface="Fund Light" pitchFamily="2" charset="-78"/>
                <a:cs typeface="Fund Light" pitchFamily="2" charset="-78"/>
                <a:sym typeface="Arial"/>
              </a:rPr>
            </a:br>
            <a:r>
              <a:rPr lang="en-GB" sz="1200" kern="0">
                <a:solidFill>
                  <a:schemeClr val="bg1">
                    <a:lumMod val="85000"/>
                  </a:schemeClr>
                </a:solidFill>
                <a:latin typeface="Fund Light" pitchFamily="2" charset="-78"/>
                <a:cs typeface="Fund Light" pitchFamily="2" charset="-78"/>
                <a:sym typeface="Arial"/>
              </a:rPr>
              <a:t>market requirements)</a:t>
            </a:r>
            <a:endParaRPr kumimoji="0" lang="en-GB" sz="1200" b="0" i="0" u="none" strike="noStrike" kern="0" cap="none" spc="0" normalizeH="0" baseline="0" noProof="0">
              <a:ln>
                <a:noFill/>
              </a:ln>
              <a:solidFill>
                <a:schemeClr val="bg1">
                  <a:lumMod val="85000"/>
                </a:schemeClr>
              </a:solidFill>
              <a:effectLst/>
              <a:uLnTx/>
              <a:uFillTx/>
              <a:latin typeface="Fund Light" pitchFamily="2" charset="-78"/>
              <a:cs typeface="Fund Light" pitchFamily="2" charset="-78"/>
              <a:sym typeface="Arial"/>
            </a:endParaRPr>
          </a:p>
        </p:txBody>
      </p:sp>
      <p:cxnSp>
        <p:nvCxnSpPr>
          <p:cNvPr id="71" name="Straight Connector 70">
            <a:extLst>
              <a:ext uri="{FF2B5EF4-FFF2-40B4-BE49-F238E27FC236}">
                <a16:creationId xmlns:a16="http://schemas.microsoft.com/office/drawing/2014/main" id="{ED825565-4166-41A4-BCB1-6198F8BB9EB4}"/>
              </a:ext>
            </a:extLst>
          </p:cNvPr>
          <p:cNvCxnSpPr>
            <a:cxnSpLocks/>
          </p:cNvCxnSpPr>
          <p:nvPr/>
        </p:nvCxnSpPr>
        <p:spPr>
          <a:xfrm>
            <a:off x="4066674" y="1393843"/>
            <a:ext cx="788966" cy="0"/>
          </a:xfrm>
          <a:prstGeom prst="line">
            <a:avLst/>
          </a:prstGeom>
          <a:noFill/>
          <a:ln w="19050" cap="rnd" cmpd="sng" algn="ctr">
            <a:solidFill>
              <a:schemeClr val="bg2"/>
            </a:solidFill>
            <a:prstDash val="sysDot"/>
            <a:tailEnd type="oval"/>
          </a:ln>
          <a:effectLst/>
        </p:spPr>
      </p:cxnSp>
      <p:cxnSp>
        <p:nvCxnSpPr>
          <p:cNvPr id="72" name="Straight Connector 71">
            <a:extLst>
              <a:ext uri="{FF2B5EF4-FFF2-40B4-BE49-F238E27FC236}">
                <a16:creationId xmlns:a16="http://schemas.microsoft.com/office/drawing/2014/main" id="{CAB9E218-D75F-46FB-9A6D-18766148D948}"/>
              </a:ext>
            </a:extLst>
          </p:cNvPr>
          <p:cNvCxnSpPr>
            <a:cxnSpLocks/>
          </p:cNvCxnSpPr>
          <p:nvPr/>
        </p:nvCxnSpPr>
        <p:spPr>
          <a:xfrm>
            <a:off x="3681663" y="2608182"/>
            <a:ext cx="1173979" cy="0"/>
          </a:xfrm>
          <a:prstGeom prst="line">
            <a:avLst/>
          </a:prstGeom>
          <a:noFill/>
          <a:ln w="19050" cap="rnd" cmpd="sng" algn="ctr">
            <a:solidFill>
              <a:schemeClr val="bg2"/>
            </a:solidFill>
            <a:prstDash val="sysDot"/>
            <a:tailEnd type="oval"/>
          </a:ln>
          <a:effectLst/>
        </p:spPr>
      </p:cxnSp>
      <p:cxnSp>
        <p:nvCxnSpPr>
          <p:cNvPr id="73" name="Straight Connector 72">
            <a:extLst>
              <a:ext uri="{FF2B5EF4-FFF2-40B4-BE49-F238E27FC236}">
                <a16:creationId xmlns:a16="http://schemas.microsoft.com/office/drawing/2014/main" id="{95F25E70-B9CB-402A-AA3F-DDA6B3D1F1D0}"/>
              </a:ext>
            </a:extLst>
          </p:cNvPr>
          <p:cNvCxnSpPr>
            <a:cxnSpLocks/>
          </p:cNvCxnSpPr>
          <p:nvPr/>
        </p:nvCxnSpPr>
        <p:spPr>
          <a:xfrm>
            <a:off x="3328737" y="3784932"/>
            <a:ext cx="1526904" cy="0"/>
          </a:xfrm>
          <a:prstGeom prst="line">
            <a:avLst/>
          </a:prstGeom>
          <a:noFill/>
          <a:ln w="19050" cap="rnd" cmpd="sng" algn="ctr">
            <a:solidFill>
              <a:schemeClr val="bg2"/>
            </a:solidFill>
            <a:prstDash val="sysDot"/>
            <a:tailEnd type="oval"/>
          </a:ln>
          <a:effectLst/>
        </p:spPr>
      </p:cxnSp>
      <p:sp>
        <p:nvSpPr>
          <p:cNvPr id="69" name="Freeform: Shape 68">
            <a:extLst>
              <a:ext uri="{FF2B5EF4-FFF2-40B4-BE49-F238E27FC236}">
                <a16:creationId xmlns:a16="http://schemas.microsoft.com/office/drawing/2014/main" id="{34B9A733-56CD-4402-A38F-115929B72447}"/>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a:solidFill>
                  <a:srgbClr val="E7E7E7"/>
                </a:solidFill>
                <a:latin typeface="Fund Light" pitchFamily="2" charset="-78"/>
                <a:cs typeface="Fund Light" pitchFamily="2" charset="-78"/>
                <a:sym typeface="Arial"/>
              </a:rPr>
              <a:t>Should the product be localized? </a:t>
            </a:r>
            <a:endParaRPr lang="en-GB" sz="1000" kern="0">
              <a:solidFill>
                <a:srgbClr val="E7E7E7"/>
              </a:solidFill>
              <a:latin typeface="Fund Light" pitchFamily="2" charset="-78"/>
              <a:cs typeface="Fund Light" pitchFamily="2" charset="-78"/>
              <a:sym typeface="Arial"/>
            </a:endParaRPr>
          </a:p>
        </p:txBody>
      </p:sp>
      <p:sp>
        <p:nvSpPr>
          <p:cNvPr id="70" name="Oval 15">
            <a:extLst>
              <a:ext uri="{FF2B5EF4-FFF2-40B4-BE49-F238E27FC236}">
                <a16:creationId xmlns:a16="http://schemas.microsoft.com/office/drawing/2014/main" id="{3F14D9B5-4A45-464F-B96A-5F28CA44E0A0}"/>
              </a:ext>
            </a:extLst>
          </p:cNvPr>
          <p:cNvSpPr>
            <a:spLocks noChangeArrowheads="1"/>
          </p:cNvSpPr>
          <p:nvPr/>
        </p:nvSpPr>
        <p:spPr bwMode="auto">
          <a:xfrm>
            <a:off x="413863" y="889000"/>
            <a:ext cx="3825850" cy="246165"/>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buClr>
                <a:schemeClr val="tx1"/>
              </a:buClr>
              <a:buChar char="•"/>
            </a:pPr>
            <a:endParaRPr lang="en-GB" sz="1125">
              <a:solidFill>
                <a:schemeClr val="bg1"/>
              </a:solidFill>
              <a:latin typeface="Fund Light" pitchFamily="2" charset="-78"/>
              <a:cs typeface="Fund Light" pitchFamily="2" charset="-78"/>
              <a:sym typeface="Arial"/>
            </a:endParaRPr>
          </a:p>
        </p:txBody>
      </p:sp>
      <p:sp>
        <p:nvSpPr>
          <p:cNvPr id="74" name="Oval 73">
            <a:extLst>
              <a:ext uri="{FF2B5EF4-FFF2-40B4-BE49-F238E27FC236}">
                <a16:creationId xmlns:a16="http://schemas.microsoft.com/office/drawing/2014/main" id="{431EFD5E-1D81-4483-AC78-C3A935DF0BEB}"/>
              </a:ext>
            </a:extLst>
          </p:cNvPr>
          <p:cNvSpPr/>
          <p:nvPr/>
        </p:nvSpPr>
        <p:spPr>
          <a:xfrm>
            <a:off x="344486" y="1267634"/>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1</a:t>
            </a:r>
          </a:p>
        </p:txBody>
      </p:sp>
      <p:sp>
        <p:nvSpPr>
          <p:cNvPr id="64" name="Freeform: Shape 63">
            <a:extLst>
              <a:ext uri="{FF2B5EF4-FFF2-40B4-BE49-F238E27FC236}">
                <a16:creationId xmlns:a16="http://schemas.microsoft.com/office/drawing/2014/main" id="{593DBAD3-E655-487E-B6DD-D731F279A69C}"/>
              </a:ext>
            </a:extLst>
          </p:cNvPr>
          <p:cNvSpPr/>
          <p:nvPr/>
        </p:nvSpPr>
        <p:spPr bwMode="auto">
          <a:xfrm>
            <a:off x="826430" y="2309784"/>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dirty="0">
                <a:solidFill>
                  <a:srgbClr val="000000"/>
                </a:solidFill>
                <a:latin typeface="Fund Light" pitchFamily="2" charset="-78"/>
                <a:cs typeface="Fund Light" pitchFamily="2" charset="-78"/>
                <a:sym typeface="Arial"/>
              </a:rPr>
              <a:t>Is localization of the product </a:t>
            </a:r>
            <a:br>
              <a:rPr lang="en-US" sz="1000" kern="0" dirty="0">
                <a:solidFill>
                  <a:srgbClr val="000000"/>
                </a:solidFill>
                <a:latin typeface="Fund Light" pitchFamily="2" charset="-78"/>
                <a:cs typeface="Fund Light" pitchFamily="2" charset="-78"/>
                <a:sym typeface="Arial"/>
              </a:rPr>
            </a:br>
            <a:r>
              <a:rPr lang="en-US" sz="1000" kern="0" dirty="0">
                <a:solidFill>
                  <a:srgbClr val="000000"/>
                </a:solidFill>
                <a:latin typeface="Fund Light" pitchFamily="2" charset="-78"/>
                <a:cs typeface="Fund Light" pitchFamily="2" charset="-78"/>
                <a:sym typeface="Arial"/>
              </a:rPr>
              <a:t>technically feasible?</a:t>
            </a:r>
            <a:endParaRPr lang="en-GB" sz="1000" kern="0" dirty="0">
              <a:solidFill>
                <a:srgbClr val="000000"/>
              </a:solidFill>
              <a:latin typeface="Fund Light" pitchFamily="2" charset="-78"/>
              <a:cs typeface="Fund Light" pitchFamily="2" charset="-78"/>
              <a:sym typeface="Arial"/>
            </a:endParaRPr>
          </a:p>
        </p:txBody>
      </p:sp>
      <p:sp>
        <p:nvSpPr>
          <p:cNvPr id="65" name="Oval 12">
            <a:extLst>
              <a:ext uri="{FF2B5EF4-FFF2-40B4-BE49-F238E27FC236}">
                <a16:creationId xmlns:a16="http://schemas.microsoft.com/office/drawing/2014/main" id="{E114306D-93D4-4693-A630-F111F28ADAEA}"/>
              </a:ext>
            </a:extLst>
          </p:cNvPr>
          <p:cNvSpPr>
            <a:spLocks noChangeArrowheads="1"/>
          </p:cNvSpPr>
          <p:nvPr/>
        </p:nvSpPr>
        <p:spPr bwMode="auto">
          <a:xfrm>
            <a:off x="826430" y="2184640"/>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5" name="Oval 74">
            <a:extLst>
              <a:ext uri="{FF2B5EF4-FFF2-40B4-BE49-F238E27FC236}">
                <a16:creationId xmlns:a16="http://schemas.microsoft.com/office/drawing/2014/main" id="{22BBBD60-F60F-4097-B07F-D33E05B8CC21}"/>
              </a:ext>
            </a:extLst>
          </p:cNvPr>
          <p:cNvSpPr/>
          <p:nvPr/>
        </p:nvSpPr>
        <p:spPr>
          <a:xfrm>
            <a:off x="753383" y="2565336"/>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2</a:t>
            </a:r>
          </a:p>
        </p:txBody>
      </p:sp>
      <p:sp>
        <p:nvSpPr>
          <p:cNvPr id="88" name="Oval 19" descr="Outlined diamond">
            <a:extLst>
              <a:ext uri="{FF2B5EF4-FFF2-40B4-BE49-F238E27FC236}">
                <a16:creationId xmlns:a16="http://schemas.microsoft.com/office/drawing/2014/main" id="{6FB5DD80-F8BE-4C63-9786-715DA9F4A45F}"/>
              </a:ext>
            </a:extLst>
          </p:cNvPr>
          <p:cNvSpPr>
            <a:spLocks noChangeArrowheads="1"/>
          </p:cNvSpPr>
          <p:nvPr>
            <p:custDataLst>
              <p:tags r:id="rId2"/>
            </p:custDataLst>
          </p:nvPr>
        </p:nvSpPr>
        <p:spPr bwMode="gray">
          <a:xfrm rot="5400000">
            <a:off x="2189656" y="785520"/>
            <a:ext cx="276708" cy="3003162"/>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pPr defTabSz="914400">
              <a:spcBef>
                <a:spcPct val="0"/>
              </a:spcBef>
              <a:spcAft>
                <a:spcPct val="0"/>
              </a:spcAft>
              <a:buClrTx/>
              <a:buNone/>
            </a:pPr>
            <a:endParaRPr lang="en-GB" altLang="nl-NL" kern="0">
              <a:solidFill>
                <a:schemeClr val="bg1"/>
              </a:solidFill>
              <a:latin typeface="Fund Light" pitchFamily="2" charset="-78"/>
              <a:cs typeface="Fund Light" pitchFamily="2" charset="-78"/>
            </a:endParaRPr>
          </a:p>
        </p:txBody>
      </p:sp>
      <p:sp>
        <p:nvSpPr>
          <p:cNvPr id="89" name="Arrow: Down 88">
            <a:extLst>
              <a:ext uri="{FF2B5EF4-FFF2-40B4-BE49-F238E27FC236}">
                <a16:creationId xmlns:a16="http://schemas.microsoft.com/office/drawing/2014/main" id="{383C165D-16B6-4CF0-B955-41064D7CDC70}"/>
              </a:ext>
            </a:extLst>
          </p:cNvPr>
          <p:cNvSpPr/>
          <p:nvPr/>
        </p:nvSpPr>
        <p:spPr>
          <a:xfrm>
            <a:off x="2135011" y="1873817"/>
            <a:ext cx="383555" cy="237638"/>
          </a:xfrm>
          <a:prstGeom prst="downArrow">
            <a:avLst>
              <a:gd name="adj1" fmla="val 47705"/>
              <a:gd name="adj2" fmla="val 3782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spcAft>
                <a:spcPts val="300"/>
              </a:spcAft>
            </a:pPr>
            <a:endParaRPr lang="en-GB" sz="1200">
              <a:solidFill>
                <a:schemeClr val="bg1"/>
              </a:solidFill>
              <a:latin typeface="Fund Light" pitchFamily="2" charset="-78"/>
              <a:cs typeface="Fund Light" pitchFamily="2" charset="-78"/>
            </a:endParaRPr>
          </a:p>
        </p:txBody>
      </p:sp>
      <p:sp>
        <p:nvSpPr>
          <p:cNvPr id="56" name="Freeform: Shape 55">
            <a:extLst>
              <a:ext uri="{FF2B5EF4-FFF2-40B4-BE49-F238E27FC236}">
                <a16:creationId xmlns:a16="http://schemas.microsoft.com/office/drawing/2014/main" id="{2C5D3C26-7A18-4F54-AC55-A12478520416}"/>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Is demand </a:t>
            </a:r>
            <a:b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b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commitment </a:t>
            </a:r>
            <a:b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br>
            <a:r>
              <a:rPr kumimoji="0" lang="en-US"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rPr>
              <a:t>required?</a:t>
            </a:r>
            <a:endParaRPr kumimoji="0" lang="en-GB" sz="1000" b="0" i="0" u="none" strike="noStrike" kern="0" cap="none" spc="0" normalizeH="0" baseline="0" noProof="0">
              <a:ln>
                <a:noFill/>
              </a:ln>
              <a:solidFill>
                <a:srgbClr val="E7E7E7"/>
              </a:solidFill>
              <a:effectLst/>
              <a:uLnTx/>
              <a:uFillTx/>
              <a:latin typeface="Fund Light" pitchFamily="2" charset="-78"/>
              <a:cs typeface="Fund Light" pitchFamily="2" charset="-78"/>
              <a:sym typeface="Arial"/>
            </a:endParaRPr>
          </a:p>
        </p:txBody>
      </p:sp>
      <p:sp>
        <p:nvSpPr>
          <p:cNvPr id="63" name="Oval 9">
            <a:extLst>
              <a:ext uri="{FF2B5EF4-FFF2-40B4-BE49-F238E27FC236}">
                <a16:creationId xmlns:a16="http://schemas.microsoft.com/office/drawing/2014/main" id="{A2388D11-C0E0-4BE0-8BD2-0707C067A0D5}"/>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82" name="Oval 81">
            <a:extLst>
              <a:ext uri="{FF2B5EF4-FFF2-40B4-BE49-F238E27FC236}">
                <a16:creationId xmlns:a16="http://schemas.microsoft.com/office/drawing/2014/main" id="{9A1A3752-78E5-42B2-BEA5-5F41ADB5E1B1}"/>
              </a:ext>
            </a:extLst>
          </p:cNvPr>
          <p:cNvSpPr/>
          <p:nvPr/>
        </p:nvSpPr>
        <p:spPr>
          <a:xfrm>
            <a:off x="1148520" y="3863409"/>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3</a:t>
            </a:r>
          </a:p>
        </p:txBody>
      </p:sp>
      <p:sp>
        <p:nvSpPr>
          <p:cNvPr id="90" name="Oval 19" descr="Outlined diamond">
            <a:extLst>
              <a:ext uri="{FF2B5EF4-FFF2-40B4-BE49-F238E27FC236}">
                <a16:creationId xmlns:a16="http://schemas.microsoft.com/office/drawing/2014/main" id="{45630DBB-6667-4CDA-8BD3-D90DC3969B08}"/>
              </a:ext>
            </a:extLst>
          </p:cNvPr>
          <p:cNvSpPr>
            <a:spLocks noChangeArrowheads="1"/>
          </p:cNvSpPr>
          <p:nvPr>
            <p:custDataLst>
              <p:tags r:id="rId3"/>
            </p:custDataLst>
          </p:nvPr>
        </p:nvSpPr>
        <p:spPr bwMode="gray">
          <a:xfrm rot="5400000">
            <a:off x="2188435" y="2496318"/>
            <a:ext cx="276708" cy="2172841"/>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sp>
        <p:nvSpPr>
          <p:cNvPr id="91" name="Arrow: Down 90">
            <a:extLst>
              <a:ext uri="{FF2B5EF4-FFF2-40B4-BE49-F238E27FC236}">
                <a16:creationId xmlns:a16="http://schemas.microsoft.com/office/drawing/2014/main" id="{F9BD6716-4EAE-459E-8FBE-A0B893A7D77E}"/>
              </a:ext>
            </a:extLst>
          </p:cNvPr>
          <p:cNvSpPr/>
          <p:nvPr/>
        </p:nvSpPr>
        <p:spPr>
          <a:xfrm>
            <a:off x="2135013" y="3174603"/>
            <a:ext cx="383555" cy="237638"/>
          </a:xfrm>
          <a:prstGeom prst="downArrow">
            <a:avLst>
              <a:gd name="adj1" fmla="val 47705"/>
              <a:gd name="adj2" fmla="val 3782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92" name="Rectangle 91">
            <a:extLst>
              <a:ext uri="{FF2B5EF4-FFF2-40B4-BE49-F238E27FC236}">
                <a16:creationId xmlns:a16="http://schemas.microsoft.com/office/drawing/2014/main" id="{0BE20D98-F2F8-4941-92B7-1A9F64BE66AB}"/>
              </a:ext>
            </a:extLst>
          </p:cNvPr>
          <p:cNvSpPr/>
          <p:nvPr/>
        </p:nvSpPr>
        <p:spPr>
          <a:xfrm>
            <a:off x="2529940" y="1878964"/>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rgbClr val="E7E7E7"/>
                </a:solidFill>
                <a:latin typeface="Fund Light" pitchFamily="2" charset="-78"/>
                <a:cs typeface="Fund Light" pitchFamily="2" charset="-78"/>
              </a:rPr>
              <a:t>Yes</a:t>
            </a:r>
          </a:p>
        </p:txBody>
      </p:sp>
      <p:sp>
        <p:nvSpPr>
          <p:cNvPr id="93" name="Rectangle 92">
            <a:extLst>
              <a:ext uri="{FF2B5EF4-FFF2-40B4-BE49-F238E27FC236}">
                <a16:creationId xmlns:a16="http://schemas.microsoft.com/office/drawing/2014/main" id="{1579E948-70AB-4309-A9AB-0E52E829304F}"/>
              </a:ext>
            </a:extLst>
          </p:cNvPr>
          <p:cNvSpPr/>
          <p:nvPr/>
        </p:nvSpPr>
        <p:spPr>
          <a:xfrm>
            <a:off x="2529940" y="3174603"/>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rgbClr val="E7E7E7"/>
                </a:solidFill>
                <a:latin typeface="Fund Light" pitchFamily="2" charset="-78"/>
                <a:cs typeface="Fund Light" pitchFamily="2" charset="-78"/>
              </a:rPr>
              <a:t>Yes</a:t>
            </a:r>
          </a:p>
        </p:txBody>
      </p:sp>
      <p:sp>
        <p:nvSpPr>
          <p:cNvPr id="98" name="Rectangle 97">
            <a:extLst>
              <a:ext uri="{FF2B5EF4-FFF2-40B4-BE49-F238E27FC236}">
                <a16:creationId xmlns:a16="http://schemas.microsoft.com/office/drawing/2014/main" id="{64208975-E7EB-449B-A398-08EE91B36435}"/>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t>
            </a:r>
          </a:p>
        </p:txBody>
      </p:sp>
      <p:sp>
        <p:nvSpPr>
          <p:cNvPr id="2" name="Text Placeholder 6">
            <a:extLst>
              <a:ext uri="{FF2B5EF4-FFF2-40B4-BE49-F238E27FC236}">
                <a16:creationId xmlns:a16="http://schemas.microsoft.com/office/drawing/2014/main" id="{3B32DBFF-AFB0-E11A-6C8E-7F5374C4B778}"/>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Can the product be localized?</a:t>
            </a:r>
          </a:p>
        </p:txBody>
      </p:sp>
      <p:sp>
        <p:nvSpPr>
          <p:cNvPr id="3" name="Oval 2">
            <a:extLst>
              <a:ext uri="{FF2B5EF4-FFF2-40B4-BE49-F238E27FC236}">
                <a16:creationId xmlns:a16="http://schemas.microsoft.com/office/drawing/2014/main" id="{37FBE41C-2A82-D137-3C7D-CB152239AC0C}"/>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Tree>
    <p:extLst>
      <p:ext uri="{BB962C8B-B14F-4D97-AF65-F5344CB8AC3E}">
        <p14:creationId xmlns:p14="http://schemas.microsoft.com/office/powerpoint/2010/main" val="558510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552660" cy="241824"/>
          </a:xfrm>
        </p:spPr>
        <p:txBody>
          <a:bodyPr vert="horz"/>
          <a:lstStyle/>
          <a:p>
            <a:r>
              <a:rPr lang="en-US" dirty="0"/>
              <a:t>Technical localization feasibility can be assessed along a range of qualitative dimensions</a:t>
            </a:r>
          </a:p>
        </p:txBody>
      </p:sp>
      <p:sp>
        <p:nvSpPr>
          <p:cNvPr id="36" name="Rectangle 35">
            <a:extLst>
              <a:ext uri="{FF2B5EF4-FFF2-40B4-BE49-F238E27FC236}">
                <a16:creationId xmlns:a16="http://schemas.microsoft.com/office/drawing/2014/main" id="{0FE6D769-FBDA-409F-968D-B6FC32C03DB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6" name="Rectangle 45">
            <a:extLst>
              <a:ext uri="{FF2B5EF4-FFF2-40B4-BE49-F238E27FC236}">
                <a16:creationId xmlns:a16="http://schemas.microsoft.com/office/drawing/2014/main" id="{D79ADC4F-8D61-49B0-B30B-6956C2E00666}"/>
              </a:ext>
            </a:extLst>
          </p:cNvPr>
          <p:cNvSpPr/>
          <p:nvPr/>
        </p:nvSpPr>
        <p:spPr>
          <a:xfrm>
            <a:off x="328613" y="1240046"/>
            <a:ext cx="5120640"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dirty="0">
                <a:solidFill>
                  <a:schemeClr val="bg2"/>
                </a:solidFill>
                <a:latin typeface="Fund Light" pitchFamily="2" charset="-78"/>
                <a:cs typeface="Fund Light" pitchFamily="2" charset="-78"/>
              </a:rPr>
              <a:t>Technical challenge dimension (non-exhaustive)</a:t>
            </a:r>
          </a:p>
        </p:txBody>
      </p:sp>
      <p:sp>
        <p:nvSpPr>
          <p:cNvPr id="66" name="Rectangle 65">
            <a:extLst>
              <a:ext uri="{FF2B5EF4-FFF2-40B4-BE49-F238E27FC236}">
                <a16:creationId xmlns:a16="http://schemas.microsoft.com/office/drawing/2014/main" id="{26A9DF0B-B8AB-4D96-A5B4-FE193A27F94C}"/>
              </a:ext>
            </a:extLst>
          </p:cNvPr>
          <p:cNvSpPr/>
          <p:nvPr/>
        </p:nvSpPr>
        <p:spPr>
          <a:xfrm>
            <a:off x="7312365" y="1240046"/>
            <a:ext cx="1645920"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a:solidFill>
                  <a:schemeClr val="bg2"/>
                </a:solidFill>
                <a:latin typeface="Fund Light" pitchFamily="2" charset="-78"/>
                <a:cs typeface="Fund Light" pitchFamily="2" charset="-78"/>
              </a:rPr>
              <a:t>Data sources</a:t>
            </a:r>
          </a:p>
        </p:txBody>
      </p:sp>
      <p:cxnSp>
        <p:nvCxnSpPr>
          <p:cNvPr id="67" name="Straight Connector 66">
            <a:extLst>
              <a:ext uri="{FF2B5EF4-FFF2-40B4-BE49-F238E27FC236}">
                <a16:creationId xmlns:a16="http://schemas.microsoft.com/office/drawing/2014/main" id="{D57D0F94-FC17-4EB6-BCBD-8C966037F9EB}"/>
              </a:ext>
            </a:extLst>
          </p:cNvPr>
          <p:cNvCxnSpPr/>
          <p:nvPr/>
        </p:nvCxnSpPr>
        <p:spPr>
          <a:xfrm>
            <a:off x="328614" y="1521510"/>
            <a:ext cx="847912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2DBB570B-F220-CE3D-A02F-C5E301B79D36}"/>
              </a:ext>
            </a:extLst>
          </p:cNvPr>
          <p:cNvGrpSpPr/>
          <p:nvPr/>
        </p:nvGrpSpPr>
        <p:grpSpPr>
          <a:xfrm>
            <a:off x="328613" y="1544031"/>
            <a:ext cx="6161067" cy="2942972"/>
            <a:chOff x="328614" y="1401225"/>
            <a:chExt cx="5238824" cy="3172289"/>
          </a:xfrm>
        </p:grpSpPr>
        <p:sp>
          <p:nvSpPr>
            <p:cNvPr id="47" name="Rectangle 46">
              <a:extLst>
                <a:ext uri="{FF2B5EF4-FFF2-40B4-BE49-F238E27FC236}">
                  <a16:creationId xmlns:a16="http://schemas.microsoft.com/office/drawing/2014/main" id="{62366709-1F9A-4510-9779-715B70A61083}"/>
                </a:ext>
              </a:extLst>
            </p:cNvPr>
            <p:cNvSpPr/>
            <p:nvPr/>
          </p:nvSpPr>
          <p:spPr>
            <a:xfrm>
              <a:off x="1699526" y="1401225"/>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Are critical raw materials/input components available locally?</a:t>
              </a:r>
            </a:p>
          </p:txBody>
        </p:sp>
        <p:grpSp>
          <p:nvGrpSpPr>
            <p:cNvPr id="9" name="Group 8">
              <a:extLst>
                <a:ext uri="{FF2B5EF4-FFF2-40B4-BE49-F238E27FC236}">
                  <a16:creationId xmlns:a16="http://schemas.microsoft.com/office/drawing/2014/main" id="{816BFADF-42C3-8108-8595-EE6B8BA38247}"/>
                </a:ext>
              </a:extLst>
            </p:cNvPr>
            <p:cNvGrpSpPr/>
            <p:nvPr/>
          </p:nvGrpSpPr>
          <p:grpSpPr>
            <a:xfrm>
              <a:off x="328614" y="1457870"/>
              <a:ext cx="5238824" cy="3115644"/>
              <a:chOff x="328614" y="1457870"/>
              <a:chExt cx="5238824" cy="3115644"/>
            </a:xfrm>
          </p:grpSpPr>
          <p:sp>
            <p:nvSpPr>
              <p:cNvPr id="48" name="Rectangle 47">
                <a:extLst>
                  <a:ext uri="{FF2B5EF4-FFF2-40B4-BE49-F238E27FC236}">
                    <a16:creationId xmlns:a16="http://schemas.microsoft.com/office/drawing/2014/main" id="{053AAC3B-B0E4-4BD9-9044-12D6B52B5D91}"/>
                  </a:ext>
                </a:extLst>
              </p:cNvPr>
              <p:cNvSpPr/>
              <p:nvPr/>
            </p:nvSpPr>
            <p:spPr>
              <a:xfrm>
                <a:off x="1699526" y="2402596"/>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Long and challenging process to obtain certification requirements</a:t>
                </a:r>
              </a:p>
            </p:txBody>
          </p:sp>
          <p:sp>
            <p:nvSpPr>
              <p:cNvPr id="49" name="Rectangle 48">
                <a:extLst>
                  <a:ext uri="{FF2B5EF4-FFF2-40B4-BE49-F238E27FC236}">
                    <a16:creationId xmlns:a16="http://schemas.microsoft.com/office/drawing/2014/main" id="{CD6BB411-E552-4724-9F89-BA382BEB03A0}"/>
                  </a:ext>
                </a:extLst>
              </p:cNvPr>
              <p:cNvSpPr/>
              <p:nvPr/>
            </p:nvSpPr>
            <p:spPr>
              <a:xfrm>
                <a:off x="1699526" y="1873589"/>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Requirement for specialized local workforce, which is not available in the short term</a:t>
                </a:r>
              </a:p>
            </p:txBody>
          </p:sp>
          <p:sp>
            <p:nvSpPr>
              <p:cNvPr id="50" name="Rectangle 49">
                <a:extLst>
                  <a:ext uri="{FF2B5EF4-FFF2-40B4-BE49-F238E27FC236}">
                    <a16:creationId xmlns:a16="http://schemas.microsoft.com/office/drawing/2014/main" id="{968D8C8D-F973-420C-918D-D7076632E4CA}"/>
                  </a:ext>
                </a:extLst>
              </p:cNvPr>
              <p:cNvSpPr/>
              <p:nvPr/>
            </p:nvSpPr>
            <p:spPr>
              <a:xfrm>
                <a:off x="1699526" y="2866868"/>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Consolidated global supply chains with limited number of production facilities/suppliers</a:t>
                </a:r>
              </a:p>
            </p:txBody>
          </p:sp>
          <p:sp>
            <p:nvSpPr>
              <p:cNvPr id="51" name="Rectangle 50">
                <a:extLst>
                  <a:ext uri="{FF2B5EF4-FFF2-40B4-BE49-F238E27FC236}">
                    <a16:creationId xmlns:a16="http://schemas.microsoft.com/office/drawing/2014/main" id="{071ABFE7-B3BD-492D-A647-753A9D5DA4C6}"/>
                  </a:ext>
                </a:extLst>
              </p:cNvPr>
              <p:cNvSpPr/>
              <p:nvPr/>
            </p:nvSpPr>
            <p:spPr>
              <a:xfrm>
                <a:off x="1699526" y="3843963"/>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Local regulations (e.g., standards) that need to be resolved prior to evaluating LDC feasibility</a:t>
                </a:r>
              </a:p>
            </p:txBody>
          </p:sp>
          <p:sp>
            <p:nvSpPr>
              <p:cNvPr id="52" name="Rectangle 51">
                <a:extLst>
                  <a:ext uri="{FF2B5EF4-FFF2-40B4-BE49-F238E27FC236}">
                    <a16:creationId xmlns:a16="http://schemas.microsoft.com/office/drawing/2014/main" id="{8AF2937C-8530-46F7-B5E6-D1D11406E38E}"/>
                  </a:ext>
                </a:extLst>
              </p:cNvPr>
              <p:cNvSpPr/>
              <p:nvPr/>
            </p:nvSpPr>
            <p:spPr>
              <a:xfrm>
                <a:off x="1699526" y="3347324"/>
                <a:ext cx="3746234" cy="4696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rgbClr val="000000"/>
                    </a:solidFill>
                    <a:latin typeface="Fund Light" pitchFamily="2" charset="-78"/>
                    <a:cs typeface="Fund Light" pitchFamily="2" charset="-78"/>
                  </a:rPr>
                  <a:t>Product in scope typically produced by contract manufacturers, not the direct supplier</a:t>
                </a:r>
              </a:p>
            </p:txBody>
          </p:sp>
          <p:sp>
            <p:nvSpPr>
              <p:cNvPr id="53" name="Rectangle 52">
                <a:extLst>
                  <a:ext uri="{FF2B5EF4-FFF2-40B4-BE49-F238E27FC236}">
                    <a16:creationId xmlns:a16="http://schemas.microsoft.com/office/drawing/2014/main" id="{38F4B47B-36CA-44C5-8266-A395337F7E54}"/>
                  </a:ext>
                </a:extLst>
              </p:cNvPr>
              <p:cNvSpPr/>
              <p:nvPr/>
            </p:nvSpPr>
            <p:spPr>
              <a:xfrm>
                <a:off x="1699526" y="4351379"/>
                <a:ext cx="3867912" cy="222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a:solidFill>
                      <a:schemeClr val="bg1">
                        <a:lumMod val="50000"/>
                      </a:schemeClr>
                    </a:solidFill>
                    <a:latin typeface="Fund Light" pitchFamily="2" charset="-78"/>
                    <a:cs typeface="Fund Light" pitchFamily="2" charset="-78"/>
                  </a:rPr>
                  <a:t>…</a:t>
                </a:r>
              </a:p>
            </p:txBody>
          </p:sp>
          <p:sp>
            <p:nvSpPr>
              <p:cNvPr id="54" name="Rectangle 53">
                <a:extLst>
                  <a:ext uri="{FF2B5EF4-FFF2-40B4-BE49-F238E27FC236}">
                    <a16:creationId xmlns:a16="http://schemas.microsoft.com/office/drawing/2014/main" id="{5B3233CE-DB76-4957-9AEE-ECF145C29AC4}"/>
                  </a:ext>
                </a:extLst>
              </p:cNvPr>
              <p:cNvSpPr/>
              <p:nvPr/>
            </p:nvSpPr>
            <p:spPr>
              <a:xfrm>
                <a:off x="328614" y="1457870"/>
                <a:ext cx="1280160" cy="373476"/>
              </a:xfrm>
              <a:prstGeom prst="rect">
                <a:avLst/>
              </a:prstGeom>
              <a:solidFill>
                <a:schemeClr val="bg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a:solidFill>
                      <a:schemeClr val="bg2"/>
                    </a:solidFill>
                    <a:latin typeface="Fund Light" pitchFamily="2" charset="-78"/>
                    <a:cs typeface="Fund Light" pitchFamily="2" charset="-78"/>
                  </a:rPr>
                  <a:t>Material availability</a:t>
                </a:r>
              </a:p>
            </p:txBody>
          </p:sp>
          <p:sp>
            <p:nvSpPr>
              <p:cNvPr id="55" name="Rectangle 54">
                <a:extLst>
                  <a:ext uri="{FF2B5EF4-FFF2-40B4-BE49-F238E27FC236}">
                    <a16:creationId xmlns:a16="http://schemas.microsoft.com/office/drawing/2014/main" id="{AF2A2486-CF92-4A30-8E11-2E701EB13DB6}"/>
                  </a:ext>
                </a:extLst>
              </p:cNvPr>
              <p:cNvSpPr/>
              <p:nvPr/>
            </p:nvSpPr>
            <p:spPr>
              <a:xfrm>
                <a:off x="328614" y="1873588"/>
                <a:ext cx="1280160" cy="469647"/>
              </a:xfrm>
              <a:prstGeom prst="rect">
                <a:avLst/>
              </a:prstGeom>
              <a:solidFill>
                <a:schemeClr val="bg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a:solidFill>
                      <a:schemeClr val="bg2"/>
                    </a:solidFill>
                    <a:latin typeface="Fund Light" pitchFamily="2" charset="-78"/>
                    <a:cs typeface="Fund Light" pitchFamily="2" charset="-78"/>
                  </a:rPr>
                  <a:t>Workforce</a:t>
                </a:r>
              </a:p>
            </p:txBody>
          </p:sp>
          <p:sp>
            <p:nvSpPr>
              <p:cNvPr id="56" name="Rectangle 55">
                <a:extLst>
                  <a:ext uri="{FF2B5EF4-FFF2-40B4-BE49-F238E27FC236}">
                    <a16:creationId xmlns:a16="http://schemas.microsoft.com/office/drawing/2014/main" id="{D36978A2-BCCC-4544-9105-E41631B35F50}"/>
                  </a:ext>
                </a:extLst>
              </p:cNvPr>
              <p:cNvSpPr/>
              <p:nvPr/>
            </p:nvSpPr>
            <p:spPr>
              <a:xfrm>
                <a:off x="328614" y="2402595"/>
                <a:ext cx="1280160" cy="1414375"/>
              </a:xfrm>
              <a:prstGeom prst="rect">
                <a:avLst/>
              </a:prstGeom>
              <a:solidFill>
                <a:schemeClr val="bg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a:solidFill>
                      <a:schemeClr val="bg2"/>
                    </a:solidFill>
                    <a:latin typeface="Fund Light" pitchFamily="2" charset="-78"/>
                    <a:cs typeface="Fund Light" pitchFamily="2" charset="-78"/>
                  </a:rPr>
                  <a:t>Supply characteristics</a:t>
                </a:r>
              </a:p>
            </p:txBody>
          </p:sp>
          <p:sp>
            <p:nvSpPr>
              <p:cNvPr id="57" name="Rectangle 56">
                <a:extLst>
                  <a:ext uri="{FF2B5EF4-FFF2-40B4-BE49-F238E27FC236}">
                    <a16:creationId xmlns:a16="http://schemas.microsoft.com/office/drawing/2014/main" id="{C97A5099-4100-4224-9C95-0122B9F4E0A2}"/>
                  </a:ext>
                </a:extLst>
              </p:cNvPr>
              <p:cNvSpPr/>
              <p:nvPr/>
            </p:nvSpPr>
            <p:spPr>
              <a:xfrm>
                <a:off x="328614" y="3884422"/>
                <a:ext cx="1280160" cy="380214"/>
              </a:xfrm>
              <a:prstGeom prst="rect">
                <a:avLst/>
              </a:prstGeom>
              <a:solidFill>
                <a:schemeClr val="bg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000" b="1">
                    <a:solidFill>
                      <a:schemeClr val="bg2"/>
                    </a:solidFill>
                    <a:latin typeface="Fund Light" pitchFamily="2" charset="-78"/>
                    <a:cs typeface="Fund Light" pitchFamily="2" charset="-78"/>
                  </a:rPr>
                  <a:t>Regulations</a:t>
                </a:r>
              </a:p>
            </p:txBody>
          </p:sp>
          <p:sp>
            <p:nvSpPr>
              <p:cNvPr id="58" name="Rectangle 57">
                <a:extLst>
                  <a:ext uri="{FF2B5EF4-FFF2-40B4-BE49-F238E27FC236}">
                    <a16:creationId xmlns:a16="http://schemas.microsoft.com/office/drawing/2014/main" id="{46719477-790B-420A-B1EC-0B8A918CE226}"/>
                  </a:ext>
                </a:extLst>
              </p:cNvPr>
              <p:cNvSpPr/>
              <p:nvPr/>
            </p:nvSpPr>
            <p:spPr>
              <a:xfrm>
                <a:off x="328614" y="4332511"/>
                <a:ext cx="1280160" cy="241003"/>
              </a:xfrm>
              <a:prstGeom prst="rect">
                <a:avLst/>
              </a:prstGeom>
              <a:solidFill>
                <a:schemeClr val="bg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l">
                  <a:spcBef>
                    <a:spcPts val="300"/>
                  </a:spcBef>
                  <a:spcAft>
                    <a:spcPts val="300"/>
                  </a:spcAft>
                </a:pPr>
                <a:r>
                  <a:rPr lang="en-GB" sz="1200" b="1">
                    <a:solidFill>
                      <a:schemeClr val="bg2"/>
                    </a:solidFill>
                    <a:latin typeface="Fund Light" pitchFamily="2" charset="-78"/>
                    <a:cs typeface="Fund Light" pitchFamily="2" charset="-78"/>
                  </a:rPr>
                  <a:t>…</a:t>
                </a:r>
              </a:p>
            </p:txBody>
          </p:sp>
          <p:cxnSp>
            <p:nvCxnSpPr>
              <p:cNvPr id="68" name="Straight Connector 67">
                <a:extLst>
                  <a:ext uri="{FF2B5EF4-FFF2-40B4-BE49-F238E27FC236}">
                    <a16:creationId xmlns:a16="http://schemas.microsoft.com/office/drawing/2014/main" id="{5A100767-4C33-4CD1-8058-B03F5DF499A5}"/>
                  </a:ext>
                </a:extLst>
              </p:cNvPr>
              <p:cNvCxnSpPr>
                <a:cxnSpLocks/>
              </p:cNvCxnSpPr>
              <p:nvPr/>
            </p:nvCxnSpPr>
            <p:spPr>
              <a:xfrm>
                <a:off x="328614" y="1843908"/>
                <a:ext cx="521208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3020847-C005-40F1-B882-9E4FDC70FC71}"/>
                  </a:ext>
                </a:extLst>
              </p:cNvPr>
              <p:cNvCxnSpPr>
                <a:cxnSpLocks/>
              </p:cNvCxnSpPr>
              <p:nvPr/>
            </p:nvCxnSpPr>
            <p:spPr>
              <a:xfrm>
                <a:off x="328614" y="2372915"/>
                <a:ext cx="521208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8C0965E-45F2-4043-A480-FB6A20591ACF}"/>
                  </a:ext>
                </a:extLst>
              </p:cNvPr>
              <p:cNvCxnSpPr>
                <a:cxnSpLocks/>
              </p:cNvCxnSpPr>
              <p:nvPr/>
            </p:nvCxnSpPr>
            <p:spPr>
              <a:xfrm>
                <a:off x="328614" y="3846649"/>
                <a:ext cx="521208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427D277-A6F0-4ED5-B07C-3D4F3FDA5424}"/>
                  </a:ext>
                </a:extLst>
              </p:cNvPr>
              <p:cNvCxnSpPr>
                <a:cxnSpLocks/>
              </p:cNvCxnSpPr>
              <p:nvPr/>
            </p:nvCxnSpPr>
            <p:spPr>
              <a:xfrm>
                <a:off x="328614" y="4294736"/>
                <a:ext cx="521208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39344F7-788E-473A-9BF8-2C369FFD5CC0}"/>
                  </a:ext>
                </a:extLst>
              </p:cNvPr>
              <p:cNvCxnSpPr>
                <a:cxnSpLocks/>
              </p:cNvCxnSpPr>
              <p:nvPr/>
            </p:nvCxnSpPr>
            <p:spPr>
              <a:xfrm>
                <a:off x="1909838" y="2845279"/>
                <a:ext cx="36576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1D565AD-DF09-4D2A-B539-B6257A4FB124}"/>
                  </a:ext>
                </a:extLst>
              </p:cNvPr>
              <p:cNvCxnSpPr>
                <a:cxnSpLocks/>
              </p:cNvCxnSpPr>
              <p:nvPr/>
            </p:nvCxnSpPr>
            <p:spPr>
              <a:xfrm>
                <a:off x="1909838" y="3341919"/>
                <a:ext cx="36576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6" name="Text Placeholder 6">
            <a:extLst>
              <a:ext uri="{FF2B5EF4-FFF2-40B4-BE49-F238E27FC236}">
                <a16:creationId xmlns:a16="http://schemas.microsoft.com/office/drawing/2014/main" id="{B2364874-5168-6C92-D661-7A20E50932F6}"/>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Can the product be localized?</a:t>
            </a:r>
          </a:p>
        </p:txBody>
      </p:sp>
      <p:sp>
        <p:nvSpPr>
          <p:cNvPr id="7" name="Oval 6">
            <a:extLst>
              <a:ext uri="{FF2B5EF4-FFF2-40B4-BE49-F238E27FC236}">
                <a16:creationId xmlns:a16="http://schemas.microsoft.com/office/drawing/2014/main" id="{6E88EC11-FAD6-5FDC-04E8-D2A60760933B}"/>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18" name="TextBox 17">
            <a:extLst>
              <a:ext uri="{FF2B5EF4-FFF2-40B4-BE49-F238E27FC236}">
                <a16:creationId xmlns:a16="http://schemas.microsoft.com/office/drawing/2014/main" id="{79041183-9402-AB0A-6394-7F2895C39790}"/>
              </a:ext>
            </a:extLst>
          </p:cNvPr>
          <p:cNvSpPr txBox="1"/>
          <p:nvPr/>
        </p:nvSpPr>
        <p:spPr>
          <a:xfrm>
            <a:off x="328612" y="597717"/>
            <a:ext cx="8486774" cy="553998"/>
          </a:xfrm>
          <a:prstGeom prst="rect">
            <a:avLst/>
          </a:prstGeom>
          <a:noFill/>
        </p:spPr>
        <p:txBody>
          <a:bodyPr wrap="square">
            <a:spAutoFit/>
          </a:bodyPr>
          <a:lstStyle/>
          <a:p>
            <a:r>
              <a:rPr kumimoji="0" lang="en-US" sz="10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t>Product</a:t>
            </a:r>
            <a:r>
              <a:rPr lang="en-US" sz="1000" kern="0" dirty="0">
                <a:solidFill>
                  <a:srgbClr val="000000"/>
                </a:solidFill>
                <a:latin typeface="Fund Light" pitchFamily="2" charset="-78"/>
                <a:cs typeface="Fund Light" pitchFamily="2" charset="-78"/>
                <a:sym typeface="Arial"/>
              </a:rPr>
              <a:t>s</a:t>
            </a:r>
            <a:r>
              <a:rPr kumimoji="0" lang="en-US" sz="10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t> shortlisted from question 1</a:t>
            </a:r>
            <a:r>
              <a:rPr lang="en-US" sz="1000" kern="0" dirty="0">
                <a:solidFill>
                  <a:srgbClr val="000000"/>
                </a:solidFill>
                <a:latin typeface="Fund Light" pitchFamily="2" charset="-78"/>
                <a:cs typeface="Fund Light" pitchFamily="2" charset="-78"/>
                <a:sym typeface="Arial"/>
              </a:rPr>
              <a:t> </a:t>
            </a:r>
            <a:r>
              <a:rPr kumimoji="0" lang="en-US" sz="10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t>should be evaluated as per the following dimensions. These are guidelines to help eliminate products, where localization is not immediately feasible due to technical challenges.</a:t>
            </a:r>
            <a:br>
              <a:rPr kumimoji="0" lang="en-US" sz="10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br>
            <a:r>
              <a:rPr kumimoji="0" lang="en-US" sz="1000" b="0" i="0" u="none" strike="noStrike" kern="0" cap="none" spc="0" normalizeH="0" baseline="0" noProof="0" dirty="0">
                <a:ln>
                  <a:noFill/>
                </a:ln>
                <a:solidFill>
                  <a:srgbClr val="000000"/>
                </a:solidFill>
                <a:effectLst/>
                <a:uLnTx/>
                <a:uFillTx/>
                <a:latin typeface="Fund Light" pitchFamily="2" charset="-78"/>
                <a:cs typeface="Fund Light" pitchFamily="2" charset="-78"/>
                <a:sym typeface="Arial"/>
              </a:rPr>
              <a:t>PIF’s NDD team can be consulted for support / inputs. </a:t>
            </a:r>
            <a:endParaRPr lang="en-US" sz="1000" i="1" dirty="0"/>
          </a:p>
        </p:txBody>
      </p:sp>
      <p:sp>
        <p:nvSpPr>
          <p:cNvPr id="8" name="Rectangle: Rounded Corners 7">
            <a:extLst>
              <a:ext uri="{FF2B5EF4-FFF2-40B4-BE49-F238E27FC236}">
                <a16:creationId xmlns:a16="http://schemas.microsoft.com/office/drawing/2014/main" id="{C602AECB-48C9-EC8D-B0CB-AC25DB550EBB}"/>
              </a:ext>
            </a:extLst>
          </p:cNvPr>
          <p:cNvSpPr/>
          <p:nvPr/>
        </p:nvSpPr>
        <p:spPr>
          <a:xfrm>
            <a:off x="2249665" y="4864225"/>
            <a:ext cx="4389120"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to resolve technical challenges (</a:t>
            </a:r>
            <a:r>
              <a:rPr lang="en-US" sz="1000">
                <a:solidFill>
                  <a:srgbClr val="000000"/>
                </a:solidFill>
                <a:latin typeface="Fund Light" pitchFamily="2" charset="-78"/>
                <a:cs typeface="Fund Light" pitchFamily="2" charset="-78"/>
                <a:hlinkClick r:id="rId6" action="ppaction://hlinksldjump"/>
              </a:rPr>
              <a:t>Contacts</a:t>
            </a:r>
            <a:r>
              <a:rPr lang="en-US" sz="1000">
                <a:solidFill>
                  <a:srgbClr val="000000"/>
                </a:solidFill>
                <a:latin typeface="Fund Light" pitchFamily="2" charset="-78"/>
                <a:cs typeface="Fund Light" pitchFamily="2" charset="-78"/>
              </a:rPr>
              <a:t>)</a:t>
            </a:r>
          </a:p>
        </p:txBody>
      </p:sp>
      <p:grpSp>
        <p:nvGrpSpPr>
          <p:cNvPr id="12" name="Group 11">
            <a:extLst>
              <a:ext uri="{FF2B5EF4-FFF2-40B4-BE49-F238E27FC236}">
                <a16:creationId xmlns:a16="http://schemas.microsoft.com/office/drawing/2014/main" id="{08C8D86E-E808-7710-7E7C-F3DDF115B4C5}"/>
              </a:ext>
            </a:extLst>
          </p:cNvPr>
          <p:cNvGrpSpPr/>
          <p:nvPr/>
        </p:nvGrpSpPr>
        <p:grpSpPr>
          <a:xfrm>
            <a:off x="1995026" y="4816239"/>
            <a:ext cx="303559" cy="303559"/>
            <a:chOff x="-577629" y="2311332"/>
            <a:chExt cx="404038" cy="404037"/>
          </a:xfrm>
        </p:grpSpPr>
        <p:sp>
          <p:nvSpPr>
            <p:cNvPr id="13" name="Oval 12">
              <a:extLst>
                <a:ext uri="{FF2B5EF4-FFF2-40B4-BE49-F238E27FC236}">
                  <a16:creationId xmlns:a16="http://schemas.microsoft.com/office/drawing/2014/main" id="{13126E00-A453-D518-59C4-DC3B96B440B1}"/>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0EC65B2A-4B8C-4AFD-A86F-F5DED5BA1594}"/>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5" name="Group 14">
            <a:extLst>
              <a:ext uri="{FF2B5EF4-FFF2-40B4-BE49-F238E27FC236}">
                <a16:creationId xmlns:a16="http://schemas.microsoft.com/office/drawing/2014/main" id="{104009CB-EFC9-1783-3CFF-B8CC2982A24C}"/>
              </a:ext>
            </a:extLst>
          </p:cNvPr>
          <p:cNvGrpSpPr/>
          <p:nvPr/>
        </p:nvGrpSpPr>
        <p:grpSpPr>
          <a:xfrm>
            <a:off x="6396792" y="4887527"/>
            <a:ext cx="168686" cy="161455"/>
            <a:chOff x="11260138" y="4194175"/>
            <a:chExt cx="360363" cy="379413"/>
          </a:xfrm>
        </p:grpSpPr>
        <p:sp>
          <p:nvSpPr>
            <p:cNvPr id="16" name="Freeform 289">
              <a:extLst>
                <a:ext uri="{FF2B5EF4-FFF2-40B4-BE49-F238E27FC236}">
                  <a16:creationId xmlns:a16="http://schemas.microsoft.com/office/drawing/2014/main" id="{DEAF8C7A-5A1F-4B3A-1122-129500D65DAD}"/>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290">
              <a:extLst>
                <a:ext uri="{FF2B5EF4-FFF2-40B4-BE49-F238E27FC236}">
                  <a16:creationId xmlns:a16="http://schemas.microsoft.com/office/drawing/2014/main" id="{E5D23E11-4523-0890-C757-61555C0D41EF}"/>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291">
              <a:extLst>
                <a:ext uri="{FF2B5EF4-FFF2-40B4-BE49-F238E27FC236}">
                  <a16:creationId xmlns:a16="http://schemas.microsoft.com/office/drawing/2014/main" id="{7D2C2453-B3CA-5D50-A3D6-B68418EA510F}"/>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Rectangle 1">
            <a:extLst>
              <a:ext uri="{FF2B5EF4-FFF2-40B4-BE49-F238E27FC236}">
                <a16:creationId xmlns:a16="http://schemas.microsoft.com/office/drawing/2014/main" id="{A3EB76BD-DC6D-B791-68E0-E3A117293B12}"/>
              </a:ext>
            </a:extLst>
          </p:cNvPr>
          <p:cNvSpPr/>
          <p:nvPr/>
        </p:nvSpPr>
        <p:spPr>
          <a:xfrm>
            <a:off x="7312365" y="1596580"/>
            <a:ext cx="1495373" cy="2852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228600" indent="-228600">
              <a:spcBef>
                <a:spcPts val="300"/>
              </a:spcBef>
              <a:spcAft>
                <a:spcPts val="300"/>
              </a:spcAft>
              <a:buFont typeface="+mj-lt"/>
              <a:buAutoNum type="arabicPeriod"/>
            </a:pPr>
            <a:r>
              <a:rPr lang="en-US" sz="1000">
                <a:solidFill>
                  <a:srgbClr val="000000"/>
                </a:solidFill>
                <a:latin typeface="Fund Light" pitchFamily="2" charset="-78"/>
                <a:cs typeface="Fund Light" pitchFamily="2" charset="-78"/>
              </a:rPr>
              <a:t>Supplier/ investor feedback</a:t>
            </a:r>
          </a:p>
          <a:p>
            <a:pPr marL="228600" indent="-228600">
              <a:spcBef>
                <a:spcPts val="300"/>
              </a:spcBef>
              <a:spcAft>
                <a:spcPts val="300"/>
              </a:spcAft>
              <a:buFont typeface="+mj-lt"/>
              <a:buAutoNum type="arabicPeriod"/>
            </a:pPr>
            <a:r>
              <a:rPr lang="en-US" sz="1000">
                <a:solidFill>
                  <a:srgbClr val="000000"/>
                </a:solidFill>
                <a:latin typeface="Fund Light" pitchFamily="2" charset="-78"/>
                <a:cs typeface="Fund Light" pitchFamily="2" charset="-78"/>
              </a:rPr>
              <a:t>PIF NDD </a:t>
            </a:r>
            <a:r>
              <a:rPr lang="en-US" sz="1000">
                <a:solidFill>
                  <a:schemeClr val="tx1"/>
                </a:solidFill>
                <a:latin typeface="Fund Light" pitchFamily="2" charset="-78"/>
                <a:cs typeface="Fund Light" pitchFamily="2" charset="-78"/>
              </a:rPr>
              <a:t>(</a:t>
            </a:r>
            <a:r>
              <a:rPr lang="en-US" sz="1000">
                <a:solidFill>
                  <a:srgbClr val="000000"/>
                </a:solidFill>
                <a:latin typeface="Fund Light" pitchFamily="2" charset="-78"/>
                <a:cs typeface="Fund Light" pitchFamily="2" charset="-78"/>
                <a:hlinkClick r:id="rId8" action="ppaction://hlinksldjump"/>
              </a:rPr>
              <a:t>Contacts</a:t>
            </a:r>
            <a:r>
              <a:rPr lang="en-US" sz="1000">
                <a:solidFill>
                  <a:srgbClr val="000000"/>
                </a:solidFill>
                <a:latin typeface="Fund Light" pitchFamily="2" charset="-78"/>
                <a:cs typeface="Fund Light" pitchFamily="2" charset="-78"/>
              </a:rPr>
              <a:t>)</a:t>
            </a:r>
          </a:p>
        </p:txBody>
      </p:sp>
      <p:cxnSp>
        <p:nvCxnSpPr>
          <p:cNvPr id="20" name="Straight Connector 19">
            <a:extLst>
              <a:ext uri="{FF2B5EF4-FFF2-40B4-BE49-F238E27FC236}">
                <a16:creationId xmlns:a16="http://schemas.microsoft.com/office/drawing/2014/main" id="{8FE41D16-6929-6F84-7C96-E207951E5CAE}"/>
              </a:ext>
            </a:extLst>
          </p:cNvPr>
          <p:cNvCxnSpPr>
            <a:cxnSpLocks/>
          </p:cNvCxnSpPr>
          <p:nvPr/>
        </p:nvCxnSpPr>
        <p:spPr>
          <a:xfrm>
            <a:off x="7244142" y="1641280"/>
            <a:ext cx="0" cy="275914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E2B83F76-5AAF-A339-2FA4-6F6E08233D5C}"/>
              </a:ext>
            </a:extLst>
          </p:cNvPr>
          <p:cNvGrpSpPr/>
          <p:nvPr/>
        </p:nvGrpSpPr>
        <p:grpSpPr>
          <a:xfrm>
            <a:off x="8314197" y="3312843"/>
            <a:ext cx="168686" cy="161455"/>
            <a:chOff x="11260138" y="4194175"/>
            <a:chExt cx="360363" cy="379413"/>
          </a:xfrm>
        </p:grpSpPr>
        <p:sp>
          <p:nvSpPr>
            <p:cNvPr id="24" name="Freeform 289">
              <a:extLst>
                <a:ext uri="{FF2B5EF4-FFF2-40B4-BE49-F238E27FC236}">
                  <a16:creationId xmlns:a16="http://schemas.microsoft.com/office/drawing/2014/main" id="{6010139E-BD3E-9083-11E0-9FCCA8B7C8BA}"/>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290">
              <a:extLst>
                <a:ext uri="{FF2B5EF4-FFF2-40B4-BE49-F238E27FC236}">
                  <a16:creationId xmlns:a16="http://schemas.microsoft.com/office/drawing/2014/main" id="{EA51BA26-99D1-95E2-D188-6D934F3F5C31}"/>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291">
              <a:extLst>
                <a:ext uri="{FF2B5EF4-FFF2-40B4-BE49-F238E27FC236}">
                  <a16:creationId xmlns:a16="http://schemas.microsoft.com/office/drawing/2014/main" id="{589316B6-9C80-E406-93CE-24DE7EA206C7}"/>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54514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201937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Products for LDC are selected along three dimensions</a:t>
            </a:r>
          </a:p>
        </p:txBody>
      </p:sp>
      <p:sp>
        <p:nvSpPr>
          <p:cNvPr id="83" name="TextBox 82">
            <a:extLst>
              <a:ext uri="{FF2B5EF4-FFF2-40B4-BE49-F238E27FC236}">
                <a16:creationId xmlns:a16="http://schemas.microsoft.com/office/drawing/2014/main" id="{AF19ABB8-F438-4A74-BDBF-D1A343B3B37B}"/>
              </a:ext>
            </a:extLst>
          </p:cNvPr>
          <p:cNvSpPr txBox="1"/>
          <p:nvPr/>
        </p:nvSpPr>
        <p:spPr>
          <a:xfrm>
            <a:off x="4983571" y="902624"/>
            <a:ext cx="3753162" cy="826633"/>
          </a:xfrm>
          <a:prstGeom prst="rect">
            <a:avLst/>
          </a:prstGeom>
          <a:noFill/>
        </p:spPr>
        <p:txBody>
          <a:bodyPr wrap="square" lIns="0" tIns="0" rIns="0" bIns="0" rtlCol="0" anchor="ctr" anchorCtr="0">
            <a:noAutofit/>
          </a:bodyPr>
          <a:lstStyle>
            <a:defPPr>
              <a:defRPr lang="en-US"/>
            </a:defPPr>
            <a:lvl1pPr marR="0" lvl="0" defTabSz="914400" fontAlgn="auto">
              <a:lnSpc>
                <a:spcPct val="100000"/>
              </a:lnSpc>
              <a:spcBef>
                <a:spcPct val="0"/>
              </a:spcBef>
              <a:spcAft>
                <a:spcPts val="300"/>
              </a:spcAft>
              <a:buClrTx/>
              <a:buSzTx/>
              <a:defRPr kumimoji="0" sz="1200" b="0" i="0" u="none" strike="noStrike" kern="0" cap="none" spc="0" normalizeH="0" baseline="0">
                <a:ln>
                  <a:noFill/>
                </a:ln>
                <a:solidFill>
                  <a:schemeClr val="bg1">
                    <a:lumMod val="85000"/>
                  </a:schemeClr>
                </a:solidFill>
                <a:effectLst/>
                <a:uLnTx/>
                <a:uFillTx/>
                <a:latin typeface="Fund Light" pitchFamily="2" charset="-78"/>
                <a:cs typeface="Fund Light" pitchFamily="2" charset="-78"/>
              </a:defRPr>
            </a:lvl1pPr>
            <a:lvl2pPr defTabSz="914400"/>
            <a:lvl3pPr defTabSz="914400"/>
            <a:lvl4pPr defTabSz="914400"/>
            <a:lvl5pPr defTabSz="914400"/>
            <a:lvl6pPr defTabSz="914400"/>
            <a:lvl7pPr defTabSz="914400"/>
            <a:lvl8pPr defTabSz="914400"/>
            <a:lvl9pPr defTabSz="914400"/>
          </a:lstStyle>
          <a:p>
            <a:r>
              <a:rPr lang="en-US">
                <a:sym typeface="Arial"/>
              </a:rPr>
              <a:t>Criticality of the product for localization in terms of spend size and the overall level of procurement from foreign over local suppliers</a:t>
            </a:r>
          </a:p>
        </p:txBody>
      </p:sp>
      <p:cxnSp>
        <p:nvCxnSpPr>
          <p:cNvPr id="84" name="Straight Connector 83">
            <a:extLst>
              <a:ext uri="{FF2B5EF4-FFF2-40B4-BE49-F238E27FC236}">
                <a16:creationId xmlns:a16="http://schemas.microsoft.com/office/drawing/2014/main" id="{C4448F27-5FEB-40B5-8E74-0C204B2E8F13}"/>
              </a:ext>
            </a:extLst>
          </p:cNvPr>
          <p:cNvCxnSpPr/>
          <p:nvPr/>
        </p:nvCxnSpPr>
        <p:spPr>
          <a:xfrm>
            <a:off x="4983571" y="1909615"/>
            <a:ext cx="3833054" cy="0"/>
          </a:xfrm>
          <a:prstGeom prst="line">
            <a:avLst/>
          </a:prstGeom>
          <a:noFill/>
          <a:ln w="19050" cap="rnd" cmpd="sng" algn="ctr">
            <a:solidFill>
              <a:schemeClr val="bg1">
                <a:lumMod val="50000"/>
              </a:schemeClr>
            </a:solidFill>
            <a:prstDash val="sysDot"/>
          </a:ln>
          <a:effectLst/>
        </p:spPr>
      </p:cxnSp>
      <p:sp>
        <p:nvSpPr>
          <p:cNvPr id="85" name="TextBox 84">
            <a:extLst>
              <a:ext uri="{FF2B5EF4-FFF2-40B4-BE49-F238E27FC236}">
                <a16:creationId xmlns:a16="http://schemas.microsoft.com/office/drawing/2014/main" id="{15B7EF42-ECDC-406C-97ED-C462968B4335}"/>
              </a:ext>
            </a:extLst>
          </p:cNvPr>
          <p:cNvSpPr txBox="1"/>
          <p:nvPr/>
        </p:nvSpPr>
        <p:spPr>
          <a:xfrm>
            <a:off x="4983572" y="2089973"/>
            <a:ext cx="3753162" cy="1141352"/>
          </a:xfrm>
          <a:prstGeom prst="rect">
            <a:avLst/>
          </a:prstGeom>
          <a:noFill/>
        </p:spPr>
        <p:txBody>
          <a:bodyPr wrap="square" lIns="0" tIns="0" rIns="0" bIns="0" rtlCol="0" anchor="ctr" anchorCtr="0">
            <a:noAutofit/>
          </a:bodyPr>
          <a:lstStyle>
            <a:defPPr>
              <a:defRPr lang="en-US"/>
            </a:defPPr>
            <a:lvl1pPr marR="0" lvl="0" defTabSz="914400" fontAlgn="auto">
              <a:lnSpc>
                <a:spcPct val="100000"/>
              </a:lnSpc>
              <a:spcBef>
                <a:spcPct val="0"/>
              </a:spcBef>
              <a:spcAft>
                <a:spcPts val="300"/>
              </a:spcAft>
              <a:buClrTx/>
              <a:buSzTx/>
              <a:defRPr kumimoji="0" sz="1200" b="0" i="0" u="none" strike="noStrike" kern="0" cap="none" spc="0" normalizeH="0" baseline="0">
                <a:ln>
                  <a:noFill/>
                </a:ln>
                <a:solidFill>
                  <a:schemeClr val="bg1">
                    <a:lumMod val="85000"/>
                  </a:schemeClr>
                </a:solidFill>
                <a:effectLst/>
                <a:uLnTx/>
                <a:uFillTx/>
                <a:latin typeface="Fund Light" pitchFamily="2" charset="-78"/>
                <a:cs typeface="Fund Light" pitchFamily="2" charset="-78"/>
              </a:defRPr>
            </a:lvl1pPr>
            <a:lvl2pPr defTabSz="914400"/>
            <a:lvl3pPr defTabSz="914400"/>
            <a:lvl4pPr defTabSz="914400"/>
            <a:lvl5pPr defTabSz="914400"/>
            <a:lvl6pPr defTabSz="914400"/>
            <a:lvl7pPr defTabSz="914400"/>
            <a:lvl8pPr defTabSz="914400"/>
            <a:lvl9pPr defTabSz="914400"/>
          </a:lstStyle>
          <a:p>
            <a:r>
              <a:rPr lang="en-US">
                <a:sym typeface="Arial"/>
              </a:rPr>
              <a:t>Rapid qualitative evaluation if there are any technical roadblocks that would hinder localization of the product (E.g., availability of critical raw material, access to labor)</a:t>
            </a:r>
            <a:endParaRPr lang="en-GB">
              <a:sym typeface="Arial"/>
            </a:endParaRPr>
          </a:p>
        </p:txBody>
      </p:sp>
      <p:cxnSp>
        <p:nvCxnSpPr>
          <p:cNvPr id="86" name="Straight Connector 85">
            <a:extLst>
              <a:ext uri="{FF2B5EF4-FFF2-40B4-BE49-F238E27FC236}">
                <a16:creationId xmlns:a16="http://schemas.microsoft.com/office/drawing/2014/main" id="{E175A90B-F3E4-438E-A8E6-78BE8D8EC967}"/>
              </a:ext>
            </a:extLst>
          </p:cNvPr>
          <p:cNvCxnSpPr/>
          <p:nvPr/>
        </p:nvCxnSpPr>
        <p:spPr>
          <a:xfrm>
            <a:off x="4983571" y="3411683"/>
            <a:ext cx="3833054" cy="0"/>
          </a:xfrm>
          <a:prstGeom prst="line">
            <a:avLst/>
          </a:prstGeom>
          <a:noFill/>
          <a:ln w="19050" cap="rnd" cmpd="sng" algn="ctr">
            <a:solidFill>
              <a:schemeClr val="bg1">
                <a:lumMod val="50000"/>
              </a:schemeClr>
            </a:solidFill>
            <a:prstDash val="sysDot"/>
          </a:ln>
          <a:effectLst/>
        </p:spPr>
      </p:cxnSp>
      <p:sp>
        <p:nvSpPr>
          <p:cNvPr id="87" name="TextBox 86">
            <a:extLst>
              <a:ext uri="{FF2B5EF4-FFF2-40B4-BE49-F238E27FC236}">
                <a16:creationId xmlns:a16="http://schemas.microsoft.com/office/drawing/2014/main" id="{8657F3AC-382E-46E8-BCFE-FE43A9DC5AA6}"/>
              </a:ext>
            </a:extLst>
          </p:cNvPr>
          <p:cNvSpPr txBox="1"/>
          <p:nvPr/>
        </p:nvSpPr>
        <p:spPr>
          <a:xfrm>
            <a:off x="4983571" y="3592043"/>
            <a:ext cx="3753162" cy="826633"/>
          </a:xfrm>
          <a:prstGeom prst="rect">
            <a:avLst/>
          </a:prstGeom>
          <a:noFill/>
        </p:spPr>
        <p:txBody>
          <a:bodyPr wrap="square" lIns="0" tIns="0" rIns="0" bIns="0" rtlCol="0" anchor="ctr" anchorCtr="0">
            <a:noAutofit/>
          </a:bodyPr>
          <a:lstStyle>
            <a:defPPr>
              <a:defRPr lang="en-US"/>
            </a:defPPr>
            <a:lvl1pPr marR="0" lvl="0" defTabSz="914400" fontAlgn="auto">
              <a:lnSpc>
                <a:spcPct val="100000"/>
              </a:lnSpc>
              <a:spcBef>
                <a:spcPct val="0"/>
              </a:spcBef>
              <a:spcAft>
                <a:spcPts val="300"/>
              </a:spcAft>
              <a:buClrTx/>
              <a:buSzTx/>
              <a:defRPr kumimoji="0" sz="1200" b="0" i="0" u="none" strike="noStrike" kern="0" cap="none" spc="0" normalizeH="0" baseline="0">
                <a:ln>
                  <a:noFill/>
                </a:ln>
                <a:effectLst/>
                <a:uLnTx/>
                <a:uFillTx/>
                <a:latin typeface="Fund Light" pitchFamily="2" charset="-78"/>
                <a:cs typeface="Fund Light" pitchFamily="2" charset="-78"/>
              </a:defRPr>
            </a:lvl1pPr>
            <a:lvl2pPr defTabSz="914400"/>
            <a:lvl3pPr defTabSz="914400"/>
            <a:lvl4pPr defTabSz="914400"/>
            <a:lvl5pPr defTabSz="914400"/>
            <a:lvl6pPr defTabSz="914400"/>
            <a:lvl7pPr defTabSz="914400"/>
            <a:lvl8pPr defTabSz="914400"/>
            <a:lvl9pPr defTabSz="914400"/>
          </a:lstStyle>
          <a:p>
            <a:r>
              <a:rPr lang="en-GB">
                <a:solidFill>
                  <a:srgbClr val="000000"/>
                </a:solidFill>
                <a:sym typeface="Arial"/>
              </a:rPr>
              <a:t>High-level evaluation of the investor risk based </a:t>
            </a:r>
            <a:br>
              <a:rPr lang="en-GB">
                <a:solidFill>
                  <a:srgbClr val="000000"/>
                </a:solidFill>
                <a:sym typeface="Arial"/>
              </a:rPr>
            </a:br>
            <a:r>
              <a:rPr lang="en-GB">
                <a:solidFill>
                  <a:srgbClr val="000000"/>
                </a:solidFill>
                <a:sym typeface="Arial"/>
              </a:rPr>
              <a:t>on the demand concentration and availability </a:t>
            </a:r>
            <a:br>
              <a:rPr lang="en-GB">
                <a:solidFill>
                  <a:srgbClr val="000000"/>
                </a:solidFill>
                <a:sym typeface="Arial"/>
              </a:rPr>
            </a:br>
            <a:r>
              <a:rPr lang="en-GB">
                <a:solidFill>
                  <a:srgbClr val="000000"/>
                </a:solidFill>
                <a:sym typeface="Arial"/>
              </a:rPr>
              <a:t>of existing supply capacity (in line with </a:t>
            </a:r>
            <a:br>
              <a:rPr lang="en-GB">
                <a:solidFill>
                  <a:srgbClr val="000000"/>
                </a:solidFill>
                <a:sym typeface="Arial"/>
              </a:rPr>
            </a:br>
            <a:r>
              <a:rPr lang="en-GB">
                <a:solidFill>
                  <a:srgbClr val="000000"/>
                </a:solidFill>
                <a:sym typeface="Arial"/>
              </a:rPr>
              <a:t>market requirements)</a:t>
            </a:r>
          </a:p>
        </p:txBody>
      </p:sp>
      <p:cxnSp>
        <p:nvCxnSpPr>
          <p:cNvPr id="71" name="Straight Connector 70">
            <a:extLst>
              <a:ext uri="{FF2B5EF4-FFF2-40B4-BE49-F238E27FC236}">
                <a16:creationId xmlns:a16="http://schemas.microsoft.com/office/drawing/2014/main" id="{ED825565-4166-41A4-BCB1-6198F8BB9EB4}"/>
              </a:ext>
            </a:extLst>
          </p:cNvPr>
          <p:cNvCxnSpPr>
            <a:cxnSpLocks/>
          </p:cNvCxnSpPr>
          <p:nvPr/>
        </p:nvCxnSpPr>
        <p:spPr>
          <a:xfrm>
            <a:off x="4066674" y="1393843"/>
            <a:ext cx="788966" cy="0"/>
          </a:xfrm>
          <a:prstGeom prst="line">
            <a:avLst/>
          </a:prstGeom>
          <a:noFill/>
          <a:ln w="19050" cap="rnd" cmpd="sng" algn="ctr">
            <a:solidFill>
              <a:schemeClr val="bg2"/>
            </a:solidFill>
            <a:prstDash val="sysDot"/>
            <a:tailEnd type="oval"/>
          </a:ln>
          <a:effectLst/>
        </p:spPr>
      </p:cxnSp>
      <p:cxnSp>
        <p:nvCxnSpPr>
          <p:cNvPr id="72" name="Straight Connector 71">
            <a:extLst>
              <a:ext uri="{FF2B5EF4-FFF2-40B4-BE49-F238E27FC236}">
                <a16:creationId xmlns:a16="http://schemas.microsoft.com/office/drawing/2014/main" id="{CAB9E218-D75F-46FB-9A6D-18766148D948}"/>
              </a:ext>
            </a:extLst>
          </p:cNvPr>
          <p:cNvCxnSpPr>
            <a:cxnSpLocks/>
          </p:cNvCxnSpPr>
          <p:nvPr/>
        </p:nvCxnSpPr>
        <p:spPr>
          <a:xfrm>
            <a:off x="3681663" y="2608182"/>
            <a:ext cx="1173979" cy="0"/>
          </a:xfrm>
          <a:prstGeom prst="line">
            <a:avLst/>
          </a:prstGeom>
          <a:noFill/>
          <a:ln w="19050" cap="rnd" cmpd="sng" algn="ctr">
            <a:solidFill>
              <a:schemeClr val="bg2"/>
            </a:solidFill>
            <a:prstDash val="sysDot"/>
            <a:tailEnd type="oval"/>
          </a:ln>
          <a:effectLst/>
        </p:spPr>
      </p:cxnSp>
      <p:cxnSp>
        <p:nvCxnSpPr>
          <p:cNvPr id="73" name="Straight Connector 72">
            <a:extLst>
              <a:ext uri="{FF2B5EF4-FFF2-40B4-BE49-F238E27FC236}">
                <a16:creationId xmlns:a16="http://schemas.microsoft.com/office/drawing/2014/main" id="{95F25E70-B9CB-402A-AA3F-DDA6B3D1F1D0}"/>
              </a:ext>
            </a:extLst>
          </p:cNvPr>
          <p:cNvCxnSpPr>
            <a:cxnSpLocks/>
          </p:cNvCxnSpPr>
          <p:nvPr/>
        </p:nvCxnSpPr>
        <p:spPr>
          <a:xfrm>
            <a:off x="3328737" y="3784932"/>
            <a:ext cx="1526904" cy="0"/>
          </a:xfrm>
          <a:prstGeom prst="line">
            <a:avLst/>
          </a:prstGeom>
          <a:noFill/>
          <a:ln w="19050" cap="rnd" cmpd="sng" algn="ctr">
            <a:solidFill>
              <a:schemeClr val="bg2"/>
            </a:solidFill>
            <a:prstDash val="sysDot"/>
            <a:tailEnd type="oval"/>
          </a:ln>
          <a:effectLst/>
        </p:spPr>
      </p:cxnSp>
      <p:sp>
        <p:nvSpPr>
          <p:cNvPr id="69" name="Freeform: Shape 68">
            <a:extLst>
              <a:ext uri="{FF2B5EF4-FFF2-40B4-BE49-F238E27FC236}">
                <a16:creationId xmlns:a16="http://schemas.microsoft.com/office/drawing/2014/main" id="{34B9A733-56CD-4402-A38F-115929B72447}"/>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a:solidFill>
                  <a:srgbClr val="E7E7E7"/>
                </a:solidFill>
                <a:latin typeface="Fund Light" pitchFamily="2" charset="-78"/>
                <a:cs typeface="Fund Light" pitchFamily="2" charset="-78"/>
                <a:sym typeface="Arial"/>
              </a:rPr>
              <a:t>Should the product be localized? </a:t>
            </a:r>
            <a:endParaRPr lang="en-GB" sz="1000" kern="0">
              <a:solidFill>
                <a:srgbClr val="E7E7E7"/>
              </a:solidFill>
              <a:latin typeface="Fund Light" pitchFamily="2" charset="-78"/>
              <a:cs typeface="Fund Light" pitchFamily="2" charset="-78"/>
              <a:sym typeface="Arial"/>
            </a:endParaRPr>
          </a:p>
        </p:txBody>
      </p:sp>
      <p:sp>
        <p:nvSpPr>
          <p:cNvPr id="70" name="Oval 15">
            <a:extLst>
              <a:ext uri="{FF2B5EF4-FFF2-40B4-BE49-F238E27FC236}">
                <a16:creationId xmlns:a16="http://schemas.microsoft.com/office/drawing/2014/main" id="{3F14D9B5-4A45-464F-B96A-5F28CA44E0A0}"/>
              </a:ext>
            </a:extLst>
          </p:cNvPr>
          <p:cNvSpPr>
            <a:spLocks noChangeArrowheads="1"/>
          </p:cNvSpPr>
          <p:nvPr/>
        </p:nvSpPr>
        <p:spPr bwMode="auto">
          <a:xfrm>
            <a:off x="413863" y="889000"/>
            <a:ext cx="3825850" cy="246165"/>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buClr>
                <a:schemeClr val="tx1"/>
              </a:buClr>
              <a:buChar char="•"/>
            </a:pPr>
            <a:endParaRPr lang="en-GB" sz="1125">
              <a:solidFill>
                <a:schemeClr val="bg1"/>
              </a:solidFill>
              <a:latin typeface="Fund Light" pitchFamily="2" charset="-78"/>
              <a:cs typeface="Fund Light" pitchFamily="2" charset="-78"/>
              <a:sym typeface="Arial"/>
            </a:endParaRPr>
          </a:p>
        </p:txBody>
      </p:sp>
      <p:sp>
        <p:nvSpPr>
          <p:cNvPr id="74" name="Oval 73">
            <a:extLst>
              <a:ext uri="{FF2B5EF4-FFF2-40B4-BE49-F238E27FC236}">
                <a16:creationId xmlns:a16="http://schemas.microsoft.com/office/drawing/2014/main" id="{431EFD5E-1D81-4483-AC78-C3A935DF0BEB}"/>
              </a:ext>
            </a:extLst>
          </p:cNvPr>
          <p:cNvSpPr/>
          <p:nvPr/>
        </p:nvSpPr>
        <p:spPr>
          <a:xfrm>
            <a:off x="344486" y="1267634"/>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1</a:t>
            </a:r>
          </a:p>
        </p:txBody>
      </p:sp>
      <p:sp>
        <p:nvSpPr>
          <p:cNvPr id="64" name="Freeform: Shape 63">
            <a:extLst>
              <a:ext uri="{FF2B5EF4-FFF2-40B4-BE49-F238E27FC236}">
                <a16:creationId xmlns:a16="http://schemas.microsoft.com/office/drawing/2014/main" id="{593DBAD3-E655-487E-B6DD-D731F279A69C}"/>
              </a:ext>
            </a:extLst>
          </p:cNvPr>
          <p:cNvSpPr/>
          <p:nvPr/>
        </p:nvSpPr>
        <p:spPr bwMode="auto">
          <a:xfrm>
            <a:off x="826430" y="2309784"/>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alpha val="25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a:solidFill>
                  <a:srgbClr val="E7E7E7"/>
                </a:solidFill>
                <a:latin typeface="Fund Light" pitchFamily="2" charset="-78"/>
                <a:cs typeface="Fund Light" pitchFamily="2" charset="-78"/>
                <a:sym typeface="Arial"/>
              </a:rPr>
              <a:t>Is localization of the product </a:t>
            </a:r>
            <a:br>
              <a:rPr lang="en-US" sz="1000" kern="0">
                <a:solidFill>
                  <a:srgbClr val="E7E7E7"/>
                </a:solidFill>
                <a:latin typeface="Fund Light" pitchFamily="2" charset="-78"/>
                <a:cs typeface="Fund Light" pitchFamily="2" charset="-78"/>
                <a:sym typeface="Arial"/>
              </a:rPr>
            </a:br>
            <a:r>
              <a:rPr lang="en-US" sz="1000" kern="0">
                <a:solidFill>
                  <a:srgbClr val="E7E7E7"/>
                </a:solidFill>
                <a:latin typeface="Fund Light" pitchFamily="2" charset="-78"/>
                <a:cs typeface="Fund Light" pitchFamily="2" charset="-78"/>
                <a:sym typeface="Arial"/>
              </a:rPr>
              <a:t>technically feasible?</a:t>
            </a:r>
            <a:endParaRPr lang="en-GB" sz="1000" kern="0">
              <a:solidFill>
                <a:srgbClr val="E7E7E7"/>
              </a:solidFill>
              <a:latin typeface="Fund Light" pitchFamily="2" charset="-78"/>
              <a:cs typeface="Fund Light" pitchFamily="2" charset="-78"/>
              <a:sym typeface="Arial"/>
            </a:endParaRPr>
          </a:p>
        </p:txBody>
      </p:sp>
      <p:sp>
        <p:nvSpPr>
          <p:cNvPr id="65" name="Oval 12">
            <a:extLst>
              <a:ext uri="{FF2B5EF4-FFF2-40B4-BE49-F238E27FC236}">
                <a16:creationId xmlns:a16="http://schemas.microsoft.com/office/drawing/2014/main" id="{E114306D-93D4-4693-A630-F111F28ADAEA}"/>
              </a:ext>
            </a:extLst>
          </p:cNvPr>
          <p:cNvSpPr>
            <a:spLocks noChangeArrowheads="1"/>
          </p:cNvSpPr>
          <p:nvPr/>
        </p:nvSpPr>
        <p:spPr bwMode="auto">
          <a:xfrm>
            <a:off x="826430" y="2184640"/>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75" name="Oval 74">
            <a:extLst>
              <a:ext uri="{FF2B5EF4-FFF2-40B4-BE49-F238E27FC236}">
                <a16:creationId xmlns:a16="http://schemas.microsoft.com/office/drawing/2014/main" id="{22BBBD60-F60F-4097-B07F-D33E05B8CC21}"/>
              </a:ext>
            </a:extLst>
          </p:cNvPr>
          <p:cNvSpPr/>
          <p:nvPr/>
        </p:nvSpPr>
        <p:spPr>
          <a:xfrm>
            <a:off x="753383" y="2565336"/>
            <a:ext cx="311276" cy="31127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rgbClr val="E7E7E7"/>
                </a:solidFill>
                <a:latin typeface="Fund Light" pitchFamily="2" charset="-78"/>
                <a:cs typeface="Fund Light" pitchFamily="2" charset="-78"/>
              </a:rPr>
              <a:t>2</a:t>
            </a:r>
          </a:p>
        </p:txBody>
      </p:sp>
      <p:sp>
        <p:nvSpPr>
          <p:cNvPr id="88" name="Oval 19" descr="Outlined diamond">
            <a:extLst>
              <a:ext uri="{FF2B5EF4-FFF2-40B4-BE49-F238E27FC236}">
                <a16:creationId xmlns:a16="http://schemas.microsoft.com/office/drawing/2014/main" id="{6FB5DD80-F8BE-4C63-9786-715DA9F4A45F}"/>
              </a:ext>
            </a:extLst>
          </p:cNvPr>
          <p:cNvSpPr>
            <a:spLocks noChangeArrowheads="1"/>
          </p:cNvSpPr>
          <p:nvPr>
            <p:custDataLst>
              <p:tags r:id="rId2"/>
            </p:custDataLst>
          </p:nvPr>
        </p:nvSpPr>
        <p:spPr bwMode="gray">
          <a:xfrm rot="5400000">
            <a:off x="2189656" y="785520"/>
            <a:ext cx="276708" cy="3003162"/>
          </a:xfrm>
          <a:prstGeom prst="ellipse">
            <a:avLst/>
          </a:prstGeom>
          <a:pattFill prst="openDmnd">
            <a:fgClr>
              <a:schemeClr val="bg1">
                <a:lumMod val="95000"/>
              </a:schemeClr>
            </a:fgClr>
            <a:bgClr>
              <a:schemeClr val="bg1">
                <a:lumMod val="95000"/>
              </a:schemeClr>
            </a:bgClr>
          </a:pattFill>
          <a:ln w="38100">
            <a:solidFill>
              <a:schemeClr val="bg1">
                <a:lumMod val="95000"/>
              </a:schemeClr>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pPr defTabSz="914400"/>
            <a:endParaRPr lang="en-GB" altLang="nl-NL" sz="1125">
              <a:solidFill>
                <a:schemeClr val="bg1"/>
              </a:solidFill>
              <a:latin typeface="Fund Light" pitchFamily="2" charset="-78"/>
              <a:cs typeface="Fund Light" pitchFamily="2" charset="-78"/>
            </a:endParaRPr>
          </a:p>
        </p:txBody>
      </p:sp>
      <p:sp>
        <p:nvSpPr>
          <p:cNvPr id="89" name="Arrow: Down 88">
            <a:extLst>
              <a:ext uri="{FF2B5EF4-FFF2-40B4-BE49-F238E27FC236}">
                <a16:creationId xmlns:a16="http://schemas.microsoft.com/office/drawing/2014/main" id="{383C165D-16B6-4CF0-B955-41064D7CDC70}"/>
              </a:ext>
            </a:extLst>
          </p:cNvPr>
          <p:cNvSpPr/>
          <p:nvPr/>
        </p:nvSpPr>
        <p:spPr>
          <a:xfrm>
            <a:off x="2135011" y="1873817"/>
            <a:ext cx="383555" cy="237638"/>
          </a:xfrm>
          <a:prstGeom prst="downArrow">
            <a:avLst>
              <a:gd name="adj1" fmla="val 47705"/>
              <a:gd name="adj2" fmla="val 3782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300"/>
              </a:spcBef>
              <a:spcAft>
                <a:spcPts val="300"/>
              </a:spcAft>
            </a:pPr>
            <a:endParaRPr lang="en-GB" sz="1200">
              <a:solidFill>
                <a:schemeClr val="bg1"/>
              </a:solidFill>
              <a:latin typeface="Fund Light" pitchFamily="2" charset="-78"/>
              <a:cs typeface="Fund Light" pitchFamily="2" charset="-78"/>
            </a:endParaRPr>
          </a:p>
        </p:txBody>
      </p:sp>
      <p:sp>
        <p:nvSpPr>
          <p:cNvPr id="56" name="Freeform: Shape 55">
            <a:extLst>
              <a:ext uri="{FF2B5EF4-FFF2-40B4-BE49-F238E27FC236}">
                <a16:creationId xmlns:a16="http://schemas.microsoft.com/office/drawing/2014/main" id="{2C5D3C26-7A18-4F54-AC55-A12478520416}"/>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spcAft>
                <a:spcPct val="0"/>
              </a:spcAft>
            </a:pPr>
            <a:r>
              <a:rPr lang="en-US" sz="1000" kern="0">
                <a:latin typeface="Fund Light" pitchFamily="2" charset="-78"/>
                <a:cs typeface="Fund Light" pitchFamily="2" charset="-78"/>
                <a:sym typeface="Arial"/>
              </a:rPr>
              <a:t>Is demand </a:t>
            </a:r>
            <a:br>
              <a:rPr lang="en-US" sz="1000" kern="0">
                <a:latin typeface="Fund Light" pitchFamily="2" charset="-78"/>
                <a:cs typeface="Fund Light" pitchFamily="2" charset="-78"/>
                <a:sym typeface="Arial"/>
              </a:rPr>
            </a:br>
            <a:r>
              <a:rPr lang="en-US" sz="1000" kern="0">
                <a:latin typeface="Fund Light" pitchFamily="2" charset="-78"/>
                <a:cs typeface="Fund Light" pitchFamily="2" charset="-78"/>
                <a:sym typeface="Arial"/>
              </a:rPr>
              <a:t>commitment </a:t>
            </a:r>
            <a:br>
              <a:rPr lang="en-US" sz="1000" kern="0">
                <a:latin typeface="Fund Light" pitchFamily="2" charset="-78"/>
                <a:cs typeface="Fund Light" pitchFamily="2" charset="-78"/>
                <a:sym typeface="Arial"/>
              </a:rPr>
            </a:br>
            <a:r>
              <a:rPr lang="en-US" sz="1000" kern="0">
                <a:latin typeface="Fund Light" pitchFamily="2" charset="-78"/>
                <a:cs typeface="Fund Light" pitchFamily="2" charset="-78"/>
                <a:sym typeface="Arial"/>
              </a:rPr>
              <a:t>required?</a:t>
            </a:r>
            <a:endParaRPr lang="en-GB" sz="1000" kern="0">
              <a:latin typeface="Fund Light" pitchFamily="2" charset="-78"/>
              <a:cs typeface="Fund Light" pitchFamily="2" charset="-78"/>
              <a:sym typeface="Arial"/>
            </a:endParaRPr>
          </a:p>
        </p:txBody>
      </p:sp>
      <p:sp>
        <p:nvSpPr>
          <p:cNvPr id="63" name="Oval 9">
            <a:extLst>
              <a:ext uri="{FF2B5EF4-FFF2-40B4-BE49-F238E27FC236}">
                <a16:creationId xmlns:a16="http://schemas.microsoft.com/office/drawing/2014/main" id="{A2388D11-C0E0-4BE0-8BD2-0707C067A0D5}"/>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82" name="Oval 81">
            <a:extLst>
              <a:ext uri="{FF2B5EF4-FFF2-40B4-BE49-F238E27FC236}">
                <a16:creationId xmlns:a16="http://schemas.microsoft.com/office/drawing/2014/main" id="{9A1A3752-78E5-42B2-BEA5-5F41ADB5E1B1}"/>
              </a:ext>
            </a:extLst>
          </p:cNvPr>
          <p:cNvSpPr/>
          <p:nvPr/>
        </p:nvSpPr>
        <p:spPr>
          <a:xfrm>
            <a:off x="1148520" y="3863409"/>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3</a:t>
            </a:r>
          </a:p>
        </p:txBody>
      </p:sp>
      <p:sp>
        <p:nvSpPr>
          <p:cNvPr id="90" name="Oval 19" descr="Outlined diamond">
            <a:extLst>
              <a:ext uri="{FF2B5EF4-FFF2-40B4-BE49-F238E27FC236}">
                <a16:creationId xmlns:a16="http://schemas.microsoft.com/office/drawing/2014/main" id="{45630DBB-6667-4CDA-8BD3-D90DC3969B08}"/>
              </a:ext>
            </a:extLst>
          </p:cNvPr>
          <p:cNvSpPr>
            <a:spLocks noChangeArrowheads="1"/>
          </p:cNvSpPr>
          <p:nvPr>
            <p:custDataLst>
              <p:tags r:id="rId3"/>
            </p:custDataLst>
          </p:nvPr>
        </p:nvSpPr>
        <p:spPr bwMode="gray">
          <a:xfrm rot="5400000">
            <a:off x="2188435" y="2496318"/>
            <a:ext cx="276708" cy="2172841"/>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pPr defTabSz="914400">
              <a:spcBef>
                <a:spcPct val="0"/>
              </a:spcBef>
              <a:spcAft>
                <a:spcPct val="0"/>
              </a:spcAft>
              <a:buClrTx/>
              <a:buNone/>
            </a:pPr>
            <a:endParaRPr lang="en-GB" altLang="nl-NL" kern="0">
              <a:solidFill>
                <a:schemeClr val="bg1"/>
              </a:solidFill>
              <a:latin typeface="Fund Light" pitchFamily="2" charset="-78"/>
              <a:cs typeface="Fund Light" pitchFamily="2" charset="-78"/>
            </a:endParaRPr>
          </a:p>
        </p:txBody>
      </p:sp>
      <p:sp>
        <p:nvSpPr>
          <p:cNvPr id="91" name="Arrow: Down 90">
            <a:extLst>
              <a:ext uri="{FF2B5EF4-FFF2-40B4-BE49-F238E27FC236}">
                <a16:creationId xmlns:a16="http://schemas.microsoft.com/office/drawing/2014/main" id="{F9BD6716-4EAE-459E-8FBE-A0B893A7D77E}"/>
              </a:ext>
            </a:extLst>
          </p:cNvPr>
          <p:cNvSpPr/>
          <p:nvPr/>
        </p:nvSpPr>
        <p:spPr>
          <a:xfrm>
            <a:off x="2135013" y="3174603"/>
            <a:ext cx="383555" cy="237638"/>
          </a:xfrm>
          <a:prstGeom prst="downArrow">
            <a:avLst>
              <a:gd name="adj1" fmla="val 47705"/>
              <a:gd name="adj2" fmla="val 37822"/>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Bef>
                <a:spcPts val="300"/>
              </a:spcBef>
              <a:spcAft>
                <a:spcPts val="300"/>
              </a:spcAft>
            </a:pPr>
            <a:endParaRPr lang="en-GB" sz="1200">
              <a:solidFill>
                <a:schemeClr val="bg1"/>
              </a:solidFill>
              <a:latin typeface="Fund Light" pitchFamily="2" charset="-78"/>
              <a:cs typeface="Fund Light" pitchFamily="2" charset="-78"/>
            </a:endParaRPr>
          </a:p>
        </p:txBody>
      </p:sp>
      <p:sp>
        <p:nvSpPr>
          <p:cNvPr id="92" name="Rectangle 91">
            <a:extLst>
              <a:ext uri="{FF2B5EF4-FFF2-40B4-BE49-F238E27FC236}">
                <a16:creationId xmlns:a16="http://schemas.microsoft.com/office/drawing/2014/main" id="{0BE20D98-F2F8-4941-92B7-1A9F64BE66AB}"/>
              </a:ext>
            </a:extLst>
          </p:cNvPr>
          <p:cNvSpPr/>
          <p:nvPr/>
        </p:nvSpPr>
        <p:spPr>
          <a:xfrm>
            <a:off x="2529940" y="1878964"/>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rgbClr val="E7E7E7"/>
                </a:solidFill>
                <a:latin typeface="Fund Light" pitchFamily="2" charset="-78"/>
                <a:cs typeface="Fund Light" pitchFamily="2" charset="-78"/>
              </a:rPr>
              <a:t>Yes</a:t>
            </a:r>
          </a:p>
        </p:txBody>
      </p:sp>
      <p:sp>
        <p:nvSpPr>
          <p:cNvPr id="93" name="Rectangle 92">
            <a:extLst>
              <a:ext uri="{FF2B5EF4-FFF2-40B4-BE49-F238E27FC236}">
                <a16:creationId xmlns:a16="http://schemas.microsoft.com/office/drawing/2014/main" id="{1579E948-70AB-4309-A9AB-0E52E829304F}"/>
              </a:ext>
            </a:extLst>
          </p:cNvPr>
          <p:cNvSpPr/>
          <p:nvPr/>
        </p:nvSpPr>
        <p:spPr>
          <a:xfrm>
            <a:off x="2529940" y="3174603"/>
            <a:ext cx="301288" cy="237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Bef>
                <a:spcPts val="300"/>
              </a:spcBef>
              <a:spcAft>
                <a:spcPts val="300"/>
              </a:spcAft>
            </a:pPr>
            <a:r>
              <a:rPr lang="en-GB" sz="1000" b="1">
                <a:solidFill>
                  <a:srgbClr val="E7E7E7"/>
                </a:solidFill>
                <a:latin typeface="Fund Light" pitchFamily="2" charset="-78"/>
                <a:cs typeface="Fund Light" pitchFamily="2" charset="-78"/>
              </a:rPr>
              <a:t>Yes</a:t>
            </a:r>
          </a:p>
        </p:txBody>
      </p:sp>
      <p:sp>
        <p:nvSpPr>
          <p:cNvPr id="98" name="Rectangle 97">
            <a:extLst>
              <a:ext uri="{FF2B5EF4-FFF2-40B4-BE49-F238E27FC236}">
                <a16:creationId xmlns:a16="http://schemas.microsoft.com/office/drawing/2014/main" id="{64208975-E7EB-449B-A398-08EE91B36435}"/>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t>
            </a:r>
          </a:p>
        </p:txBody>
      </p:sp>
      <p:sp>
        <p:nvSpPr>
          <p:cNvPr id="2" name="Text Placeholder 6">
            <a:extLst>
              <a:ext uri="{FF2B5EF4-FFF2-40B4-BE49-F238E27FC236}">
                <a16:creationId xmlns:a16="http://schemas.microsoft.com/office/drawing/2014/main" id="{A099C4EF-7FC6-46CA-BF1A-29E7C12EC49E}"/>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demand commitment required?</a:t>
            </a:r>
          </a:p>
        </p:txBody>
      </p:sp>
      <p:sp>
        <p:nvSpPr>
          <p:cNvPr id="3" name="Oval 2">
            <a:extLst>
              <a:ext uri="{FF2B5EF4-FFF2-40B4-BE49-F238E27FC236}">
                <a16:creationId xmlns:a16="http://schemas.microsoft.com/office/drawing/2014/main" id="{69A2ADFF-9AE5-927C-79F5-064F0598A206}"/>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3563333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097762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7" y="255973"/>
            <a:ext cx="7223760" cy="241824"/>
          </a:xfrm>
        </p:spPr>
        <p:txBody>
          <a:bodyPr vert="horz"/>
          <a:lstStyle/>
          <a:p>
            <a:r>
              <a:rPr lang="en-US"/>
              <a:t>Requirement of demand commitment can be evaluated across two key dimensions</a:t>
            </a:r>
          </a:p>
        </p:txBody>
      </p:sp>
      <p:sp>
        <p:nvSpPr>
          <p:cNvPr id="36" name="Rectangle 35">
            <a:extLst>
              <a:ext uri="{FF2B5EF4-FFF2-40B4-BE49-F238E27FC236}">
                <a16:creationId xmlns:a16="http://schemas.microsoft.com/office/drawing/2014/main" id="{0FE6D769-FBDA-409F-968D-B6FC32C03DB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graphicFrame>
        <p:nvGraphicFramePr>
          <p:cNvPr id="38" name="Table 141">
            <a:extLst>
              <a:ext uri="{FF2B5EF4-FFF2-40B4-BE49-F238E27FC236}">
                <a16:creationId xmlns:a16="http://schemas.microsoft.com/office/drawing/2014/main" id="{1A3A5FB1-F562-42C5-BD78-8A35C1623AB6}"/>
              </a:ext>
            </a:extLst>
          </p:cNvPr>
          <p:cNvGraphicFramePr>
            <a:graphicFrameLocks noGrp="1"/>
          </p:cNvGraphicFramePr>
          <p:nvPr>
            <p:extLst>
              <p:ext uri="{D42A27DB-BD31-4B8C-83A1-F6EECF244321}">
                <p14:modId xmlns:p14="http://schemas.microsoft.com/office/powerpoint/2010/main" val="612783746"/>
              </p:ext>
            </p:extLst>
          </p:nvPr>
        </p:nvGraphicFramePr>
        <p:xfrm>
          <a:off x="345502" y="1106342"/>
          <a:ext cx="8490657" cy="2421498"/>
        </p:xfrm>
        <a:graphic>
          <a:graphicData uri="http://schemas.openxmlformats.org/drawingml/2006/table">
            <a:tbl>
              <a:tblPr firstRow="1" bandRow="1">
                <a:tableStyleId>{5C22544A-7EE6-4342-B048-85BDC9FD1C3A}</a:tableStyleId>
              </a:tblPr>
              <a:tblGrid>
                <a:gridCol w="269614">
                  <a:extLst>
                    <a:ext uri="{9D8B030D-6E8A-4147-A177-3AD203B41FA5}">
                      <a16:colId xmlns:a16="http://schemas.microsoft.com/office/drawing/2014/main" val="2675734071"/>
                    </a:ext>
                  </a:extLst>
                </a:gridCol>
                <a:gridCol w="1277184">
                  <a:extLst>
                    <a:ext uri="{9D8B030D-6E8A-4147-A177-3AD203B41FA5}">
                      <a16:colId xmlns:a16="http://schemas.microsoft.com/office/drawing/2014/main" val="2807989059"/>
                    </a:ext>
                  </a:extLst>
                </a:gridCol>
                <a:gridCol w="1375833">
                  <a:extLst>
                    <a:ext uri="{9D8B030D-6E8A-4147-A177-3AD203B41FA5}">
                      <a16:colId xmlns:a16="http://schemas.microsoft.com/office/drawing/2014/main" val="1585286637"/>
                    </a:ext>
                  </a:extLst>
                </a:gridCol>
                <a:gridCol w="1988742">
                  <a:extLst>
                    <a:ext uri="{9D8B030D-6E8A-4147-A177-3AD203B41FA5}">
                      <a16:colId xmlns:a16="http://schemas.microsoft.com/office/drawing/2014/main" val="597607390"/>
                    </a:ext>
                  </a:extLst>
                </a:gridCol>
                <a:gridCol w="764822">
                  <a:extLst>
                    <a:ext uri="{9D8B030D-6E8A-4147-A177-3AD203B41FA5}">
                      <a16:colId xmlns:a16="http://schemas.microsoft.com/office/drawing/2014/main" val="1254800250"/>
                    </a:ext>
                  </a:extLst>
                </a:gridCol>
                <a:gridCol w="764822">
                  <a:extLst>
                    <a:ext uri="{9D8B030D-6E8A-4147-A177-3AD203B41FA5}">
                      <a16:colId xmlns:a16="http://schemas.microsoft.com/office/drawing/2014/main" val="2436755642"/>
                    </a:ext>
                  </a:extLst>
                </a:gridCol>
                <a:gridCol w="764822">
                  <a:extLst>
                    <a:ext uri="{9D8B030D-6E8A-4147-A177-3AD203B41FA5}">
                      <a16:colId xmlns:a16="http://schemas.microsoft.com/office/drawing/2014/main" val="304645566"/>
                    </a:ext>
                  </a:extLst>
                </a:gridCol>
                <a:gridCol w="1284818">
                  <a:extLst>
                    <a:ext uri="{9D8B030D-6E8A-4147-A177-3AD203B41FA5}">
                      <a16:colId xmlns:a16="http://schemas.microsoft.com/office/drawing/2014/main" val="2037260248"/>
                    </a:ext>
                  </a:extLst>
                </a:gridCol>
              </a:tblGrid>
              <a:tr h="318378">
                <a:tc gridSpan="2">
                  <a:txBody>
                    <a:bodyPr/>
                    <a:lstStyle/>
                    <a:p>
                      <a:pPr marL="0" indent="287338" rtl="0"/>
                      <a:r>
                        <a:rPr lang="en-GB" sz="1100" b="1">
                          <a:solidFill>
                            <a:srgbClr val="000000"/>
                          </a:solidFill>
                          <a:latin typeface="Fund Light" pitchFamily="2" charset="-78"/>
                          <a:cs typeface="Fund Light" pitchFamily="2" charset="-78"/>
                        </a:rPr>
                        <a:t>Dimension</a:t>
                      </a:r>
                    </a:p>
                  </a:txBody>
                  <a:tcPr marL="121920" marR="121920" marT="28437" marB="28437"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sz="1400" b="1">
                        <a:solidFill>
                          <a:schemeClr val="tx1"/>
                        </a:solidFill>
                      </a:endParaRPr>
                    </a:p>
                  </a:txBody>
                  <a:tcPr marR="0" marT="21328" marB="21328"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kumimoji="0" lang="en-GB" sz="11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Metric</a:t>
                      </a:r>
                      <a:endParaRPr lang="en-GB" sz="1100" b="1">
                        <a:solidFill>
                          <a:srgbClr val="000000"/>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en-GB" sz="1100" b="1">
                          <a:solidFill>
                            <a:srgbClr val="000000"/>
                          </a:solidFill>
                          <a:latin typeface="Fund Light" pitchFamily="2" charset="-78"/>
                          <a:cs typeface="Fund Light" pitchFamily="2" charset="-78"/>
                        </a:rPr>
                        <a:t>Rationale</a:t>
                      </a: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100" b="1">
                          <a:solidFill>
                            <a:srgbClr val="000000"/>
                          </a:solidFill>
                          <a:latin typeface="Fund Light" pitchFamily="2" charset="-78"/>
                          <a:cs typeface="Fund Light" pitchFamily="2" charset="-78"/>
                        </a:rPr>
                        <a:t>No</a:t>
                      </a:r>
                    </a:p>
                  </a:txBody>
                  <a:tcPr marL="121920" marR="0" marT="28437" marB="28437" anchor="ctr">
                    <a:lnL w="12700"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100" b="1">
                          <a:solidFill>
                            <a:srgbClr val="000000"/>
                          </a:solidFill>
                          <a:latin typeface="Fund Light" pitchFamily="2" charset="-78"/>
                          <a:cs typeface="Fund Light" pitchFamily="2" charset="-78"/>
                        </a:rPr>
                        <a:t>Maybe</a:t>
                      </a:r>
                      <a:r>
                        <a:rPr lang="en-GB" sz="1100" b="1" baseline="30000">
                          <a:solidFill>
                            <a:srgbClr val="000000"/>
                          </a:solidFill>
                          <a:latin typeface="Fund Light" pitchFamily="2" charset="-78"/>
                          <a:cs typeface="Fund Light" pitchFamily="2" charset="-78"/>
                        </a:rPr>
                        <a:t>1</a:t>
                      </a:r>
                    </a:p>
                  </a:txBody>
                  <a:tcPr marL="121920" marR="0" marT="28437" marB="28437"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CF2"/>
                    </a:solidFill>
                  </a:tcPr>
                </a:tc>
                <a:tc>
                  <a:txBody>
                    <a:bodyPr/>
                    <a:lstStyle/>
                    <a:p>
                      <a:pPr algn="ctr" rtl="0"/>
                      <a:r>
                        <a:rPr lang="en-GB" sz="1100" b="1">
                          <a:solidFill>
                            <a:srgbClr val="000000"/>
                          </a:solidFill>
                          <a:latin typeface="Fund Light" pitchFamily="2" charset="-78"/>
                          <a:cs typeface="Fund Light" pitchFamily="2" charset="-78"/>
                        </a:rPr>
                        <a:t>Yes</a:t>
                      </a:r>
                    </a:p>
                  </a:txBody>
                  <a:tcPr marL="121920" marR="0" marT="28437" marB="28437" anchor="ctr">
                    <a:lnL w="28575"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tc>
                  <a:txBody>
                    <a:bodyPr/>
                    <a:lstStyle/>
                    <a:p>
                      <a:pPr rtl="0"/>
                      <a:r>
                        <a:rPr lang="en-GB" sz="1100" b="1">
                          <a:solidFill>
                            <a:srgbClr val="000000"/>
                          </a:solidFill>
                          <a:latin typeface="Fund Light" pitchFamily="2" charset="-78"/>
                          <a:cs typeface="Fund Light" pitchFamily="2" charset="-78"/>
                        </a:rPr>
                        <a:t>Input sources</a:t>
                      </a:r>
                    </a:p>
                  </a:txBody>
                  <a:tcPr marL="121920" marR="0" marT="28437" marB="28437"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8492975"/>
                  </a:ext>
                </a:extLst>
              </a:tr>
              <a:tr h="1005840">
                <a:tc>
                  <a:txBody>
                    <a:bodyPr/>
                    <a:lstStyle/>
                    <a:p>
                      <a:pPr rtl="0"/>
                      <a:endParaRPr lang="en-GB" sz="1100" b="0">
                        <a:solidFill>
                          <a:schemeClr val="tx1">
                            <a:lumMod val="65000"/>
                            <a:lumOff val="35000"/>
                          </a:schemeClr>
                        </a:solidFill>
                        <a:latin typeface="Fund Light" pitchFamily="2" charset="-78"/>
                        <a:cs typeface="Fund Light" pitchFamily="2" charset="-78"/>
                      </a:endParaRPr>
                    </a:p>
                  </a:txBody>
                  <a:tcPr marL="121920" marR="121920" marT="28437" marB="28437"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685800" rtl="0" eaLnBrk="1" latinLnBrk="0" hangingPunct="1"/>
                      <a:r>
                        <a:rPr lang="en-US" sz="1100" b="1" kern="1200">
                          <a:solidFill>
                            <a:schemeClr val="bg2"/>
                          </a:solidFill>
                          <a:latin typeface="Fund Light" pitchFamily="2" charset="-78"/>
                          <a:ea typeface="+mn-ea"/>
                          <a:cs typeface="Fund Light" pitchFamily="2" charset="-78"/>
                        </a:rPr>
                        <a:t>Buyer concentration</a:t>
                      </a:r>
                    </a:p>
                  </a:txBody>
                  <a:tcPr marL="121920" marR="0" marT="28437" marB="28437"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rtl="0"/>
                      <a:r>
                        <a:rPr lang="en-US" sz="1100" kern="1200">
                          <a:solidFill>
                            <a:srgbClr val="000000"/>
                          </a:solidFill>
                          <a:latin typeface="Fund Light" pitchFamily="2" charset="-78"/>
                          <a:ea typeface="+mn-ea"/>
                          <a:cs typeface="Fund Light" pitchFamily="2" charset="-78"/>
                        </a:rPr>
                        <a:t># of KSA companies acting as buyer (that have demand certainty)</a:t>
                      </a: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l" defTabSz="685800" rtl="0" eaLnBrk="1" latinLnBrk="0" hangingPunct="1"/>
                      <a:r>
                        <a:rPr lang="en-GB" sz="1100" kern="1200">
                          <a:solidFill>
                            <a:srgbClr val="000000"/>
                          </a:solidFill>
                          <a:latin typeface="Fund Light" pitchFamily="2" charset="-78"/>
                          <a:ea typeface="+mn-ea"/>
                          <a:cs typeface="Fund Light" pitchFamily="2" charset="-78"/>
                        </a:rPr>
                        <a:t>Higher # of buyers reduces investor / supplier risk and may not require demand commitment</a:t>
                      </a: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100" b="0">
                          <a:solidFill>
                            <a:srgbClr val="000000"/>
                          </a:solidFill>
                          <a:latin typeface="Fund Light" pitchFamily="2" charset="-78"/>
                          <a:cs typeface="Fund Light" pitchFamily="2" charset="-78"/>
                        </a:rPr>
                        <a:t>4+</a:t>
                      </a:r>
                    </a:p>
                  </a:txBody>
                  <a:tcPr marL="121920" marR="0" marT="28437" marB="28437" anchor="ctr">
                    <a:lnL w="12700"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100" b="0">
                          <a:solidFill>
                            <a:srgbClr val="000000"/>
                          </a:solidFill>
                          <a:latin typeface="Fund Light" pitchFamily="2" charset="-78"/>
                          <a:cs typeface="Fund Light" pitchFamily="2" charset="-78"/>
                        </a:rPr>
                        <a:t>2-3</a:t>
                      </a:r>
                    </a:p>
                  </a:txBody>
                  <a:tcPr marL="121920" marR="0" marT="28437" marB="28437"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FFFCF2"/>
                    </a:solidFill>
                  </a:tcPr>
                </a:tc>
                <a:tc>
                  <a:txBody>
                    <a:bodyPr/>
                    <a:lstStyle/>
                    <a:p>
                      <a:pPr algn="ctr" rtl="0"/>
                      <a:r>
                        <a:rPr lang="en-GB" sz="1100" b="0">
                          <a:solidFill>
                            <a:srgbClr val="000000"/>
                          </a:solidFill>
                          <a:latin typeface="Fund Light" pitchFamily="2" charset="-78"/>
                          <a:cs typeface="Fund Light" pitchFamily="2" charset="-78"/>
                        </a:rPr>
                        <a:t>1</a:t>
                      </a:r>
                    </a:p>
                  </a:txBody>
                  <a:tcPr marL="121920" marR="0" marT="28437" marB="28437" anchor="ctr">
                    <a:lnL w="28575"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tc rowSpan="2">
                  <a:txBody>
                    <a:bodyPr/>
                    <a:lstStyle/>
                    <a:p>
                      <a:pPr marL="228600" indent="-228600" algn="l">
                        <a:spcBef>
                          <a:spcPts val="300"/>
                        </a:spcBef>
                        <a:spcAft>
                          <a:spcPts val="300"/>
                        </a:spcAft>
                        <a:buFont typeface="+mj-lt"/>
                        <a:buAutoNum type="arabicPeriod"/>
                      </a:pPr>
                      <a:r>
                        <a:rPr lang="en-GB" sz="1100">
                          <a:solidFill>
                            <a:srgbClr val="000000"/>
                          </a:solidFill>
                          <a:latin typeface="Fund Light" pitchFamily="2" charset="-78"/>
                          <a:cs typeface="Fund Light" pitchFamily="2" charset="-78"/>
                        </a:rPr>
                        <a:t>Supplier sensing</a:t>
                      </a:r>
                    </a:p>
                    <a:p>
                      <a:pPr marL="228600" indent="-228600" algn="l">
                        <a:spcBef>
                          <a:spcPts val="300"/>
                        </a:spcBef>
                        <a:spcAft>
                          <a:spcPts val="300"/>
                        </a:spcAft>
                        <a:buFont typeface="+mj-lt"/>
                        <a:buAutoNum type="arabicPeriod"/>
                      </a:pPr>
                      <a:r>
                        <a:rPr lang="en-US" sz="1100" kern="1200">
                          <a:solidFill>
                            <a:srgbClr val="000000"/>
                          </a:solidFill>
                          <a:latin typeface="Fund Light" pitchFamily="2" charset="-78"/>
                          <a:ea typeface="+mn-ea"/>
                          <a:cs typeface="Fund Light" pitchFamily="2" charset="-78"/>
                          <a:hlinkClick r:id="rId6"/>
                        </a:rPr>
                        <a:t>NIIC factory database</a:t>
                      </a:r>
                      <a:endParaRPr lang="en-GB" sz="1100" kern="1200">
                        <a:solidFill>
                          <a:srgbClr val="000000"/>
                        </a:solidFill>
                        <a:latin typeface="Fund Light" pitchFamily="2" charset="-78"/>
                        <a:ea typeface="+mn-ea"/>
                        <a:cs typeface="Fund Light" pitchFamily="2" charset="-78"/>
                      </a:endParaRPr>
                    </a:p>
                    <a:p>
                      <a:pPr marL="228600" indent="-228600" algn="l">
                        <a:spcBef>
                          <a:spcPts val="300"/>
                        </a:spcBef>
                        <a:spcAft>
                          <a:spcPts val="300"/>
                        </a:spcAft>
                        <a:buFont typeface="+mj-lt"/>
                        <a:buAutoNum type="arabicPeriod"/>
                      </a:pPr>
                      <a:r>
                        <a:rPr lang="en-GB" sz="1100">
                          <a:solidFill>
                            <a:srgbClr val="000000"/>
                          </a:solidFill>
                          <a:latin typeface="Fund Light" pitchFamily="2" charset="-78"/>
                          <a:cs typeface="Fund Light" pitchFamily="2" charset="-78"/>
                        </a:rPr>
                        <a:t>Business teams</a:t>
                      </a:r>
                    </a:p>
                    <a:p>
                      <a:pPr marL="228600" indent="-228600" algn="l">
                        <a:spcBef>
                          <a:spcPts val="300"/>
                        </a:spcBef>
                        <a:spcAft>
                          <a:spcPts val="300"/>
                        </a:spcAft>
                        <a:buFont typeface="+mj-lt"/>
                        <a:buAutoNum type="arabicPeriod"/>
                      </a:pPr>
                      <a:r>
                        <a:rPr lang="en-GB" sz="1100">
                          <a:solidFill>
                            <a:srgbClr val="000000"/>
                          </a:solidFill>
                          <a:latin typeface="Fund Light" pitchFamily="2" charset="-78"/>
                          <a:cs typeface="Fund Light" pitchFamily="2" charset="-78"/>
                        </a:rPr>
                        <a:t>PIF NDD</a:t>
                      </a:r>
                      <a:br>
                        <a:rPr lang="en-GB" sz="1100">
                          <a:solidFill>
                            <a:srgbClr val="000000"/>
                          </a:solidFill>
                          <a:latin typeface="Fund Light" pitchFamily="2" charset="-78"/>
                          <a:cs typeface="Fund Light" pitchFamily="2" charset="-78"/>
                        </a:rPr>
                      </a:br>
                      <a:r>
                        <a:rPr lang="en-US" sz="1100">
                          <a:solidFill>
                            <a:schemeClr val="tx1"/>
                          </a:solidFill>
                          <a:latin typeface="Fund Light" pitchFamily="2" charset="-78"/>
                          <a:cs typeface="Fund Light" pitchFamily="2" charset="-78"/>
                        </a:rPr>
                        <a:t>(</a:t>
                      </a:r>
                      <a:r>
                        <a:rPr lang="en-US" sz="1100">
                          <a:solidFill>
                            <a:srgbClr val="000000"/>
                          </a:solidFill>
                          <a:latin typeface="Fund Light" pitchFamily="2" charset="-78"/>
                          <a:cs typeface="Fund Light" pitchFamily="2" charset="-78"/>
                          <a:hlinkClick r:id="rId7" action="ppaction://hlinksldjump"/>
                        </a:rPr>
                        <a:t>Contacts</a:t>
                      </a:r>
                      <a:r>
                        <a:rPr lang="en-US" sz="1100">
                          <a:solidFill>
                            <a:srgbClr val="000000"/>
                          </a:solidFill>
                          <a:latin typeface="Fund Light" pitchFamily="2" charset="-78"/>
                          <a:cs typeface="Fund Light" pitchFamily="2" charset="-78"/>
                        </a:rPr>
                        <a:t>)</a:t>
                      </a:r>
                      <a:endParaRPr lang="en-GB" sz="1100">
                        <a:solidFill>
                          <a:srgbClr val="000000"/>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2632507"/>
                  </a:ext>
                </a:extLst>
              </a:tr>
              <a:tr h="1097280">
                <a:tc>
                  <a:txBody>
                    <a:bodyPr/>
                    <a:lstStyle/>
                    <a:p>
                      <a:pPr rtl="0"/>
                      <a:endParaRPr lang="en-GB" sz="1100" b="0">
                        <a:solidFill>
                          <a:schemeClr val="tx1">
                            <a:lumMod val="65000"/>
                            <a:lumOff val="35000"/>
                          </a:schemeClr>
                        </a:solidFill>
                        <a:latin typeface="Fund Light" pitchFamily="2" charset="-78"/>
                        <a:cs typeface="Fund Light" pitchFamily="2" charset="-78"/>
                      </a:endParaRPr>
                    </a:p>
                  </a:txBody>
                  <a:tcPr marL="121920" marR="121920" marT="28437" marB="28437"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en-US" sz="1100" b="1">
                          <a:solidFill>
                            <a:schemeClr val="bg2"/>
                          </a:solidFill>
                          <a:latin typeface="Fund Light" pitchFamily="2" charset="-78"/>
                          <a:cs typeface="Fund Light" pitchFamily="2" charset="-78"/>
                        </a:rPr>
                        <a:t>Existence and market </a:t>
                      </a:r>
                      <a:br>
                        <a:rPr lang="en-US" sz="1100" b="1">
                          <a:solidFill>
                            <a:schemeClr val="bg2"/>
                          </a:solidFill>
                          <a:latin typeface="Fund Light" pitchFamily="2" charset="-78"/>
                          <a:cs typeface="Fund Light" pitchFamily="2" charset="-78"/>
                        </a:rPr>
                      </a:br>
                      <a:r>
                        <a:rPr lang="en-US" sz="1100" b="1">
                          <a:solidFill>
                            <a:schemeClr val="bg2"/>
                          </a:solidFill>
                          <a:latin typeface="Fund Light" pitchFamily="2" charset="-78"/>
                          <a:cs typeface="Fund Light" pitchFamily="2" charset="-78"/>
                        </a:rPr>
                        <a:t>fit of local supply capacity</a:t>
                      </a:r>
                    </a:p>
                  </a:txBody>
                  <a:tcPr marL="121920" marR="0" marT="28437" marB="28437"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en-GB" sz="1100">
                          <a:solidFill>
                            <a:srgbClr val="000000"/>
                          </a:solidFill>
                          <a:latin typeface="Fund Light" pitchFamily="2" charset="-78"/>
                          <a:cs typeface="Fund Light" pitchFamily="2" charset="-78"/>
                        </a:rPr>
                        <a:t># of KSA suppliers</a:t>
                      </a:r>
                      <a:r>
                        <a:rPr lang="en-GB" sz="1100" baseline="30000">
                          <a:solidFill>
                            <a:srgbClr val="000000"/>
                          </a:solidFill>
                          <a:latin typeface="Fund Light" pitchFamily="2" charset="-78"/>
                          <a:cs typeface="Fund Light" pitchFamily="2" charset="-78"/>
                        </a:rPr>
                        <a:t>2</a:t>
                      </a:r>
                      <a:r>
                        <a:rPr lang="en-GB" sz="1100">
                          <a:solidFill>
                            <a:srgbClr val="000000"/>
                          </a:solidFill>
                          <a:latin typeface="Fund Light" pitchFamily="2" charset="-78"/>
                          <a:cs typeface="Fund Light" pitchFamily="2" charset="-78"/>
                        </a:rPr>
                        <a:t> that are able to provide the product with the required specifications</a:t>
                      </a:r>
                      <a:endParaRPr lang="en-GB" sz="1100" b="0">
                        <a:solidFill>
                          <a:srgbClr val="000000"/>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en-US" sz="1100" b="0">
                          <a:solidFill>
                            <a:srgbClr val="000000"/>
                          </a:solidFill>
                          <a:latin typeface="Fund Light" pitchFamily="2" charset="-78"/>
                          <a:cs typeface="Fund Light" pitchFamily="2" charset="-78"/>
                        </a:rPr>
                        <a:t>Existence of local suppliers indicates potential to supply through current capacity and/or a manageable </a:t>
                      </a:r>
                      <a:br>
                        <a:rPr lang="en-US" sz="1100" b="0">
                          <a:solidFill>
                            <a:srgbClr val="000000"/>
                          </a:solidFill>
                          <a:latin typeface="Fund Light" pitchFamily="2" charset="-78"/>
                          <a:cs typeface="Fund Light" pitchFamily="2" charset="-78"/>
                        </a:rPr>
                      </a:br>
                      <a:r>
                        <a:rPr lang="en-US" sz="1100" b="0">
                          <a:solidFill>
                            <a:srgbClr val="000000"/>
                          </a:solidFill>
                          <a:latin typeface="Fund Light" pitchFamily="2" charset="-78"/>
                          <a:cs typeface="Fund Light" pitchFamily="2" charset="-78"/>
                        </a:rPr>
                        <a:t>risk for new investors</a:t>
                      </a:r>
                      <a:endParaRPr lang="en-GB" sz="1100" b="0">
                        <a:solidFill>
                          <a:srgbClr val="000000"/>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100" b="0">
                          <a:solidFill>
                            <a:srgbClr val="000000"/>
                          </a:solidFill>
                          <a:latin typeface="Fund Light" pitchFamily="2" charset="-78"/>
                          <a:cs typeface="Fund Light" pitchFamily="2" charset="-78"/>
                        </a:rPr>
                        <a:t>3+</a:t>
                      </a:r>
                    </a:p>
                  </a:txBody>
                  <a:tcPr marL="121920" marR="0" marT="28437" marB="28437" anchor="ctr">
                    <a:lnL w="12700"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100" b="0">
                          <a:solidFill>
                            <a:srgbClr val="000000"/>
                          </a:solidFill>
                          <a:latin typeface="Fund Light" pitchFamily="2" charset="-78"/>
                          <a:cs typeface="Fund Light" pitchFamily="2" charset="-78"/>
                        </a:rPr>
                        <a:t>1-2</a:t>
                      </a:r>
                    </a:p>
                  </a:txBody>
                  <a:tcPr marL="121920" marR="0" marT="28437" marB="28437"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CF2"/>
                    </a:solidFill>
                  </a:tcPr>
                </a:tc>
                <a:tc>
                  <a:txBody>
                    <a:bodyPr/>
                    <a:lstStyle/>
                    <a:p>
                      <a:pPr algn="ctr" rtl="0"/>
                      <a:r>
                        <a:rPr lang="en-GB" sz="1100" b="0">
                          <a:solidFill>
                            <a:srgbClr val="000000"/>
                          </a:solidFill>
                          <a:latin typeface="Fund Light" pitchFamily="2" charset="-78"/>
                          <a:cs typeface="Fund Light" pitchFamily="2" charset="-78"/>
                        </a:rPr>
                        <a:t>0</a:t>
                      </a:r>
                    </a:p>
                  </a:txBody>
                  <a:tcPr marL="121920" marR="0" marT="28437" marB="28437" anchor="ctr">
                    <a:lnL w="28575"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DF6F1"/>
                    </a:solidFill>
                  </a:tcPr>
                </a:tc>
                <a:tc vMerge="1">
                  <a:txBody>
                    <a:bodyPr/>
                    <a:lstStyle/>
                    <a:p>
                      <a:endParaRPr/>
                    </a:p>
                  </a:txBody>
                  <a:tcPr marL="121920" marR="0" marT="28437" marB="28437"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accent3"/>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3020492"/>
                  </a:ext>
                </a:extLst>
              </a:tr>
            </a:tbl>
          </a:graphicData>
        </a:graphic>
      </p:graphicFrame>
      <p:sp>
        <p:nvSpPr>
          <p:cNvPr id="39" name="Oval 38">
            <a:extLst>
              <a:ext uri="{FF2B5EF4-FFF2-40B4-BE49-F238E27FC236}">
                <a16:creationId xmlns:a16="http://schemas.microsoft.com/office/drawing/2014/main" id="{B0DC4693-6CB8-4198-9110-C984C61A1E99}"/>
              </a:ext>
            </a:extLst>
          </p:cNvPr>
          <p:cNvSpPr/>
          <p:nvPr/>
        </p:nvSpPr>
        <p:spPr>
          <a:xfrm>
            <a:off x="357583" y="2815123"/>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067">
                <a:solidFill>
                  <a:srgbClr val="FFFFFF"/>
                </a:solidFill>
                <a:latin typeface="Fund Light" pitchFamily="2" charset="-78"/>
                <a:cs typeface="Fund Light" pitchFamily="2" charset="-78"/>
              </a:rPr>
              <a:t>2</a:t>
            </a:r>
          </a:p>
        </p:txBody>
      </p:sp>
      <p:cxnSp>
        <p:nvCxnSpPr>
          <p:cNvPr id="40" name="Straight Arrow Connector 39">
            <a:extLst>
              <a:ext uri="{FF2B5EF4-FFF2-40B4-BE49-F238E27FC236}">
                <a16:creationId xmlns:a16="http://schemas.microsoft.com/office/drawing/2014/main" id="{408747B9-CB09-4D1B-ABF2-5154B61D22A5}"/>
              </a:ext>
            </a:extLst>
          </p:cNvPr>
          <p:cNvCxnSpPr>
            <a:cxnSpLocks/>
          </p:cNvCxnSpPr>
          <p:nvPr/>
        </p:nvCxnSpPr>
        <p:spPr>
          <a:xfrm>
            <a:off x="5838273" y="1352552"/>
            <a:ext cx="1164566"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2C4CCB46-7FA3-4966-B945-BD03F3660EE4}"/>
              </a:ext>
            </a:extLst>
          </p:cNvPr>
          <p:cNvSpPr/>
          <p:nvPr/>
        </p:nvSpPr>
        <p:spPr>
          <a:xfrm>
            <a:off x="4881664" y="854608"/>
            <a:ext cx="3058026" cy="2489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GB" sz="1100" b="1">
                <a:solidFill>
                  <a:schemeClr val="bg2"/>
                </a:solidFill>
                <a:latin typeface="Fund Light" pitchFamily="2" charset="-78"/>
                <a:cs typeface="Fund Light" pitchFamily="2" charset="-78"/>
              </a:rPr>
              <a:t>Requirement of demand commitment</a:t>
            </a:r>
          </a:p>
        </p:txBody>
      </p:sp>
      <p:sp>
        <p:nvSpPr>
          <p:cNvPr id="2" name="Oval 1">
            <a:extLst>
              <a:ext uri="{FF2B5EF4-FFF2-40B4-BE49-F238E27FC236}">
                <a16:creationId xmlns:a16="http://schemas.microsoft.com/office/drawing/2014/main" id="{44B5E5A7-0843-BBF4-6C5D-1D30A2E14DE8}"/>
              </a:ext>
            </a:extLst>
          </p:cNvPr>
          <p:cNvSpPr/>
          <p:nvPr/>
        </p:nvSpPr>
        <p:spPr>
          <a:xfrm>
            <a:off x="357583" y="1796902"/>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067">
                <a:solidFill>
                  <a:srgbClr val="FFFFFF"/>
                </a:solidFill>
                <a:latin typeface="Fund Light" pitchFamily="2" charset="-78"/>
                <a:cs typeface="Fund Light" pitchFamily="2" charset="-78"/>
              </a:rPr>
              <a:t>1</a:t>
            </a:r>
          </a:p>
        </p:txBody>
      </p:sp>
      <p:sp>
        <p:nvSpPr>
          <p:cNvPr id="6" name="TextBox 5">
            <a:extLst>
              <a:ext uri="{FF2B5EF4-FFF2-40B4-BE49-F238E27FC236}">
                <a16:creationId xmlns:a16="http://schemas.microsoft.com/office/drawing/2014/main" id="{7DB11F96-510F-C41A-3021-30AC757D1470}"/>
              </a:ext>
            </a:extLst>
          </p:cNvPr>
          <p:cNvSpPr txBox="1"/>
          <p:nvPr/>
        </p:nvSpPr>
        <p:spPr>
          <a:xfrm>
            <a:off x="287867" y="3577640"/>
            <a:ext cx="6267283" cy="230832"/>
          </a:xfrm>
          <a:prstGeom prst="rect">
            <a:avLst/>
          </a:prstGeom>
          <a:noFill/>
        </p:spPr>
        <p:txBody>
          <a:bodyPr wrap="square" rtlCol="0">
            <a:spAutoFit/>
          </a:bodyPr>
          <a:lstStyle/>
          <a:p>
            <a:pPr lvl="0" defTabSz="914400">
              <a:buClr>
                <a:srgbClr val="00332A"/>
              </a:buClr>
            </a:pPr>
            <a:r>
              <a:rPr lang="en-US" sz="900" i="1">
                <a:solidFill>
                  <a:srgbClr val="000000"/>
                </a:solidFill>
                <a:latin typeface="Fund Light" pitchFamily="2" charset="-78"/>
                <a:cs typeface="Fund Light" pitchFamily="2" charset="-78"/>
              </a:rPr>
              <a:t>1. Based on subjective assessment</a:t>
            </a:r>
          </a:p>
        </p:txBody>
      </p:sp>
      <p:sp>
        <p:nvSpPr>
          <p:cNvPr id="3" name="Text Placeholder 6">
            <a:extLst>
              <a:ext uri="{FF2B5EF4-FFF2-40B4-BE49-F238E27FC236}">
                <a16:creationId xmlns:a16="http://schemas.microsoft.com/office/drawing/2014/main" id="{7DE9010A-B0EE-3E06-BA9B-2D692546451A}"/>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demand commitment required?</a:t>
            </a:r>
          </a:p>
        </p:txBody>
      </p:sp>
      <p:sp>
        <p:nvSpPr>
          <p:cNvPr id="7" name="Oval 6">
            <a:extLst>
              <a:ext uri="{FF2B5EF4-FFF2-40B4-BE49-F238E27FC236}">
                <a16:creationId xmlns:a16="http://schemas.microsoft.com/office/drawing/2014/main" id="{46E47633-0E8E-3EC2-51B2-16E100A5FD62}"/>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9" name="TextBox 8">
            <a:extLst>
              <a:ext uri="{FF2B5EF4-FFF2-40B4-BE49-F238E27FC236}">
                <a16:creationId xmlns:a16="http://schemas.microsoft.com/office/drawing/2014/main" id="{B7138754-94E2-1C3C-6EC6-31250145C67F}"/>
              </a:ext>
            </a:extLst>
          </p:cNvPr>
          <p:cNvSpPr txBox="1"/>
          <p:nvPr/>
        </p:nvSpPr>
        <p:spPr>
          <a:xfrm>
            <a:off x="332711" y="612906"/>
            <a:ext cx="8519188" cy="261610"/>
          </a:xfrm>
          <a:prstGeom prst="rect">
            <a:avLst/>
          </a:prstGeom>
          <a:noFill/>
        </p:spPr>
        <p:txBody>
          <a:bodyPr wrap="square">
            <a:spAutoFit/>
          </a:bodyPr>
          <a:lstStyle/>
          <a:p>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Product shortlisted from question two should be evaluated as per the following dimensions</a:t>
            </a:r>
            <a:endParaRPr lang="en-US" sz="1100" i="1"/>
          </a:p>
        </p:txBody>
      </p:sp>
      <p:sp>
        <p:nvSpPr>
          <p:cNvPr id="14" name="TextBox 13">
            <a:extLst>
              <a:ext uri="{FF2B5EF4-FFF2-40B4-BE49-F238E27FC236}">
                <a16:creationId xmlns:a16="http://schemas.microsoft.com/office/drawing/2014/main" id="{74523CE5-1DD6-C576-EE55-82E33A1F347D}"/>
              </a:ext>
            </a:extLst>
          </p:cNvPr>
          <p:cNvSpPr txBox="1"/>
          <p:nvPr/>
        </p:nvSpPr>
        <p:spPr>
          <a:xfrm>
            <a:off x="332711" y="4097093"/>
            <a:ext cx="8490657" cy="600164"/>
          </a:xfrm>
          <a:prstGeom prst="rect">
            <a:avLst/>
          </a:prstGeom>
          <a:noFill/>
        </p:spPr>
        <p:txBody>
          <a:bodyPr wrap="square">
            <a:spAutoFit/>
          </a:bodyPr>
          <a:lstStyle/>
          <a:p>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Products that are rated as a  “Yes” in at least one of these two dimensions should be selected for LDC and for further deep dive. The following page illustrates an example of one product that satisfies the three criteria and hence should be selected for LDC</a:t>
            </a:r>
            <a:endParaRPr lang="en-US" sz="1100" i="1"/>
          </a:p>
        </p:txBody>
      </p:sp>
      <p:grpSp>
        <p:nvGrpSpPr>
          <p:cNvPr id="11" name="Group 10">
            <a:extLst>
              <a:ext uri="{FF2B5EF4-FFF2-40B4-BE49-F238E27FC236}">
                <a16:creationId xmlns:a16="http://schemas.microsoft.com/office/drawing/2014/main" id="{C52B7023-79F2-5006-2A5C-39FC68AFF185}"/>
              </a:ext>
            </a:extLst>
          </p:cNvPr>
          <p:cNvGrpSpPr/>
          <p:nvPr/>
        </p:nvGrpSpPr>
        <p:grpSpPr>
          <a:xfrm>
            <a:off x="8555263" y="2388966"/>
            <a:ext cx="168686" cy="161455"/>
            <a:chOff x="11260138" y="4194175"/>
            <a:chExt cx="360363" cy="379413"/>
          </a:xfrm>
        </p:grpSpPr>
        <p:sp>
          <p:nvSpPr>
            <p:cNvPr id="12" name="Freeform 289">
              <a:extLst>
                <a:ext uri="{FF2B5EF4-FFF2-40B4-BE49-F238E27FC236}">
                  <a16:creationId xmlns:a16="http://schemas.microsoft.com/office/drawing/2014/main" id="{FDC205B7-F9D5-9AE3-09BB-9C4E5F08C18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290">
              <a:extLst>
                <a:ext uri="{FF2B5EF4-FFF2-40B4-BE49-F238E27FC236}">
                  <a16:creationId xmlns:a16="http://schemas.microsoft.com/office/drawing/2014/main" id="{8BC454A5-FC95-1F93-8426-71C4E5C46A4E}"/>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291">
              <a:extLst>
                <a:ext uri="{FF2B5EF4-FFF2-40B4-BE49-F238E27FC236}">
                  <a16:creationId xmlns:a16="http://schemas.microsoft.com/office/drawing/2014/main" id="{83CFE95C-60A2-265C-5210-60C89AED6A75}"/>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8" name="Rectangle: Rounded Corners 7">
            <a:extLst>
              <a:ext uri="{FF2B5EF4-FFF2-40B4-BE49-F238E27FC236}">
                <a16:creationId xmlns:a16="http://schemas.microsoft.com/office/drawing/2014/main" id="{907B76C4-81AD-CBFC-6CE1-E1096E613B50}"/>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8" action="ppaction://hlinksldjump"/>
              </a:rPr>
              <a:t>Contacts</a:t>
            </a:r>
            <a:r>
              <a:rPr lang="en-US" sz="1000">
                <a:solidFill>
                  <a:srgbClr val="000000"/>
                </a:solidFill>
                <a:latin typeface="Fund Light" pitchFamily="2" charset="-78"/>
                <a:cs typeface="Fund Light" pitchFamily="2" charset="-78"/>
              </a:rPr>
              <a:t>)</a:t>
            </a:r>
          </a:p>
        </p:txBody>
      </p:sp>
      <p:grpSp>
        <p:nvGrpSpPr>
          <p:cNvPr id="10" name="Group 9">
            <a:extLst>
              <a:ext uri="{FF2B5EF4-FFF2-40B4-BE49-F238E27FC236}">
                <a16:creationId xmlns:a16="http://schemas.microsoft.com/office/drawing/2014/main" id="{FA9F3D22-E05A-D3F5-5607-132C2857F97D}"/>
              </a:ext>
            </a:extLst>
          </p:cNvPr>
          <p:cNvGrpSpPr/>
          <p:nvPr/>
        </p:nvGrpSpPr>
        <p:grpSpPr>
          <a:xfrm>
            <a:off x="3004029" y="4817276"/>
            <a:ext cx="303559" cy="303559"/>
            <a:chOff x="-577629" y="2311332"/>
            <a:chExt cx="404038" cy="404037"/>
          </a:xfrm>
        </p:grpSpPr>
        <p:sp>
          <p:nvSpPr>
            <p:cNvPr id="16" name="Oval 15">
              <a:extLst>
                <a:ext uri="{FF2B5EF4-FFF2-40B4-BE49-F238E27FC236}">
                  <a16:creationId xmlns:a16="http://schemas.microsoft.com/office/drawing/2014/main" id="{AE3BC99D-B9BC-194E-96B0-07A1B68940B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68BEF28-3F0A-176C-D726-DA4F9B370825}"/>
                </a:ext>
              </a:extLst>
            </p:cNvPr>
            <p:cNvPicPr>
              <a:picLocks noChangeAspect="1"/>
            </p:cNvPicPr>
            <p:nvPr/>
          </p:nvPicPr>
          <p:blipFill>
            <a:blip r:embed="rId9"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8" name="Group 17">
            <a:extLst>
              <a:ext uri="{FF2B5EF4-FFF2-40B4-BE49-F238E27FC236}">
                <a16:creationId xmlns:a16="http://schemas.microsoft.com/office/drawing/2014/main" id="{8A467339-2F3B-136B-D0AD-EA6437D2D443}"/>
              </a:ext>
            </a:extLst>
          </p:cNvPr>
          <p:cNvGrpSpPr/>
          <p:nvPr/>
        </p:nvGrpSpPr>
        <p:grpSpPr>
          <a:xfrm>
            <a:off x="6211995" y="4883810"/>
            <a:ext cx="168686" cy="161455"/>
            <a:chOff x="11260138" y="4194175"/>
            <a:chExt cx="360363" cy="379413"/>
          </a:xfrm>
        </p:grpSpPr>
        <p:sp>
          <p:nvSpPr>
            <p:cNvPr id="19" name="Freeform 289">
              <a:extLst>
                <a:ext uri="{FF2B5EF4-FFF2-40B4-BE49-F238E27FC236}">
                  <a16:creationId xmlns:a16="http://schemas.microsoft.com/office/drawing/2014/main" id="{F27AEE75-4F51-20A2-C4D8-3A5801F3110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90">
              <a:extLst>
                <a:ext uri="{FF2B5EF4-FFF2-40B4-BE49-F238E27FC236}">
                  <a16:creationId xmlns:a16="http://schemas.microsoft.com/office/drawing/2014/main" id="{D219DB60-AF45-64DE-9D94-4C52E0D1E5E7}"/>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91">
              <a:extLst>
                <a:ext uri="{FF2B5EF4-FFF2-40B4-BE49-F238E27FC236}">
                  <a16:creationId xmlns:a16="http://schemas.microsoft.com/office/drawing/2014/main" id="{2988C3D6-5D61-BF25-4357-4E09878684C2}"/>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FFDAFD5B-57CF-DF54-DF7A-1F1D26CE9879}"/>
              </a:ext>
            </a:extLst>
          </p:cNvPr>
          <p:cNvGrpSpPr/>
          <p:nvPr/>
        </p:nvGrpSpPr>
        <p:grpSpPr>
          <a:xfrm>
            <a:off x="8597249" y="3100254"/>
            <a:ext cx="168686" cy="161455"/>
            <a:chOff x="11260138" y="4194175"/>
            <a:chExt cx="360363" cy="379413"/>
          </a:xfrm>
        </p:grpSpPr>
        <p:sp>
          <p:nvSpPr>
            <p:cNvPr id="23" name="Freeform 289">
              <a:extLst>
                <a:ext uri="{FF2B5EF4-FFF2-40B4-BE49-F238E27FC236}">
                  <a16:creationId xmlns:a16="http://schemas.microsoft.com/office/drawing/2014/main" id="{4B356337-E96B-F105-C883-A1BA753D4B7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290">
              <a:extLst>
                <a:ext uri="{FF2B5EF4-FFF2-40B4-BE49-F238E27FC236}">
                  <a16:creationId xmlns:a16="http://schemas.microsoft.com/office/drawing/2014/main" id="{4F93895A-695D-B4BB-84DE-F306FE81B869}"/>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291">
              <a:extLst>
                <a:ext uri="{FF2B5EF4-FFF2-40B4-BE49-F238E27FC236}">
                  <a16:creationId xmlns:a16="http://schemas.microsoft.com/office/drawing/2014/main" id="{E8B63952-7D12-AFFC-CFE0-86FF1BEB56B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8" name="TextBox 27">
            <a:extLst>
              <a:ext uri="{FF2B5EF4-FFF2-40B4-BE49-F238E27FC236}">
                <a16:creationId xmlns:a16="http://schemas.microsoft.com/office/drawing/2014/main" id="{3E24BA01-0CBC-828F-75F0-FB8E7536AFDA}"/>
              </a:ext>
            </a:extLst>
          </p:cNvPr>
          <p:cNvSpPr txBox="1"/>
          <p:nvPr/>
        </p:nvSpPr>
        <p:spPr>
          <a:xfrm>
            <a:off x="287867" y="3814751"/>
            <a:ext cx="8490657" cy="230832"/>
          </a:xfrm>
          <a:prstGeom prst="rect">
            <a:avLst/>
          </a:prstGeom>
          <a:noFill/>
        </p:spPr>
        <p:txBody>
          <a:bodyPr wrap="square">
            <a:spAutoFit/>
          </a:bodyPr>
          <a:lstStyle/>
          <a:p>
            <a:r>
              <a:rPr kumimoji="0" lang="en-US" sz="900" b="0" i="1" u="none" strike="noStrike" kern="0" cap="none" spc="0" normalizeH="0" baseline="0" noProof="0">
                <a:ln>
                  <a:noFill/>
                </a:ln>
                <a:solidFill>
                  <a:srgbClr val="000000"/>
                </a:solidFill>
                <a:effectLst/>
                <a:uLnTx/>
                <a:uFillTx/>
                <a:latin typeface="Fund Light" pitchFamily="2" charset="-78"/>
                <a:cs typeface="Fund Light" pitchFamily="2" charset="-78"/>
                <a:sym typeface="Arial"/>
              </a:rPr>
              <a:t>2. Only manufacturers / OEMs should be considered as suppliers, not </a:t>
            </a:r>
            <a:r>
              <a:rPr lang="en-US" sz="900" i="1" kern="0">
                <a:solidFill>
                  <a:srgbClr val="000000"/>
                </a:solidFill>
                <a:latin typeface="Fund Light" pitchFamily="2" charset="-78"/>
                <a:cs typeface="Fund Light" pitchFamily="2" charset="-78"/>
                <a:sym typeface="Arial"/>
              </a:rPr>
              <a:t>distributors</a:t>
            </a:r>
            <a:r>
              <a:rPr kumimoji="0" lang="en-US" sz="900" b="0" i="1" u="none" strike="noStrike" kern="0" cap="none" spc="0" normalizeH="0" baseline="0" noProof="0">
                <a:ln>
                  <a:noFill/>
                </a:ln>
                <a:solidFill>
                  <a:srgbClr val="000000"/>
                </a:solidFill>
                <a:effectLst/>
                <a:uLnTx/>
                <a:uFillTx/>
                <a:latin typeface="Fund Light" pitchFamily="2" charset="-78"/>
                <a:cs typeface="Fund Light" pitchFamily="2" charset="-78"/>
                <a:sym typeface="Arial"/>
              </a:rPr>
              <a:t> / other channel partners</a:t>
            </a:r>
            <a:endParaRPr lang="en-US" sz="900" i="1"/>
          </a:p>
        </p:txBody>
      </p:sp>
    </p:spTree>
    <p:extLst>
      <p:ext uri="{BB962C8B-B14F-4D97-AF65-F5344CB8AC3E}">
        <p14:creationId xmlns:p14="http://schemas.microsoft.com/office/powerpoint/2010/main" val="2764129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703086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Output example of product selection – telecom product</a:t>
            </a:r>
          </a:p>
        </p:txBody>
      </p:sp>
      <p:sp>
        <p:nvSpPr>
          <p:cNvPr id="36" name="Rectangle 35">
            <a:extLst>
              <a:ext uri="{FF2B5EF4-FFF2-40B4-BE49-F238E27FC236}">
                <a16:creationId xmlns:a16="http://schemas.microsoft.com/office/drawing/2014/main" id="{0FE6D769-FBDA-409F-968D-B6FC32C03DB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Output example</a:t>
            </a:r>
          </a:p>
        </p:txBody>
      </p:sp>
      <p:grpSp>
        <p:nvGrpSpPr>
          <p:cNvPr id="20" name="Group 19">
            <a:extLst>
              <a:ext uri="{FF2B5EF4-FFF2-40B4-BE49-F238E27FC236}">
                <a16:creationId xmlns:a16="http://schemas.microsoft.com/office/drawing/2014/main" id="{2EBD7698-5EB5-440F-B590-1A682B7DDF24}"/>
              </a:ext>
            </a:extLst>
          </p:cNvPr>
          <p:cNvGrpSpPr/>
          <p:nvPr/>
        </p:nvGrpSpPr>
        <p:grpSpPr>
          <a:xfrm>
            <a:off x="518006" y="1016657"/>
            <a:ext cx="3548187" cy="3227612"/>
            <a:chOff x="344486" y="889000"/>
            <a:chExt cx="3895227" cy="3543300"/>
          </a:xfrm>
        </p:grpSpPr>
        <p:grpSp>
          <p:nvGrpSpPr>
            <p:cNvPr id="21" name="Group 20">
              <a:extLst>
                <a:ext uri="{FF2B5EF4-FFF2-40B4-BE49-F238E27FC236}">
                  <a16:creationId xmlns:a16="http://schemas.microsoft.com/office/drawing/2014/main" id="{3167E27B-0D98-4DCB-9866-B4A00B48B27D}"/>
                </a:ext>
              </a:extLst>
            </p:cNvPr>
            <p:cNvGrpSpPr/>
            <p:nvPr/>
          </p:nvGrpSpPr>
          <p:grpSpPr>
            <a:xfrm>
              <a:off x="344486" y="889000"/>
              <a:ext cx="3895227" cy="947525"/>
              <a:chOff x="344486" y="889000"/>
              <a:chExt cx="3895227" cy="947525"/>
            </a:xfrm>
          </p:grpSpPr>
          <p:sp>
            <p:nvSpPr>
              <p:cNvPr id="44" name="Freeform: Shape 43">
                <a:extLst>
                  <a:ext uri="{FF2B5EF4-FFF2-40B4-BE49-F238E27FC236}">
                    <a16:creationId xmlns:a16="http://schemas.microsoft.com/office/drawing/2014/main" id="{0A37806A-0D4E-456B-ADDA-55A79BC6DA66}"/>
                  </a:ext>
                </a:extLst>
              </p:cNvPr>
              <p:cNvSpPr/>
              <p:nvPr/>
            </p:nvSpPr>
            <p:spPr bwMode="auto">
              <a:xfrm>
                <a:off x="413863" y="1010019"/>
                <a:ext cx="3825850" cy="826506"/>
              </a:xfrm>
              <a:custGeom>
                <a:avLst/>
                <a:gdLst>
                  <a:gd name="connsiteX0" fmla="*/ 0 w 4416425"/>
                  <a:gd name="connsiteY0" fmla="*/ 0 h 954089"/>
                  <a:gd name="connsiteX1" fmla="*/ 4416425 w 4416425"/>
                  <a:gd name="connsiteY1" fmla="*/ 0 h 954089"/>
                  <a:gd name="connsiteX2" fmla="*/ 4076700 w 4416425"/>
                  <a:gd name="connsiteY2" fmla="*/ 811213 h 954089"/>
                  <a:gd name="connsiteX3" fmla="*/ 4075649 w 4416425"/>
                  <a:gd name="connsiteY3" fmla="*/ 811213 h 954089"/>
                  <a:gd name="connsiteX4" fmla="*/ 4076701 w 4416425"/>
                  <a:gd name="connsiteY4" fmla="*/ 812007 h 954089"/>
                  <a:gd name="connsiteX5" fmla="*/ 2208213 w 4416425"/>
                  <a:gd name="connsiteY5" fmla="*/ 954089 h 954089"/>
                  <a:gd name="connsiteX6" fmla="*/ 339725 w 4416425"/>
                  <a:gd name="connsiteY6" fmla="*/ 812007 h 954089"/>
                  <a:gd name="connsiteX7" fmla="*/ 340778 w 4416425"/>
                  <a:gd name="connsiteY7" fmla="*/ 811213 h 954089"/>
                  <a:gd name="connsiteX8" fmla="*/ 339725 w 4416425"/>
                  <a:gd name="connsiteY8" fmla="*/ 811213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425" h="954088">
                    <a:moveTo>
                      <a:pt x="0" y="0"/>
                    </a:moveTo>
                    <a:lnTo>
                      <a:pt x="4416425" y="0"/>
                    </a:lnTo>
                    <a:lnTo>
                      <a:pt x="4076700" y="811213"/>
                    </a:lnTo>
                    <a:lnTo>
                      <a:pt x="4075649" y="811213"/>
                    </a:lnTo>
                    <a:lnTo>
                      <a:pt x="4076701" y="812007"/>
                    </a:lnTo>
                    <a:cubicBezTo>
                      <a:pt x="4076701" y="890477"/>
                      <a:pt x="3240150" y="954089"/>
                      <a:pt x="2208213" y="954089"/>
                    </a:cubicBezTo>
                    <a:cubicBezTo>
                      <a:pt x="1176276" y="954089"/>
                      <a:pt x="339725" y="890477"/>
                      <a:pt x="339725" y="812007"/>
                    </a:cubicBezTo>
                    <a:lnTo>
                      <a:pt x="340778" y="811213"/>
                    </a:lnTo>
                    <a:lnTo>
                      <a:pt x="339725" y="811213"/>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Should the product be localized? </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45" name="Oval 15">
                <a:extLst>
                  <a:ext uri="{FF2B5EF4-FFF2-40B4-BE49-F238E27FC236}">
                    <a16:creationId xmlns:a16="http://schemas.microsoft.com/office/drawing/2014/main" id="{3E542FEE-C77C-4969-8571-E9FE4D96A42B}"/>
                  </a:ext>
                </a:extLst>
              </p:cNvPr>
              <p:cNvSpPr>
                <a:spLocks noChangeArrowheads="1"/>
              </p:cNvSpPr>
              <p:nvPr/>
            </p:nvSpPr>
            <p:spPr bwMode="auto">
              <a:xfrm>
                <a:off x="413863" y="889000"/>
                <a:ext cx="3825850" cy="246165"/>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46" name="Oval 45">
                <a:extLst>
                  <a:ext uri="{FF2B5EF4-FFF2-40B4-BE49-F238E27FC236}">
                    <a16:creationId xmlns:a16="http://schemas.microsoft.com/office/drawing/2014/main" id="{F87D8A10-B1F7-4150-A18E-9D96F158E1D0}"/>
                  </a:ext>
                </a:extLst>
              </p:cNvPr>
              <p:cNvSpPr/>
              <p:nvPr/>
            </p:nvSpPr>
            <p:spPr>
              <a:xfrm>
                <a:off x="344486" y="126763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1</a:t>
                </a:r>
              </a:p>
            </p:txBody>
          </p:sp>
        </p:grpSp>
        <p:grpSp>
          <p:nvGrpSpPr>
            <p:cNvPr id="22" name="Group 21">
              <a:extLst>
                <a:ext uri="{FF2B5EF4-FFF2-40B4-BE49-F238E27FC236}">
                  <a16:creationId xmlns:a16="http://schemas.microsoft.com/office/drawing/2014/main" id="{1872E798-3772-47E5-94F7-4C005E2207D2}"/>
                </a:ext>
              </a:extLst>
            </p:cNvPr>
            <p:cNvGrpSpPr/>
            <p:nvPr/>
          </p:nvGrpSpPr>
          <p:grpSpPr>
            <a:xfrm>
              <a:off x="753383" y="2148747"/>
              <a:ext cx="3076208" cy="983417"/>
              <a:chOff x="753383" y="2169335"/>
              <a:chExt cx="3076208" cy="983417"/>
            </a:xfrm>
          </p:grpSpPr>
          <p:sp>
            <p:nvSpPr>
              <p:cNvPr id="32" name="Freeform: Shape 31">
                <a:extLst>
                  <a:ext uri="{FF2B5EF4-FFF2-40B4-BE49-F238E27FC236}">
                    <a16:creationId xmlns:a16="http://schemas.microsoft.com/office/drawing/2014/main" id="{FE253CA5-94B4-4670-8460-C0C24D02101C}"/>
                  </a:ext>
                </a:extLst>
              </p:cNvPr>
              <p:cNvSpPr/>
              <p:nvPr/>
            </p:nvSpPr>
            <p:spPr bwMode="auto">
              <a:xfrm>
                <a:off x="826430" y="2330372"/>
                <a:ext cx="3000720" cy="822380"/>
              </a:xfrm>
              <a:custGeom>
                <a:avLst/>
                <a:gdLst>
                  <a:gd name="connsiteX0" fmla="*/ 0 w 3463925"/>
                  <a:gd name="connsiteY0" fmla="*/ 0 h 949326"/>
                  <a:gd name="connsiteX1" fmla="*/ 3463925 w 3463925"/>
                  <a:gd name="connsiteY1" fmla="*/ 0 h 949326"/>
                  <a:gd name="connsiteX2" fmla="*/ 3122613 w 3463925"/>
                  <a:gd name="connsiteY2" fmla="*/ 809625 h 949326"/>
                  <a:gd name="connsiteX3" fmla="*/ 3121038 w 3463925"/>
                  <a:gd name="connsiteY3" fmla="*/ 809625 h 949326"/>
                  <a:gd name="connsiteX4" fmla="*/ 3094360 w 3463925"/>
                  <a:gd name="connsiteY4" fmla="*/ 836513 h 949326"/>
                  <a:gd name="connsiteX5" fmla="*/ 1731963 w 3463925"/>
                  <a:gd name="connsiteY5" fmla="*/ 949326 h 949326"/>
                  <a:gd name="connsiteX6" fmla="*/ 369566 w 3463925"/>
                  <a:gd name="connsiteY6" fmla="*/ 836513 h 949326"/>
                  <a:gd name="connsiteX7" fmla="*/ 342888 w 3463925"/>
                  <a:gd name="connsiteY7" fmla="*/ 809625 h 949326"/>
                  <a:gd name="connsiteX8" fmla="*/ 341313 w 3463925"/>
                  <a:gd name="connsiteY8" fmla="*/ 809625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3925" h="949326">
                    <a:moveTo>
                      <a:pt x="0" y="0"/>
                    </a:moveTo>
                    <a:lnTo>
                      <a:pt x="3463925" y="0"/>
                    </a:lnTo>
                    <a:lnTo>
                      <a:pt x="3122613" y="809625"/>
                    </a:lnTo>
                    <a:lnTo>
                      <a:pt x="3121038" y="809625"/>
                    </a:lnTo>
                    <a:lnTo>
                      <a:pt x="3094360" y="836513"/>
                    </a:lnTo>
                    <a:cubicBezTo>
                      <a:pt x="2964687" y="900895"/>
                      <a:pt x="2403994" y="949326"/>
                      <a:pt x="1731963" y="949326"/>
                    </a:cubicBezTo>
                    <a:cubicBezTo>
                      <a:pt x="1059932" y="949326"/>
                      <a:pt x="499239" y="900895"/>
                      <a:pt x="369566" y="836513"/>
                    </a:cubicBezTo>
                    <a:lnTo>
                      <a:pt x="342888" y="809625"/>
                    </a:lnTo>
                    <a:lnTo>
                      <a:pt x="341313"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localization of the product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technically feasible?</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33" name="Oval 12">
                <a:extLst>
                  <a:ext uri="{FF2B5EF4-FFF2-40B4-BE49-F238E27FC236}">
                    <a16:creationId xmlns:a16="http://schemas.microsoft.com/office/drawing/2014/main" id="{32FA261C-CE78-43CA-917A-616BF28A2E50}"/>
                  </a:ext>
                </a:extLst>
              </p:cNvPr>
              <p:cNvSpPr>
                <a:spLocks noChangeArrowheads="1"/>
              </p:cNvSpPr>
              <p:nvPr/>
            </p:nvSpPr>
            <p:spPr bwMode="auto">
              <a:xfrm>
                <a:off x="826430" y="2205228"/>
                <a:ext cx="3000720" cy="24616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42" name="Oval 41">
                <a:extLst>
                  <a:ext uri="{FF2B5EF4-FFF2-40B4-BE49-F238E27FC236}">
                    <a16:creationId xmlns:a16="http://schemas.microsoft.com/office/drawing/2014/main" id="{40121B88-613A-48C4-9A24-AE4F97BD2B0A}"/>
                  </a:ext>
                </a:extLst>
              </p:cNvPr>
              <p:cNvSpPr/>
              <p:nvPr/>
            </p:nvSpPr>
            <p:spPr>
              <a:xfrm>
                <a:off x="753383" y="2585924"/>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2</a:t>
                </a:r>
              </a:p>
            </p:txBody>
          </p:sp>
          <p:sp>
            <p:nvSpPr>
              <p:cNvPr id="43" name="Oval 19" descr="Outlined diamond">
                <a:extLst>
                  <a:ext uri="{FF2B5EF4-FFF2-40B4-BE49-F238E27FC236}">
                    <a16:creationId xmlns:a16="http://schemas.microsoft.com/office/drawing/2014/main" id="{3EB7713C-E1B3-4F29-8B9D-315872EE17CD}"/>
                  </a:ext>
                </a:extLst>
              </p:cNvPr>
              <p:cNvSpPr>
                <a:spLocks noChangeArrowheads="1"/>
              </p:cNvSpPr>
              <p:nvPr>
                <p:custDataLst>
                  <p:tags r:id="rId3"/>
                </p:custDataLst>
              </p:nvPr>
            </p:nvSpPr>
            <p:spPr bwMode="gray">
              <a:xfrm rot="5400000">
                <a:off x="2189656" y="806108"/>
                <a:ext cx="276708" cy="3003162"/>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grpSp>
          <p:nvGrpSpPr>
            <p:cNvPr id="24" name="Group 23">
              <a:extLst>
                <a:ext uri="{FF2B5EF4-FFF2-40B4-BE49-F238E27FC236}">
                  <a16:creationId xmlns:a16="http://schemas.microsoft.com/office/drawing/2014/main" id="{8B7751E7-769A-421E-B4BA-83BB250D4B29}"/>
                </a:ext>
              </a:extLst>
            </p:cNvPr>
            <p:cNvGrpSpPr/>
            <p:nvPr/>
          </p:nvGrpSpPr>
          <p:grpSpPr>
            <a:xfrm>
              <a:off x="1148520" y="3444385"/>
              <a:ext cx="2264691" cy="987915"/>
              <a:chOff x="1148520" y="3444385"/>
              <a:chExt cx="2264691" cy="987915"/>
            </a:xfrm>
          </p:grpSpPr>
          <p:sp>
            <p:nvSpPr>
              <p:cNvPr id="28" name="Freeform: Shape 27">
                <a:extLst>
                  <a:ext uri="{FF2B5EF4-FFF2-40B4-BE49-F238E27FC236}">
                    <a16:creationId xmlns:a16="http://schemas.microsoft.com/office/drawing/2014/main" id="{B038513E-7E4A-4353-BBE3-4E69499558BD}"/>
                  </a:ext>
                </a:extLst>
              </p:cNvPr>
              <p:cNvSpPr/>
              <p:nvPr/>
            </p:nvSpPr>
            <p:spPr bwMode="auto">
              <a:xfrm>
                <a:off x="1240370" y="3605794"/>
                <a:ext cx="2172841" cy="826506"/>
              </a:xfrm>
              <a:custGeom>
                <a:avLst/>
                <a:gdLst>
                  <a:gd name="connsiteX0" fmla="*/ 0 w 2508250"/>
                  <a:gd name="connsiteY0" fmla="*/ 0 h 954089"/>
                  <a:gd name="connsiteX1" fmla="*/ 2508250 w 2508250"/>
                  <a:gd name="connsiteY1" fmla="*/ 0 h 954089"/>
                  <a:gd name="connsiteX2" fmla="*/ 2168525 w 2508250"/>
                  <a:gd name="connsiteY2" fmla="*/ 809625 h 954089"/>
                  <a:gd name="connsiteX3" fmla="*/ 2166980 w 2508250"/>
                  <a:gd name="connsiteY3" fmla="*/ 809625 h 954089"/>
                  <a:gd name="connsiteX4" fmla="*/ 2168525 w 2508250"/>
                  <a:gd name="connsiteY4" fmla="*/ 812007 h 954089"/>
                  <a:gd name="connsiteX5" fmla="*/ 1254125 w 2508250"/>
                  <a:gd name="connsiteY5" fmla="*/ 954089 h 954089"/>
                  <a:gd name="connsiteX6" fmla="*/ 339725 w 2508250"/>
                  <a:gd name="connsiteY6" fmla="*/ 812007 h 954089"/>
                  <a:gd name="connsiteX7" fmla="*/ 341270 w 2508250"/>
                  <a:gd name="connsiteY7" fmla="*/ 809625 h 954089"/>
                  <a:gd name="connsiteX8" fmla="*/ 339725 w 2508250"/>
                  <a:gd name="connsiteY8" fmla="*/ 809625 h 95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50" h="954088">
                    <a:moveTo>
                      <a:pt x="0" y="0"/>
                    </a:moveTo>
                    <a:lnTo>
                      <a:pt x="2508250" y="0"/>
                    </a:lnTo>
                    <a:lnTo>
                      <a:pt x="2168525" y="809625"/>
                    </a:lnTo>
                    <a:lnTo>
                      <a:pt x="2166980" y="809625"/>
                    </a:lnTo>
                    <a:lnTo>
                      <a:pt x="2168525" y="812007"/>
                    </a:lnTo>
                    <a:cubicBezTo>
                      <a:pt x="2168525" y="890477"/>
                      <a:pt x="1759134" y="954089"/>
                      <a:pt x="1254125" y="954089"/>
                    </a:cubicBezTo>
                    <a:cubicBezTo>
                      <a:pt x="749116" y="954089"/>
                      <a:pt x="339725" y="890477"/>
                      <a:pt x="339725" y="812007"/>
                    </a:cubicBezTo>
                    <a:lnTo>
                      <a:pt x="341270" y="809625"/>
                    </a:lnTo>
                    <a:lnTo>
                      <a:pt x="339725" y="809625"/>
                    </a:lnTo>
                    <a:close/>
                  </a:path>
                </a:pathLst>
              </a:custGeom>
              <a:solidFill>
                <a:schemeClr val="bg2">
                  <a:lumMod val="40000"/>
                  <a:lumOff val="60000"/>
                </a:schemeClr>
              </a:solidFill>
              <a:ln>
                <a:noFill/>
              </a:ln>
            </p:spPr>
            <p:txBody>
              <a:bodyPr vert="horz" wrap="square" lIns="91440" tIns="91440" rIns="91440" bIns="9144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1000" b="0" i="0" u="none" strike="noStrike" kern="0" cap="none" spc="0" normalizeH="0" baseline="0" noProof="0">
                    <a:ln>
                      <a:noFill/>
                    </a:ln>
                    <a:effectLst/>
                    <a:uLnTx/>
                    <a:uFillTx/>
                    <a:latin typeface="Fund Light" pitchFamily="2" charset="-78"/>
                    <a:cs typeface="Fund Light" pitchFamily="2" charset="-78"/>
                    <a:sym typeface="Arial"/>
                  </a:rPr>
                  <a:t>Is demand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commitment </a:t>
                </a:r>
                <a:br>
                  <a:rPr kumimoji="0" lang="en-US" sz="1000" b="0" i="0" u="none" strike="noStrike" kern="0" cap="none" spc="0" normalizeH="0" baseline="0" noProof="0">
                    <a:ln>
                      <a:noFill/>
                    </a:ln>
                    <a:effectLst/>
                    <a:uLnTx/>
                    <a:uFillTx/>
                    <a:latin typeface="Fund Light" pitchFamily="2" charset="-78"/>
                    <a:cs typeface="Fund Light" pitchFamily="2" charset="-78"/>
                    <a:sym typeface="Arial"/>
                  </a:rPr>
                </a:br>
                <a:r>
                  <a:rPr kumimoji="0" lang="en-US" sz="1000" b="0" i="0" u="none" strike="noStrike" kern="0" cap="none" spc="0" normalizeH="0" baseline="0" noProof="0">
                    <a:ln>
                      <a:noFill/>
                    </a:ln>
                    <a:effectLst/>
                    <a:uLnTx/>
                    <a:uFillTx/>
                    <a:latin typeface="Fund Light" pitchFamily="2" charset="-78"/>
                    <a:cs typeface="Fund Light" pitchFamily="2" charset="-78"/>
                    <a:sym typeface="Arial"/>
                  </a:rPr>
                  <a:t>required?</a:t>
                </a:r>
                <a:endParaRPr kumimoji="0" lang="en-GB" sz="1000" b="0" i="0" u="none" strike="noStrike" kern="0" cap="none" spc="0" normalizeH="0" baseline="0" noProof="0">
                  <a:ln>
                    <a:noFill/>
                  </a:ln>
                  <a:effectLst/>
                  <a:uLnTx/>
                  <a:uFillTx/>
                  <a:latin typeface="Fund Light" pitchFamily="2" charset="-78"/>
                  <a:cs typeface="Fund Light" pitchFamily="2" charset="-78"/>
                  <a:sym typeface="Arial"/>
                </a:endParaRPr>
              </a:p>
            </p:txBody>
          </p:sp>
          <p:sp>
            <p:nvSpPr>
              <p:cNvPr id="29" name="Oval 9">
                <a:extLst>
                  <a:ext uri="{FF2B5EF4-FFF2-40B4-BE49-F238E27FC236}">
                    <a16:creationId xmlns:a16="http://schemas.microsoft.com/office/drawing/2014/main" id="{B8348608-5506-4FAF-9985-ACB0FCCF6236}"/>
                  </a:ext>
                </a:extLst>
              </p:cNvPr>
              <p:cNvSpPr>
                <a:spLocks noChangeArrowheads="1"/>
              </p:cNvSpPr>
              <p:nvPr/>
            </p:nvSpPr>
            <p:spPr bwMode="auto">
              <a:xfrm>
                <a:off x="1240370" y="3484774"/>
                <a:ext cx="2172841" cy="2447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chemeClr val="bg1"/>
                  </a:solidFill>
                  <a:effectLst/>
                  <a:uLnTx/>
                  <a:uFillTx/>
                  <a:latin typeface="Fund Light" pitchFamily="2" charset="-78"/>
                  <a:cs typeface="Fund Light" pitchFamily="2" charset="-78"/>
                  <a:sym typeface="Arial"/>
                </a:endParaRPr>
              </a:p>
            </p:txBody>
          </p:sp>
          <p:sp>
            <p:nvSpPr>
              <p:cNvPr id="30" name="Oval 29">
                <a:extLst>
                  <a:ext uri="{FF2B5EF4-FFF2-40B4-BE49-F238E27FC236}">
                    <a16:creationId xmlns:a16="http://schemas.microsoft.com/office/drawing/2014/main" id="{DD9D2F0E-DD1D-4C84-8458-5D4B794B3126}"/>
                  </a:ext>
                </a:extLst>
              </p:cNvPr>
              <p:cNvSpPr/>
              <p:nvPr/>
            </p:nvSpPr>
            <p:spPr>
              <a:xfrm>
                <a:off x="1148520" y="3863409"/>
                <a:ext cx="311276" cy="311276"/>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1200">
                    <a:solidFill>
                      <a:schemeClr val="bg1"/>
                    </a:solidFill>
                    <a:latin typeface="Fund Light" pitchFamily="2" charset="-78"/>
                    <a:cs typeface="Fund Light" pitchFamily="2" charset="-78"/>
                  </a:rPr>
                  <a:t>3</a:t>
                </a:r>
              </a:p>
            </p:txBody>
          </p:sp>
          <p:sp>
            <p:nvSpPr>
              <p:cNvPr id="31" name="Oval 19" descr="Outlined diamond">
                <a:extLst>
                  <a:ext uri="{FF2B5EF4-FFF2-40B4-BE49-F238E27FC236}">
                    <a16:creationId xmlns:a16="http://schemas.microsoft.com/office/drawing/2014/main" id="{CFA533E7-4C97-40D8-8CF5-FB0080E91C0F}"/>
                  </a:ext>
                </a:extLst>
              </p:cNvPr>
              <p:cNvSpPr>
                <a:spLocks noChangeArrowheads="1"/>
              </p:cNvSpPr>
              <p:nvPr>
                <p:custDataLst>
                  <p:tags r:id="rId2"/>
                </p:custDataLst>
              </p:nvPr>
            </p:nvSpPr>
            <p:spPr bwMode="gray">
              <a:xfrm rot="5400000">
                <a:off x="2188435" y="2496318"/>
                <a:ext cx="276708" cy="2172841"/>
              </a:xfrm>
              <a:prstGeom prst="ellipse">
                <a:avLst/>
              </a:prstGeom>
              <a:pattFill prst="openDmnd">
                <a:fgClr>
                  <a:schemeClr val="bg2"/>
                </a:fgClr>
                <a:bgClr>
                  <a:schemeClr val="bg2">
                    <a:lumMod val="20000"/>
                    <a:lumOff val="80000"/>
                  </a:schemeClr>
                </a:bgClr>
              </a:pattFill>
              <a:ln w="38100">
                <a:solidFill>
                  <a:schemeClr val="bg2"/>
                </a:solidFill>
                <a:round/>
                <a:headEnd/>
                <a:tailEnd/>
              </a:ln>
              <a:effectLst/>
            </p:spPr>
            <p:txBody>
              <a:bodyPr wrap="none" lIns="79085" tIns="39545" rIns="79085" bIns="39545" anchor="ctr"/>
              <a:lstStyle>
                <a:lvl1pPr>
                  <a:spcBef>
                    <a:spcPct val="50000"/>
                  </a:spcBef>
                  <a:buClr>
                    <a:schemeClr val="tx1"/>
                  </a:buClr>
                  <a:buChar char="•"/>
                  <a:defRPr sz="1200">
                    <a:solidFill>
                      <a:schemeClr val="tx1"/>
                    </a:solidFill>
                    <a:latin typeface="Arial" panose="020B0604020202020204" pitchFamily="34" charset="0"/>
                  </a:defRPr>
                </a:lvl1pPr>
                <a:lvl2pPr marL="742950" indent="-285750">
                  <a:spcBef>
                    <a:spcPct val="50000"/>
                  </a:spcBef>
                  <a:buClr>
                    <a:schemeClr val="tx1"/>
                  </a:buClr>
                  <a:buChar char="•"/>
                  <a:defRPr sz="1200">
                    <a:solidFill>
                      <a:schemeClr val="tx1"/>
                    </a:solidFill>
                    <a:latin typeface="Arial" panose="020B0604020202020204" pitchFamily="34" charset="0"/>
                  </a:defRPr>
                </a:lvl2pPr>
                <a:lvl3pPr marL="1143000" indent="-228600">
                  <a:spcBef>
                    <a:spcPct val="50000"/>
                  </a:spcBef>
                  <a:buClr>
                    <a:schemeClr val="tx1"/>
                  </a:buClr>
                  <a:buChar char="•"/>
                  <a:defRPr sz="1200">
                    <a:solidFill>
                      <a:schemeClr val="tx1"/>
                    </a:solidFill>
                    <a:latin typeface="Arial" panose="020B0604020202020204" pitchFamily="34" charset="0"/>
                  </a:defRPr>
                </a:lvl3pPr>
                <a:lvl4pPr marL="1600200" indent="-228600">
                  <a:spcBef>
                    <a:spcPct val="50000"/>
                  </a:spcBef>
                  <a:buClr>
                    <a:schemeClr val="tx1"/>
                  </a:buClr>
                  <a:buChar char="•"/>
                  <a:defRPr sz="1200">
                    <a:solidFill>
                      <a:schemeClr val="tx1"/>
                    </a:solidFill>
                    <a:latin typeface="Arial" panose="020B0604020202020204" pitchFamily="34" charset="0"/>
                  </a:defRPr>
                </a:lvl4pPr>
                <a:lvl5pPr marL="2057400" indent="-228600">
                  <a:spcBef>
                    <a:spcPct val="5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50000"/>
                  </a:spcBef>
                  <a:spcAft>
                    <a:spcPct val="0"/>
                  </a:spcAft>
                  <a:buClr>
                    <a:schemeClr val="tx1"/>
                  </a:buClr>
                  <a:buChar char="•"/>
                  <a:defRPr sz="1200">
                    <a:solidFill>
                      <a:schemeClr val="tx1"/>
                    </a:solidFill>
                    <a:latin typeface="Arial" panose="020B0604020202020204" pitchFamily="34" charset="0"/>
                  </a:defRPr>
                </a:lvl9pPr>
              </a:lstStyle>
              <a:p>
                <a:endParaRPr lang="en-GB" altLang="nl-NL" sz="1125">
                  <a:solidFill>
                    <a:schemeClr val="bg1"/>
                  </a:solidFill>
                  <a:latin typeface="Fund Light" pitchFamily="2" charset="-78"/>
                  <a:cs typeface="Fund Light" pitchFamily="2" charset="-78"/>
                </a:endParaRPr>
              </a:p>
            </p:txBody>
          </p:sp>
        </p:grpSp>
      </p:grpSp>
      <p:graphicFrame>
        <p:nvGraphicFramePr>
          <p:cNvPr id="47" name="Table 141">
            <a:extLst>
              <a:ext uri="{FF2B5EF4-FFF2-40B4-BE49-F238E27FC236}">
                <a16:creationId xmlns:a16="http://schemas.microsoft.com/office/drawing/2014/main" id="{5C0611DF-F8BC-46F6-B710-553590D93341}"/>
              </a:ext>
            </a:extLst>
          </p:cNvPr>
          <p:cNvGraphicFramePr>
            <a:graphicFrameLocks noGrp="1"/>
          </p:cNvGraphicFramePr>
          <p:nvPr>
            <p:extLst>
              <p:ext uri="{D42A27DB-BD31-4B8C-83A1-F6EECF244321}">
                <p14:modId xmlns:p14="http://schemas.microsoft.com/office/powerpoint/2010/main" val="339741097"/>
              </p:ext>
            </p:extLst>
          </p:nvPr>
        </p:nvGraphicFramePr>
        <p:xfrm>
          <a:off x="323850" y="569648"/>
          <a:ext cx="8532283" cy="3714144"/>
        </p:xfrm>
        <a:graphic>
          <a:graphicData uri="http://schemas.openxmlformats.org/drawingml/2006/table">
            <a:tbl>
              <a:tblPr firstRow="1" bandRow="1">
                <a:tableStyleId>{5C22544A-7EE6-4342-B048-85BDC9FD1C3A}</a:tableStyleId>
              </a:tblPr>
              <a:tblGrid>
                <a:gridCol w="4112618">
                  <a:extLst>
                    <a:ext uri="{9D8B030D-6E8A-4147-A177-3AD203B41FA5}">
                      <a16:colId xmlns:a16="http://schemas.microsoft.com/office/drawing/2014/main" val="1963185336"/>
                    </a:ext>
                  </a:extLst>
                </a:gridCol>
                <a:gridCol w="782838">
                  <a:extLst>
                    <a:ext uri="{9D8B030D-6E8A-4147-A177-3AD203B41FA5}">
                      <a16:colId xmlns:a16="http://schemas.microsoft.com/office/drawing/2014/main" val="597607390"/>
                    </a:ext>
                  </a:extLst>
                </a:gridCol>
                <a:gridCol w="785448">
                  <a:extLst>
                    <a:ext uri="{9D8B030D-6E8A-4147-A177-3AD203B41FA5}">
                      <a16:colId xmlns:a16="http://schemas.microsoft.com/office/drawing/2014/main" val="17877809"/>
                    </a:ext>
                  </a:extLst>
                </a:gridCol>
                <a:gridCol w="2851379">
                  <a:extLst>
                    <a:ext uri="{9D8B030D-6E8A-4147-A177-3AD203B41FA5}">
                      <a16:colId xmlns:a16="http://schemas.microsoft.com/office/drawing/2014/main" val="2037260248"/>
                    </a:ext>
                  </a:extLst>
                </a:gridCol>
              </a:tblGrid>
              <a:tr h="298982">
                <a:tc>
                  <a:txBody>
                    <a:bodyPr/>
                    <a:lstStyle/>
                    <a:p>
                      <a:pPr algn="ctr" rtl="0"/>
                      <a:endParaRPr lang="en-GB" sz="1200" b="1">
                        <a:solidFill>
                          <a:srgbClr val="C4984F"/>
                        </a:solidFill>
                        <a:latin typeface="+mn-lt"/>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GB" sz="1200" b="1">
                        <a:solidFill>
                          <a:srgbClr val="C4984F"/>
                        </a:solidFill>
                        <a:latin typeface="+mn-lt"/>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endParaRPr lang="en-GB" sz="1200" b="1">
                        <a:solidFill>
                          <a:srgbClr val="C4984F"/>
                        </a:solidFill>
                        <a:latin typeface="+mn-lt"/>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r>
                        <a:rPr lang="en-GB" sz="1000" b="1">
                          <a:solidFill>
                            <a:schemeClr val="bg2"/>
                          </a:solidFill>
                          <a:latin typeface="Fund Light" pitchFamily="2" charset="-78"/>
                          <a:cs typeface="Fund Light" pitchFamily="2" charset="-78"/>
                        </a:rPr>
                        <a:t>Rationale</a:t>
                      </a:r>
                    </a:p>
                  </a:txBody>
                  <a:tcPr marL="121920" marR="0" marT="28437" marB="28437"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8492975"/>
                  </a:ext>
                </a:extLst>
              </a:tr>
              <a:tr h="1184537">
                <a:tc>
                  <a:txBody>
                    <a:bodyPr/>
                    <a:lstStyle/>
                    <a:p>
                      <a:pPr algn="ctr" rtl="0"/>
                      <a:endParaRPr lang="en-GB" sz="1200" b="0">
                        <a:solidFill>
                          <a:schemeClr val="tx1">
                            <a:lumMod val="65000"/>
                            <a:lumOff val="35000"/>
                          </a:schemeClr>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000" b="0">
                          <a:solidFill>
                            <a:schemeClr val="tx2"/>
                          </a:solidFill>
                          <a:latin typeface="Fund Light" pitchFamily="2" charset="-78"/>
                          <a:cs typeface="Fund Light" pitchFamily="2" charset="-78"/>
                        </a:rPr>
                        <a:t>No</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GB" sz="1000" b="1">
                          <a:solidFill>
                            <a:schemeClr val="tx2"/>
                          </a:solidFill>
                          <a:latin typeface="Fund Light" pitchFamily="2" charset="-78"/>
                          <a:cs typeface="Fund Light" pitchFamily="2" charset="-78"/>
                        </a:rPr>
                        <a:t>Yes</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tx2">
                        <a:alpha val="10000"/>
                      </a:schemeClr>
                    </a:solidFill>
                  </a:tcPr>
                </a:tc>
                <a:tc>
                  <a:txBody>
                    <a:bodyPr/>
                    <a:lstStyle/>
                    <a:p>
                      <a:pPr marL="228600" indent="-228600" rtl="0">
                        <a:spcBef>
                          <a:spcPts val="0"/>
                        </a:spcBef>
                        <a:spcAft>
                          <a:spcPts val="400"/>
                        </a:spcAft>
                        <a:buFont typeface="+mj-lt"/>
                        <a:buAutoNum type="arabicPeriod"/>
                      </a:pPr>
                      <a:r>
                        <a:rPr lang="en-US" sz="1000" b="0">
                          <a:solidFill>
                            <a:srgbClr val="000000"/>
                          </a:solidFill>
                          <a:latin typeface="Fund Light" pitchFamily="2" charset="-78"/>
                          <a:cs typeface="Fund Light" pitchFamily="2" charset="-78"/>
                        </a:rPr>
                        <a:t>Sizable procurement spend (average annual demand 2024-2027 </a:t>
                      </a:r>
                      <a:br>
                        <a:rPr lang="en-US" sz="1000" b="0">
                          <a:solidFill>
                            <a:srgbClr val="000000"/>
                          </a:solidFill>
                          <a:latin typeface="Fund Light" pitchFamily="2" charset="-78"/>
                          <a:cs typeface="Fund Light" pitchFamily="2" charset="-78"/>
                        </a:rPr>
                      </a:br>
                      <a:r>
                        <a:rPr lang="en-US" sz="1000" b="0">
                          <a:solidFill>
                            <a:srgbClr val="000000"/>
                          </a:solidFill>
                          <a:latin typeface="Fund Light" pitchFamily="2" charset="-78"/>
                          <a:cs typeface="Fund Light" pitchFamily="2" charset="-78"/>
                        </a:rPr>
                        <a:t>SAR +1 Mn) with recurring </a:t>
                      </a:r>
                      <a:br>
                        <a:rPr lang="en-US" sz="1000" b="0">
                          <a:solidFill>
                            <a:srgbClr val="000000"/>
                          </a:solidFill>
                          <a:latin typeface="Fund Light" pitchFamily="2" charset="-78"/>
                          <a:cs typeface="Fund Light" pitchFamily="2" charset="-78"/>
                        </a:rPr>
                      </a:br>
                      <a:r>
                        <a:rPr lang="en-US" sz="1000" b="0">
                          <a:solidFill>
                            <a:srgbClr val="000000"/>
                          </a:solidFill>
                          <a:latin typeface="Fund Light" pitchFamily="2" charset="-78"/>
                          <a:cs typeface="Fund Light" pitchFamily="2" charset="-78"/>
                        </a:rPr>
                        <a:t>long-term opex demand outlook</a:t>
                      </a:r>
                    </a:p>
                    <a:p>
                      <a:pPr marL="228600" indent="-228600" rtl="0">
                        <a:spcBef>
                          <a:spcPts val="0"/>
                        </a:spcBef>
                        <a:spcAft>
                          <a:spcPts val="400"/>
                        </a:spcAft>
                        <a:buFont typeface="+mj-lt"/>
                        <a:buAutoNum type="arabicPeriod"/>
                      </a:pPr>
                      <a:r>
                        <a:rPr lang="en-US" sz="1000" b="0">
                          <a:solidFill>
                            <a:srgbClr val="000000"/>
                          </a:solidFill>
                          <a:latin typeface="Fund Light" pitchFamily="2" charset="-78"/>
                          <a:cs typeface="Fund Light" pitchFamily="2" charset="-78"/>
                        </a:rPr>
                        <a:t>75%+ procurement spend on </a:t>
                      </a:r>
                      <a:br>
                        <a:rPr lang="en-US" sz="1000" b="0">
                          <a:solidFill>
                            <a:srgbClr val="000000"/>
                          </a:solidFill>
                          <a:latin typeface="Fund Light" pitchFamily="2" charset="-78"/>
                          <a:cs typeface="Fund Light" pitchFamily="2" charset="-78"/>
                        </a:rPr>
                      </a:br>
                      <a:r>
                        <a:rPr lang="en-US" sz="1000" b="0">
                          <a:solidFill>
                            <a:srgbClr val="000000"/>
                          </a:solidFill>
                          <a:latin typeface="Fund Light" pitchFamily="2" charset="-78"/>
                          <a:cs typeface="Fund Light" pitchFamily="2" charset="-78"/>
                        </a:rPr>
                        <a:t>foreign suppliers </a:t>
                      </a:r>
                      <a:endParaRPr lang="en-GB" sz="1000" b="0">
                        <a:solidFill>
                          <a:srgbClr val="000000"/>
                        </a:solidFill>
                        <a:latin typeface="Fund Light" pitchFamily="2" charset="-78"/>
                        <a:cs typeface="Fund Light" pitchFamily="2" charset="-78"/>
                      </a:endParaRPr>
                    </a:p>
                  </a:txBody>
                  <a:tcPr marR="274320" marT="91440" marB="91440"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3020492"/>
                  </a:ext>
                </a:extLst>
              </a:tr>
              <a:tr h="1181100">
                <a:tc>
                  <a:txBody>
                    <a:bodyPr/>
                    <a:lstStyle/>
                    <a:p>
                      <a:pPr algn="ctr" rtl="0"/>
                      <a:endParaRPr lang="en-GB" sz="1200" b="0" baseline="0">
                        <a:solidFill>
                          <a:schemeClr val="tx1">
                            <a:lumMod val="65000"/>
                            <a:lumOff val="35000"/>
                          </a:schemeClr>
                        </a:solidFill>
                        <a:latin typeface="Fund Light" pitchFamily="2" charset="-78"/>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rtl="0"/>
                      <a:r>
                        <a:rPr lang="en-GB" sz="1000" b="0" baseline="0">
                          <a:solidFill>
                            <a:schemeClr val="tx2"/>
                          </a:solidFill>
                          <a:latin typeface="Fund Light" pitchFamily="2" charset="-78"/>
                          <a:cs typeface="Fund Light" pitchFamily="2" charset="-78"/>
                        </a:rPr>
                        <a:t>No</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GB" sz="1000" b="1" baseline="0">
                          <a:solidFill>
                            <a:schemeClr val="tx2"/>
                          </a:solidFill>
                          <a:latin typeface="Fund Light" pitchFamily="2" charset="-78"/>
                          <a:cs typeface="Fund Light" pitchFamily="2" charset="-78"/>
                        </a:rPr>
                        <a:t>Yes</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tx2">
                        <a:alpha val="10000"/>
                      </a:schemeClr>
                    </a:solidFill>
                  </a:tcPr>
                </a:tc>
                <a:tc>
                  <a:txBody>
                    <a:bodyPr/>
                    <a:lstStyle/>
                    <a:p>
                      <a:pPr marL="228600" indent="-228600" rtl="0">
                        <a:spcBef>
                          <a:spcPts val="0"/>
                        </a:spcBef>
                        <a:spcAft>
                          <a:spcPts val="400"/>
                        </a:spcAft>
                        <a:buFont typeface="+mj-lt"/>
                        <a:buAutoNum type="arabicPeriod"/>
                      </a:pPr>
                      <a:r>
                        <a:rPr lang="en-US" sz="1000" b="0" baseline="0">
                          <a:solidFill>
                            <a:srgbClr val="000000"/>
                          </a:solidFill>
                          <a:latin typeface="Fund Light" pitchFamily="2" charset="-78"/>
                          <a:cs typeface="Fund Light" pitchFamily="2" charset="-78"/>
                        </a:rPr>
                        <a:t>No critical localization challenge identified</a:t>
                      </a:r>
                    </a:p>
                  </a:txBody>
                  <a:tcPr marR="274320" marT="91440" marB="91440"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150051"/>
                  </a:ext>
                </a:extLst>
              </a:tr>
              <a:tr h="1049525">
                <a:tc>
                  <a:txBody>
                    <a:bodyPr/>
                    <a:lstStyle/>
                    <a:p>
                      <a:pPr marL="0" algn="ctr" defTabSz="914377" rtl="0" eaLnBrk="1" latinLnBrk="0" hangingPunct="1"/>
                      <a:endParaRPr lang="en-GB" sz="1200" b="0" kern="1200">
                        <a:solidFill>
                          <a:schemeClr val="tx1">
                            <a:lumMod val="65000"/>
                            <a:lumOff val="35000"/>
                          </a:schemeClr>
                        </a:solidFill>
                        <a:latin typeface="Fund Light" pitchFamily="2" charset="-78"/>
                        <a:ea typeface="+mn-ea"/>
                        <a:cs typeface="Fund Light" pitchFamily="2" charset="-78"/>
                      </a:endParaRPr>
                    </a:p>
                  </a:txBody>
                  <a:tcPr marL="121920" marR="0" marT="28437" marB="28437"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r>
                        <a:rPr lang="en-GB" sz="1000" b="0" kern="1200">
                          <a:solidFill>
                            <a:schemeClr val="tx2"/>
                          </a:solidFill>
                          <a:latin typeface="Fund Light" pitchFamily="2" charset="-78"/>
                          <a:ea typeface="+mn-ea"/>
                          <a:cs typeface="Fund Light" pitchFamily="2" charset="-78"/>
                        </a:rPr>
                        <a:t>No</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377" rtl="0" eaLnBrk="1" latinLnBrk="0" hangingPunct="1"/>
                      <a:r>
                        <a:rPr lang="en-GB" sz="1000" b="1" kern="1200">
                          <a:solidFill>
                            <a:schemeClr val="tx2"/>
                          </a:solidFill>
                          <a:latin typeface="Fund Light" pitchFamily="2" charset="-78"/>
                          <a:ea typeface="+mn-ea"/>
                          <a:cs typeface="Fund Light" pitchFamily="2" charset="-78"/>
                        </a:rPr>
                        <a:t>Yes</a:t>
                      </a:r>
                    </a:p>
                  </a:txBody>
                  <a:tcPr marT="91440" marB="91440"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chemeClr val="tx2">
                        <a:alpha val="10000"/>
                      </a:schemeClr>
                    </a:solidFill>
                  </a:tcPr>
                </a:tc>
                <a:tc>
                  <a:txBody>
                    <a:bodyPr/>
                    <a:lstStyle/>
                    <a:p>
                      <a:pPr marL="228600" indent="-228600" algn="l" defTabSz="914377" rtl="0" eaLnBrk="1" latinLnBrk="0" hangingPunct="1">
                        <a:spcBef>
                          <a:spcPts val="0"/>
                        </a:spcBef>
                        <a:spcAft>
                          <a:spcPts val="400"/>
                        </a:spcAft>
                        <a:buFont typeface="+mj-lt"/>
                        <a:buAutoNum type="arabicPeriod"/>
                      </a:pPr>
                      <a:r>
                        <a:rPr lang="en-GB" sz="1000" b="0" kern="1200">
                          <a:solidFill>
                            <a:srgbClr val="000000"/>
                          </a:solidFill>
                          <a:latin typeface="Fund Light" pitchFamily="2" charset="-78"/>
                          <a:ea typeface="+mn-ea"/>
                          <a:cs typeface="Fund Light" pitchFamily="2" charset="-78"/>
                        </a:rPr>
                        <a:t>Single KSA buyer accounts for 80%+ of the demand</a:t>
                      </a:r>
                    </a:p>
                    <a:p>
                      <a:pPr marL="228600" indent="-228600" algn="l" defTabSz="914377" rtl="0" eaLnBrk="1" latinLnBrk="0" hangingPunct="1">
                        <a:spcBef>
                          <a:spcPts val="0"/>
                        </a:spcBef>
                        <a:spcAft>
                          <a:spcPts val="400"/>
                        </a:spcAft>
                        <a:buFont typeface="+mj-lt"/>
                        <a:buAutoNum type="arabicPeriod"/>
                      </a:pPr>
                      <a:r>
                        <a:rPr lang="en-US" sz="1000" b="0" kern="1200">
                          <a:solidFill>
                            <a:srgbClr val="000000"/>
                          </a:solidFill>
                          <a:latin typeface="Fund Light" pitchFamily="2" charset="-78"/>
                          <a:ea typeface="+mn-ea"/>
                          <a:cs typeface="Fund Light" pitchFamily="2" charset="-78"/>
                        </a:rPr>
                        <a:t>Only one local supplier </a:t>
                      </a:r>
                    </a:p>
                  </a:txBody>
                  <a:tcPr marR="274320" marT="91440" marB="91440"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lumMod val="50000"/>
                        </a:schemeClr>
                      </a:solidFill>
                      <a:prstDash val="sysDash"/>
                      <a:round/>
                      <a:headEnd type="none" w="med" len="med"/>
                      <a:tailEnd type="none" w="med" len="med"/>
                    </a:lnT>
                    <a:lnB w="1270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6350441"/>
                  </a:ext>
                </a:extLst>
              </a:tr>
            </a:tbl>
          </a:graphicData>
        </a:graphic>
      </p:graphicFrame>
      <p:sp>
        <p:nvSpPr>
          <p:cNvPr id="48" name="Rectangle 47">
            <a:extLst>
              <a:ext uri="{FF2B5EF4-FFF2-40B4-BE49-F238E27FC236}">
                <a16:creationId xmlns:a16="http://schemas.microsoft.com/office/drawing/2014/main" id="{21779624-C76C-4FBD-A60A-2D265F4FEE64}"/>
              </a:ext>
            </a:extLst>
          </p:cNvPr>
          <p:cNvSpPr>
            <a:spLocks/>
          </p:cNvSpPr>
          <p:nvPr/>
        </p:nvSpPr>
        <p:spPr>
          <a:xfrm>
            <a:off x="5232400" y="2097214"/>
            <a:ext cx="752936" cy="1080771"/>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49" name="Rectangle 48">
            <a:extLst>
              <a:ext uri="{FF2B5EF4-FFF2-40B4-BE49-F238E27FC236}">
                <a16:creationId xmlns:a16="http://schemas.microsoft.com/office/drawing/2014/main" id="{6A1F2BC3-A0E2-449F-9CD2-B90BFBC64B1E}"/>
              </a:ext>
            </a:extLst>
          </p:cNvPr>
          <p:cNvSpPr>
            <a:spLocks/>
          </p:cNvSpPr>
          <p:nvPr/>
        </p:nvSpPr>
        <p:spPr>
          <a:xfrm>
            <a:off x="5232400" y="934200"/>
            <a:ext cx="752936" cy="1080771"/>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50" name="Rectangle 49">
            <a:extLst>
              <a:ext uri="{FF2B5EF4-FFF2-40B4-BE49-F238E27FC236}">
                <a16:creationId xmlns:a16="http://schemas.microsoft.com/office/drawing/2014/main" id="{95C412F7-3D01-4871-8886-AA5092734481}"/>
              </a:ext>
            </a:extLst>
          </p:cNvPr>
          <p:cNvSpPr>
            <a:spLocks/>
          </p:cNvSpPr>
          <p:nvPr/>
        </p:nvSpPr>
        <p:spPr>
          <a:xfrm>
            <a:off x="5232400" y="3280832"/>
            <a:ext cx="752936" cy="963437"/>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13" name="Text Placeholder 6">
            <a:extLst>
              <a:ext uri="{FF2B5EF4-FFF2-40B4-BE49-F238E27FC236}">
                <a16:creationId xmlns:a16="http://schemas.microsoft.com/office/drawing/2014/main" id="{D40AA0F7-2D9E-B871-A389-04AA129DE855}"/>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Product selection</a:t>
            </a:r>
          </a:p>
        </p:txBody>
      </p:sp>
      <p:sp>
        <p:nvSpPr>
          <p:cNvPr id="26" name="TextBox 25">
            <a:extLst>
              <a:ext uri="{FF2B5EF4-FFF2-40B4-BE49-F238E27FC236}">
                <a16:creationId xmlns:a16="http://schemas.microsoft.com/office/drawing/2014/main" id="{9BEE65FF-D711-F4E5-4408-FA2AFC0D5AB8}"/>
              </a:ext>
            </a:extLst>
          </p:cNvPr>
          <p:cNvSpPr txBox="1"/>
          <p:nvPr/>
        </p:nvSpPr>
        <p:spPr>
          <a:xfrm>
            <a:off x="332711" y="4362700"/>
            <a:ext cx="8490657" cy="261610"/>
          </a:xfrm>
          <a:prstGeom prst="rect">
            <a:avLst/>
          </a:prstGeom>
          <a:noFill/>
        </p:spPr>
        <p:txBody>
          <a:bodyPr wrap="square">
            <a:spAutoFit/>
          </a:bodyPr>
          <a:lstStyle/>
          <a:p>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In this illustrative example, the telecom product should be selected for feasibility analysis</a:t>
            </a:r>
            <a:endParaRPr lang="en-US" sz="1100" i="1"/>
          </a:p>
        </p:txBody>
      </p:sp>
    </p:spTree>
    <p:extLst>
      <p:ext uri="{BB962C8B-B14F-4D97-AF65-F5344CB8AC3E}">
        <p14:creationId xmlns:p14="http://schemas.microsoft.com/office/powerpoint/2010/main" val="283224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9416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
        <p:nvSpPr>
          <p:cNvPr id="2" name="Text Placeholder 5">
            <a:extLst>
              <a:ext uri="{FF2B5EF4-FFF2-40B4-BE49-F238E27FC236}">
                <a16:creationId xmlns:a16="http://schemas.microsoft.com/office/drawing/2014/main" id="{1B90BAF6-2342-153C-8B5D-EF0DAB408985}"/>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Tree>
    <p:extLst>
      <p:ext uri="{BB962C8B-B14F-4D97-AF65-F5344CB8AC3E}">
        <p14:creationId xmlns:p14="http://schemas.microsoft.com/office/powerpoint/2010/main" val="3251006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5930709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2 of 5 – Feasibility assessment:</a:t>
            </a:r>
            <a:r>
              <a:rPr lang="en-US"/>
              <a:t> Section preface</a:t>
            </a:r>
          </a:p>
        </p:txBody>
      </p:sp>
      <p:sp>
        <p:nvSpPr>
          <p:cNvPr id="7" name="Rectangle 6">
            <a:extLst>
              <a:ext uri="{FF2B5EF4-FFF2-40B4-BE49-F238E27FC236}">
                <a16:creationId xmlns:a16="http://schemas.microsoft.com/office/drawing/2014/main" id="{5C6A77BB-7CC5-F0BC-823C-CFE0129451B8}"/>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8" name="Rectangle 7">
            <a:extLst>
              <a:ext uri="{FF2B5EF4-FFF2-40B4-BE49-F238E27FC236}">
                <a16:creationId xmlns:a16="http://schemas.microsoft.com/office/drawing/2014/main" id="{5594876C-391D-A345-B20D-6E975558FB63}"/>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9" name="Rectangle 8">
            <a:extLst>
              <a:ext uri="{FF2B5EF4-FFF2-40B4-BE49-F238E27FC236}">
                <a16:creationId xmlns:a16="http://schemas.microsoft.com/office/drawing/2014/main" id="{F5FF7A6E-27EC-0237-1F11-435000CD8CF9}"/>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0" name="Rectangle 9">
            <a:extLst>
              <a:ext uri="{FF2B5EF4-FFF2-40B4-BE49-F238E27FC236}">
                <a16:creationId xmlns:a16="http://schemas.microsoft.com/office/drawing/2014/main" id="{BBA7C6E6-05A7-DA6C-A38F-6A1D1D8B8BCB}"/>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2" name="Rectangle 11">
            <a:extLst>
              <a:ext uri="{FF2B5EF4-FFF2-40B4-BE49-F238E27FC236}">
                <a16:creationId xmlns:a16="http://schemas.microsoft.com/office/drawing/2014/main" id="{5B2641C8-11CF-D90F-05D2-101FE75C3B7E}"/>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LC unit [owner of the process]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LDC taskforce [provide inputs for the business case]</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Management [approval and sign-off]</a:t>
            </a:r>
          </a:p>
        </p:txBody>
      </p:sp>
      <p:sp>
        <p:nvSpPr>
          <p:cNvPr id="13" name="Rectangle 12">
            <a:extLst>
              <a:ext uri="{FF2B5EF4-FFF2-40B4-BE49-F238E27FC236}">
                <a16:creationId xmlns:a16="http://schemas.microsoft.com/office/drawing/2014/main" id="{0A89F3AA-EA57-27D0-E715-E934325F5207}"/>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Framework and methodology to do an in-depth feasibility assessment of the selected product(s)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Investor-view and buyer-view of the localization investment and implications on the investment</a:t>
            </a:r>
          </a:p>
        </p:txBody>
      </p:sp>
      <p:sp>
        <p:nvSpPr>
          <p:cNvPr id="14" name="Rectangle 13">
            <a:extLst>
              <a:ext uri="{FF2B5EF4-FFF2-40B4-BE49-F238E27FC236}">
                <a16:creationId xmlns:a16="http://schemas.microsoft.com/office/drawing/2014/main" id="{28A5AB9B-8717-3786-CEA4-6674060B01A2}"/>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Various parameters and methodology to prepare a business case to inform the feasibility assessment</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Types of LDC agreement and the approach to inform the choice</a:t>
            </a: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Feasibility of products</a:t>
            </a:r>
          </a:p>
        </p:txBody>
      </p:sp>
      <p:sp>
        <p:nvSpPr>
          <p:cNvPr id="16" name="Rectangle 15">
            <a:extLst>
              <a:ext uri="{FF2B5EF4-FFF2-40B4-BE49-F238E27FC236}">
                <a16:creationId xmlns:a16="http://schemas.microsoft.com/office/drawing/2014/main" id="{CE1F3C97-CDE1-4EF5-DD7F-0365111AAB7A}"/>
              </a:ext>
            </a:extLst>
          </p:cNvPr>
          <p:cNvSpPr/>
          <p:nvPr/>
        </p:nvSpPr>
        <p:spPr>
          <a:xfrm>
            <a:off x="4144985" y="2730829"/>
            <a:ext cx="1279087" cy="48474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Feasibility assessment framework</a:t>
            </a:r>
            <a:r>
              <a:rPr kumimoji="0" lang="en-US" sz="1050" b="1" i="0" u="none" strike="noStrike" kern="1200" cap="none" normalizeH="0" baseline="30000" noProof="0">
                <a:ln>
                  <a:noFill/>
                </a:ln>
                <a:solidFill>
                  <a:schemeClr val="bg2"/>
                </a:solidFill>
                <a:effectLst/>
                <a:uLnTx/>
                <a:uFillTx/>
                <a:latin typeface="Fund Light" pitchFamily="2" charset="-78"/>
                <a:cs typeface="Fund Light" pitchFamily="2" charset="-78"/>
              </a:rPr>
              <a:t>1</a:t>
            </a:r>
          </a:p>
        </p:txBody>
      </p:sp>
      <p:sp>
        <p:nvSpPr>
          <p:cNvPr id="17" name="Oval 16">
            <a:extLst>
              <a:ext uri="{FF2B5EF4-FFF2-40B4-BE49-F238E27FC236}">
                <a16:creationId xmlns:a16="http://schemas.microsoft.com/office/drawing/2014/main" id="{FDA021A3-9A8A-B482-BB40-A11DE8E8529E}"/>
              </a:ext>
            </a:extLst>
          </p:cNvPr>
          <p:cNvSpPr/>
          <p:nvPr/>
        </p:nvSpPr>
        <p:spPr>
          <a:xfrm>
            <a:off x="2235117" y="2859902"/>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00" b="1">
                <a:solidFill>
                  <a:schemeClr val="bg1"/>
                </a:solidFill>
                <a:latin typeface="Fund Light" pitchFamily="2" charset="-78"/>
                <a:cs typeface="Fund Light" pitchFamily="2" charset="-78"/>
              </a:rPr>
              <a:t>B</a:t>
            </a:r>
          </a:p>
        </p:txBody>
      </p:sp>
      <p:sp>
        <p:nvSpPr>
          <p:cNvPr id="18" name="Rectangle 17">
            <a:extLst>
              <a:ext uri="{FF2B5EF4-FFF2-40B4-BE49-F238E27FC236}">
                <a16:creationId xmlns:a16="http://schemas.microsoft.com/office/drawing/2014/main" id="{AB143018-D0DD-EF95-D3DE-FE99C1D26F3B}"/>
              </a:ext>
            </a:extLst>
          </p:cNvPr>
          <p:cNvSpPr/>
          <p:nvPr/>
        </p:nvSpPr>
        <p:spPr>
          <a:xfrm>
            <a:off x="7287189" y="2745181"/>
            <a:ext cx="1309257" cy="48474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Localization </a:t>
            </a:r>
            <a:r>
              <a:rPr lang="en-US" sz="1050" b="1">
                <a:solidFill>
                  <a:schemeClr val="bg2"/>
                </a:solidFill>
                <a:latin typeface="Fund Light" pitchFamily="2" charset="-78"/>
                <a:cs typeface="Fund Light" pitchFamily="2" charset="-78"/>
              </a:rPr>
              <a:t>impact assessment dashboard</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
        <p:nvSpPr>
          <p:cNvPr id="19" name="Oval 18">
            <a:extLst>
              <a:ext uri="{FF2B5EF4-FFF2-40B4-BE49-F238E27FC236}">
                <a16:creationId xmlns:a16="http://schemas.microsoft.com/office/drawing/2014/main" id="{12A838B4-59D6-75EB-4900-5ECB2A3A9EA0}"/>
              </a:ext>
            </a:extLst>
          </p:cNvPr>
          <p:cNvSpPr/>
          <p:nvPr/>
        </p:nvSpPr>
        <p:spPr>
          <a:xfrm>
            <a:off x="5373268" y="2859902"/>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00" b="1">
                <a:solidFill>
                  <a:schemeClr val="bg1"/>
                </a:solidFill>
                <a:latin typeface="Fund Light" pitchFamily="2" charset="-78"/>
                <a:cs typeface="Fund Light" pitchFamily="2" charset="-78"/>
              </a:rPr>
              <a:t>C</a:t>
            </a:r>
          </a:p>
        </p:txBody>
      </p:sp>
      <p:pic>
        <p:nvPicPr>
          <p:cNvPr id="20" name="Picture 19">
            <a:extLst>
              <a:ext uri="{FF2B5EF4-FFF2-40B4-BE49-F238E27FC236}">
                <a16:creationId xmlns:a16="http://schemas.microsoft.com/office/drawing/2014/main" id="{12624945-59EE-BA91-E3EB-52FF183D8B74}"/>
              </a:ext>
            </a:extLst>
          </p:cNvPr>
          <p:cNvPicPr>
            <a:picLocks noChangeAspect="1"/>
          </p:cNvPicPr>
          <p:nvPr/>
        </p:nvPicPr>
        <p:blipFill>
          <a:blip r:embed="rId6"/>
          <a:stretch>
            <a:fillRect/>
          </a:stretch>
        </p:blipFill>
        <p:spPr>
          <a:xfrm>
            <a:off x="2550450" y="2601004"/>
            <a:ext cx="1120969" cy="585223"/>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1" name="Picture 20">
            <a:extLst>
              <a:ext uri="{FF2B5EF4-FFF2-40B4-BE49-F238E27FC236}">
                <a16:creationId xmlns:a16="http://schemas.microsoft.com/office/drawing/2014/main" id="{E8A4F7AE-D517-D43C-A13D-2A66FC7AF6F0}"/>
              </a:ext>
            </a:extLst>
          </p:cNvPr>
          <p:cNvPicPr>
            <a:picLocks noChangeAspect="1"/>
          </p:cNvPicPr>
          <p:nvPr/>
        </p:nvPicPr>
        <p:blipFill>
          <a:blip r:embed="rId7"/>
          <a:stretch>
            <a:fillRect/>
          </a:stretch>
        </p:blipFill>
        <p:spPr>
          <a:xfrm>
            <a:off x="2734909" y="2765024"/>
            <a:ext cx="1279087" cy="700799"/>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2" name="Picture 21">
            <a:extLst>
              <a:ext uri="{FF2B5EF4-FFF2-40B4-BE49-F238E27FC236}">
                <a16:creationId xmlns:a16="http://schemas.microsoft.com/office/drawing/2014/main" id="{CAA18AFA-7357-C353-A349-76182FC999BF}"/>
              </a:ext>
            </a:extLst>
          </p:cNvPr>
          <p:cNvPicPr>
            <a:picLocks noChangeAspect="1"/>
          </p:cNvPicPr>
          <p:nvPr/>
        </p:nvPicPr>
        <p:blipFill>
          <a:blip r:embed="rId8"/>
          <a:stretch>
            <a:fillRect/>
          </a:stretch>
        </p:blipFill>
        <p:spPr>
          <a:xfrm>
            <a:off x="5672324" y="2684831"/>
            <a:ext cx="1496134" cy="595766"/>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Rectangle 22">
            <a:extLst>
              <a:ext uri="{FF2B5EF4-FFF2-40B4-BE49-F238E27FC236}">
                <a16:creationId xmlns:a16="http://schemas.microsoft.com/office/drawing/2014/main" id="{DB76E406-BF29-61AA-7C21-E2FDC5AEF09D}"/>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Given the nature and complexity of the template, this will be shared upon request. Please reach out to PIF NDD contacts shared</a:t>
            </a:r>
          </a:p>
        </p:txBody>
      </p:sp>
    </p:spTree>
    <p:extLst>
      <p:ext uri="{BB962C8B-B14F-4D97-AF65-F5344CB8AC3E}">
        <p14:creationId xmlns:p14="http://schemas.microsoft.com/office/powerpoint/2010/main" val="391649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638547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152322" cy="241824"/>
          </a:xfrm>
        </p:spPr>
        <p:txBody>
          <a:bodyPr vert="horz"/>
          <a:lstStyle/>
          <a:p>
            <a:r>
              <a:rPr lang="en-US"/>
              <a:t>LDC feasibility provides an in-depth assessment of the opportunity by answering four questions </a:t>
            </a:r>
          </a:p>
        </p:txBody>
      </p:sp>
      <p:grpSp>
        <p:nvGrpSpPr>
          <p:cNvPr id="3" name="Group 2">
            <a:extLst>
              <a:ext uri="{FF2B5EF4-FFF2-40B4-BE49-F238E27FC236}">
                <a16:creationId xmlns:a16="http://schemas.microsoft.com/office/drawing/2014/main" id="{DAC50DE7-C568-B65B-9929-BA037D3DE9A3}"/>
              </a:ext>
            </a:extLst>
          </p:cNvPr>
          <p:cNvGrpSpPr/>
          <p:nvPr/>
        </p:nvGrpSpPr>
        <p:grpSpPr>
          <a:xfrm>
            <a:off x="4831240" y="771525"/>
            <a:ext cx="3985386" cy="3744913"/>
            <a:chOff x="7145645" y="771525"/>
            <a:chExt cx="5481331" cy="3744913"/>
          </a:xfrm>
        </p:grpSpPr>
        <p:sp>
          <p:nvSpPr>
            <p:cNvPr id="39" name="TextBox 38">
              <a:extLst>
                <a:ext uri="{FF2B5EF4-FFF2-40B4-BE49-F238E27FC236}">
                  <a16:creationId xmlns:a16="http://schemas.microsoft.com/office/drawing/2014/main" id="{3895A889-C831-4A80-B7E2-2D79EC7354A0}"/>
                </a:ext>
              </a:extLst>
            </p:cNvPr>
            <p:cNvSpPr txBox="1">
              <a:spLocks/>
            </p:cNvSpPr>
            <p:nvPr/>
          </p:nvSpPr>
          <p:spPr>
            <a:xfrm>
              <a:off x="7145645" y="771525"/>
              <a:ext cx="5481331" cy="3744913"/>
            </a:xfrm>
            <a:prstGeom prst="rect">
              <a:avLst/>
            </a:prstGeom>
            <a:noFill/>
            <a:ln w="6350">
              <a:noFill/>
              <a:miter lim="800000"/>
            </a:ln>
          </p:spPr>
          <p:txBody>
            <a:bodyPr vert="horz" wrap="square" lIns="121920" tIns="121920" rIns="121920" bIns="121920" rtlCol="0" anchor="t" anchorCtr="0">
              <a:noAutofit/>
            </a:bodyPr>
            <a:lstStyle/>
            <a:p>
              <a:pPr defTabSz="1219170">
                <a:spcBef>
                  <a:spcPct val="50000"/>
                </a:spcBef>
                <a:defRPr/>
              </a:pPr>
              <a:r>
                <a:rPr lang="en-US" sz="1100" b="1">
                  <a:solidFill>
                    <a:schemeClr val="bg2"/>
                  </a:solidFill>
                  <a:latin typeface="Fund Light" pitchFamily="2" charset="-78"/>
                  <a:cs typeface="Fund Light" pitchFamily="2" charset="-78"/>
                </a:rPr>
                <a:t>Questions covered under the LDC feasibility assessment </a:t>
              </a:r>
              <a:endParaRPr lang="en-GB" sz="1100" b="1">
                <a:solidFill>
                  <a:schemeClr val="bg2"/>
                </a:solidFill>
                <a:latin typeface="Fund Light" pitchFamily="2" charset="-78"/>
                <a:cs typeface="Fund Light" pitchFamily="2" charset="-78"/>
              </a:endParaRPr>
            </a:p>
            <a:p>
              <a:pPr defTabSz="1219170">
                <a:spcBef>
                  <a:spcPts val="400"/>
                </a:spcBef>
                <a:spcAft>
                  <a:spcPts val="400"/>
                </a:spcAft>
                <a:defRPr/>
              </a:pPr>
              <a:endParaRPr lang="en-GB" sz="1100" b="1">
                <a:solidFill>
                  <a:schemeClr val="tx2"/>
                </a:solidFill>
                <a:latin typeface="Fund Light" pitchFamily="2" charset="-78"/>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7679916" y="1292320"/>
              <a:ext cx="4947060" cy="3224118"/>
            </a:xfrm>
            <a:prstGeom prst="rect">
              <a:avLst/>
            </a:prstGeom>
            <a:noFill/>
            <a:ln w="6350">
              <a:noFill/>
              <a:miter lim="800000"/>
            </a:ln>
          </p:spPr>
          <p:txBody>
            <a:bodyPr wrap="square" lIns="91440" tIns="91440" rIns="91440" bIns="91440">
              <a:noAutofit/>
            </a:bodyPr>
            <a:lstStyle/>
            <a:p>
              <a:pPr defTabSz="1219170">
                <a:spcBef>
                  <a:spcPts val="600"/>
                </a:spcBef>
                <a:spcAft>
                  <a:spcPts val="800"/>
                </a:spcAft>
                <a:defRPr/>
              </a:pPr>
              <a:r>
                <a:rPr lang="en-US" sz="1100">
                  <a:solidFill>
                    <a:srgbClr val="000000"/>
                  </a:solidFill>
                  <a:latin typeface="Fund Light" pitchFamily="2" charset="-78"/>
                  <a:cs typeface="Fund Light" pitchFamily="2" charset="-78"/>
                </a:rPr>
                <a:t>What is the </a:t>
              </a:r>
              <a:r>
                <a:rPr lang="en-US" sz="1100" b="1">
                  <a:solidFill>
                    <a:srgbClr val="000000"/>
                  </a:solidFill>
                  <a:latin typeface="Fund Light" pitchFamily="2" charset="-78"/>
                  <a:cs typeface="Fund Light" pitchFamily="2" charset="-78"/>
                </a:rPr>
                <a:t>localization opportunity </a:t>
              </a:r>
              <a:r>
                <a:rPr lang="en-US" sz="1100">
                  <a:solidFill>
                    <a:srgbClr val="000000"/>
                  </a:solidFill>
                  <a:latin typeface="Fund Light" pitchFamily="2" charset="-78"/>
                  <a:cs typeface="Fund Light" pitchFamily="2" charset="-78"/>
                </a:rPr>
                <a:t>and its expected impact?</a:t>
              </a:r>
            </a:p>
            <a:p>
              <a:pPr defTabSz="1219170">
                <a:spcBef>
                  <a:spcPts val="600"/>
                </a:spcBef>
                <a:spcAft>
                  <a:spcPts val="800"/>
                </a:spcAft>
                <a:defRPr/>
              </a:pPr>
              <a:r>
                <a:rPr lang="en-US" sz="1100">
                  <a:solidFill>
                    <a:srgbClr val="000000"/>
                  </a:solidFill>
                  <a:latin typeface="Fund Light" pitchFamily="2" charset="-78"/>
                  <a:cs typeface="Fund Light" pitchFamily="2" charset="-78"/>
                </a:rPr>
                <a:t>Is the </a:t>
              </a:r>
              <a:r>
                <a:rPr lang="en-US" sz="1100" b="1">
                  <a:solidFill>
                    <a:srgbClr val="000000"/>
                  </a:solidFill>
                  <a:latin typeface="Fund Light" pitchFamily="2" charset="-78"/>
                  <a:cs typeface="Fund Light" pitchFamily="2" charset="-78"/>
                </a:rPr>
                <a:t>addressable demand sufficient </a:t>
              </a:r>
              <a:r>
                <a:rPr lang="en-US" sz="1100">
                  <a:solidFill>
                    <a:srgbClr val="000000"/>
                  </a:solidFill>
                  <a:latin typeface="Fund Light" pitchFamily="2" charset="-78"/>
                  <a:cs typeface="Fund Light" pitchFamily="2" charset="-78"/>
                </a:rPr>
                <a:t>for localization? </a:t>
              </a:r>
            </a:p>
            <a:p>
              <a:pPr defTabSz="1219170">
                <a:spcBef>
                  <a:spcPts val="600"/>
                </a:spcBef>
                <a:spcAft>
                  <a:spcPts val="800"/>
                </a:spcAft>
                <a:defRPr/>
              </a:pPr>
              <a:r>
                <a:rPr lang="en-US" sz="1100">
                  <a:solidFill>
                    <a:srgbClr val="000000"/>
                  </a:solidFill>
                  <a:latin typeface="Fund Light" pitchFamily="2" charset="-78"/>
                  <a:cs typeface="Fund Light" pitchFamily="2" charset="-78"/>
                </a:rPr>
                <a:t>Is a </a:t>
              </a:r>
              <a:r>
                <a:rPr lang="en-US" sz="1100" b="1">
                  <a:solidFill>
                    <a:srgbClr val="000000"/>
                  </a:solidFill>
                  <a:latin typeface="Fund Light" pitchFamily="2" charset="-78"/>
                  <a:cs typeface="Fund Light" pitchFamily="2" charset="-78"/>
                </a:rPr>
                <a:t>preferred supplier agreement </a:t>
              </a:r>
              <a:r>
                <a:rPr lang="en-US" sz="1100">
                  <a:solidFill>
                    <a:srgbClr val="000000"/>
                  </a:solidFill>
                  <a:latin typeface="Fund Light" pitchFamily="2" charset="-78"/>
                  <a:cs typeface="Fund Light" pitchFamily="2" charset="-78"/>
                </a:rPr>
                <a:t>sufficient or is a take-or-pay required?</a:t>
              </a:r>
            </a:p>
            <a:p>
              <a:pPr defTabSz="1219170">
                <a:spcBef>
                  <a:spcPts val="600"/>
                </a:spcBef>
                <a:spcAft>
                  <a:spcPts val="800"/>
                </a:spcAft>
                <a:defRPr/>
              </a:pPr>
              <a:r>
                <a:rPr lang="en-US" sz="1100">
                  <a:solidFill>
                    <a:srgbClr val="000000"/>
                  </a:solidFill>
                  <a:latin typeface="Fund Light" pitchFamily="2" charset="-78"/>
                  <a:cs typeface="Fund Light" pitchFamily="2" charset="-78"/>
                </a:rPr>
                <a:t>Are the </a:t>
              </a:r>
              <a:r>
                <a:rPr lang="en-US" sz="1100" b="1">
                  <a:solidFill>
                    <a:srgbClr val="000000"/>
                  </a:solidFill>
                  <a:latin typeface="Fund Light" pitchFamily="2" charset="-78"/>
                  <a:cs typeface="Fund Light" pitchFamily="2" charset="-78"/>
                </a:rPr>
                <a:t>associated risks </a:t>
              </a:r>
              <a:r>
                <a:rPr lang="en-US" sz="1100">
                  <a:solidFill>
                    <a:srgbClr val="000000"/>
                  </a:solidFill>
                  <a:latin typeface="Fund Light" pitchFamily="2" charset="-78"/>
                  <a:cs typeface="Fund Light" pitchFamily="2" charset="-78"/>
                </a:rPr>
                <a:t>manageable?</a:t>
              </a:r>
            </a:p>
          </p:txBody>
        </p:sp>
      </p:grpSp>
      <p:sp>
        <p:nvSpPr>
          <p:cNvPr id="41" name="Oval 40">
            <a:extLst>
              <a:ext uri="{FF2B5EF4-FFF2-40B4-BE49-F238E27FC236}">
                <a16:creationId xmlns:a16="http://schemas.microsoft.com/office/drawing/2014/main" id="{C0722AEB-78F6-4253-9E2C-EED187ED408F}"/>
              </a:ext>
            </a:extLst>
          </p:cNvPr>
          <p:cNvSpPr/>
          <p:nvPr/>
        </p:nvSpPr>
        <p:spPr>
          <a:xfrm>
            <a:off x="4945380" y="141174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1</a:t>
            </a:r>
          </a:p>
        </p:txBody>
      </p:sp>
      <p:sp>
        <p:nvSpPr>
          <p:cNvPr id="2" name="Text Placeholder 6">
            <a:extLst>
              <a:ext uri="{FF2B5EF4-FFF2-40B4-BE49-F238E27FC236}">
                <a16:creationId xmlns:a16="http://schemas.microsoft.com/office/drawing/2014/main" id="{4A1BDB7B-05AC-41BC-0F20-00A546EC0DF0}"/>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Feasibility of products</a:t>
            </a:r>
          </a:p>
        </p:txBody>
      </p:sp>
      <p:sp>
        <p:nvSpPr>
          <p:cNvPr id="7" name="Oval 6">
            <a:extLst>
              <a:ext uri="{FF2B5EF4-FFF2-40B4-BE49-F238E27FC236}">
                <a16:creationId xmlns:a16="http://schemas.microsoft.com/office/drawing/2014/main" id="{3EB334F8-F229-4DBC-8944-1F59DB4F3529}"/>
              </a:ext>
            </a:extLst>
          </p:cNvPr>
          <p:cNvSpPr/>
          <p:nvPr/>
        </p:nvSpPr>
        <p:spPr>
          <a:xfrm>
            <a:off x="4945380" y="1932536"/>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2</a:t>
            </a:r>
          </a:p>
        </p:txBody>
      </p:sp>
      <p:sp>
        <p:nvSpPr>
          <p:cNvPr id="8" name="Oval 7">
            <a:extLst>
              <a:ext uri="{FF2B5EF4-FFF2-40B4-BE49-F238E27FC236}">
                <a16:creationId xmlns:a16="http://schemas.microsoft.com/office/drawing/2014/main" id="{000719F4-36C7-E2BE-5FDE-1A6DC030946E}"/>
              </a:ext>
            </a:extLst>
          </p:cNvPr>
          <p:cNvSpPr/>
          <p:nvPr/>
        </p:nvSpPr>
        <p:spPr>
          <a:xfrm>
            <a:off x="4945380" y="245581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3</a:t>
            </a:r>
          </a:p>
        </p:txBody>
      </p:sp>
      <p:sp>
        <p:nvSpPr>
          <p:cNvPr id="9" name="Oval 8">
            <a:extLst>
              <a:ext uri="{FF2B5EF4-FFF2-40B4-BE49-F238E27FC236}">
                <a16:creationId xmlns:a16="http://schemas.microsoft.com/office/drawing/2014/main" id="{9E46D201-6EF1-C5A6-6363-813F2254F603}"/>
              </a:ext>
            </a:extLst>
          </p:cNvPr>
          <p:cNvSpPr/>
          <p:nvPr/>
        </p:nvSpPr>
        <p:spPr>
          <a:xfrm>
            <a:off x="4945380" y="2881733"/>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4</a:t>
            </a:r>
          </a:p>
        </p:txBody>
      </p:sp>
      <p:sp>
        <p:nvSpPr>
          <p:cNvPr id="13" name="TextBox 12">
            <a:extLst>
              <a:ext uri="{FF2B5EF4-FFF2-40B4-BE49-F238E27FC236}">
                <a16:creationId xmlns:a16="http://schemas.microsoft.com/office/drawing/2014/main" id="{CF53AC33-D917-1F82-8BD2-DC826DD52F84}"/>
              </a:ext>
            </a:extLst>
          </p:cNvPr>
          <p:cNvSpPr txBox="1">
            <a:spLocks/>
          </p:cNvSpPr>
          <p:nvPr/>
        </p:nvSpPr>
        <p:spPr>
          <a:xfrm>
            <a:off x="327025" y="771525"/>
            <a:ext cx="4346576"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GB" sz="11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Objective</a:t>
            </a:r>
          </a:p>
          <a:p>
            <a:pPr marL="231642" marR="0" lvl="0" indent="-231642" algn="l" defTabSz="121917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Evaluate whether demand is sufficient to localize the opportunity, based on:</a:t>
            </a:r>
          </a:p>
          <a:p>
            <a:pPr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KSA demand / supply ga</a:t>
            </a: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a:t>
            </a:r>
          </a:p>
          <a:p>
            <a:pPr marL="457200"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Regional export potential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2"/>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Develop detailed business case to:</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Select optimal type of LDC agreement (PSA or take-or-pay agreement) based on the financial risk of the investor </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Assess the potential liability risks based on required LDC demand commitments and durations</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Estimate of company-level LC impact as a result of the product localization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3"/>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Ultimately, the LDC feasibility assessment aims to develop a thorough understanding of the opportunity and acts as the basis to obtain approval to commence the LDC journey </a:t>
            </a:r>
          </a:p>
        </p:txBody>
      </p:sp>
    </p:spTree>
    <p:extLst>
      <p:ext uri="{BB962C8B-B14F-4D97-AF65-F5344CB8AC3E}">
        <p14:creationId xmlns:p14="http://schemas.microsoft.com/office/powerpoint/2010/main" val="1579913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1719353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53" imgH="357" progId="TCLayout.ActiveDocument.1">
                  <p:embed/>
                </p:oleObj>
              </mc:Choice>
              <mc:Fallback>
                <p:oleObj name="think-cell Slide" r:id="rId27"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6267281" cy="241824"/>
          </a:xfrm>
        </p:spPr>
        <p:txBody>
          <a:bodyPr vert="horz"/>
          <a:lstStyle/>
          <a:p>
            <a:r>
              <a:rPr lang="en-US"/>
              <a:t>LDC localization opportunities should be articulated across the following parameters</a:t>
            </a:r>
          </a:p>
        </p:txBody>
      </p:sp>
      <p:grpSp>
        <p:nvGrpSpPr>
          <p:cNvPr id="17" name="Group 16">
            <a:extLst>
              <a:ext uri="{FF2B5EF4-FFF2-40B4-BE49-F238E27FC236}">
                <a16:creationId xmlns:a16="http://schemas.microsoft.com/office/drawing/2014/main" id="{F1138786-16C5-49D5-A74D-B02874ADF11B}"/>
              </a:ext>
            </a:extLst>
          </p:cNvPr>
          <p:cNvGrpSpPr/>
          <p:nvPr>
            <p:custDataLst>
              <p:tags r:id="rId2"/>
            </p:custDataLst>
          </p:nvPr>
        </p:nvGrpSpPr>
        <p:grpSpPr>
          <a:xfrm>
            <a:off x="5635163" y="930948"/>
            <a:ext cx="2275130" cy="307304"/>
            <a:chOff x="6513511" y="1230984"/>
            <a:chExt cx="2177639" cy="307304"/>
          </a:xfrm>
        </p:grpSpPr>
        <p:cxnSp>
          <p:nvCxnSpPr>
            <p:cNvPr id="56" name="Straight Connector 55">
              <a:extLst>
                <a:ext uri="{FF2B5EF4-FFF2-40B4-BE49-F238E27FC236}">
                  <a16:creationId xmlns:a16="http://schemas.microsoft.com/office/drawing/2014/main" id="{37E68678-BFBE-4B2C-B243-17E59BA65130}"/>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2D29922E-6011-4D5B-BAC8-AE5F64698E29}"/>
                </a:ext>
              </a:extLst>
            </p:cNvPr>
            <p:cNvSpPr txBox="1"/>
            <p:nvPr/>
          </p:nvSpPr>
          <p:spPr>
            <a:xfrm>
              <a:off x="6513511" y="1230984"/>
              <a:ext cx="2177638" cy="300550"/>
            </a:xfrm>
            <a:prstGeom prst="rect">
              <a:avLst/>
            </a:prstGeom>
            <a:noFill/>
          </p:spPr>
          <p:txBody>
            <a:bodyPr wrap="square" rtlCol="0" anchor="b">
              <a:spAutoFit/>
            </a:bodyPr>
            <a:lstStyle/>
            <a:p>
              <a:pPr defTabSz="609585"/>
              <a:r>
                <a:rPr lang="it-IT" sz="900" b="1">
                  <a:solidFill>
                    <a:schemeClr val="bg2"/>
                  </a:solidFill>
                  <a:latin typeface="Fund Light" pitchFamily="2" charset="-78"/>
                  <a:cs typeface="Fund Light" pitchFamily="2" charset="-78"/>
                </a:rPr>
                <a:t>Expected LC impact </a:t>
              </a:r>
              <a:endParaRPr lang="en-US" sz="900" b="1" baseline="30000">
                <a:solidFill>
                  <a:schemeClr val="bg2"/>
                </a:solidFill>
                <a:latin typeface="Fund Light" pitchFamily="2" charset="-78"/>
                <a:cs typeface="Fund Light" pitchFamily="2" charset="-78"/>
              </a:endParaRPr>
            </a:p>
          </p:txBody>
        </p:sp>
      </p:grpSp>
      <p:grpSp>
        <p:nvGrpSpPr>
          <p:cNvPr id="18" name="Group 17">
            <a:extLst>
              <a:ext uri="{FF2B5EF4-FFF2-40B4-BE49-F238E27FC236}">
                <a16:creationId xmlns:a16="http://schemas.microsoft.com/office/drawing/2014/main" id="{858BFBD5-3EF8-46F8-B6EE-C4F6F5040C5C}"/>
              </a:ext>
            </a:extLst>
          </p:cNvPr>
          <p:cNvGrpSpPr/>
          <p:nvPr>
            <p:custDataLst>
              <p:tags r:id="rId3"/>
            </p:custDataLst>
          </p:nvPr>
        </p:nvGrpSpPr>
        <p:grpSpPr>
          <a:xfrm>
            <a:off x="323852" y="1000665"/>
            <a:ext cx="2831791" cy="237587"/>
            <a:chOff x="6513512" y="1300701"/>
            <a:chExt cx="2177638" cy="237587"/>
          </a:xfrm>
        </p:grpSpPr>
        <p:cxnSp>
          <p:nvCxnSpPr>
            <p:cNvPr id="54" name="Straight Connector 53">
              <a:extLst>
                <a:ext uri="{FF2B5EF4-FFF2-40B4-BE49-F238E27FC236}">
                  <a16:creationId xmlns:a16="http://schemas.microsoft.com/office/drawing/2014/main" id="{8283EBFD-DC3C-47FB-A25F-7D125259D48B}"/>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ECFE01B-16B9-4643-8D2C-FCA63AA6F505}"/>
                </a:ext>
              </a:extLst>
            </p:cNvPr>
            <p:cNvSpPr txBox="1"/>
            <p:nvPr/>
          </p:nvSpPr>
          <p:spPr>
            <a:xfrm>
              <a:off x="6513512" y="1300701"/>
              <a:ext cx="2177638" cy="230832"/>
            </a:xfrm>
            <a:prstGeom prst="rect">
              <a:avLst/>
            </a:prstGeom>
            <a:noFill/>
          </p:spPr>
          <p:txBody>
            <a:bodyPr wrap="square" rtlCol="0" anchor="b">
              <a:spAutoFit/>
            </a:bodyPr>
            <a:lstStyle/>
            <a:p>
              <a:pPr defTabSz="609585"/>
              <a:r>
                <a:rPr lang="it-IT" sz="900" b="1">
                  <a:solidFill>
                    <a:schemeClr val="bg2"/>
                  </a:solidFill>
                  <a:latin typeface="Fund Light" pitchFamily="2" charset="-78"/>
                  <a:cs typeface="Fund Light" pitchFamily="2" charset="-78"/>
                </a:rPr>
                <a:t>What is the opportunity?</a:t>
              </a:r>
              <a:endParaRPr lang="en-US" sz="900" b="1">
                <a:solidFill>
                  <a:schemeClr val="bg2"/>
                </a:solidFill>
                <a:latin typeface="Fund Light" pitchFamily="2" charset="-78"/>
                <a:cs typeface="Fund Light" pitchFamily="2" charset="-78"/>
              </a:endParaRPr>
            </a:p>
          </p:txBody>
        </p:sp>
      </p:grpSp>
      <p:cxnSp>
        <p:nvCxnSpPr>
          <p:cNvPr id="20" name="Straight Connector 19">
            <a:extLst>
              <a:ext uri="{FF2B5EF4-FFF2-40B4-BE49-F238E27FC236}">
                <a16:creationId xmlns:a16="http://schemas.microsoft.com/office/drawing/2014/main" id="{3B5141A9-268C-4FB5-A390-EB80A71D943A}"/>
              </a:ext>
            </a:extLst>
          </p:cNvPr>
          <p:cNvCxnSpPr>
            <a:cxnSpLocks/>
          </p:cNvCxnSpPr>
          <p:nvPr>
            <p:custDataLst>
              <p:tags r:id="rId4"/>
            </p:custDataLst>
          </p:nvPr>
        </p:nvCxnSpPr>
        <p:spPr>
          <a:xfrm flipV="1">
            <a:off x="5450116" y="1009650"/>
            <a:ext cx="0" cy="3470275"/>
          </a:xfrm>
          <a:prstGeom prst="line">
            <a:avLst/>
          </a:prstGeom>
          <a:ln w="6350" cap="flat">
            <a:solidFill>
              <a:schemeClr val="bg1">
                <a:lumMod val="50000"/>
              </a:schemeClr>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FBD6DE5-2D31-4A9A-BF66-644B94CE13FB}"/>
              </a:ext>
            </a:extLst>
          </p:cNvPr>
          <p:cNvSpPr/>
          <p:nvPr>
            <p:custDataLst>
              <p:tags r:id="rId5"/>
            </p:custDataLst>
          </p:nvPr>
        </p:nvSpPr>
        <p:spPr>
          <a:xfrm>
            <a:off x="332478" y="1303338"/>
            <a:ext cx="873245" cy="96520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defTabSz="609585">
              <a:spcBef>
                <a:spcPts val="400"/>
              </a:spcBef>
              <a:spcAft>
                <a:spcPts val="400"/>
              </a:spcAft>
            </a:pPr>
            <a:r>
              <a:rPr lang="en-US" sz="900" b="1" spc="-20">
                <a:solidFill>
                  <a:schemeClr val="bg2"/>
                </a:solidFill>
                <a:latin typeface="Fund Light" pitchFamily="2" charset="-78"/>
                <a:cs typeface="Fund Light" pitchFamily="2" charset="-78"/>
              </a:rPr>
              <a:t>Product </a:t>
            </a:r>
            <a:br>
              <a:rPr lang="en-US" sz="900" b="1" spc="-20">
                <a:solidFill>
                  <a:schemeClr val="bg2"/>
                </a:solidFill>
                <a:latin typeface="Fund Light" pitchFamily="2" charset="-78"/>
                <a:cs typeface="Fund Light" pitchFamily="2" charset="-78"/>
              </a:rPr>
            </a:br>
            <a:r>
              <a:rPr lang="en-US" sz="900" b="1" spc="-20">
                <a:solidFill>
                  <a:schemeClr val="bg2"/>
                </a:solidFill>
                <a:latin typeface="Fund Light" pitchFamily="2" charset="-78"/>
                <a:cs typeface="Fund Light" pitchFamily="2" charset="-78"/>
              </a:rPr>
              <a:t>specifications</a:t>
            </a:r>
            <a:endParaRPr lang="en-US" sz="900" spc="-20">
              <a:solidFill>
                <a:schemeClr val="bg2"/>
              </a:solidFill>
              <a:latin typeface="Fund Light" pitchFamily="2" charset="-78"/>
              <a:cs typeface="Fund Light" pitchFamily="2" charset="-78"/>
            </a:endParaRPr>
          </a:p>
        </p:txBody>
      </p:sp>
      <p:sp>
        <p:nvSpPr>
          <p:cNvPr id="23" name="TextBox 22">
            <a:extLst>
              <a:ext uri="{FF2B5EF4-FFF2-40B4-BE49-F238E27FC236}">
                <a16:creationId xmlns:a16="http://schemas.microsoft.com/office/drawing/2014/main" id="{6179E8CA-336B-4E17-8104-DF457C32C745}"/>
              </a:ext>
            </a:extLst>
          </p:cNvPr>
          <p:cNvSpPr txBox="1"/>
          <p:nvPr>
            <p:custDataLst>
              <p:tags r:id="rId6"/>
            </p:custDataLst>
          </p:nvPr>
        </p:nvSpPr>
        <p:spPr>
          <a:xfrm>
            <a:off x="1235131" y="1303338"/>
            <a:ext cx="2013901" cy="965200"/>
          </a:xfrm>
          <a:prstGeom prst="rect">
            <a:avLst/>
          </a:prstGeom>
          <a:noFill/>
        </p:spPr>
        <p:txBody>
          <a:bodyPr wrap="square" rtlCol="0" anchor="ctr">
            <a:noAutofit/>
          </a:bodyPr>
          <a:lstStyle/>
          <a:p>
            <a:pPr defTabSz="609585">
              <a:spcBef>
                <a:spcPts val="400"/>
              </a:spcBef>
              <a:spcAft>
                <a:spcPts val="400"/>
              </a:spcAft>
            </a:pPr>
            <a:r>
              <a:rPr lang="en-US" sz="900">
                <a:solidFill>
                  <a:srgbClr val="000000"/>
                </a:solidFill>
                <a:latin typeface="Fund Light" pitchFamily="2" charset="-78"/>
                <a:cs typeface="Fund Light" pitchFamily="2" charset="-78"/>
              </a:rPr>
              <a:t>&lt;Description of the procured product and its specifications&gt;</a:t>
            </a:r>
            <a:endParaRPr lang="en-US" sz="900" i="1">
              <a:solidFill>
                <a:srgbClr val="000000"/>
              </a:solidFill>
              <a:latin typeface="Fund Light" pitchFamily="2" charset="-78"/>
              <a:cs typeface="Fund Light" pitchFamily="2" charset="-78"/>
            </a:endParaRPr>
          </a:p>
        </p:txBody>
      </p:sp>
      <p:sp>
        <p:nvSpPr>
          <p:cNvPr id="24" name="Rectangle 23">
            <a:extLst>
              <a:ext uri="{FF2B5EF4-FFF2-40B4-BE49-F238E27FC236}">
                <a16:creationId xmlns:a16="http://schemas.microsoft.com/office/drawing/2014/main" id="{45E23178-E5D7-4948-AE17-343E93BFEFC4}"/>
              </a:ext>
            </a:extLst>
          </p:cNvPr>
          <p:cNvSpPr/>
          <p:nvPr>
            <p:custDataLst>
              <p:tags r:id="rId7"/>
            </p:custDataLst>
          </p:nvPr>
        </p:nvSpPr>
        <p:spPr>
          <a:xfrm>
            <a:off x="332478" y="2397125"/>
            <a:ext cx="873245" cy="103505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defTabSz="609585">
              <a:spcBef>
                <a:spcPts val="400"/>
              </a:spcBef>
              <a:spcAft>
                <a:spcPts val="400"/>
              </a:spcAft>
            </a:pPr>
            <a:r>
              <a:rPr lang="en-US" sz="900" b="1">
                <a:solidFill>
                  <a:schemeClr val="bg2"/>
                </a:solidFill>
                <a:latin typeface="Fund Light" pitchFamily="2" charset="-78"/>
                <a:cs typeface="Fund Light" pitchFamily="2" charset="-78"/>
              </a:rPr>
              <a:t>Depth of </a:t>
            </a:r>
            <a:br>
              <a:rPr lang="en-US" sz="900" b="1">
                <a:solidFill>
                  <a:schemeClr val="bg2"/>
                </a:solidFill>
                <a:latin typeface="Fund Light" pitchFamily="2" charset="-78"/>
                <a:cs typeface="Fund Light" pitchFamily="2" charset="-78"/>
              </a:rPr>
            </a:br>
            <a:r>
              <a:rPr lang="en-US" sz="900" b="1">
                <a:solidFill>
                  <a:schemeClr val="bg2"/>
                </a:solidFill>
                <a:latin typeface="Fund Light" pitchFamily="2" charset="-78"/>
                <a:cs typeface="Fund Light" pitchFamily="2" charset="-78"/>
              </a:rPr>
              <a:t>localization</a:t>
            </a:r>
            <a:endParaRPr lang="en-US" sz="900">
              <a:solidFill>
                <a:schemeClr val="bg2"/>
              </a:solidFill>
              <a:latin typeface="Fund Light" pitchFamily="2" charset="-78"/>
              <a:cs typeface="Fund Light" pitchFamily="2" charset="-78"/>
            </a:endParaRPr>
          </a:p>
        </p:txBody>
      </p:sp>
      <p:sp>
        <p:nvSpPr>
          <p:cNvPr id="25" name="TextBox 24">
            <a:extLst>
              <a:ext uri="{FF2B5EF4-FFF2-40B4-BE49-F238E27FC236}">
                <a16:creationId xmlns:a16="http://schemas.microsoft.com/office/drawing/2014/main" id="{4882BCB7-5847-4421-8596-037D1A492650}"/>
              </a:ext>
            </a:extLst>
          </p:cNvPr>
          <p:cNvSpPr txBox="1"/>
          <p:nvPr>
            <p:custDataLst>
              <p:tags r:id="rId8"/>
            </p:custDataLst>
          </p:nvPr>
        </p:nvSpPr>
        <p:spPr>
          <a:xfrm>
            <a:off x="1235132" y="2397125"/>
            <a:ext cx="2007268" cy="1035050"/>
          </a:xfrm>
          <a:prstGeom prst="rect">
            <a:avLst/>
          </a:prstGeom>
          <a:noFill/>
        </p:spPr>
        <p:txBody>
          <a:bodyPr wrap="square" rtlCol="0" anchor="ctr">
            <a:noAutofit/>
          </a:bodyPr>
          <a:lstStyle/>
          <a:p>
            <a:pPr defTabSz="609585">
              <a:spcBef>
                <a:spcPts val="400"/>
              </a:spcBef>
              <a:spcAft>
                <a:spcPts val="400"/>
              </a:spcAft>
            </a:pPr>
            <a:r>
              <a:rPr lang="en-US" sz="900">
                <a:solidFill>
                  <a:srgbClr val="000000"/>
                </a:solidFill>
                <a:latin typeface="Fund Light" pitchFamily="2" charset="-78"/>
                <a:cs typeface="Fund Light" pitchFamily="2" charset="-78"/>
              </a:rPr>
              <a:t>&lt;Expected value chain coverage of the opportunity (e.g., assembly, component manufacturing)&gt;</a:t>
            </a:r>
            <a:endParaRPr lang="en-US" sz="900" i="1">
              <a:solidFill>
                <a:srgbClr val="000000"/>
              </a:solidFill>
              <a:latin typeface="Fund Light" pitchFamily="2" charset="-78"/>
              <a:cs typeface="Fund Light" pitchFamily="2" charset="-78"/>
            </a:endParaRPr>
          </a:p>
        </p:txBody>
      </p:sp>
      <p:grpSp>
        <p:nvGrpSpPr>
          <p:cNvPr id="73" name="Group 72">
            <a:extLst>
              <a:ext uri="{FF2B5EF4-FFF2-40B4-BE49-F238E27FC236}">
                <a16:creationId xmlns:a16="http://schemas.microsoft.com/office/drawing/2014/main" id="{E8F1CAC9-8076-3F80-711C-674CF3146542}"/>
              </a:ext>
            </a:extLst>
          </p:cNvPr>
          <p:cNvGrpSpPr/>
          <p:nvPr/>
        </p:nvGrpSpPr>
        <p:grpSpPr>
          <a:xfrm>
            <a:off x="332478" y="2332038"/>
            <a:ext cx="4939042" cy="1163637"/>
            <a:chOff x="332478" y="2332038"/>
            <a:chExt cx="2831793" cy="1163637"/>
          </a:xfrm>
        </p:grpSpPr>
        <p:cxnSp>
          <p:nvCxnSpPr>
            <p:cNvPr id="27" name="Straight Connector 26">
              <a:extLst>
                <a:ext uri="{FF2B5EF4-FFF2-40B4-BE49-F238E27FC236}">
                  <a16:creationId xmlns:a16="http://schemas.microsoft.com/office/drawing/2014/main" id="{10198B72-147C-46D2-ACE6-B6A384611FB8}"/>
                </a:ext>
              </a:extLst>
            </p:cNvPr>
            <p:cNvCxnSpPr>
              <a:cxnSpLocks/>
            </p:cNvCxnSpPr>
            <p:nvPr>
              <p:custDataLst>
                <p:tags r:id="rId23"/>
              </p:custDataLst>
            </p:nvPr>
          </p:nvCxnSpPr>
          <p:spPr>
            <a:xfrm>
              <a:off x="332478" y="2332038"/>
              <a:ext cx="2831793"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052591-5428-4F23-B4AC-2186C1E2B0B8}"/>
                </a:ext>
              </a:extLst>
            </p:cNvPr>
            <p:cNvCxnSpPr>
              <a:cxnSpLocks/>
            </p:cNvCxnSpPr>
            <p:nvPr>
              <p:custDataLst>
                <p:tags r:id="rId24"/>
              </p:custDataLst>
            </p:nvPr>
          </p:nvCxnSpPr>
          <p:spPr>
            <a:xfrm>
              <a:off x="332478" y="3495675"/>
              <a:ext cx="2831793"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1638EB5E-1516-40FB-B2CF-966A533E093C}"/>
              </a:ext>
            </a:extLst>
          </p:cNvPr>
          <p:cNvSpPr/>
          <p:nvPr>
            <p:custDataLst>
              <p:tags r:id="rId9"/>
            </p:custDataLst>
          </p:nvPr>
        </p:nvSpPr>
        <p:spPr>
          <a:xfrm>
            <a:off x="332477" y="3559175"/>
            <a:ext cx="873245" cy="1033463"/>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defTabSz="609585">
              <a:spcBef>
                <a:spcPts val="400"/>
              </a:spcBef>
              <a:spcAft>
                <a:spcPts val="400"/>
              </a:spcAft>
            </a:pPr>
            <a:r>
              <a:rPr lang="en-US" sz="900" b="1">
                <a:solidFill>
                  <a:schemeClr val="bg2"/>
                </a:solidFill>
                <a:latin typeface="Fund Light" pitchFamily="2" charset="-78"/>
                <a:cs typeface="Fund Light" pitchFamily="2" charset="-78"/>
              </a:rPr>
              <a:t>Plant </a:t>
            </a:r>
            <a:br>
              <a:rPr lang="en-US" sz="900" b="1">
                <a:solidFill>
                  <a:schemeClr val="bg2"/>
                </a:solidFill>
                <a:latin typeface="Fund Light" pitchFamily="2" charset="-78"/>
                <a:cs typeface="Fund Light" pitchFamily="2" charset="-78"/>
              </a:rPr>
            </a:br>
            <a:r>
              <a:rPr lang="en-US" sz="900" b="1">
                <a:solidFill>
                  <a:schemeClr val="bg2"/>
                </a:solidFill>
                <a:latin typeface="Fund Light" pitchFamily="2" charset="-78"/>
                <a:cs typeface="Fund Light" pitchFamily="2" charset="-78"/>
              </a:rPr>
              <a:t>capacity</a:t>
            </a:r>
            <a:endParaRPr lang="en-US" sz="900">
              <a:solidFill>
                <a:schemeClr val="bg2"/>
              </a:solidFill>
              <a:latin typeface="Fund Light" pitchFamily="2" charset="-78"/>
              <a:cs typeface="Fund Light" pitchFamily="2" charset="-78"/>
            </a:endParaRPr>
          </a:p>
        </p:txBody>
      </p:sp>
      <p:sp>
        <p:nvSpPr>
          <p:cNvPr id="29" name="TextBox 28">
            <a:extLst>
              <a:ext uri="{FF2B5EF4-FFF2-40B4-BE49-F238E27FC236}">
                <a16:creationId xmlns:a16="http://schemas.microsoft.com/office/drawing/2014/main" id="{E6AD67AE-A074-487A-9376-C6685B87A299}"/>
              </a:ext>
            </a:extLst>
          </p:cNvPr>
          <p:cNvSpPr txBox="1"/>
          <p:nvPr>
            <p:custDataLst>
              <p:tags r:id="rId10"/>
            </p:custDataLst>
          </p:nvPr>
        </p:nvSpPr>
        <p:spPr>
          <a:xfrm>
            <a:off x="1235132" y="3559175"/>
            <a:ext cx="2013901" cy="1033463"/>
          </a:xfrm>
          <a:prstGeom prst="rect">
            <a:avLst/>
          </a:prstGeom>
          <a:noFill/>
        </p:spPr>
        <p:txBody>
          <a:bodyPr wrap="square" rtlCol="0" anchor="ctr">
            <a:noAutofit/>
          </a:bodyPr>
          <a:lstStyle/>
          <a:p>
            <a:pPr defTabSz="609585">
              <a:spcBef>
                <a:spcPts val="400"/>
              </a:spcBef>
              <a:spcAft>
                <a:spcPts val="400"/>
              </a:spcAft>
            </a:pPr>
            <a:r>
              <a:rPr lang="en-US" sz="900">
                <a:solidFill>
                  <a:srgbClr val="000000"/>
                </a:solidFill>
                <a:latin typeface="Fund Light" pitchFamily="2" charset="-78"/>
                <a:cs typeface="Fund Light" pitchFamily="2" charset="-78"/>
              </a:rPr>
              <a:t>&lt;High-level capacity (units) and expected capex of the localization opportunity&gt;</a:t>
            </a:r>
            <a:br>
              <a:rPr lang="en-US" sz="900">
                <a:solidFill>
                  <a:srgbClr val="000000"/>
                </a:solidFill>
                <a:latin typeface="Fund Light" pitchFamily="2" charset="-78"/>
                <a:cs typeface="Fund Light" pitchFamily="2" charset="-78"/>
              </a:rPr>
            </a:br>
            <a:endParaRPr lang="en-US" sz="900" i="1">
              <a:solidFill>
                <a:srgbClr val="000000"/>
              </a:solidFill>
              <a:latin typeface="Fund Light" pitchFamily="2" charset="-78"/>
              <a:cs typeface="Fund Light" pitchFamily="2" charset="-78"/>
            </a:endParaRPr>
          </a:p>
        </p:txBody>
      </p:sp>
      <p:sp>
        <p:nvSpPr>
          <p:cNvPr id="32" name="Rectangle 31">
            <a:extLst>
              <a:ext uri="{FF2B5EF4-FFF2-40B4-BE49-F238E27FC236}">
                <a16:creationId xmlns:a16="http://schemas.microsoft.com/office/drawing/2014/main" id="{954E11F6-129F-4FD7-AC6D-8D760D176671}"/>
              </a:ext>
            </a:extLst>
          </p:cNvPr>
          <p:cNvSpPr/>
          <p:nvPr>
            <p:custDataLst>
              <p:tags r:id="rId11"/>
            </p:custDataLst>
          </p:nvPr>
        </p:nvSpPr>
        <p:spPr>
          <a:xfrm>
            <a:off x="5600555" y="1316038"/>
            <a:ext cx="811364" cy="1539875"/>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defTabSz="609585">
              <a:spcBef>
                <a:spcPts val="400"/>
              </a:spcBef>
              <a:spcAft>
                <a:spcPts val="400"/>
              </a:spcAft>
            </a:pPr>
            <a:r>
              <a:rPr lang="en-US" sz="900" b="1" spc="-30">
                <a:solidFill>
                  <a:schemeClr val="bg2"/>
                </a:solidFill>
                <a:latin typeface="Fund Light" pitchFamily="2" charset="-78"/>
                <a:cs typeface="Fund Light" pitchFamily="2" charset="-78"/>
              </a:rPr>
              <a:t>LC </a:t>
            </a:r>
            <a:br>
              <a:rPr lang="en-US" sz="900" b="1" spc="-30">
                <a:solidFill>
                  <a:schemeClr val="bg2"/>
                </a:solidFill>
                <a:latin typeface="Fund Light" pitchFamily="2" charset="-78"/>
                <a:cs typeface="Fund Light" pitchFamily="2" charset="-78"/>
              </a:rPr>
            </a:br>
            <a:r>
              <a:rPr lang="en-US" sz="900" b="1" spc="-30">
                <a:solidFill>
                  <a:schemeClr val="bg2"/>
                </a:solidFill>
                <a:latin typeface="Fund Light" pitchFamily="2" charset="-78"/>
                <a:cs typeface="Fund Light" pitchFamily="2" charset="-78"/>
              </a:rPr>
              <a:t>contribution </a:t>
            </a:r>
            <a:br>
              <a:rPr lang="en-US" sz="900" b="1" spc="-30">
                <a:solidFill>
                  <a:schemeClr val="bg2"/>
                </a:solidFill>
                <a:latin typeface="Fund Light" pitchFamily="2" charset="-78"/>
                <a:cs typeface="Fund Light" pitchFamily="2" charset="-78"/>
              </a:rPr>
            </a:br>
            <a:r>
              <a:rPr lang="en-US" sz="900" b="1" spc="-30">
                <a:solidFill>
                  <a:schemeClr val="bg2"/>
                </a:solidFill>
                <a:latin typeface="Fund Light" pitchFamily="2" charset="-78"/>
                <a:cs typeface="Fund Light" pitchFamily="2" charset="-78"/>
              </a:rPr>
              <a:t>(SAR)</a:t>
            </a:r>
            <a:endParaRPr lang="en-US" sz="900" spc="-30">
              <a:solidFill>
                <a:schemeClr val="bg2"/>
              </a:solidFill>
              <a:latin typeface="Fund Light" pitchFamily="2" charset="-78"/>
              <a:cs typeface="Fund Light" pitchFamily="2" charset="-78"/>
            </a:endParaRPr>
          </a:p>
        </p:txBody>
      </p:sp>
      <p:sp>
        <p:nvSpPr>
          <p:cNvPr id="33" name="Rectangle 32">
            <a:extLst>
              <a:ext uri="{FF2B5EF4-FFF2-40B4-BE49-F238E27FC236}">
                <a16:creationId xmlns:a16="http://schemas.microsoft.com/office/drawing/2014/main" id="{E221E30E-4018-4064-A4DE-8AC8F2B9A69A}"/>
              </a:ext>
            </a:extLst>
          </p:cNvPr>
          <p:cNvSpPr/>
          <p:nvPr>
            <p:custDataLst>
              <p:tags r:id="rId12"/>
            </p:custDataLst>
          </p:nvPr>
        </p:nvSpPr>
        <p:spPr>
          <a:xfrm>
            <a:off x="5617631" y="3156861"/>
            <a:ext cx="811364" cy="1323061"/>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lIns="45720" tIns="0" bIns="0" rtlCol="0" anchor="ctr"/>
          <a:lstStyle/>
          <a:p>
            <a:pPr defTabSz="609585">
              <a:spcBef>
                <a:spcPts val="400"/>
              </a:spcBef>
              <a:spcAft>
                <a:spcPts val="400"/>
              </a:spcAft>
            </a:pPr>
            <a:r>
              <a:rPr lang="en-US" sz="900" b="1">
                <a:solidFill>
                  <a:schemeClr val="bg2"/>
                </a:solidFill>
                <a:latin typeface="Fund Light" pitchFamily="2" charset="-78"/>
                <a:cs typeface="Fund Light" pitchFamily="2" charset="-78"/>
              </a:rPr>
              <a:t>LC uplift </a:t>
            </a:r>
            <a:br>
              <a:rPr lang="en-US" sz="900" b="1">
                <a:solidFill>
                  <a:schemeClr val="bg2"/>
                </a:solidFill>
                <a:latin typeface="Fund Light" pitchFamily="2" charset="-78"/>
                <a:cs typeface="Fund Light" pitchFamily="2" charset="-78"/>
              </a:rPr>
            </a:br>
            <a:r>
              <a:rPr lang="en-US" sz="900" b="1">
                <a:solidFill>
                  <a:schemeClr val="bg2"/>
                </a:solidFill>
                <a:latin typeface="Fund Light" pitchFamily="2" charset="-78"/>
                <a:cs typeface="Fund Light" pitchFamily="2" charset="-78"/>
              </a:rPr>
              <a:t>(% change)</a:t>
            </a:r>
            <a:endParaRPr lang="en-US" sz="900">
              <a:solidFill>
                <a:schemeClr val="bg2"/>
              </a:solidFill>
              <a:latin typeface="Fund Light" pitchFamily="2" charset="-78"/>
              <a:cs typeface="Fund Light" pitchFamily="2" charset="-78"/>
            </a:endParaRPr>
          </a:p>
        </p:txBody>
      </p:sp>
      <p:sp>
        <p:nvSpPr>
          <p:cNvPr id="36" name="TextBox 35">
            <a:extLst>
              <a:ext uri="{FF2B5EF4-FFF2-40B4-BE49-F238E27FC236}">
                <a16:creationId xmlns:a16="http://schemas.microsoft.com/office/drawing/2014/main" id="{A7038349-536E-4236-BBBC-BD9040C3B4B0}"/>
              </a:ext>
            </a:extLst>
          </p:cNvPr>
          <p:cNvSpPr txBox="1"/>
          <p:nvPr>
            <p:custDataLst>
              <p:tags r:id="rId13"/>
            </p:custDataLst>
          </p:nvPr>
        </p:nvSpPr>
        <p:spPr>
          <a:xfrm>
            <a:off x="6502982" y="1316038"/>
            <a:ext cx="1392286" cy="1539875"/>
          </a:xfrm>
          <a:prstGeom prst="rect">
            <a:avLst/>
          </a:prstGeom>
          <a:noFill/>
        </p:spPr>
        <p:txBody>
          <a:bodyPr wrap="square" rtlCol="0" anchor="ctr">
            <a:noAutofit/>
          </a:bodyPr>
          <a:lstStyle/>
          <a:p>
            <a:pPr defTabSz="609585">
              <a:spcBef>
                <a:spcPts val="400"/>
              </a:spcBef>
              <a:spcAft>
                <a:spcPts val="400"/>
              </a:spcAft>
            </a:pPr>
            <a:r>
              <a:rPr lang="en-US" sz="900">
                <a:solidFill>
                  <a:srgbClr val="000000"/>
                </a:solidFill>
                <a:latin typeface="Fund Light" pitchFamily="2" charset="-78"/>
                <a:cs typeface="Fund Light" pitchFamily="2" charset="-78"/>
              </a:rPr>
              <a:t>&lt;Expected contribution to local content in SAR Mn, through localization of the opportunity&gt; </a:t>
            </a:r>
          </a:p>
        </p:txBody>
      </p:sp>
      <p:sp>
        <p:nvSpPr>
          <p:cNvPr id="42" name="TextBox 41">
            <a:extLst>
              <a:ext uri="{FF2B5EF4-FFF2-40B4-BE49-F238E27FC236}">
                <a16:creationId xmlns:a16="http://schemas.microsoft.com/office/drawing/2014/main" id="{D3CDC205-1F89-4BFF-9289-11496FC564F8}"/>
              </a:ext>
            </a:extLst>
          </p:cNvPr>
          <p:cNvSpPr txBox="1"/>
          <p:nvPr>
            <p:custDataLst>
              <p:tags r:id="rId14"/>
            </p:custDataLst>
          </p:nvPr>
        </p:nvSpPr>
        <p:spPr>
          <a:xfrm>
            <a:off x="6502982" y="3156861"/>
            <a:ext cx="1392286" cy="1323058"/>
          </a:xfrm>
          <a:prstGeom prst="rect">
            <a:avLst/>
          </a:prstGeom>
          <a:noFill/>
        </p:spPr>
        <p:txBody>
          <a:bodyPr wrap="square" rtlCol="0" anchor="ctr">
            <a:noAutofit/>
          </a:bodyPr>
          <a:lstStyle/>
          <a:p>
            <a:pPr defTabSz="609585">
              <a:spcBef>
                <a:spcPts val="400"/>
              </a:spcBef>
              <a:spcAft>
                <a:spcPts val="400"/>
              </a:spcAft>
            </a:pPr>
            <a:r>
              <a:rPr lang="en-US" sz="900">
                <a:solidFill>
                  <a:srgbClr val="000000"/>
                </a:solidFill>
                <a:latin typeface="Fund Light" pitchFamily="2" charset="-78"/>
                <a:cs typeface="Fund Light" pitchFamily="2" charset="-78"/>
              </a:rPr>
              <a:t>&lt;Expected increase of the LC score on a company level&gt;</a:t>
            </a:r>
          </a:p>
        </p:txBody>
      </p:sp>
      <p:cxnSp>
        <p:nvCxnSpPr>
          <p:cNvPr id="43" name="Straight Connector 42">
            <a:extLst>
              <a:ext uri="{FF2B5EF4-FFF2-40B4-BE49-F238E27FC236}">
                <a16:creationId xmlns:a16="http://schemas.microsoft.com/office/drawing/2014/main" id="{0E575841-76FF-4364-88EA-FB6CB9C1C2E3}"/>
              </a:ext>
            </a:extLst>
          </p:cNvPr>
          <p:cNvCxnSpPr>
            <a:cxnSpLocks/>
          </p:cNvCxnSpPr>
          <p:nvPr>
            <p:custDataLst>
              <p:tags r:id="rId15"/>
            </p:custDataLst>
          </p:nvPr>
        </p:nvCxnSpPr>
        <p:spPr>
          <a:xfrm>
            <a:off x="5617631" y="3006387"/>
            <a:ext cx="3240619" cy="0"/>
          </a:xfrm>
          <a:prstGeom prst="line">
            <a:avLst/>
          </a:prstGeom>
          <a:ln w="6350" cap="flat">
            <a:solidFill>
              <a:schemeClr val="bg1">
                <a:lumMod val="50000"/>
              </a:schemeClr>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73" name="Rectangle 172">
            <a:extLst>
              <a:ext uri="{FF2B5EF4-FFF2-40B4-BE49-F238E27FC236}">
                <a16:creationId xmlns:a16="http://schemas.microsoft.com/office/drawing/2014/main" id="{596B43C4-D18B-48E9-A995-287D8E3B469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t>
            </a:r>
          </a:p>
        </p:txBody>
      </p:sp>
      <p:sp>
        <p:nvSpPr>
          <p:cNvPr id="2" name="Text Placeholder 6">
            <a:extLst>
              <a:ext uri="{FF2B5EF4-FFF2-40B4-BE49-F238E27FC236}">
                <a16:creationId xmlns:a16="http://schemas.microsoft.com/office/drawing/2014/main" id="{391A4349-9606-309A-621C-B05EA59F9DCA}"/>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Localization opportunity and impact</a:t>
            </a:r>
          </a:p>
        </p:txBody>
      </p:sp>
      <p:sp>
        <p:nvSpPr>
          <p:cNvPr id="3" name="Oval 2">
            <a:extLst>
              <a:ext uri="{FF2B5EF4-FFF2-40B4-BE49-F238E27FC236}">
                <a16:creationId xmlns:a16="http://schemas.microsoft.com/office/drawing/2014/main" id="{5A2C3692-6F78-76D5-31B2-019BBD40C7DF}"/>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70" name="TextBox 69">
            <a:extLst>
              <a:ext uri="{FF2B5EF4-FFF2-40B4-BE49-F238E27FC236}">
                <a16:creationId xmlns:a16="http://schemas.microsoft.com/office/drawing/2014/main" id="{B6FA2C8C-0A22-DA67-C6FB-27C9DCC9562F}"/>
              </a:ext>
            </a:extLst>
          </p:cNvPr>
          <p:cNvSpPr txBox="1"/>
          <p:nvPr/>
        </p:nvSpPr>
        <p:spPr>
          <a:xfrm>
            <a:off x="292100" y="597717"/>
            <a:ext cx="8519188" cy="369332"/>
          </a:xfrm>
          <a:prstGeom prst="rect">
            <a:avLst/>
          </a:prstGeom>
          <a:noFill/>
        </p:spPr>
        <p:txBody>
          <a:bodyPr wrap="square">
            <a:spAutoFit/>
          </a:bodyPr>
          <a:lstStyle/>
          <a:p>
            <a:r>
              <a:rPr kumimoji="0" lang="en-US" sz="9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The following template should be filled in for the selected LDC product, articulating the localization opportunity</a:t>
            </a:r>
            <a:r>
              <a:rPr lang="en-US" sz="900" kern="0">
                <a:solidFill>
                  <a:srgbClr val="000000"/>
                </a:solidFill>
                <a:latin typeface="Fund Light" pitchFamily="2" charset="-78"/>
                <a:cs typeface="Fund Light" pitchFamily="2" charset="-78"/>
                <a:sym typeface="Arial"/>
              </a:rPr>
              <a:t> and the expected company-level LC impact</a:t>
            </a:r>
            <a:endParaRPr lang="en-US" sz="900" i="1"/>
          </a:p>
        </p:txBody>
      </p:sp>
      <p:grpSp>
        <p:nvGrpSpPr>
          <p:cNvPr id="30" name="Group 29">
            <a:extLst>
              <a:ext uri="{FF2B5EF4-FFF2-40B4-BE49-F238E27FC236}">
                <a16:creationId xmlns:a16="http://schemas.microsoft.com/office/drawing/2014/main" id="{10DB8A06-5B1B-D3B9-6E92-AD1E2B8D7BE8}"/>
              </a:ext>
            </a:extLst>
          </p:cNvPr>
          <p:cNvGrpSpPr/>
          <p:nvPr>
            <p:custDataLst>
              <p:tags r:id="rId16"/>
            </p:custDataLst>
          </p:nvPr>
        </p:nvGrpSpPr>
        <p:grpSpPr>
          <a:xfrm>
            <a:off x="3242400" y="1000665"/>
            <a:ext cx="2011680" cy="237587"/>
            <a:chOff x="6513512" y="1300701"/>
            <a:chExt cx="2177638" cy="237587"/>
          </a:xfrm>
        </p:grpSpPr>
        <p:cxnSp>
          <p:nvCxnSpPr>
            <p:cNvPr id="31" name="Straight Connector 30">
              <a:extLst>
                <a:ext uri="{FF2B5EF4-FFF2-40B4-BE49-F238E27FC236}">
                  <a16:creationId xmlns:a16="http://schemas.microsoft.com/office/drawing/2014/main" id="{C5880DB4-6B87-4F4F-FB1E-87E014A3D3BA}"/>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9EBF2BA-87F1-90F8-14FC-84161DA70649}"/>
                </a:ext>
              </a:extLst>
            </p:cNvPr>
            <p:cNvSpPr txBox="1"/>
            <p:nvPr/>
          </p:nvSpPr>
          <p:spPr>
            <a:xfrm>
              <a:off x="6513512" y="1300701"/>
              <a:ext cx="2177638" cy="230832"/>
            </a:xfrm>
            <a:prstGeom prst="rect">
              <a:avLst/>
            </a:prstGeom>
            <a:noFill/>
          </p:spPr>
          <p:txBody>
            <a:bodyPr wrap="square" rtlCol="0" anchor="b">
              <a:spAutoFit/>
            </a:bodyPr>
            <a:lstStyle/>
            <a:p>
              <a:pPr defTabSz="609585"/>
              <a:r>
                <a:rPr lang="it-IT" sz="900" b="1">
                  <a:solidFill>
                    <a:schemeClr val="bg2"/>
                  </a:solidFill>
                  <a:latin typeface="Fund Light" pitchFamily="2" charset="-78"/>
                  <a:cs typeface="Fund Light" pitchFamily="2" charset="-78"/>
                </a:rPr>
                <a:t>Sources</a:t>
              </a:r>
              <a:endParaRPr lang="en-US" sz="900" b="1">
                <a:solidFill>
                  <a:schemeClr val="bg2"/>
                </a:solidFill>
                <a:latin typeface="Fund Light" pitchFamily="2" charset="-78"/>
                <a:cs typeface="Fund Light" pitchFamily="2" charset="-78"/>
              </a:endParaRPr>
            </a:p>
          </p:txBody>
        </p:sp>
      </p:grpSp>
      <p:sp>
        <p:nvSpPr>
          <p:cNvPr id="35" name="TextBox 34">
            <a:extLst>
              <a:ext uri="{FF2B5EF4-FFF2-40B4-BE49-F238E27FC236}">
                <a16:creationId xmlns:a16="http://schemas.microsoft.com/office/drawing/2014/main" id="{74085C97-FB91-CDEE-7C27-2689D43F036D}"/>
              </a:ext>
            </a:extLst>
          </p:cNvPr>
          <p:cNvSpPr txBox="1"/>
          <p:nvPr>
            <p:custDataLst>
              <p:tags r:id="rId17"/>
            </p:custDataLst>
          </p:nvPr>
        </p:nvSpPr>
        <p:spPr>
          <a:xfrm>
            <a:off x="3257621" y="1303338"/>
            <a:ext cx="2013901" cy="965200"/>
          </a:xfrm>
          <a:prstGeom prst="rect">
            <a:avLst/>
          </a:prstGeom>
          <a:noFill/>
        </p:spPr>
        <p:txBody>
          <a:bodyPr wrap="square" rtlCol="0" anchor="ctr">
            <a:noAutofit/>
          </a:bodyPr>
          <a:lstStyle/>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Previous purchase orders</a:t>
            </a:r>
          </a:p>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Business/ operations teams</a:t>
            </a:r>
          </a:p>
        </p:txBody>
      </p:sp>
      <p:sp>
        <p:nvSpPr>
          <p:cNvPr id="37" name="TextBox 36">
            <a:extLst>
              <a:ext uri="{FF2B5EF4-FFF2-40B4-BE49-F238E27FC236}">
                <a16:creationId xmlns:a16="http://schemas.microsoft.com/office/drawing/2014/main" id="{7A77EE51-0BC5-519B-0C53-A2ECCF05300A}"/>
              </a:ext>
            </a:extLst>
          </p:cNvPr>
          <p:cNvSpPr txBox="1"/>
          <p:nvPr>
            <p:custDataLst>
              <p:tags r:id="rId18"/>
            </p:custDataLst>
          </p:nvPr>
        </p:nvSpPr>
        <p:spPr>
          <a:xfrm>
            <a:off x="3257622" y="2397125"/>
            <a:ext cx="2007268" cy="1035050"/>
          </a:xfrm>
          <a:prstGeom prst="rect">
            <a:avLst/>
          </a:prstGeom>
          <a:noFill/>
        </p:spPr>
        <p:txBody>
          <a:bodyPr wrap="square" rtlCol="0" anchor="ctr">
            <a:noAutofit/>
          </a:bodyPr>
          <a:lstStyle/>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Supplier sensing</a:t>
            </a:r>
          </a:p>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Benchmark investments</a:t>
            </a:r>
          </a:p>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PIF NDD </a:t>
            </a:r>
            <a:r>
              <a:rPr lang="en-US" sz="900">
                <a:solidFill>
                  <a:schemeClr val="tx1"/>
                </a:solidFill>
                <a:latin typeface="Fund Light" pitchFamily="2" charset="-78"/>
                <a:cs typeface="Fund Light" pitchFamily="2" charset="-78"/>
              </a:rPr>
              <a:t>(</a:t>
            </a:r>
            <a:r>
              <a:rPr lang="en-US" sz="900">
                <a:solidFill>
                  <a:srgbClr val="000000"/>
                </a:solidFill>
                <a:latin typeface="Fund Light" pitchFamily="2" charset="-78"/>
                <a:cs typeface="Fund Light" pitchFamily="2" charset="-78"/>
                <a:hlinkClick r:id="rId29" action="ppaction://hlinksldjump"/>
              </a:rPr>
              <a:t>Contacts</a:t>
            </a:r>
            <a:r>
              <a:rPr lang="en-US" sz="900">
                <a:solidFill>
                  <a:srgbClr val="000000"/>
                </a:solidFill>
                <a:latin typeface="Fund Light" pitchFamily="2" charset="-78"/>
                <a:cs typeface="Fund Light" pitchFamily="2" charset="-78"/>
              </a:rPr>
              <a:t>)</a:t>
            </a:r>
          </a:p>
        </p:txBody>
      </p:sp>
      <p:sp>
        <p:nvSpPr>
          <p:cNvPr id="44" name="TextBox 43">
            <a:extLst>
              <a:ext uri="{FF2B5EF4-FFF2-40B4-BE49-F238E27FC236}">
                <a16:creationId xmlns:a16="http://schemas.microsoft.com/office/drawing/2014/main" id="{004BB604-26DE-CFC5-F226-BB1C114F10F0}"/>
              </a:ext>
            </a:extLst>
          </p:cNvPr>
          <p:cNvSpPr txBox="1"/>
          <p:nvPr>
            <p:custDataLst>
              <p:tags r:id="rId19"/>
            </p:custDataLst>
          </p:nvPr>
        </p:nvSpPr>
        <p:spPr>
          <a:xfrm>
            <a:off x="3257622" y="3559175"/>
            <a:ext cx="2013901" cy="1033463"/>
          </a:xfrm>
          <a:prstGeom prst="rect">
            <a:avLst/>
          </a:prstGeom>
          <a:noFill/>
        </p:spPr>
        <p:txBody>
          <a:bodyPr wrap="square" rtlCol="0" anchor="ctr">
            <a:noAutofit/>
          </a:bodyPr>
          <a:lstStyle/>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Supplier sensing</a:t>
            </a:r>
          </a:p>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Benchmark investments</a:t>
            </a:r>
          </a:p>
          <a:p>
            <a:pPr marL="228600" indent="-228600" defTabSz="609585">
              <a:spcBef>
                <a:spcPts val="400"/>
              </a:spcBef>
              <a:spcAft>
                <a:spcPts val="400"/>
              </a:spcAft>
              <a:buFont typeface="+mj-lt"/>
              <a:buAutoNum type="arabicPeriod"/>
            </a:pPr>
            <a:r>
              <a:rPr lang="en-US" sz="900">
                <a:solidFill>
                  <a:srgbClr val="000000"/>
                </a:solidFill>
                <a:latin typeface="Fund Light" pitchFamily="2" charset="-78"/>
                <a:cs typeface="Fund Light" pitchFamily="2" charset="-78"/>
              </a:rPr>
              <a:t>PIF NDD </a:t>
            </a:r>
            <a:r>
              <a:rPr lang="en-US" sz="900">
                <a:solidFill>
                  <a:schemeClr val="tx1"/>
                </a:solidFill>
                <a:latin typeface="Fund Light" pitchFamily="2" charset="-78"/>
                <a:cs typeface="Fund Light" pitchFamily="2" charset="-78"/>
              </a:rPr>
              <a:t>(</a:t>
            </a:r>
            <a:r>
              <a:rPr lang="en-US" sz="900">
                <a:solidFill>
                  <a:srgbClr val="000000"/>
                </a:solidFill>
                <a:latin typeface="Fund Light" pitchFamily="2" charset="-78"/>
                <a:cs typeface="Fund Light" pitchFamily="2" charset="-78"/>
                <a:hlinkClick r:id="rId29" action="ppaction://hlinksldjump"/>
              </a:rPr>
              <a:t>Contacts</a:t>
            </a:r>
            <a:r>
              <a:rPr lang="en-US" sz="900">
                <a:solidFill>
                  <a:srgbClr val="000000"/>
                </a:solidFill>
                <a:latin typeface="Fund Light" pitchFamily="2" charset="-78"/>
                <a:cs typeface="Fund Light" pitchFamily="2" charset="-78"/>
              </a:rPr>
              <a:t>)</a:t>
            </a:r>
          </a:p>
        </p:txBody>
      </p:sp>
      <p:sp>
        <p:nvSpPr>
          <p:cNvPr id="45" name="Rectangle: Rounded Corners 44">
            <a:extLst>
              <a:ext uri="{FF2B5EF4-FFF2-40B4-BE49-F238E27FC236}">
                <a16:creationId xmlns:a16="http://schemas.microsoft.com/office/drawing/2014/main" id="{B655A05B-69E9-5FB6-105D-187439237930}"/>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30" action="ppaction://hlinksldjump"/>
              </a:rPr>
              <a:t>Contacts</a:t>
            </a:r>
            <a:r>
              <a:rPr lang="en-US" sz="1000">
                <a:solidFill>
                  <a:srgbClr val="000000"/>
                </a:solidFill>
                <a:latin typeface="Fund Light" pitchFamily="2" charset="-78"/>
                <a:cs typeface="Fund Light" pitchFamily="2" charset="-78"/>
              </a:rPr>
              <a:t>)</a:t>
            </a:r>
          </a:p>
        </p:txBody>
      </p:sp>
      <p:grpSp>
        <p:nvGrpSpPr>
          <p:cNvPr id="50" name="Group 49">
            <a:extLst>
              <a:ext uri="{FF2B5EF4-FFF2-40B4-BE49-F238E27FC236}">
                <a16:creationId xmlns:a16="http://schemas.microsoft.com/office/drawing/2014/main" id="{E25D5FB2-611D-0A59-0C94-CCC7F78913E8}"/>
              </a:ext>
            </a:extLst>
          </p:cNvPr>
          <p:cNvGrpSpPr/>
          <p:nvPr/>
        </p:nvGrpSpPr>
        <p:grpSpPr>
          <a:xfrm>
            <a:off x="3004029" y="4817276"/>
            <a:ext cx="303559" cy="303559"/>
            <a:chOff x="-577629" y="2311332"/>
            <a:chExt cx="404038" cy="404037"/>
          </a:xfrm>
        </p:grpSpPr>
        <p:sp>
          <p:nvSpPr>
            <p:cNvPr id="52" name="Oval 51">
              <a:extLst>
                <a:ext uri="{FF2B5EF4-FFF2-40B4-BE49-F238E27FC236}">
                  <a16:creationId xmlns:a16="http://schemas.microsoft.com/office/drawing/2014/main" id="{EB8B55E4-A481-8695-A19A-A4618CCEDCC6}"/>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1762230A-C109-FCD1-87AF-62D47C166125}"/>
                </a:ext>
              </a:extLst>
            </p:cNvPr>
            <p:cNvPicPr>
              <a:picLocks noChangeAspect="1"/>
            </p:cNvPicPr>
            <p:nvPr/>
          </p:nvPicPr>
          <p:blipFill>
            <a:blip r:embed="rId31"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58" name="Group 57">
            <a:extLst>
              <a:ext uri="{FF2B5EF4-FFF2-40B4-BE49-F238E27FC236}">
                <a16:creationId xmlns:a16="http://schemas.microsoft.com/office/drawing/2014/main" id="{66010FE5-50B8-7AB7-8B0C-684E42E86F39}"/>
              </a:ext>
            </a:extLst>
          </p:cNvPr>
          <p:cNvGrpSpPr/>
          <p:nvPr/>
        </p:nvGrpSpPr>
        <p:grpSpPr>
          <a:xfrm>
            <a:off x="6211995" y="4883810"/>
            <a:ext cx="168686" cy="161455"/>
            <a:chOff x="11260138" y="4194175"/>
            <a:chExt cx="360363" cy="379413"/>
          </a:xfrm>
        </p:grpSpPr>
        <p:sp>
          <p:nvSpPr>
            <p:cNvPr id="59" name="Freeform 289">
              <a:extLst>
                <a:ext uri="{FF2B5EF4-FFF2-40B4-BE49-F238E27FC236}">
                  <a16:creationId xmlns:a16="http://schemas.microsoft.com/office/drawing/2014/main" id="{D1BD7FB6-3620-CBFD-2F6B-586A9CDE4D0C}"/>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290">
              <a:extLst>
                <a:ext uri="{FF2B5EF4-FFF2-40B4-BE49-F238E27FC236}">
                  <a16:creationId xmlns:a16="http://schemas.microsoft.com/office/drawing/2014/main" id="{D2F59C8E-9818-83F5-8A8C-537D44DE4EB8}"/>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291">
              <a:extLst>
                <a:ext uri="{FF2B5EF4-FFF2-40B4-BE49-F238E27FC236}">
                  <a16:creationId xmlns:a16="http://schemas.microsoft.com/office/drawing/2014/main" id="{9F088896-F83E-2888-3AF4-4A80936E6F45}"/>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8" name="Group 67">
            <a:extLst>
              <a:ext uri="{FF2B5EF4-FFF2-40B4-BE49-F238E27FC236}">
                <a16:creationId xmlns:a16="http://schemas.microsoft.com/office/drawing/2014/main" id="{43D2DB81-449C-9E44-0864-90B943C2DE9F}"/>
              </a:ext>
            </a:extLst>
          </p:cNvPr>
          <p:cNvGrpSpPr/>
          <p:nvPr/>
        </p:nvGrpSpPr>
        <p:grpSpPr>
          <a:xfrm>
            <a:off x="4725465" y="3091333"/>
            <a:ext cx="168686" cy="161455"/>
            <a:chOff x="11260138" y="4194175"/>
            <a:chExt cx="360363" cy="379413"/>
          </a:xfrm>
        </p:grpSpPr>
        <p:sp>
          <p:nvSpPr>
            <p:cNvPr id="69" name="Freeform 289">
              <a:extLst>
                <a:ext uri="{FF2B5EF4-FFF2-40B4-BE49-F238E27FC236}">
                  <a16:creationId xmlns:a16="http://schemas.microsoft.com/office/drawing/2014/main" id="{E54B8109-F604-5863-DAAB-7BDD50EC182E}"/>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290">
              <a:extLst>
                <a:ext uri="{FF2B5EF4-FFF2-40B4-BE49-F238E27FC236}">
                  <a16:creationId xmlns:a16="http://schemas.microsoft.com/office/drawing/2014/main" id="{8CC04F48-10E8-8FF1-6696-37CFA86F82C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291">
              <a:extLst>
                <a:ext uri="{FF2B5EF4-FFF2-40B4-BE49-F238E27FC236}">
                  <a16:creationId xmlns:a16="http://schemas.microsoft.com/office/drawing/2014/main" id="{96E4B59E-5153-9B7D-840F-B361780DEC0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2" name="Group 81">
            <a:extLst>
              <a:ext uri="{FF2B5EF4-FFF2-40B4-BE49-F238E27FC236}">
                <a16:creationId xmlns:a16="http://schemas.microsoft.com/office/drawing/2014/main" id="{40048CC2-6A84-0FC0-5D03-372EA1361483}"/>
              </a:ext>
            </a:extLst>
          </p:cNvPr>
          <p:cNvGrpSpPr/>
          <p:nvPr/>
        </p:nvGrpSpPr>
        <p:grpSpPr>
          <a:xfrm>
            <a:off x="4725465" y="4258145"/>
            <a:ext cx="168686" cy="161455"/>
            <a:chOff x="11260138" y="4194175"/>
            <a:chExt cx="360363" cy="379413"/>
          </a:xfrm>
        </p:grpSpPr>
        <p:sp>
          <p:nvSpPr>
            <p:cNvPr id="84" name="Freeform 289">
              <a:extLst>
                <a:ext uri="{FF2B5EF4-FFF2-40B4-BE49-F238E27FC236}">
                  <a16:creationId xmlns:a16="http://schemas.microsoft.com/office/drawing/2014/main" id="{58A58F50-CDC1-D501-F5BF-CBD92A864031}"/>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90">
              <a:extLst>
                <a:ext uri="{FF2B5EF4-FFF2-40B4-BE49-F238E27FC236}">
                  <a16:creationId xmlns:a16="http://schemas.microsoft.com/office/drawing/2014/main" id="{81995CA6-A529-D10F-48B8-2AF98043C708}"/>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291">
              <a:extLst>
                <a:ext uri="{FF2B5EF4-FFF2-40B4-BE49-F238E27FC236}">
                  <a16:creationId xmlns:a16="http://schemas.microsoft.com/office/drawing/2014/main" id="{070FDF5C-9908-A69A-85E6-0A1511D3A850}"/>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88" name="Rectangle 87">
            <a:extLst>
              <a:ext uri="{FF2B5EF4-FFF2-40B4-BE49-F238E27FC236}">
                <a16:creationId xmlns:a16="http://schemas.microsoft.com/office/drawing/2014/main" id="{C806F08D-E846-8AB8-24D5-7AF06AFA56BF}"/>
              </a:ext>
            </a:extLst>
          </p:cNvPr>
          <p:cNvSpPr/>
          <p:nvPr>
            <p:custDataLst>
              <p:tags r:id="rId20"/>
            </p:custDataLst>
          </p:nvPr>
        </p:nvSpPr>
        <p:spPr>
          <a:xfrm>
            <a:off x="7986331" y="1376628"/>
            <a:ext cx="935419" cy="1479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r>
              <a:rPr lang="en-GB" sz="800" i="1">
                <a:solidFill>
                  <a:srgbClr val="000000"/>
                </a:solidFill>
                <a:latin typeface="Fund Light" pitchFamily="2" charset="-78"/>
                <a:cs typeface="Fund Light" pitchFamily="2" charset="-78"/>
              </a:rPr>
              <a:t>Calculation methodology on the following slide</a:t>
            </a:r>
          </a:p>
        </p:txBody>
      </p:sp>
      <p:sp>
        <p:nvSpPr>
          <p:cNvPr id="89" name="Rectangle 88">
            <a:extLst>
              <a:ext uri="{FF2B5EF4-FFF2-40B4-BE49-F238E27FC236}">
                <a16:creationId xmlns:a16="http://schemas.microsoft.com/office/drawing/2014/main" id="{8E26F10C-2684-9301-EF12-363A5A1FE2C8}"/>
              </a:ext>
            </a:extLst>
          </p:cNvPr>
          <p:cNvSpPr/>
          <p:nvPr>
            <p:custDataLst>
              <p:tags r:id="rId21"/>
            </p:custDataLst>
          </p:nvPr>
        </p:nvSpPr>
        <p:spPr>
          <a:xfrm>
            <a:off x="7986331" y="3156861"/>
            <a:ext cx="935419" cy="13288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r>
              <a:rPr lang="en-GB" sz="800" i="1">
                <a:solidFill>
                  <a:srgbClr val="000000"/>
                </a:solidFill>
                <a:latin typeface="Fund Light" pitchFamily="2" charset="-78"/>
                <a:cs typeface="Fund Light" pitchFamily="2" charset="-78"/>
              </a:rPr>
              <a:t>Calculation methodology on the following slide</a:t>
            </a:r>
          </a:p>
        </p:txBody>
      </p:sp>
      <p:grpSp>
        <p:nvGrpSpPr>
          <p:cNvPr id="91" name="Group 90">
            <a:extLst>
              <a:ext uri="{FF2B5EF4-FFF2-40B4-BE49-F238E27FC236}">
                <a16:creationId xmlns:a16="http://schemas.microsoft.com/office/drawing/2014/main" id="{9376BC6B-2671-E66E-820B-508C19DB6A07}"/>
              </a:ext>
            </a:extLst>
          </p:cNvPr>
          <p:cNvGrpSpPr/>
          <p:nvPr>
            <p:custDataLst>
              <p:tags r:id="rId22"/>
            </p:custDataLst>
          </p:nvPr>
        </p:nvGrpSpPr>
        <p:grpSpPr>
          <a:xfrm>
            <a:off x="7986331" y="1000666"/>
            <a:ext cx="914400" cy="237586"/>
            <a:chOff x="6513511" y="1300702"/>
            <a:chExt cx="2177639" cy="237586"/>
          </a:xfrm>
        </p:grpSpPr>
        <p:cxnSp>
          <p:nvCxnSpPr>
            <p:cNvPr id="92" name="Straight Connector 91">
              <a:extLst>
                <a:ext uri="{FF2B5EF4-FFF2-40B4-BE49-F238E27FC236}">
                  <a16:creationId xmlns:a16="http://schemas.microsoft.com/office/drawing/2014/main" id="{C5D66B38-1CFB-BCB6-3C47-8F8832999F75}"/>
                </a:ext>
              </a:extLst>
            </p:cNvPr>
            <p:cNvCxnSpPr>
              <a:cxnSpLocks/>
            </p:cNvCxnSpPr>
            <p:nvPr/>
          </p:nvCxnSpPr>
          <p:spPr>
            <a:xfrm>
              <a:off x="6513513" y="1538288"/>
              <a:ext cx="2177637"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9B73227C-715C-9D89-5860-9BA60E7B5A79}"/>
                </a:ext>
              </a:extLst>
            </p:cNvPr>
            <p:cNvSpPr txBox="1"/>
            <p:nvPr/>
          </p:nvSpPr>
          <p:spPr>
            <a:xfrm>
              <a:off x="6513511" y="1300702"/>
              <a:ext cx="2177638" cy="230832"/>
            </a:xfrm>
            <a:prstGeom prst="rect">
              <a:avLst/>
            </a:prstGeom>
            <a:noFill/>
          </p:spPr>
          <p:txBody>
            <a:bodyPr wrap="square" rtlCol="0" anchor="b">
              <a:spAutoFit/>
            </a:bodyPr>
            <a:lstStyle/>
            <a:p>
              <a:pPr defTabSz="609585"/>
              <a:r>
                <a:rPr lang="it-IT" sz="900" b="1">
                  <a:solidFill>
                    <a:schemeClr val="bg2"/>
                  </a:solidFill>
                  <a:latin typeface="Fund Light" pitchFamily="2" charset="-78"/>
                  <a:cs typeface="Fund Light" pitchFamily="2" charset="-78"/>
                </a:rPr>
                <a:t>Sources</a:t>
              </a:r>
              <a:endParaRPr lang="en-US" sz="900" b="1" baseline="30000">
                <a:solidFill>
                  <a:schemeClr val="bg2"/>
                </a:solidFill>
                <a:latin typeface="Fund Light" pitchFamily="2" charset="-78"/>
                <a:cs typeface="Fund Light" pitchFamily="2" charset="-78"/>
              </a:endParaRPr>
            </a:p>
          </p:txBody>
        </p:sp>
      </p:grpSp>
    </p:spTree>
    <p:extLst>
      <p:ext uri="{BB962C8B-B14F-4D97-AF65-F5344CB8AC3E}">
        <p14:creationId xmlns:p14="http://schemas.microsoft.com/office/powerpoint/2010/main" val="146256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9791600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a:lstStyle/>
          <a:p>
            <a:r>
              <a:rPr lang="en-US"/>
              <a:t>Methodology to calculate local content impact</a:t>
            </a:r>
          </a:p>
        </p:txBody>
      </p:sp>
      <p:sp>
        <p:nvSpPr>
          <p:cNvPr id="60" name="Rectangle 59">
            <a:extLst>
              <a:ext uri="{FF2B5EF4-FFF2-40B4-BE49-F238E27FC236}">
                <a16:creationId xmlns:a16="http://schemas.microsoft.com/office/drawing/2014/main" id="{0D929F49-1B7A-4D67-9564-96EDB6976867}"/>
              </a:ext>
            </a:extLst>
          </p:cNvPr>
          <p:cNvSpPr/>
          <p:nvPr/>
        </p:nvSpPr>
        <p:spPr>
          <a:xfrm>
            <a:off x="3677462" y="-10449"/>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and tool</a:t>
            </a:r>
          </a:p>
        </p:txBody>
      </p:sp>
      <p:sp>
        <p:nvSpPr>
          <p:cNvPr id="2" name="Text Placeholder 6">
            <a:extLst>
              <a:ext uri="{FF2B5EF4-FFF2-40B4-BE49-F238E27FC236}">
                <a16:creationId xmlns:a16="http://schemas.microsoft.com/office/drawing/2014/main" id="{490735FA-D395-912E-4B5F-937046D81A1D}"/>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Localization opportunity and impact</a:t>
            </a:r>
          </a:p>
        </p:txBody>
      </p:sp>
      <p:sp>
        <p:nvSpPr>
          <p:cNvPr id="3" name="Oval 2">
            <a:extLst>
              <a:ext uri="{FF2B5EF4-FFF2-40B4-BE49-F238E27FC236}">
                <a16:creationId xmlns:a16="http://schemas.microsoft.com/office/drawing/2014/main" id="{89802907-C122-D026-9F34-D13A6B6BF164}"/>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7" name="Rectangle 6">
            <a:extLst>
              <a:ext uri="{FF2B5EF4-FFF2-40B4-BE49-F238E27FC236}">
                <a16:creationId xmlns:a16="http://schemas.microsoft.com/office/drawing/2014/main" id="{5448A9F9-C39D-962C-4856-BC9F29B5F5B4}"/>
              </a:ext>
            </a:extLst>
          </p:cNvPr>
          <p:cNvSpPr/>
          <p:nvPr/>
        </p:nvSpPr>
        <p:spPr>
          <a:xfrm>
            <a:off x="553867" y="823434"/>
            <a:ext cx="1795011" cy="588590"/>
          </a:xfrm>
          <a:prstGeom prst="rect">
            <a:avLst/>
          </a:prstGeom>
          <a:solidFill>
            <a:srgbClr val="F8F2E9"/>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latin typeface="Fund Light" pitchFamily="2" charset="-78"/>
                <a:cs typeface="Fund Light" pitchFamily="2" charset="-78"/>
              </a:rPr>
              <a:t>Company total yearly demand in steady state (SAR)</a:t>
            </a:r>
          </a:p>
        </p:txBody>
      </p:sp>
      <p:sp>
        <p:nvSpPr>
          <p:cNvPr id="9" name="Rectangle 8">
            <a:extLst>
              <a:ext uri="{FF2B5EF4-FFF2-40B4-BE49-F238E27FC236}">
                <a16:creationId xmlns:a16="http://schemas.microsoft.com/office/drawing/2014/main" id="{5952DD7F-0337-1C89-87AC-CBDD8D86B986}"/>
              </a:ext>
            </a:extLst>
          </p:cNvPr>
          <p:cNvSpPr/>
          <p:nvPr/>
        </p:nvSpPr>
        <p:spPr>
          <a:xfrm>
            <a:off x="2554142" y="823434"/>
            <a:ext cx="531052" cy="761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0000"/>
                </a:solidFill>
                <a:latin typeface="Fund Light" pitchFamily="2" charset="-78"/>
                <a:cs typeface="Fund Light" pitchFamily="2" charset="-78"/>
              </a:rPr>
              <a:t>X</a:t>
            </a:r>
          </a:p>
        </p:txBody>
      </p:sp>
      <p:sp>
        <p:nvSpPr>
          <p:cNvPr id="10" name="Rectangle 9">
            <a:extLst>
              <a:ext uri="{FF2B5EF4-FFF2-40B4-BE49-F238E27FC236}">
                <a16:creationId xmlns:a16="http://schemas.microsoft.com/office/drawing/2014/main" id="{577F81D9-B4C1-6A5A-CE7B-A3691551326A}"/>
              </a:ext>
            </a:extLst>
          </p:cNvPr>
          <p:cNvSpPr/>
          <p:nvPr/>
        </p:nvSpPr>
        <p:spPr>
          <a:xfrm>
            <a:off x="3269805" y="823434"/>
            <a:ext cx="1974387" cy="588590"/>
          </a:xfrm>
          <a:prstGeom prst="rect">
            <a:avLst/>
          </a:prstGeom>
          <a:solidFill>
            <a:srgbClr val="F8F2E9"/>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latin typeface="Fund Light" pitchFamily="2" charset="-78"/>
                <a:cs typeface="Fund Light" pitchFamily="2" charset="-78"/>
              </a:rPr>
              <a:t>% procured from LDC supplier in steady state (can be higher than the LDC commitment given)</a:t>
            </a:r>
          </a:p>
        </p:txBody>
      </p:sp>
      <p:sp>
        <p:nvSpPr>
          <p:cNvPr id="11" name="Rectangle 10">
            <a:extLst>
              <a:ext uri="{FF2B5EF4-FFF2-40B4-BE49-F238E27FC236}">
                <a16:creationId xmlns:a16="http://schemas.microsoft.com/office/drawing/2014/main" id="{3F9C9FCF-B7EA-082F-2261-7C7370076FBD}"/>
              </a:ext>
            </a:extLst>
          </p:cNvPr>
          <p:cNvSpPr/>
          <p:nvPr/>
        </p:nvSpPr>
        <p:spPr>
          <a:xfrm>
            <a:off x="6245309" y="823434"/>
            <a:ext cx="2314491" cy="588590"/>
          </a:xfrm>
          <a:prstGeom prst="rect">
            <a:avLst/>
          </a:prstGeom>
          <a:solidFill>
            <a:srgbClr val="F8F2E9"/>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latin typeface="Fund Light" pitchFamily="2" charset="-78"/>
                <a:cs typeface="Fund Light" pitchFamily="2" charset="-78"/>
              </a:rPr>
              <a:t>LC score of the localized product (based on Local Content Government and Procurement Authority (LCGPA) average sector scores)</a:t>
            </a:r>
          </a:p>
        </p:txBody>
      </p:sp>
      <p:sp>
        <p:nvSpPr>
          <p:cNvPr id="12" name="Rectangle 11">
            <a:extLst>
              <a:ext uri="{FF2B5EF4-FFF2-40B4-BE49-F238E27FC236}">
                <a16:creationId xmlns:a16="http://schemas.microsoft.com/office/drawing/2014/main" id="{8D9BB8E3-5B2B-B065-CCEF-E8ED4C4A38A4}"/>
              </a:ext>
            </a:extLst>
          </p:cNvPr>
          <p:cNvSpPr/>
          <p:nvPr/>
        </p:nvSpPr>
        <p:spPr>
          <a:xfrm>
            <a:off x="5391879" y="823434"/>
            <a:ext cx="531052" cy="7618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0000"/>
                </a:solidFill>
                <a:latin typeface="Fund Light" pitchFamily="2" charset="-78"/>
                <a:cs typeface="Fund Light" pitchFamily="2" charset="-78"/>
              </a:rPr>
              <a:t>X</a:t>
            </a:r>
          </a:p>
        </p:txBody>
      </p:sp>
      <p:cxnSp>
        <p:nvCxnSpPr>
          <p:cNvPr id="14" name="Straight Connector 13">
            <a:extLst>
              <a:ext uri="{FF2B5EF4-FFF2-40B4-BE49-F238E27FC236}">
                <a16:creationId xmlns:a16="http://schemas.microsoft.com/office/drawing/2014/main" id="{6E67B79B-D822-FECE-0DDC-CDCBBBEAAEC9}"/>
              </a:ext>
            </a:extLst>
          </p:cNvPr>
          <p:cNvCxnSpPr>
            <a:cxnSpLocks/>
          </p:cNvCxnSpPr>
          <p:nvPr/>
        </p:nvCxnSpPr>
        <p:spPr>
          <a:xfrm>
            <a:off x="541191" y="1561545"/>
            <a:ext cx="801860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46B16C7F-9E7F-B8EA-8DFC-E075D0AFD38C}"/>
              </a:ext>
            </a:extLst>
          </p:cNvPr>
          <p:cNvSpPr/>
          <p:nvPr/>
        </p:nvSpPr>
        <p:spPr>
          <a:xfrm>
            <a:off x="1984459" y="1689877"/>
            <a:ext cx="5526684" cy="410215"/>
          </a:xfrm>
          <a:prstGeom prst="rect">
            <a:avLst/>
          </a:prstGeom>
          <a:solidFill>
            <a:srgbClr val="F8F2E9"/>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rgbClr val="000000"/>
                </a:solidFill>
                <a:latin typeface="Fund Light" pitchFamily="2" charset="-78"/>
                <a:cs typeface="Fund Light" pitchFamily="2" charset="-78"/>
              </a:rPr>
              <a:t>Total cost of operations of the company (in line with LCGPA LC score baseline template)</a:t>
            </a:r>
          </a:p>
        </p:txBody>
      </p:sp>
      <p:sp>
        <p:nvSpPr>
          <p:cNvPr id="6" name="Oval 5">
            <a:extLst>
              <a:ext uri="{FF2B5EF4-FFF2-40B4-BE49-F238E27FC236}">
                <a16:creationId xmlns:a16="http://schemas.microsoft.com/office/drawing/2014/main" id="{DA59B221-E718-B9FC-66A7-9427C9169169}"/>
              </a:ext>
            </a:extLst>
          </p:cNvPr>
          <p:cNvSpPr/>
          <p:nvPr/>
        </p:nvSpPr>
        <p:spPr>
          <a:xfrm>
            <a:off x="370987" y="774704"/>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1</a:t>
            </a:r>
          </a:p>
        </p:txBody>
      </p:sp>
      <p:sp>
        <p:nvSpPr>
          <p:cNvPr id="8" name="Oval 7">
            <a:extLst>
              <a:ext uri="{FF2B5EF4-FFF2-40B4-BE49-F238E27FC236}">
                <a16:creationId xmlns:a16="http://schemas.microsoft.com/office/drawing/2014/main" id="{B3CB9E5D-673B-8140-63D0-0E8E32F5175F}"/>
              </a:ext>
            </a:extLst>
          </p:cNvPr>
          <p:cNvSpPr/>
          <p:nvPr/>
        </p:nvSpPr>
        <p:spPr>
          <a:xfrm>
            <a:off x="3107578" y="774704"/>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2C782B53-E27B-E45B-EBFA-25B23F6D6D1B}"/>
              </a:ext>
            </a:extLst>
          </p:cNvPr>
          <p:cNvSpPr/>
          <p:nvPr/>
        </p:nvSpPr>
        <p:spPr>
          <a:xfrm>
            <a:off x="6104193" y="774704"/>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3</a:t>
            </a:r>
          </a:p>
        </p:txBody>
      </p:sp>
      <p:sp>
        <p:nvSpPr>
          <p:cNvPr id="16" name="Oval 15">
            <a:extLst>
              <a:ext uri="{FF2B5EF4-FFF2-40B4-BE49-F238E27FC236}">
                <a16:creationId xmlns:a16="http://schemas.microsoft.com/office/drawing/2014/main" id="{F587655C-E14C-225A-0FA0-706C5A0403A1}"/>
              </a:ext>
            </a:extLst>
          </p:cNvPr>
          <p:cNvSpPr/>
          <p:nvPr/>
        </p:nvSpPr>
        <p:spPr>
          <a:xfrm>
            <a:off x="1847299" y="1645795"/>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4</a:t>
            </a:r>
          </a:p>
        </p:txBody>
      </p:sp>
      <p:graphicFrame>
        <p:nvGraphicFramePr>
          <p:cNvPr id="17" name="Table 38">
            <a:extLst>
              <a:ext uri="{FF2B5EF4-FFF2-40B4-BE49-F238E27FC236}">
                <a16:creationId xmlns:a16="http://schemas.microsoft.com/office/drawing/2014/main" id="{24D0EC73-881B-2362-11DF-15A5EFB4F972}"/>
              </a:ext>
            </a:extLst>
          </p:cNvPr>
          <p:cNvGraphicFramePr>
            <a:graphicFrameLocks noGrp="1"/>
          </p:cNvGraphicFramePr>
          <p:nvPr>
            <p:extLst>
              <p:ext uri="{D42A27DB-BD31-4B8C-83A1-F6EECF244321}">
                <p14:modId xmlns:p14="http://schemas.microsoft.com/office/powerpoint/2010/main" val="3163379330"/>
              </p:ext>
            </p:extLst>
          </p:nvPr>
        </p:nvGraphicFramePr>
        <p:xfrm>
          <a:off x="416584" y="2245297"/>
          <a:ext cx="8488507" cy="2286000"/>
        </p:xfrm>
        <a:graphic>
          <a:graphicData uri="http://schemas.openxmlformats.org/drawingml/2006/table">
            <a:tbl>
              <a:tblPr firstRow="1" bandRow="1">
                <a:tableStyleId>{5940675A-B579-460E-94D1-54222C63F5DA}</a:tableStyleId>
              </a:tblPr>
              <a:tblGrid>
                <a:gridCol w="277956">
                  <a:extLst>
                    <a:ext uri="{9D8B030D-6E8A-4147-A177-3AD203B41FA5}">
                      <a16:colId xmlns:a16="http://schemas.microsoft.com/office/drawing/2014/main" val="157672397"/>
                    </a:ext>
                  </a:extLst>
                </a:gridCol>
                <a:gridCol w="1423820">
                  <a:extLst>
                    <a:ext uri="{9D8B030D-6E8A-4147-A177-3AD203B41FA5}">
                      <a16:colId xmlns:a16="http://schemas.microsoft.com/office/drawing/2014/main" val="3836002713"/>
                    </a:ext>
                  </a:extLst>
                </a:gridCol>
                <a:gridCol w="2156460">
                  <a:extLst>
                    <a:ext uri="{9D8B030D-6E8A-4147-A177-3AD203B41FA5}">
                      <a16:colId xmlns:a16="http://schemas.microsoft.com/office/drawing/2014/main" val="3997732386"/>
                    </a:ext>
                  </a:extLst>
                </a:gridCol>
                <a:gridCol w="3082987">
                  <a:extLst>
                    <a:ext uri="{9D8B030D-6E8A-4147-A177-3AD203B41FA5}">
                      <a16:colId xmlns:a16="http://schemas.microsoft.com/office/drawing/2014/main" val="2281871367"/>
                    </a:ext>
                  </a:extLst>
                </a:gridCol>
                <a:gridCol w="1547284">
                  <a:extLst>
                    <a:ext uri="{9D8B030D-6E8A-4147-A177-3AD203B41FA5}">
                      <a16:colId xmlns:a16="http://schemas.microsoft.com/office/drawing/2014/main" val="168737914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baseline="0" dirty="0">
                          <a:solidFill>
                            <a:schemeClr val="bg2"/>
                          </a:solidFill>
                          <a:latin typeface="Fund Light" pitchFamily="2" charset="-78"/>
                          <a:cs typeface="Fund Light" pitchFamily="2" charset="-78"/>
                        </a:rPr>
                        <a:t>#</a:t>
                      </a:r>
                    </a:p>
                  </a:txBody>
                  <a:tcPr marL="45720" marR="45720" anchor="ctr">
                    <a:lnL w="12700" cmpd="sng">
                      <a:noFill/>
                    </a:lnL>
                    <a:lnR w="12700" cmpd="sng">
                      <a:noFill/>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baseline="0">
                          <a:solidFill>
                            <a:schemeClr val="bg2"/>
                          </a:solidFill>
                          <a:latin typeface="Fund Light" pitchFamily="2" charset="-78"/>
                          <a:cs typeface="Fund Light" pitchFamily="2" charset="-78"/>
                        </a:rPr>
                        <a:t>Metric</a:t>
                      </a:r>
                    </a:p>
                  </a:txBody>
                  <a:tcPr marL="45720" marR="45720" anchor="ctr">
                    <a:lnL w="12700" cmpd="sng">
                      <a:noFill/>
                    </a:lnL>
                    <a:lnR w="12700" cmpd="sng">
                      <a:noFill/>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baseline="0">
                          <a:solidFill>
                            <a:schemeClr val="bg2"/>
                          </a:solidFill>
                          <a:latin typeface="Fund Light" pitchFamily="2" charset="-78"/>
                          <a:cs typeface="Fund Light" pitchFamily="2" charset="-78"/>
                        </a:rPr>
                        <a:t>Definition</a:t>
                      </a:r>
                    </a:p>
                  </a:txBody>
                  <a:tcPr marL="45720" marR="45720" anchor="ctr">
                    <a:lnL w="12700" cmpd="sng">
                      <a:noFill/>
                    </a:lnL>
                    <a:lnR w="12700" cmpd="sng">
                      <a:noFill/>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800" b="1" baseline="0">
                          <a:solidFill>
                            <a:schemeClr val="bg2"/>
                          </a:solidFill>
                          <a:latin typeface="Fund Light" pitchFamily="2" charset="-78"/>
                          <a:cs typeface="Fund Light" pitchFamily="2" charset="-78"/>
                        </a:rPr>
                        <a:t>Calculation methodology</a:t>
                      </a:r>
                    </a:p>
                  </a:txBody>
                  <a:tcPr marL="45720" marR="45720" anchor="ctr">
                    <a:lnL w="12700" cmpd="sng">
                      <a:noFill/>
                    </a:lnL>
                    <a:lnR w="12700" cmpd="sng">
                      <a:noFill/>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spcBef>
                          <a:spcPts val="0"/>
                        </a:spcBef>
                      </a:pPr>
                      <a:r>
                        <a:rPr lang="en-US" sz="800" b="1" baseline="0">
                          <a:solidFill>
                            <a:schemeClr val="bg2"/>
                          </a:solidFill>
                          <a:latin typeface="Fund Light" pitchFamily="2" charset="-78"/>
                          <a:cs typeface="Fund Light" pitchFamily="2" charset="-78"/>
                        </a:rPr>
                        <a:t>Data sources</a:t>
                      </a:r>
                    </a:p>
                  </a:txBody>
                  <a:tcPr marL="45720" marR="45720" anchor="ctr">
                    <a:lnL w="12700" cmpd="sng">
                      <a:noFill/>
                    </a:lnL>
                    <a:lnR w="12700" cmpd="sng">
                      <a:noFill/>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6341744"/>
                  </a:ext>
                </a:extLst>
              </a:tr>
              <a:tr h="428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1" baseline="0">
                          <a:solidFill>
                            <a:schemeClr val="bg2"/>
                          </a:solidFill>
                          <a:latin typeface="Fund Light" pitchFamily="2" charset="-78"/>
                          <a:cs typeface="Fund Light" pitchFamily="2" charset="-78"/>
                        </a:rPr>
                        <a:t>1</a:t>
                      </a:r>
                    </a:p>
                  </a:txBody>
                  <a:tcPr marL="45720" marR="45720" anchor="ctr">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baseline="0">
                          <a:solidFill>
                            <a:srgbClr val="000000"/>
                          </a:solidFill>
                          <a:latin typeface="Fund Light" pitchFamily="2" charset="-78"/>
                          <a:cs typeface="Fund Light" pitchFamily="2" charset="-78"/>
                        </a:rPr>
                        <a:t>Company total yearly demand in steady state</a:t>
                      </a:r>
                    </a:p>
                  </a:txBody>
                  <a:tcPr marL="45720" marR="45720" anchor="ctr">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baseline="0">
                          <a:solidFill>
                            <a:srgbClr val="000000"/>
                          </a:solidFill>
                          <a:latin typeface="Fund Light" pitchFamily="2" charset="-78"/>
                          <a:cs typeface="Fund Light" pitchFamily="2" charset="-78"/>
                        </a:rPr>
                        <a:t>Company’s projected annual demand for the procured product in a selected year, assuming demand remains constant</a:t>
                      </a:r>
                      <a:endParaRPr lang="en-GB" sz="800" b="0" baseline="0">
                        <a:solidFill>
                          <a:srgbClr val="000000"/>
                        </a:solidFill>
                        <a:latin typeface="Fund Light" pitchFamily="2" charset="-78"/>
                        <a:cs typeface="Fund Light" pitchFamily="2" charset="-78"/>
                      </a:endParaRPr>
                    </a:p>
                  </a:txBody>
                  <a:tcPr marL="45720" marR="45720" anchor="ctr">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Compile demand forecast (at least three years)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Select the demand value from the year in which demand stabilizes</a:t>
                      </a:r>
                      <a:endParaRPr kumimoji="0" lang="en-GB"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Internal financial reporting</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Annual business plans </a:t>
                      </a:r>
                    </a:p>
                  </a:txBody>
                  <a:tcPr marL="45720" marR="45720" anchor="ctr">
                    <a:lnL w="12700" cmpd="sng">
                      <a:noFill/>
                    </a:lnL>
                    <a:lnR w="12700" cmpd="sng">
                      <a:noFill/>
                    </a:lnR>
                    <a:lnT w="12700" cap="flat" cmpd="sng" algn="ctr">
                      <a:solidFill>
                        <a:schemeClr val="bg2"/>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1413220"/>
                  </a:ext>
                </a:extLst>
              </a:tr>
              <a:tr h="428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1" baseline="0">
                          <a:solidFill>
                            <a:schemeClr val="bg2"/>
                          </a:solidFill>
                          <a:latin typeface="Fund Light" pitchFamily="2" charset="-78"/>
                          <a:cs typeface="Fund Light" pitchFamily="2" charset="-78"/>
                        </a:rPr>
                        <a:t>2</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Fund Light" pitchFamily="2" charset="-78"/>
                          <a:cs typeface="Fund Light" pitchFamily="2" charset="-78"/>
                        </a:rPr>
                        <a:t>% procured from LDC supplier in steady state (can be higher than the LDC commitment given)</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baseline="0">
                          <a:solidFill>
                            <a:srgbClr val="000000"/>
                          </a:solidFill>
                          <a:latin typeface="Fund Light" pitchFamily="2" charset="-78"/>
                          <a:ea typeface="+mn-ea"/>
                          <a:cs typeface="Fund Light" pitchFamily="2" charset="-78"/>
                        </a:rPr>
                        <a:t>Ratio of procured volume from LDC supplier out of total product demand at steady state</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Complete calculation methodology in Metric #1</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Calculate share of procurement volume from LDC supplier as a % of the total yearly volume demand in steady state</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Annual business plans </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6246509"/>
                  </a:ext>
                </a:extLst>
              </a:tr>
              <a:tr h="428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1" baseline="0">
                          <a:solidFill>
                            <a:schemeClr val="bg2"/>
                          </a:solidFill>
                          <a:latin typeface="Fund Light" pitchFamily="2" charset="-78"/>
                          <a:cs typeface="Fund Light" pitchFamily="2" charset="-78"/>
                        </a:rPr>
                        <a:t>3</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Fund Light" pitchFamily="2" charset="-78"/>
                          <a:cs typeface="Fund Light" pitchFamily="2" charset="-78"/>
                        </a:rPr>
                        <a:t>LC score of the localized product (based on LCGPA average sector scores)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b="0" baseline="0">
                          <a:solidFill>
                            <a:srgbClr val="000000"/>
                          </a:solidFill>
                          <a:latin typeface="Fund Light" pitchFamily="2" charset="-78"/>
                          <a:cs typeface="Fund Light" pitchFamily="2" charset="-78"/>
                        </a:rPr>
                        <a:t>% local content attributed to the product sector by LCGPA</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8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Insert the sector score attributed by LCGPA</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Company LC reporting templates</a:t>
                      </a:r>
                      <a:endParaRPr kumimoji="0" lang="en-GB"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121211"/>
                  </a:ext>
                </a:extLst>
              </a:tr>
              <a:tr h="4786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baseline="0">
                          <a:solidFill>
                            <a:schemeClr val="bg2"/>
                          </a:solidFill>
                          <a:latin typeface="Fund Light" pitchFamily="2" charset="-78"/>
                          <a:ea typeface="+mn-ea"/>
                          <a:cs typeface="Fund Light" pitchFamily="2" charset="-78"/>
                        </a:rPr>
                        <a:t>4</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Fund Light" pitchFamily="2" charset="-78"/>
                          <a:cs typeface="Fund Light" pitchFamily="2" charset="-78"/>
                        </a:rPr>
                        <a:t>Total Cost of Operations (in line with LCGPA LC score baseline template)</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baseline="0" dirty="0">
                          <a:solidFill>
                            <a:srgbClr val="000000"/>
                          </a:solidFill>
                          <a:latin typeface="Fund Light" pitchFamily="2" charset="-78"/>
                          <a:ea typeface="+mn-ea"/>
                          <a:cs typeface="Fund Light" pitchFamily="2" charset="-78"/>
                        </a:rPr>
                        <a:t>Sum of costs associated to spend on goods and services, labor compensation, capacity building, and depreciation of capital and assets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Compile forecast of cost of operations (at least 3 years)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Calculate the average cost of operations</a:t>
                      </a: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Company LC reporting templates</a:t>
                      </a:r>
                      <a:endParaRPr kumimoji="0" lang="en-GB"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45720" marR="45720"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4401292"/>
                  </a:ext>
                </a:extLst>
              </a:tr>
            </a:tbl>
          </a:graphicData>
        </a:graphic>
      </p:graphicFrame>
      <p:sp>
        <p:nvSpPr>
          <p:cNvPr id="18" name="Oval 17">
            <a:extLst>
              <a:ext uri="{FF2B5EF4-FFF2-40B4-BE49-F238E27FC236}">
                <a16:creationId xmlns:a16="http://schemas.microsoft.com/office/drawing/2014/main" id="{4562164F-2210-0153-2DA3-8C4AEB55F9A3}"/>
              </a:ext>
            </a:extLst>
          </p:cNvPr>
          <p:cNvSpPr/>
          <p:nvPr/>
        </p:nvSpPr>
        <p:spPr>
          <a:xfrm>
            <a:off x="376214" y="2582329"/>
            <a:ext cx="182880" cy="18288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800">
                <a:solidFill>
                  <a:schemeClr val="bg1"/>
                </a:solidFill>
                <a:latin typeface="Fund Light" pitchFamily="2" charset="-78"/>
                <a:cs typeface="Fund Light" pitchFamily="2" charset="-78"/>
              </a:rPr>
              <a:t>1</a:t>
            </a:r>
          </a:p>
        </p:txBody>
      </p:sp>
      <p:sp>
        <p:nvSpPr>
          <p:cNvPr id="19" name="Oval 18">
            <a:extLst>
              <a:ext uri="{FF2B5EF4-FFF2-40B4-BE49-F238E27FC236}">
                <a16:creationId xmlns:a16="http://schemas.microsoft.com/office/drawing/2014/main" id="{30F0455C-26C2-6401-82B1-3680BB51FF67}"/>
              </a:ext>
            </a:extLst>
          </p:cNvPr>
          <p:cNvSpPr/>
          <p:nvPr/>
        </p:nvSpPr>
        <p:spPr>
          <a:xfrm>
            <a:off x="376214" y="3147628"/>
            <a:ext cx="182880" cy="18288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800">
                <a:solidFill>
                  <a:schemeClr val="bg1"/>
                </a:solidFill>
                <a:latin typeface="Fund Light" pitchFamily="2" charset="-78"/>
                <a:cs typeface="Fund Light" pitchFamily="2" charset="-78"/>
              </a:rPr>
              <a:t>2</a:t>
            </a:r>
          </a:p>
        </p:txBody>
      </p:sp>
      <p:sp>
        <p:nvSpPr>
          <p:cNvPr id="20" name="Oval 19">
            <a:extLst>
              <a:ext uri="{FF2B5EF4-FFF2-40B4-BE49-F238E27FC236}">
                <a16:creationId xmlns:a16="http://schemas.microsoft.com/office/drawing/2014/main" id="{3B449CDC-2891-E61C-BB3C-9CEE37076D28}"/>
              </a:ext>
            </a:extLst>
          </p:cNvPr>
          <p:cNvSpPr/>
          <p:nvPr/>
        </p:nvSpPr>
        <p:spPr>
          <a:xfrm>
            <a:off x="376214" y="3633815"/>
            <a:ext cx="182880" cy="18288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800">
                <a:solidFill>
                  <a:schemeClr val="bg1"/>
                </a:solidFill>
                <a:latin typeface="Fund Light" pitchFamily="2" charset="-78"/>
                <a:cs typeface="Fund Light" pitchFamily="2" charset="-78"/>
              </a:rPr>
              <a:t>3</a:t>
            </a:r>
          </a:p>
        </p:txBody>
      </p:sp>
      <p:sp>
        <p:nvSpPr>
          <p:cNvPr id="21" name="Oval 20">
            <a:extLst>
              <a:ext uri="{FF2B5EF4-FFF2-40B4-BE49-F238E27FC236}">
                <a16:creationId xmlns:a16="http://schemas.microsoft.com/office/drawing/2014/main" id="{9A49C4E6-A9B2-8D8D-DEDA-861C7CBCFFE8}"/>
              </a:ext>
            </a:extLst>
          </p:cNvPr>
          <p:cNvSpPr/>
          <p:nvPr/>
        </p:nvSpPr>
        <p:spPr>
          <a:xfrm>
            <a:off x="376214" y="4187909"/>
            <a:ext cx="182880" cy="18288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800">
                <a:solidFill>
                  <a:schemeClr val="bg1"/>
                </a:solidFill>
                <a:latin typeface="Fund Light" pitchFamily="2" charset="-78"/>
                <a:cs typeface="Fund Light" pitchFamily="2" charset="-78"/>
              </a:rPr>
              <a:t>4</a:t>
            </a:r>
          </a:p>
        </p:txBody>
      </p:sp>
      <p:pic>
        <p:nvPicPr>
          <p:cNvPr id="25" name="Picture 4">
            <a:extLst>
              <a:ext uri="{FF2B5EF4-FFF2-40B4-BE49-F238E27FC236}">
                <a16:creationId xmlns:a16="http://schemas.microsoft.com/office/drawing/2014/main" id="{7868D57A-6174-8D19-B299-7A24CFF644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9512" y="4634955"/>
            <a:ext cx="396928" cy="390606"/>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F5FC71A9-E563-39DB-E386-7F4FB3CC7D11}"/>
              </a:ext>
            </a:extLst>
          </p:cNvPr>
          <p:cNvSpPr txBox="1">
            <a:spLocks/>
          </p:cNvSpPr>
          <p:nvPr/>
        </p:nvSpPr>
        <p:spPr>
          <a:xfrm>
            <a:off x="7160235" y="4684060"/>
            <a:ext cx="1297966" cy="2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defPPr>
              <a:defRPr lang="en-US"/>
            </a:defPPr>
            <a:lvl1pPr>
              <a:spcBef>
                <a:spcPts val="300"/>
              </a:spcBef>
              <a:spcAft>
                <a:spcPts val="300"/>
              </a:spcAft>
              <a:defRPr sz="12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800">
                <a:solidFill>
                  <a:srgbClr val="000000"/>
                </a:solidFill>
                <a:latin typeface="Fund Light" pitchFamily="2" charset="-78"/>
                <a:cs typeface="Fund Light" pitchFamily="2" charset="-78"/>
              </a:rPr>
              <a:t>Ready-to-plug template shared separately</a:t>
            </a:r>
          </a:p>
        </p:txBody>
      </p:sp>
      <p:sp>
        <p:nvSpPr>
          <p:cNvPr id="23" name="Rectangle: Rounded Corners 22">
            <a:extLst>
              <a:ext uri="{FF2B5EF4-FFF2-40B4-BE49-F238E27FC236}">
                <a16:creationId xmlns:a16="http://schemas.microsoft.com/office/drawing/2014/main" id="{B3BB656B-1507-3A47-D7C0-030EA474D38C}"/>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24" name="Group 23">
            <a:extLst>
              <a:ext uri="{FF2B5EF4-FFF2-40B4-BE49-F238E27FC236}">
                <a16:creationId xmlns:a16="http://schemas.microsoft.com/office/drawing/2014/main" id="{C89C068D-76A7-92B2-AA29-37865F8D1E5D}"/>
              </a:ext>
            </a:extLst>
          </p:cNvPr>
          <p:cNvGrpSpPr/>
          <p:nvPr/>
        </p:nvGrpSpPr>
        <p:grpSpPr>
          <a:xfrm>
            <a:off x="3004029" y="4817276"/>
            <a:ext cx="303559" cy="303559"/>
            <a:chOff x="-577629" y="2311332"/>
            <a:chExt cx="404038" cy="404037"/>
          </a:xfrm>
        </p:grpSpPr>
        <p:sp>
          <p:nvSpPr>
            <p:cNvPr id="27" name="Oval 26">
              <a:extLst>
                <a:ext uri="{FF2B5EF4-FFF2-40B4-BE49-F238E27FC236}">
                  <a16:creationId xmlns:a16="http://schemas.microsoft.com/office/drawing/2014/main" id="{1A64A3C4-F475-162A-A55A-534BFB601427}"/>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77FCB16A-0223-1259-21C6-A6D1F9283030}"/>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29" name="Group 28">
            <a:extLst>
              <a:ext uri="{FF2B5EF4-FFF2-40B4-BE49-F238E27FC236}">
                <a16:creationId xmlns:a16="http://schemas.microsoft.com/office/drawing/2014/main" id="{0E7B231E-9532-6248-8321-0FF1B96A63C2}"/>
              </a:ext>
            </a:extLst>
          </p:cNvPr>
          <p:cNvGrpSpPr/>
          <p:nvPr/>
        </p:nvGrpSpPr>
        <p:grpSpPr>
          <a:xfrm>
            <a:off x="6211995" y="4883810"/>
            <a:ext cx="168686" cy="161455"/>
            <a:chOff x="11260138" y="4194175"/>
            <a:chExt cx="360363" cy="379413"/>
          </a:xfrm>
        </p:grpSpPr>
        <p:sp>
          <p:nvSpPr>
            <p:cNvPr id="30" name="Freeform 289">
              <a:extLst>
                <a:ext uri="{FF2B5EF4-FFF2-40B4-BE49-F238E27FC236}">
                  <a16:creationId xmlns:a16="http://schemas.microsoft.com/office/drawing/2014/main" id="{5238BBBF-E6A1-5408-FC7E-74AFFB76ECFC}"/>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90">
              <a:extLst>
                <a:ext uri="{FF2B5EF4-FFF2-40B4-BE49-F238E27FC236}">
                  <a16:creationId xmlns:a16="http://schemas.microsoft.com/office/drawing/2014/main" id="{4E7F5230-D51C-6AF4-64DE-76A52C50AAEF}"/>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91">
              <a:extLst>
                <a:ext uri="{FF2B5EF4-FFF2-40B4-BE49-F238E27FC236}">
                  <a16:creationId xmlns:a16="http://schemas.microsoft.com/office/drawing/2014/main" id="{AF992DFE-B6EF-0FB1-865E-AE6882F50881}"/>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210992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792278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152322" cy="241824"/>
          </a:xfrm>
        </p:spPr>
        <p:txBody>
          <a:bodyPr vert="horz"/>
          <a:lstStyle/>
          <a:p>
            <a:r>
              <a:rPr lang="en-US" dirty="0"/>
              <a:t>LDC feasibility provides an in-depth assessment of the opportunity by answering four questions </a:t>
            </a:r>
          </a:p>
        </p:txBody>
      </p:sp>
      <p:grpSp>
        <p:nvGrpSpPr>
          <p:cNvPr id="3" name="Group 2">
            <a:extLst>
              <a:ext uri="{FF2B5EF4-FFF2-40B4-BE49-F238E27FC236}">
                <a16:creationId xmlns:a16="http://schemas.microsoft.com/office/drawing/2014/main" id="{DAC50DE7-C568-B65B-9929-BA037D3DE9A3}"/>
              </a:ext>
            </a:extLst>
          </p:cNvPr>
          <p:cNvGrpSpPr/>
          <p:nvPr/>
        </p:nvGrpSpPr>
        <p:grpSpPr>
          <a:xfrm>
            <a:off x="4831240" y="771525"/>
            <a:ext cx="3985386" cy="3744913"/>
            <a:chOff x="7145645" y="771525"/>
            <a:chExt cx="5481331" cy="3744913"/>
          </a:xfrm>
        </p:grpSpPr>
        <p:sp>
          <p:nvSpPr>
            <p:cNvPr id="39" name="TextBox 38">
              <a:extLst>
                <a:ext uri="{FF2B5EF4-FFF2-40B4-BE49-F238E27FC236}">
                  <a16:creationId xmlns:a16="http://schemas.microsoft.com/office/drawing/2014/main" id="{3895A889-C831-4A80-B7E2-2D79EC7354A0}"/>
                </a:ext>
              </a:extLst>
            </p:cNvPr>
            <p:cNvSpPr txBox="1">
              <a:spLocks/>
            </p:cNvSpPr>
            <p:nvPr/>
          </p:nvSpPr>
          <p:spPr>
            <a:xfrm>
              <a:off x="7145645" y="771525"/>
              <a:ext cx="5481331" cy="3744913"/>
            </a:xfrm>
            <a:prstGeom prst="rect">
              <a:avLst/>
            </a:prstGeom>
            <a:noFill/>
            <a:ln w="6350">
              <a:noFill/>
              <a:miter lim="800000"/>
            </a:ln>
          </p:spPr>
          <p:txBody>
            <a:bodyPr vert="horz" wrap="square" lIns="121920" tIns="121920" rIns="121920" bIns="121920" rtlCol="0" anchor="t" anchorCtr="0">
              <a:noAutofit/>
            </a:bodyPr>
            <a:lstStyle/>
            <a:p>
              <a:pPr defTabSz="1219170">
                <a:spcBef>
                  <a:spcPct val="50000"/>
                </a:spcBef>
                <a:defRPr/>
              </a:pPr>
              <a:r>
                <a:rPr lang="en-US" sz="1100" b="1">
                  <a:solidFill>
                    <a:schemeClr val="bg2"/>
                  </a:solidFill>
                  <a:latin typeface="Fund Light" pitchFamily="2" charset="-78"/>
                  <a:cs typeface="Fund Light" pitchFamily="2" charset="-78"/>
                </a:rPr>
                <a:t>Questions covered under the LDC feasibility assessment </a:t>
              </a:r>
              <a:endParaRPr lang="en-GB" sz="1100" b="1">
                <a:solidFill>
                  <a:schemeClr val="bg2"/>
                </a:solidFill>
                <a:latin typeface="Fund Light" pitchFamily="2" charset="-78"/>
                <a:cs typeface="Fund Light" pitchFamily="2" charset="-78"/>
              </a:endParaRPr>
            </a:p>
            <a:p>
              <a:pPr defTabSz="1219170">
                <a:spcBef>
                  <a:spcPts val="400"/>
                </a:spcBef>
                <a:spcAft>
                  <a:spcPts val="400"/>
                </a:spcAft>
                <a:defRPr/>
              </a:pPr>
              <a:endParaRPr lang="en-GB" sz="1100" b="1">
                <a:solidFill>
                  <a:schemeClr val="tx2"/>
                </a:solidFill>
                <a:latin typeface="Fund Light" pitchFamily="2" charset="-78"/>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7629525" y="1292320"/>
              <a:ext cx="4997451" cy="3224118"/>
            </a:xfrm>
            <a:prstGeom prst="rect">
              <a:avLst/>
            </a:prstGeom>
            <a:noFill/>
            <a:ln w="6350">
              <a:noFill/>
              <a:miter lim="800000"/>
            </a:ln>
          </p:spPr>
          <p:txBody>
            <a:bodyPr wrap="square" lIns="91440" tIns="91440" rIns="91440" bIns="91440">
              <a:noAutofit/>
            </a:bodyPr>
            <a:lstStyle/>
            <a:p>
              <a:pPr defTabSz="1219170">
                <a:spcBef>
                  <a:spcPts val="600"/>
                </a:spcBef>
                <a:spcAft>
                  <a:spcPts val="800"/>
                </a:spcAft>
                <a:defRPr/>
              </a:pPr>
              <a:r>
                <a:rPr lang="en-US" sz="1100">
                  <a:solidFill>
                    <a:srgbClr val="000000"/>
                  </a:solidFill>
                  <a:latin typeface="Fund Light" pitchFamily="2" charset="-78"/>
                  <a:cs typeface="Fund Light" pitchFamily="2" charset="-78"/>
                </a:rPr>
                <a:t>What is the </a:t>
              </a:r>
              <a:r>
                <a:rPr lang="en-US" sz="1100" b="1">
                  <a:solidFill>
                    <a:srgbClr val="000000"/>
                  </a:solidFill>
                  <a:latin typeface="Fund Light" pitchFamily="2" charset="-78"/>
                  <a:cs typeface="Fund Light" pitchFamily="2" charset="-78"/>
                </a:rPr>
                <a:t>localization opportunity </a:t>
              </a:r>
              <a:r>
                <a:rPr lang="en-US" sz="1100">
                  <a:solidFill>
                    <a:srgbClr val="000000"/>
                  </a:solidFill>
                  <a:latin typeface="Fund Light" pitchFamily="2" charset="-78"/>
                  <a:cs typeface="Fund Light" pitchFamily="2" charset="-78"/>
                </a:rPr>
                <a:t>and its expected impact?</a:t>
              </a:r>
            </a:p>
            <a:p>
              <a:pPr defTabSz="1219170">
                <a:spcBef>
                  <a:spcPts val="600"/>
                </a:spcBef>
                <a:spcAft>
                  <a:spcPts val="800"/>
                </a:spcAft>
                <a:defRPr/>
              </a:pPr>
              <a:r>
                <a:rPr lang="en-US" sz="1100">
                  <a:solidFill>
                    <a:srgbClr val="000000"/>
                  </a:solidFill>
                  <a:latin typeface="Fund Light" pitchFamily="2" charset="-78"/>
                  <a:cs typeface="Fund Light" pitchFamily="2" charset="-78"/>
                </a:rPr>
                <a:t>Is the </a:t>
              </a:r>
              <a:r>
                <a:rPr lang="en-US" sz="1100" b="1">
                  <a:solidFill>
                    <a:srgbClr val="000000"/>
                  </a:solidFill>
                  <a:latin typeface="Fund Light" pitchFamily="2" charset="-78"/>
                  <a:cs typeface="Fund Light" pitchFamily="2" charset="-78"/>
                </a:rPr>
                <a:t>addressable demand sufficient </a:t>
              </a:r>
              <a:r>
                <a:rPr lang="en-US" sz="1100">
                  <a:solidFill>
                    <a:srgbClr val="000000"/>
                  </a:solidFill>
                  <a:latin typeface="Fund Light" pitchFamily="2" charset="-78"/>
                  <a:cs typeface="Fund Light" pitchFamily="2" charset="-78"/>
                </a:rPr>
                <a:t>for localization? </a:t>
              </a:r>
            </a:p>
            <a:p>
              <a:pPr defTabSz="1219170">
                <a:spcBef>
                  <a:spcPts val="600"/>
                </a:spcBef>
                <a:spcAft>
                  <a:spcPts val="800"/>
                </a:spcAft>
                <a:defRPr/>
              </a:pPr>
              <a:r>
                <a:rPr lang="en-US" sz="1100">
                  <a:solidFill>
                    <a:srgbClr val="000000"/>
                  </a:solidFill>
                  <a:latin typeface="Fund Light" pitchFamily="2" charset="-78"/>
                  <a:cs typeface="Fund Light" pitchFamily="2" charset="-78"/>
                </a:rPr>
                <a:t>Is a </a:t>
              </a:r>
              <a:r>
                <a:rPr lang="en-US" sz="1100" b="1">
                  <a:solidFill>
                    <a:srgbClr val="000000"/>
                  </a:solidFill>
                  <a:latin typeface="Fund Light" pitchFamily="2" charset="-78"/>
                  <a:cs typeface="Fund Light" pitchFamily="2" charset="-78"/>
                </a:rPr>
                <a:t>preferred supplier agreement </a:t>
              </a:r>
              <a:r>
                <a:rPr lang="en-US" sz="1100">
                  <a:solidFill>
                    <a:srgbClr val="000000"/>
                  </a:solidFill>
                  <a:latin typeface="Fund Light" pitchFamily="2" charset="-78"/>
                  <a:cs typeface="Fund Light" pitchFamily="2" charset="-78"/>
                </a:rPr>
                <a:t>sufficient or is a take-or-pay required?</a:t>
              </a:r>
            </a:p>
            <a:p>
              <a:pPr defTabSz="1219170">
                <a:spcBef>
                  <a:spcPts val="600"/>
                </a:spcBef>
                <a:spcAft>
                  <a:spcPts val="800"/>
                </a:spcAft>
                <a:defRPr/>
              </a:pPr>
              <a:r>
                <a:rPr lang="en-US" sz="1100">
                  <a:solidFill>
                    <a:srgbClr val="000000"/>
                  </a:solidFill>
                  <a:latin typeface="Fund Light" pitchFamily="2" charset="-78"/>
                  <a:cs typeface="Fund Light" pitchFamily="2" charset="-78"/>
                </a:rPr>
                <a:t>Are the </a:t>
              </a:r>
              <a:r>
                <a:rPr lang="en-US" sz="1100" b="1">
                  <a:solidFill>
                    <a:srgbClr val="000000"/>
                  </a:solidFill>
                  <a:latin typeface="Fund Light" pitchFamily="2" charset="-78"/>
                  <a:cs typeface="Fund Light" pitchFamily="2" charset="-78"/>
                </a:rPr>
                <a:t>associated risks </a:t>
              </a:r>
              <a:r>
                <a:rPr lang="en-US" sz="1100">
                  <a:solidFill>
                    <a:srgbClr val="000000"/>
                  </a:solidFill>
                  <a:latin typeface="Fund Light" pitchFamily="2" charset="-78"/>
                  <a:cs typeface="Fund Light" pitchFamily="2" charset="-78"/>
                </a:rPr>
                <a:t>manageable?</a:t>
              </a:r>
            </a:p>
          </p:txBody>
        </p:sp>
      </p:grpSp>
      <p:sp>
        <p:nvSpPr>
          <p:cNvPr id="41" name="Oval 40">
            <a:extLst>
              <a:ext uri="{FF2B5EF4-FFF2-40B4-BE49-F238E27FC236}">
                <a16:creationId xmlns:a16="http://schemas.microsoft.com/office/drawing/2014/main" id="{C0722AEB-78F6-4253-9E2C-EED187ED408F}"/>
              </a:ext>
            </a:extLst>
          </p:cNvPr>
          <p:cNvSpPr/>
          <p:nvPr/>
        </p:nvSpPr>
        <p:spPr>
          <a:xfrm>
            <a:off x="4908741" y="141174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1</a:t>
            </a:r>
          </a:p>
        </p:txBody>
      </p:sp>
      <p:sp>
        <p:nvSpPr>
          <p:cNvPr id="7" name="Oval 6">
            <a:extLst>
              <a:ext uri="{FF2B5EF4-FFF2-40B4-BE49-F238E27FC236}">
                <a16:creationId xmlns:a16="http://schemas.microsoft.com/office/drawing/2014/main" id="{3EB334F8-F229-4DBC-8944-1F59DB4F3529}"/>
              </a:ext>
            </a:extLst>
          </p:cNvPr>
          <p:cNvSpPr/>
          <p:nvPr/>
        </p:nvSpPr>
        <p:spPr>
          <a:xfrm>
            <a:off x="4908741" y="1901738"/>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2</a:t>
            </a:r>
          </a:p>
        </p:txBody>
      </p:sp>
      <p:sp>
        <p:nvSpPr>
          <p:cNvPr id="8" name="Oval 7">
            <a:extLst>
              <a:ext uri="{FF2B5EF4-FFF2-40B4-BE49-F238E27FC236}">
                <a16:creationId xmlns:a16="http://schemas.microsoft.com/office/drawing/2014/main" id="{000719F4-36C7-E2BE-5FDE-1A6DC030946E}"/>
              </a:ext>
            </a:extLst>
          </p:cNvPr>
          <p:cNvSpPr/>
          <p:nvPr/>
        </p:nvSpPr>
        <p:spPr>
          <a:xfrm>
            <a:off x="4908741" y="2391735"/>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3</a:t>
            </a:r>
          </a:p>
        </p:txBody>
      </p:sp>
      <p:sp>
        <p:nvSpPr>
          <p:cNvPr id="9" name="Oval 8">
            <a:extLst>
              <a:ext uri="{FF2B5EF4-FFF2-40B4-BE49-F238E27FC236}">
                <a16:creationId xmlns:a16="http://schemas.microsoft.com/office/drawing/2014/main" id="{9E46D201-6EF1-C5A6-6363-813F2254F603}"/>
              </a:ext>
            </a:extLst>
          </p:cNvPr>
          <p:cNvSpPr/>
          <p:nvPr/>
        </p:nvSpPr>
        <p:spPr>
          <a:xfrm>
            <a:off x="4908741" y="2881733"/>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4</a:t>
            </a:r>
          </a:p>
        </p:txBody>
      </p:sp>
      <p:sp>
        <p:nvSpPr>
          <p:cNvPr id="6" name="Rectangle 5">
            <a:extLst>
              <a:ext uri="{FF2B5EF4-FFF2-40B4-BE49-F238E27FC236}">
                <a16:creationId xmlns:a16="http://schemas.microsoft.com/office/drawing/2014/main" id="{2F075E9E-834C-740A-0E8D-4C4FC8297C16}"/>
              </a:ext>
            </a:extLst>
          </p:cNvPr>
          <p:cNvSpPr/>
          <p:nvPr/>
        </p:nvSpPr>
        <p:spPr>
          <a:xfrm>
            <a:off x="4831240" y="2290233"/>
            <a:ext cx="4160360" cy="1284817"/>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A6EAF9-4FA0-B496-8770-1BD55C477A42}"/>
              </a:ext>
            </a:extLst>
          </p:cNvPr>
          <p:cNvSpPr/>
          <p:nvPr/>
        </p:nvSpPr>
        <p:spPr>
          <a:xfrm>
            <a:off x="4831240" y="1114852"/>
            <a:ext cx="4160360" cy="735816"/>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6">
            <a:extLst>
              <a:ext uri="{FF2B5EF4-FFF2-40B4-BE49-F238E27FC236}">
                <a16:creationId xmlns:a16="http://schemas.microsoft.com/office/drawing/2014/main" id="{57C66AAF-BE33-E1BF-AEF5-E7A8A10E6496}"/>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Addressable demand</a:t>
            </a:r>
          </a:p>
        </p:txBody>
      </p:sp>
      <p:sp>
        <p:nvSpPr>
          <p:cNvPr id="12" name="Oval 11">
            <a:extLst>
              <a:ext uri="{FF2B5EF4-FFF2-40B4-BE49-F238E27FC236}">
                <a16:creationId xmlns:a16="http://schemas.microsoft.com/office/drawing/2014/main" id="{3607B4CB-1DED-E753-30EE-D27CFC121F13}"/>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2" name="TextBox 1">
            <a:extLst>
              <a:ext uri="{FF2B5EF4-FFF2-40B4-BE49-F238E27FC236}">
                <a16:creationId xmlns:a16="http://schemas.microsoft.com/office/drawing/2014/main" id="{851AD3EE-98C8-07F1-A705-53B7FCA27CF5}"/>
              </a:ext>
            </a:extLst>
          </p:cNvPr>
          <p:cNvSpPr txBox="1">
            <a:spLocks/>
          </p:cNvSpPr>
          <p:nvPr/>
        </p:nvSpPr>
        <p:spPr>
          <a:xfrm>
            <a:off x="327025" y="771525"/>
            <a:ext cx="4346576"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GB" sz="1100" b="1" i="0" u="none" strike="noStrike" kern="1200" cap="none" spc="0" normalizeH="0" baseline="0" noProof="0" dirty="0">
                <a:ln>
                  <a:noFill/>
                </a:ln>
                <a:solidFill>
                  <a:srgbClr val="C3984D"/>
                </a:solidFill>
                <a:effectLst/>
                <a:uLnTx/>
                <a:uFillTx/>
                <a:latin typeface="Fund Light" pitchFamily="2" charset="-78"/>
                <a:ea typeface="+mn-ea"/>
                <a:cs typeface="Fund Light" pitchFamily="2" charset="-78"/>
              </a:rPr>
              <a:t>Objective</a:t>
            </a:r>
          </a:p>
          <a:p>
            <a:pPr marL="231642" marR="0" lvl="0" indent="-231642" algn="l" defTabSz="121917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Evaluate whether demand is sufficient to localize the opportunity, based on:</a:t>
            </a:r>
          </a:p>
          <a:p>
            <a:pPr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lang="en-US" sz="1100" dirty="0">
                <a:solidFill>
                  <a:srgbClr val="000000"/>
                </a:solidFill>
                <a:latin typeface="Fund Light" pitchFamily="2" charset="-78"/>
                <a:cs typeface="Fund Light" pitchFamily="2" charset="-78"/>
              </a:rPr>
              <a:t>KSA demand / supply ga</a:t>
            </a: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p</a:t>
            </a:r>
          </a:p>
          <a:p>
            <a:pPr marL="457200"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Regional export potential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2"/>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Develop detailed business case to:</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Select optimal type of LDC agreement (PSA or take-or-pay agreement) based on the financial risk of the investor </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Assess the potential liability risks based on required LDC demand commitments and durations</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Estimate of company-level LC impact as a result of the product localization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3"/>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Ultimately, the LDC feasibility assessment aims to develop a thorough understanding of the opportunity and acts as the basis to obtain approval to commence the LDC journey </a:t>
            </a:r>
          </a:p>
        </p:txBody>
      </p:sp>
    </p:spTree>
    <p:extLst>
      <p:ext uri="{BB962C8B-B14F-4D97-AF65-F5344CB8AC3E}">
        <p14:creationId xmlns:p14="http://schemas.microsoft.com/office/powerpoint/2010/main" val="4063976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531EDDC6-077E-CACA-E0B9-D28C961B05A4}"/>
              </a:ext>
            </a:extLst>
          </p:cNvPr>
          <p:cNvGraphicFramePr>
            <a:graphicFrameLocks noChangeAspect="1"/>
          </p:cNvGraphicFramePr>
          <p:nvPr>
            <p:custDataLst>
              <p:tags r:id="rId1"/>
            </p:custDataLst>
            <p:extLst>
              <p:ext uri="{D42A27DB-BD31-4B8C-83A1-F6EECF244321}">
                <p14:modId xmlns:p14="http://schemas.microsoft.com/office/powerpoint/2010/main" val="2328662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807" imgH="812" progId="TCLayout.ActiveDocument.1">
                  <p:embed/>
                </p:oleObj>
              </mc:Choice>
              <mc:Fallback>
                <p:oleObj name="think-cell Slide" r:id="rId4" imgW="807" imgH="812" progId="TCLayout.ActiveDocument.1">
                  <p:embed/>
                  <p:pic>
                    <p:nvPicPr>
                      <p:cNvPr id="22" name="think-cell data - do not delete" hidden="1">
                        <a:extLst>
                          <a:ext uri="{FF2B5EF4-FFF2-40B4-BE49-F238E27FC236}">
                            <a16:creationId xmlns:a16="http://schemas.microsoft.com/office/drawing/2014/main" id="{531EDDC6-077E-CACA-E0B9-D28C961B05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0F7784-4029-B40F-81E6-F7DAABF8B872}"/>
              </a:ext>
            </a:extLst>
          </p:cNvPr>
          <p:cNvSpPr>
            <a:spLocks noGrp="1"/>
          </p:cNvSpPr>
          <p:nvPr>
            <p:ph type="title"/>
          </p:nvPr>
        </p:nvSpPr>
        <p:spPr>
          <a:xfrm>
            <a:off x="1255077" y="255973"/>
            <a:ext cx="7680960" cy="241824"/>
          </a:xfrm>
        </p:spPr>
        <p:txBody>
          <a:bodyPr vert="horz"/>
          <a:lstStyle/>
          <a:p>
            <a:r>
              <a:rPr lang="en-US"/>
              <a:t>To prove localization viability, total addressable demand needs to be assessed against the plant capacity</a:t>
            </a:r>
          </a:p>
        </p:txBody>
      </p:sp>
      <p:sp>
        <p:nvSpPr>
          <p:cNvPr id="177" name="Text Placeholder 6">
            <a:extLst>
              <a:ext uri="{FF2B5EF4-FFF2-40B4-BE49-F238E27FC236}">
                <a16:creationId xmlns:a16="http://schemas.microsoft.com/office/drawing/2014/main" id="{55C16B51-0369-D11B-4BF9-6F4A3FA29247}"/>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Addressable demand</a:t>
            </a:r>
          </a:p>
        </p:txBody>
      </p:sp>
      <p:sp>
        <p:nvSpPr>
          <p:cNvPr id="178" name="Oval 177">
            <a:extLst>
              <a:ext uri="{FF2B5EF4-FFF2-40B4-BE49-F238E27FC236}">
                <a16:creationId xmlns:a16="http://schemas.microsoft.com/office/drawing/2014/main" id="{E06E5519-F46F-B035-70DA-E326BB3BF370}"/>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179" name="Rectangle 178">
            <a:extLst>
              <a:ext uri="{FF2B5EF4-FFF2-40B4-BE49-F238E27FC236}">
                <a16:creationId xmlns:a16="http://schemas.microsoft.com/office/drawing/2014/main" id="{3CCDAF51-C20B-8026-9E9E-F12FC6A8C59F}"/>
              </a:ext>
            </a:extLst>
          </p:cNvPr>
          <p:cNvSpPr/>
          <p:nvPr/>
        </p:nvSpPr>
        <p:spPr>
          <a:xfrm>
            <a:off x="3677463" y="-2025"/>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3" name="Rectangle 2">
            <a:extLst>
              <a:ext uri="{FF2B5EF4-FFF2-40B4-BE49-F238E27FC236}">
                <a16:creationId xmlns:a16="http://schemas.microsoft.com/office/drawing/2014/main" id="{F2F805FE-8B75-A791-C62A-A70127118AA1}"/>
              </a:ext>
            </a:extLst>
          </p:cNvPr>
          <p:cNvSpPr/>
          <p:nvPr/>
        </p:nvSpPr>
        <p:spPr>
          <a:xfrm>
            <a:off x="4922763" y="1119343"/>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4" name="Rectangle: Rounded Corners 3">
            <a:extLst>
              <a:ext uri="{FF2B5EF4-FFF2-40B4-BE49-F238E27FC236}">
                <a16:creationId xmlns:a16="http://schemas.microsoft.com/office/drawing/2014/main" id="{1EB45C73-AD71-1C31-A798-C9F5CA8B369D}"/>
              </a:ext>
            </a:extLst>
          </p:cNvPr>
          <p:cNvSpPr/>
          <p:nvPr/>
        </p:nvSpPr>
        <p:spPr>
          <a:xfrm>
            <a:off x="3258668" y="4865262"/>
            <a:ext cx="4480560"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Consult PIF for support to estimate supply and demand (</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ction="ppaction://hlinksldjump"/>
              </a:rPr>
              <a:t>Contacts</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grpSp>
        <p:nvGrpSpPr>
          <p:cNvPr id="5" name="Group 4">
            <a:extLst>
              <a:ext uri="{FF2B5EF4-FFF2-40B4-BE49-F238E27FC236}">
                <a16:creationId xmlns:a16="http://schemas.microsoft.com/office/drawing/2014/main" id="{0E8A15CC-272E-C4FE-F1F9-F81DDA74FF73}"/>
              </a:ext>
            </a:extLst>
          </p:cNvPr>
          <p:cNvGrpSpPr/>
          <p:nvPr/>
        </p:nvGrpSpPr>
        <p:grpSpPr>
          <a:xfrm>
            <a:off x="3004029" y="4817276"/>
            <a:ext cx="303559" cy="303559"/>
            <a:chOff x="-577629" y="2311332"/>
            <a:chExt cx="404038" cy="404037"/>
          </a:xfrm>
        </p:grpSpPr>
        <p:sp>
          <p:nvSpPr>
            <p:cNvPr id="6" name="Oval 5">
              <a:extLst>
                <a:ext uri="{FF2B5EF4-FFF2-40B4-BE49-F238E27FC236}">
                  <a16:creationId xmlns:a16="http://schemas.microsoft.com/office/drawing/2014/main" id="{C446B4B1-8640-C2AA-506B-BA4CFCD1AED9}"/>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5D0E28E8-F3A0-3B65-F3AC-1230FD5CC99B}"/>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8" name="Group 7">
            <a:extLst>
              <a:ext uri="{FF2B5EF4-FFF2-40B4-BE49-F238E27FC236}">
                <a16:creationId xmlns:a16="http://schemas.microsoft.com/office/drawing/2014/main" id="{47C4E94A-0283-C702-F9C8-6A98ED108D1B}"/>
              </a:ext>
            </a:extLst>
          </p:cNvPr>
          <p:cNvGrpSpPr/>
          <p:nvPr/>
        </p:nvGrpSpPr>
        <p:grpSpPr>
          <a:xfrm>
            <a:off x="7520095" y="4883810"/>
            <a:ext cx="168686" cy="161455"/>
            <a:chOff x="11260138" y="4194175"/>
            <a:chExt cx="360363" cy="379413"/>
          </a:xfrm>
        </p:grpSpPr>
        <p:sp>
          <p:nvSpPr>
            <p:cNvPr id="9" name="Freeform 289">
              <a:extLst>
                <a:ext uri="{FF2B5EF4-FFF2-40B4-BE49-F238E27FC236}">
                  <a16:creationId xmlns:a16="http://schemas.microsoft.com/office/drawing/2014/main" id="{7202D9CB-BA90-C36D-0597-FB2A6E16ABE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0" name="Freeform 290">
              <a:extLst>
                <a:ext uri="{FF2B5EF4-FFF2-40B4-BE49-F238E27FC236}">
                  <a16:creationId xmlns:a16="http://schemas.microsoft.com/office/drawing/2014/main" id="{A437404A-94D7-0429-C284-A417D004A4A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1" name="Freeform 291">
              <a:extLst>
                <a:ext uri="{FF2B5EF4-FFF2-40B4-BE49-F238E27FC236}">
                  <a16:creationId xmlns:a16="http://schemas.microsoft.com/office/drawing/2014/main" id="{30BE7544-5B83-36A6-653B-9BE4B809A864}"/>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sp>
        <p:nvSpPr>
          <p:cNvPr id="12" name="Rectangle 11">
            <a:extLst>
              <a:ext uri="{FF2B5EF4-FFF2-40B4-BE49-F238E27FC236}">
                <a16:creationId xmlns:a16="http://schemas.microsoft.com/office/drawing/2014/main" id="{08562C93-3B66-40B9-896B-777C83F8F5C9}"/>
              </a:ext>
            </a:extLst>
          </p:cNvPr>
          <p:cNvSpPr/>
          <p:nvPr/>
        </p:nvSpPr>
        <p:spPr>
          <a:xfrm>
            <a:off x="2245352" y="1072350"/>
            <a:ext cx="2620446"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3" name="Rectangle 12">
            <a:extLst>
              <a:ext uri="{FF2B5EF4-FFF2-40B4-BE49-F238E27FC236}">
                <a16:creationId xmlns:a16="http://schemas.microsoft.com/office/drawing/2014/main" id="{74E9F4D6-E5F5-F010-D27F-9A692BC6E542}"/>
              </a:ext>
            </a:extLst>
          </p:cNvPr>
          <p:cNvSpPr/>
          <p:nvPr/>
        </p:nvSpPr>
        <p:spPr>
          <a:xfrm>
            <a:off x="279919" y="1030618"/>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demand</a:t>
            </a:r>
          </a:p>
        </p:txBody>
      </p:sp>
      <p:sp>
        <p:nvSpPr>
          <p:cNvPr id="14" name="Rectangle 13">
            <a:extLst>
              <a:ext uri="{FF2B5EF4-FFF2-40B4-BE49-F238E27FC236}">
                <a16:creationId xmlns:a16="http://schemas.microsoft.com/office/drawing/2014/main" id="{C5598F1E-74DD-C109-F270-009EB667DACF}"/>
              </a:ext>
            </a:extLst>
          </p:cNvPr>
          <p:cNvSpPr/>
          <p:nvPr/>
        </p:nvSpPr>
        <p:spPr>
          <a:xfrm>
            <a:off x="280621" y="1601311"/>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supply</a:t>
            </a:r>
          </a:p>
        </p:txBody>
      </p:sp>
      <p:sp>
        <p:nvSpPr>
          <p:cNvPr id="15" name="Rectangle 14">
            <a:extLst>
              <a:ext uri="{FF2B5EF4-FFF2-40B4-BE49-F238E27FC236}">
                <a16:creationId xmlns:a16="http://schemas.microsoft.com/office/drawing/2014/main" id="{8F1D98DE-5533-5164-456F-87877654239D}"/>
              </a:ext>
            </a:extLst>
          </p:cNvPr>
          <p:cNvSpPr/>
          <p:nvPr/>
        </p:nvSpPr>
        <p:spPr>
          <a:xfrm>
            <a:off x="3726712" y="1647607"/>
            <a:ext cx="1139085"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6" name="Rectangle 15">
            <a:extLst>
              <a:ext uri="{FF2B5EF4-FFF2-40B4-BE49-F238E27FC236}">
                <a16:creationId xmlns:a16="http://schemas.microsoft.com/office/drawing/2014/main" id="{99C037CE-9FC2-7FAF-6393-FC2C218FCC03}"/>
              </a:ext>
            </a:extLst>
          </p:cNvPr>
          <p:cNvSpPr/>
          <p:nvPr/>
        </p:nvSpPr>
        <p:spPr>
          <a:xfrm>
            <a:off x="279217" y="2176568"/>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demand / supply gap</a:t>
            </a:r>
          </a:p>
        </p:txBody>
      </p:sp>
      <p:sp>
        <p:nvSpPr>
          <p:cNvPr id="17" name="Rectangle 16">
            <a:extLst>
              <a:ext uri="{FF2B5EF4-FFF2-40B4-BE49-F238E27FC236}">
                <a16:creationId xmlns:a16="http://schemas.microsoft.com/office/drawing/2014/main" id="{F83812CB-BFF2-BE54-7B10-67CA7BAFFF50}"/>
              </a:ext>
            </a:extLst>
          </p:cNvPr>
          <p:cNvSpPr/>
          <p:nvPr/>
        </p:nvSpPr>
        <p:spPr>
          <a:xfrm>
            <a:off x="2245352" y="2218300"/>
            <a:ext cx="1481360"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8" name="Rectangle 17">
            <a:extLst>
              <a:ext uri="{FF2B5EF4-FFF2-40B4-BE49-F238E27FC236}">
                <a16:creationId xmlns:a16="http://schemas.microsoft.com/office/drawing/2014/main" id="{986D5B0E-D506-99D9-DC72-11B6FFBE4389}"/>
              </a:ext>
            </a:extLst>
          </p:cNvPr>
          <p:cNvSpPr/>
          <p:nvPr/>
        </p:nvSpPr>
        <p:spPr>
          <a:xfrm>
            <a:off x="278515" y="2751636"/>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Regional export potential</a:t>
            </a:r>
          </a:p>
        </p:txBody>
      </p:sp>
      <p:sp>
        <p:nvSpPr>
          <p:cNvPr id="19" name="Rectangle 18">
            <a:extLst>
              <a:ext uri="{FF2B5EF4-FFF2-40B4-BE49-F238E27FC236}">
                <a16:creationId xmlns:a16="http://schemas.microsoft.com/office/drawing/2014/main" id="{7FBEFFA4-D26C-77A6-AE4E-5847579D7EA9}"/>
              </a:ext>
            </a:extLst>
          </p:cNvPr>
          <p:cNvSpPr/>
          <p:nvPr/>
        </p:nvSpPr>
        <p:spPr>
          <a:xfrm>
            <a:off x="3726712" y="2788628"/>
            <a:ext cx="653901"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20" name="Rectangle 19">
            <a:extLst>
              <a:ext uri="{FF2B5EF4-FFF2-40B4-BE49-F238E27FC236}">
                <a16:creationId xmlns:a16="http://schemas.microsoft.com/office/drawing/2014/main" id="{1D6BA45A-4A21-54F3-8B1E-37C6277F0BFC}"/>
              </a:ext>
            </a:extLst>
          </p:cNvPr>
          <p:cNvSpPr/>
          <p:nvPr/>
        </p:nvSpPr>
        <p:spPr>
          <a:xfrm>
            <a:off x="277813" y="3322329"/>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Total addressable demand</a:t>
            </a:r>
          </a:p>
        </p:txBody>
      </p:sp>
      <p:sp>
        <p:nvSpPr>
          <p:cNvPr id="21" name="Rectangle 20">
            <a:extLst>
              <a:ext uri="{FF2B5EF4-FFF2-40B4-BE49-F238E27FC236}">
                <a16:creationId xmlns:a16="http://schemas.microsoft.com/office/drawing/2014/main" id="{421EDA1F-7329-612A-FA7B-F288401F22A5}"/>
              </a:ext>
            </a:extLst>
          </p:cNvPr>
          <p:cNvSpPr/>
          <p:nvPr/>
        </p:nvSpPr>
        <p:spPr>
          <a:xfrm>
            <a:off x="277813" y="3893022"/>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Fund Light" pitchFamily="2" charset="-78"/>
                <a:cs typeface="Fund Light" pitchFamily="2" charset="-78"/>
              </a:rPr>
              <a:t>Minimum viable plant capacity of the LDC product</a:t>
            </a:r>
          </a:p>
        </p:txBody>
      </p:sp>
      <p:sp>
        <p:nvSpPr>
          <p:cNvPr id="23" name="Rectangle 22">
            <a:extLst>
              <a:ext uri="{FF2B5EF4-FFF2-40B4-BE49-F238E27FC236}">
                <a16:creationId xmlns:a16="http://schemas.microsoft.com/office/drawing/2014/main" id="{6B95C1CC-D09A-99F0-6B50-9D84726FBCD8}"/>
              </a:ext>
            </a:extLst>
          </p:cNvPr>
          <p:cNvSpPr/>
          <p:nvPr/>
        </p:nvSpPr>
        <p:spPr>
          <a:xfrm>
            <a:off x="2245352" y="3934388"/>
            <a:ext cx="1013316" cy="3939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cxnSp>
        <p:nvCxnSpPr>
          <p:cNvPr id="24" name="Straight Connector 23">
            <a:extLst>
              <a:ext uri="{FF2B5EF4-FFF2-40B4-BE49-F238E27FC236}">
                <a16:creationId xmlns:a16="http://schemas.microsoft.com/office/drawing/2014/main" id="{E34D4462-B0C8-DF79-6C67-62AF1EA99A5F}"/>
              </a:ext>
            </a:extLst>
          </p:cNvPr>
          <p:cNvCxnSpPr/>
          <p:nvPr/>
        </p:nvCxnSpPr>
        <p:spPr>
          <a:xfrm>
            <a:off x="2237413" y="963613"/>
            <a:ext cx="0" cy="3491983"/>
          </a:xfrm>
          <a:prstGeom prst="line">
            <a:avLst/>
          </a:prstGeom>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D85867B7-C6C1-5FB5-EEFE-B63910C99BC7}"/>
              </a:ext>
            </a:extLst>
          </p:cNvPr>
          <p:cNvSpPr/>
          <p:nvPr/>
        </p:nvSpPr>
        <p:spPr>
          <a:xfrm>
            <a:off x="2245352" y="3363695"/>
            <a:ext cx="1481360"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Fund Light" pitchFamily="2" charset="-78"/>
                <a:cs typeface="Fund Light" pitchFamily="2" charset="-78"/>
              </a:rPr>
              <a:t>KSA</a:t>
            </a:r>
            <a:endParaRPr kumimoji="0" lang="en-US" sz="1100" b="0" i="1"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27" name="Rectangle 26">
            <a:extLst>
              <a:ext uri="{FF2B5EF4-FFF2-40B4-BE49-F238E27FC236}">
                <a16:creationId xmlns:a16="http://schemas.microsoft.com/office/drawing/2014/main" id="{DE480249-0405-09CC-1014-E33752BB70AE}"/>
              </a:ext>
            </a:extLst>
          </p:cNvPr>
          <p:cNvSpPr/>
          <p:nvPr/>
        </p:nvSpPr>
        <p:spPr>
          <a:xfrm>
            <a:off x="3726712" y="3363695"/>
            <a:ext cx="653901"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Fund Light" pitchFamily="2" charset="-78"/>
                <a:cs typeface="Fund Light" pitchFamily="2" charset="-78"/>
              </a:rPr>
              <a:t>Export</a:t>
            </a:r>
          </a:p>
        </p:txBody>
      </p:sp>
      <p:cxnSp>
        <p:nvCxnSpPr>
          <p:cNvPr id="33" name="Straight Connector 32">
            <a:extLst>
              <a:ext uri="{FF2B5EF4-FFF2-40B4-BE49-F238E27FC236}">
                <a16:creationId xmlns:a16="http://schemas.microsoft.com/office/drawing/2014/main" id="{DE431A9F-DA74-9192-42F9-872215CAD3A0}"/>
              </a:ext>
            </a:extLst>
          </p:cNvPr>
          <p:cNvCxnSpPr/>
          <p:nvPr/>
        </p:nvCxnSpPr>
        <p:spPr>
          <a:xfrm>
            <a:off x="4843169" y="1466316"/>
            <a:ext cx="0" cy="18129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342FC0C-78D1-BD88-4C19-DAD1B94694FA}"/>
              </a:ext>
            </a:extLst>
          </p:cNvPr>
          <p:cNvCxnSpPr>
            <a:cxnSpLocks/>
          </p:cNvCxnSpPr>
          <p:nvPr/>
        </p:nvCxnSpPr>
        <p:spPr>
          <a:xfrm>
            <a:off x="3726712" y="2034196"/>
            <a:ext cx="0" cy="184103"/>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889B255-7CB1-067B-64E3-7DCE88AC2BAC}"/>
              </a:ext>
            </a:extLst>
          </p:cNvPr>
          <p:cNvCxnSpPr>
            <a:cxnSpLocks/>
          </p:cNvCxnSpPr>
          <p:nvPr/>
        </p:nvCxnSpPr>
        <p:spPr>
          <a:xfrm>
            <a:off x="3726712" y="2611437"/>
            <a:ext cx="0" cy="18362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E3687FF-FBAE-C01F-71C2-0B10382AF002}"/>
              </a:ext>
            </a:extLst>
          </p:cNvPr>
          <p:cNvCxnSpPr>
            <a:cxnSpLocks/>
          </p:cNvCxnSpPr>
          <p:nvPr/>
        </p:nvCxnSpPr>
        <p:spPr>
          <a:xfrm>
            <a:off x="4374263" y="3162390"/>
            <a:ext cx="0" cy="20130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FA82DA4-D91A-9000-8DAD-642BA8EED382}"/>
              </a:ext>
            </a:extLst>
          </p:cNvPr>
          <p:cNvCxnSpPr>
            <a:cxnSpLocks/>
          </p:cNvCxnSpPr>
          <p:nvPr/>
        </p:nvCxnSpPr>
        <p:spPr>
          <a:xfrm>
            <a:off x="3258668" y="3363695"/>
            <a:ext cx="0" cy="1032194"/>
          </a:xfrm>
          <a:prstGeom prst="line">
            <a:avLst/>
          </a:prstGeom>
          <a:ln>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22532C6-9377-2379-105F-4AF861EF782D}"/>
              </a:ext>
            </a:extLst>
          </p:cNvPr>
          <p:cNvSpPr/>
          <p:nvPr/>
        </p:nvSpPr>
        <p:spPr>
          <a:xfrm>
            <a:off x="4922763" y="1699750"/>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39" name="Rectangle 38">
            <a:extLst>
              <a:ext uri="{FF2B5EF4-FFF2-40B4-BE49-F238E27FC236}">
                <a16:creationId xmlns:a16="http://schemas.microsoft.com/office/drawing/2014/main" id="{832CE998-86A2-4D21-26CA-48E24155550F}"/>
              </a:ext>
            </a:extLst>
          </p:cNvPr>
          <p:cNvSpPr/>
          <p:nvPr/>
        </p:nvSpPr>
        <p:spPr>
          <a:xfrm>
            <a:off x="3776738" y="2265293"/>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40" name="Rectangle 39">
            <a:extLst>
              <a:ext uri="{FF2B5EF4-FFF2-40B4-BE49-F238E27FC236}">
                <a16:creationId xmlns:a16="http://schemas.microsoft.com/office/drawing/2014/main" id="{7377317D-37CD-E6F7-4E7F-733195849816}"/>
              </a:ext>
            </a:extLst>
          </p:cNvPr>
          <p:cNvSpPr/>
          <p:nvPr/>
        </p:nvSpPr>
        <p:spPr>
          <a:xfrm>
            <a:off x="4439888" y="2830836"/>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41" name="Rectangle 40">
            <a:extLst>
              <a:ext uri="{FF2B5EF4-FFF2-40B4-BE49-F238E27FC236}">
                <a16:creationId xmlns:a16="http://schemas.microsoft.com/office/drawing/2014/main" id="{8B5ACF91-4EBD-B296-73D3-14ADDEE2F945}"/>
              </a:ext>
            </a:extLst>
          </p:cNvPr>
          <p:cNvSpPr/>
          <p:nvPr/>
        </p:nvSpPr>
        <p:spPr>
          <a:xfrm>
            <a:off x="4439888" y="3390318"/>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42" name="Rectangle 41">
            <a:extLst>
              <a:ext uri="{FF2B5EF4-FFF2-40B4-BE49-F238E27FC236}">
                <a16:creationId xmlns:a16="http://schemas.microsoft.com/office/drawing/2014/main" id="{C4E6A5C4-C828-1E28-5883-38DBEC14D4FD}"/>
              </a:ext>
            </a:extLst>
          </p:cNvPr>
          <p:cNvSpPr/>
          <p:nvPr/>
        </p:nvSpPr>
        <p:spPr>
          <a:xfrm>
            <a:off x="3310676" y="3995156"/>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a:t>
            </a:r>
          </a:p>
        </p:txBody>
      </p:sp>
      <p:sp>
        <p:nvSpPr>
          <p:cNvPr id="43" name="Rectangle 42">
            <a:extLst>
              <a:ext uri="{FF2B5EF4-FFF2-40B4-BE49-F238E27FC236}">
                <a16:creationId xmlns:a16="http://schemas.microsoft.com/office/drawing/2014/main" id="{0CBECC77-6B74-BAE1-9233-50FA6BE2AD1D}"/>
              </a:ext>
            </a:extLst>
          </p:cNvPr>
          <p:cNvSpPr/>
          <p:nvPr/>
        </p:nvSpPr>
        <p:spPr>
          <a:xfrm>
            <a:off x="2245352"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cs typeface="Fund Light" pitchFamily="2" charset="-78"/>
              </a:rPr>
              <a:t>Annual volume (e.g., units, tons)</a:t>
            </a:r>
          </a:p>
        </p:txBody>
      </p:sp>
      <p:cxnSp>
        <p:nvCxnSpPr>
          <p:cNvPr id="44" name="Straight Connector 43">
            <a:extLst>
              <a:ext uri="{FF2B5EF4-FFF2-40B4-BE49-F238E27FC236}">
                <a16:creationId xmlns:a16="http://schemas.microsoft.com/office/drawing/2014/main" id="{71DAEA5B-2E43-F04D-46F0-F0A7F8EAA59E}"/>
              </a:ext>
            </a:extLst>
          </p:cNvPr>
          <p:cNvCxnSpPr/>
          <p:nvPr/>
        </p:nvCxnSpPr>
        <p:spPr>
          <a:xfrm>
            <a:off x="277813" y="1554496"/>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546300F-CD39-C9BB-2D47-FDDFCB3B68A8}"/>
              </a:ext>
            </a:extLst>
          </p:cNvPr>
          <p:cNvCxnSpPr/>
          <p:nvPr/>
        </p:nvCxnSpPr>
        <p:spPr>
          <a:xfrm>
            <a:off x="277813" y="2126247"/>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1F498DE-B7F7-24B7-524A-5BD3124080BD}"/>
              </a:ext>
            </a:extLst>
          </p:cNvPr>
          <p:cNvCxnSpPr/>
          <p:nvPr/>
        </p:nvCxnSpPr>
        <p:spPr>
          <a:xfrm>
            <a:off x="277812" y="2703249"/>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16945DB-2DF2-0B9F-584A-CED79EC00652}"/>
              </a:ext>
            </a:extLst>
          </p:cNvPr>
          <p:cNvCxnSpPr/>
          <p:nvPr/>
        </p:nvCxnSpPr>
        <p:spPr>
          <a:xfrm>
            <a:off x="277811" y="3273043"/>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832EA8-7F81-4897-D064-E63FBA782929}"/>
              </a:ext>
            </a:extLst>
          </p:cNvPr>
          <p:cNvCxnSpPr/>
          <p:nvPr/>
        </p:nvCxnSpPr>
        <p:spPr>
          <a:xfrm>
            <a:off x="277810" y="3850193"/>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BB88F1C6-0C5F-5D86-5142-8F826BCB05CF}"/>
              </a:ext>
            </a:extLst>
          </p:cNvPr>
          <p:cNvGrpSpPr/>
          <p:nvPr/>
        </p:nvGrpSpPr>
        <p:grpSpPr>
          <a:xfrm>
            <a:off x="5820569" y="1034877"/>
            <a:ext cx="2977098" cy="3361012"/>
            <a:chOff x="5450737" y="1034877"/>
            <a:chExt cx="3346930" cy="3361012"/>
          </a:xfrm>
          <a:noFill/>
        </p:grpSpPr>
        <p:sp>
          <p:nvSpPr>
            <p:cNvPr id="50" name="Rectangle 49">
              <a:extLst>
                <a:ext uri="{FF2B5EF4-FFF2-40B4-BE49-F238E27FC236}">
                  <a16:creationId xmlns:a16="http://schemas.microsoft.com/office/drawing/2014/main" id="{95E45C0F-1662-3507-AB5D-6AFED2914693}"/>
                </a:ext>
              </a:extLst>
            </p:cNvPr>
            <p:cNvSpPr/>
            <p:nvPr/>
          </p:nvSpPr>
          <p:spPr>
            <a:xfrm>
              <a:off x="5450737" y="1034877"/>
              <a:ext cx="3346930" cy="45036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Company’s own demand</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Market intelligence (through estimations, supplier sensing, expert interviews)</a:t>
              </a:r>
            </a:p>
          </p:txBody>
        </p:sp>
        <p:sp>
          <p:nvSpPr>
            <p:cNvPr id="51" name="Rectangle 50">
              <a:extLst>
                <a:ext uri="{FF2B5EF4-FFF2-40B4-BE49-F238E27FC236}">
                  <a16:creationId xmlns:a16="http://schemas.microsoft.com/office/drawing/2014/main" id="{346279CA-0620-87E1-7BCE-193A7EE8498C}"/>
                </a:ext>
              </a:extLst>
            </p:cNvPr>
            <p:cNvSpPr/>
            <p:nvPr/>
          </p:nvSpPr>
          <p:spPr>
            <a:xfrm>
              <a:off x="5450737" y="1575691"/>
              <a:ext cx="3346930" cy="5002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hlinkClick r:id="rId8"/>
                </a:rPr>
                <a:t>NIIC factory database</a:t>
              </a:r>
              <a:endPar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Supplier sensing</a:t>
              </a:r>
            </a:p>
          </p:txBody>
        </p:sp>
        <p:sp>
          <p:nvSpPr>
            <p:cNvPr id="52" name="Rectangle 51">
              <a:extLst>
                <a:ext uri="{FF2B5EF4-FFF2-40B4-BE49-F238E27FC236}">
                  <a16:creationId xmlns:a16="http://schemas.microsoft.com/office/drawing/2014/main" id="{065F5C5A-94DA-907A-840D-503AFFC1BADE}"/>
                </a:ext>
              </a:extLst>
            </p:cNvPr>
            <p:cNvSpPr/>
            <p:nvPr/>
          </p:nvSpPr>
          <p:spPr>
            <a:xfrm>
              <a:off x="5450737" y="2751636"/>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Regional reported imports (</a:t>
              </a: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hlinkClick r:id="rId9"/>
                </a:rPr>
                <a:t>HS codes</a:t>
              </a: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Market intelligence (through estimations, supplier sensing, expert interviews)</a:t>
              </a:r>
            </a:p>
          </p:txBody>
        </p:sp>
        <p:sp>
          <p:nvSpPr>
            <p:cNvPr id="53" name="Rectangle 52">
              <a:extLst>
                <a:ext uri="{FF2B5EF4-FFF2-40B4-BE49-F238E27FC236}">
                  <a16:creationId xmlns:a16="http://schemas.microsoft.com/office/drawing/2014/main" id="{91816D76-4FD9-2BF5-ADDA-71EB1902A046}"/>
                </a:ext>
              </a:extLst>
            </p:cNvPr>
            <p:cNvSpPr/>
            <p:nvPr/>
          </p:nvSpPr>
          <p:spPr>
            <a:xfrm>
              <a:off x="5450737" y="3913797"/>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Supplier sensing</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Benchmark investments</a:t>
              </a:r>
            </a:p>
          </p:txBody>
        </p:sp>
      </p:grpSp>
      <p:sp>
        <p:nvSpPr>
          <p:cNvPr id="54" name="Rectangle 53">
            <a:extLst>
              <a:ext uri="{FF2B5EF4-FFF2-40B4-BE49-F238E27FC236}">
                <a16:creationId xmlns:a16="http://schemas.microsoft.com/office/drawing/2014/main" id="{350B4BE8-59B3-9DA4-2E62-989FA2B2252C}"/>
              </a:ext>
            </a:extLst>
          </p:cNvPr>
          <p:cNvSpPr/>
          <p:nvPr/>
        </p:nvSpPr>
        <p:spPr>
          <a:xfrm>
            <a:off x="5820569"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cs typeface="Fund Light" pitchFamily="2" charset="-78"/>
              </a:rPr>
              <a:t>Sources</a:t>
            </a:r>
          </a:p>
        </p:txBody>
      </p:sp>
      <p:sp>
        <p:nvSpPr>
          <p:cNvPr id="55" name="Rectangle 54">
            <a:extLst>
              <a:ext uri="{FF2B5EF4-FFF2-40B4-BE49-F238E27FC236}">
                <a16:creationId xmlns:a16="http://schemas.microsoft.com/office/drawing/2014/main" id="{58E42D88-8F12-F7D8-E509-CB3162F68716}"/>
              </a:ext>
            </a:extLst>
          </p:cNvPr>
          <p:cNvSpPr/>
          <p:nvPr/>
        </p:nvSpPr>
        <p:spPr>
          <a:xfrm>
            <a:off x="2635286" y="4427194"/>
            <a:ext cx="1248328" cy="285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Fund Light" pitchFamily="2" charset="-78"/>
                <a:cs typeface="Fund Light" pitchFamily="2" charset="-78"/>
              </a:rPr>
              <a:t>% of total addressable demand</a:t>
            </a:r>
          </a:p>
        </p:txBody>
      </p:sp>
      <p:sp>
        <p:nvSpPr>
          <p:cNvPr id="56" name="Speech Bubble: Rectangle 55">
            <a:extLst>
              <a:ext uri="{FF2B5EF4-FFF2-40B4-BE49-F238E27FC236}">
                <a16:creationId xmlns:a16="http://schemas.microsoft.com/office/drawing/2014/main" id="{903B5821-591B-778C-5417-1A67BD20549D}"/>
              </a:ext>
            </a:extLst>
          </p:cNvPr>
          <p:cNvSpPr/>
          <p:nvPr>
            <p:custDataLst>
              <p:tags r:id="rId2"/>
            </p:custDataLst>
          </p:nvPr>
        </p:nvSpPr>
        <p:spPr>
          <a:xfrm>
            <a:off x="3883613" y="3942533"/>
            <a:ext cx="1888538" cy="615825"/>
          </a:xfrm>
          <a:prstGeom prst="wedgeRectCallout">
            <a:avLst>
              <a:gd name="adj1" fmla="val -60284"/>
              <a:gd name="adj2" fmla="val 35067"/>
            </a:avLst>
          </a:prstGeom>
          <a:no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GB" sz="800" b="0" i="1" u="none" strike="noStrike" kern="1200" cap="none" spc="0" normalizeH="0" baseline="0" noProof="0">
                <a:ln>
                  <a:noFill/>
                </a:ln>
                <a:solidFill>
                  <a:srgbClr val="000000"/>
                </a:solidFill>
                <a:effectLst/>
                <a:uLnTx/>
                <a:uFillTx/>
                <a:latin typeface="Fund Light" pitchFamily="2" charset="-78"/>
                <a:cs typeface="Fund Light" pitchFamily="2" charset="-78"/>
              </a:rPr>
              <a:t>If total addressable demand is smaller than expected plant capacity, the viability of the opportunity needs to be reviewed</a:t>
            </a:r>
          </a:p>
        </p:txBody>
      </p:sp>
      <p:grpSp>
        <p:nvGrpSpPr>
          <p:cNvPr id="57" name="Group 56">
            <a:extLst>
              <a:ext uri="{FF2B5EF4-FFF2-40B4-BE49-F238E27FC236}">
                <a16:creationId xmlns:a16="http://schemas.microsoft.com/office/drawing/2014/main" id="{FEB08DF3-EDF6-62FB-B749-71C2C13720B0}"/>
              </a:ext>
            </a:extLst>
          </p:cNvPr>
          <p:cNvGrpSpPr/>
          <p:nvPr/>
        </p:nvGrpSpPr>
        <p:grpSpPr>
          <a:xfrm>
            <a:off x="7498916" y="1665889"/>
            <a:ext cx="168686" cy="161455"/>
            <a:chOff x="11260138" y="4194175"/>
            <a:chExt cx="360363" cy="379413"/>
          </a:xfrm>
        </p:grpSpPr>
        <p:sp>
          <p:nvSpPr>
            <p:cNvPr id="58" name="Freeform 289">
              <a:extLst>
                <a:ext uri="{FF2B5EF4-FFF2-40B4-BE49-F238E27FC236}">
                  <a16:creationId xmlns:a16="http://schemas.microsoft.com/office/drawing/2014/main" id="{CBE437D6-16BB-92D3-E63C-2317CB0FB8C5}"/>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59" name="Freeform 290">
              <a:extLst>
                <a:ext uri="{FF2B5EF4-FFF2-40B4-BE49-F238E27FC236}">
                  <a16:creationId xmlns:a16="http://schemas.microsoft.com/office/drawing/2014/main" id="{DB9A70E9-3EFE-5457-2D62-3D852832E894}"/>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60" name="Freeform 291">
              <a:extLst>
                <a:ext uri="{FF2B5EF4-FFF2-40B4-BE49-F238E27FC236}">
                  <a16:creationId xmlns:a16="http://schemas.microsoft.com/office/drawing/2014/main" id="{88311175-A155-7988-AEC5-93B629EE25FD}"/>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grpSp>
      <p:grpSp>
        <p:nvGrpSpPr>
          <p:cNvPr id="61" name="Group 60">
            <a:extLst>
              <a:ext uri="{FF2B5EF4-FFF2-40B4-BE49-F238E27FC236}">
                <a16:creationId xmlns:a16="http://schemas.microsoft.com/office/drawing/2014/main" id="{6401BCFF-72FD-65FE-DABC-572ED6ECF574}"/>
              </a:ext>
            </a:extLst>
          </p:cNvPr>
          <p:cNvGrpSpPr/>
          <p:nvPr/>
        </p:nvGrpSpPr>
        <p:grpSpPr>
          <a:xfrm>
            <a:off x="8506449" y="2771364"/>
            <a:ext cx="168686" cy="161455"/>
            <a:chOff x="11260138" y="4194175"/>
            <a:chExt cx="360363" cy="379413"/>
          </a:xfrm>
        </p:grpSpPr>
        <p:sp>
          <p:nvSpPr>
            <p:cNvPr id="62" name="Freeform 289">
              <a:extLst>
                <a:ext uri="{FF2B5EF4-FFF2-40B4-BE49-F238E27FC236}">
                  <a16:creationId xmlns:a16="http://schemas.microsoft.com/office/drawing/2014/main" id="{A6D41B3E-1C02-C844-A8D9-EC759831DF28}"/>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63" name="Freeform 290">
              <a:extLst>
                <a:ext uri="{FF2B5EF4-FFF2-40B4-BE49-F238E27FC236}">
                  <a16:creationId xmlns:a16="http://schemas.microsoft.com/office/drawing/2014/main" id="{E95C9E15-2FE2-C904-7CEE-E1E5CEDDA2A9}"/>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64" name="Freeform 291">
              <a:extLst>
                <a:ext uri="{FF2B5EF4-FFF2-40B4-BE49-F238E27FC236}">
                  <a16:creationId xmlns:a16="http://schemas.microsoft.com/office/drawing/2014/main" id="{1B40A83E-124C-C6C4-6DE9-4F306518F799}"/>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grpSp>
    </p:spTree>
    <p:extLst>
      <p:ext uri="{BB962C8B-B14F-4D97-AF65-F5344CB8AC3E}">
        <p14:creationId xmlns:p14="http://schemas.microsoft.com/office/powerpoint/2010/main" val="3034911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531EDDC6-077E-CACA-E0B9-D28C961B05A4}"/>
              </a:ext>
            </a:extLst>
          </p:cNvPr>
          <p:cNvGraphicFramePr>
            <a:graphicFrameLocks noChangeAspect="1"/>
          </p:cNvGraphicFramePr>
          <p:nvPr>
            <p:custDataLst>
              <p:tags r:id="rId1"/>
            </p:custDataLst>
            <p:extLst>
              <p:ext uri="{D42A27DB-BD31-4B8C-83A1-F6EECF244321}">
                <p14:modId xmlns:p14="http://schemas.microsoft.com/office/powerpoint/2010/main" val="30665745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807" imgH="812" progId="TCLayout.ActiveDocument.1">
                  <p:embed/>
                </p:oleObj>
              </mc:Choice>
              <mc:Fallback>
                <p:oleObj name="think-cell Slide" r:id="rId3" imgW="807" imgH="812" progId="TCLayout.ActiveDocument.1">
                  <p:embed/>
                  <p:pic>
                    <p:nvPicPr>
                      <p:cNvPr id="22" name="think-cell data - do not delete" hidden="1">
                        <a:extLst>
                          <a:ext uri="{FF2B5EF4-FFF2-40B4-BE49-F238E27FC236}">
                            <a16:creationId xmlns:a16="http://schemas.microsoft.com/office/drawing/2014/main" id="{531EDDC6-077E-CACA-E0B9-D28C961B05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0F7784-4029-B40F-81E6-F7DAABF8B872}"/>
              </a:ext>
            </a:extLst>
          </p:cNvPr>
          <p:cNvSpPr>
            <a:spLocks noGrp="1"/>
          </p:cNvSpPr>
          <p:nvPr>
            <p:ph type="title"/>
          </p:nvPr>
        </p:nvSpPr>
        <p:spPr>
          <a:xfrm>
            <a:off x="1255077" y="255973"/>
            <a:ext cx="7680960" cy="241824"/>
          </a:xfrm>
        </p:spPr>
        <p:txBody>
          <a:bodyPr vert="horz"/>
          <a:lstStyle/>
          <a:p>
            <a:r>
              <a:rPr lang="en-US" dirty="0"/>
              <a:t>Output example for a telecom product subject to localization</a:t>
            </a:r>
          </a:p>
        </p:txBody>
      </p:sp>
      <p:sp>
        <p:nvSpPr>
          <p:cNvPr id="177" name="Text Placeholder 6">
            <a:extLst>
              <a:ext uri="{FF2B5EF4-FFF2-40B4-BE49-F238E27FC236}">
                <a16:creationId xmlns:a16="http://schemas.microsoft.com/office/drawing/2014/main" id="{55C16B51-0369-D11B-4BF9-6F4A3FA29247}"/>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Addressable demand</a:t>
            </a:r>
          </a:p>
        </p:txBody>
      </p:sp>
      <p:sp>
        <p:nvSpPr>
          <p:cNvPr id="178" name="Oval 177">
            <a:extLst>
              <a:ext uri="{FF2B5EF4-FFF2-40B4-BE49-F238E27FC236}">
                <a16:creationId xmlns:a16="http://schemas.microsoft.com/office/drawing/2014/main" id="{E06E5519-F46F-B035-70DA-E326BB3BF370}"/>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179" name="Rectangle 178">
            <a:extLst>
              <a:ext uri="{FF2B5EF4-FFF2-40B4-BE49-F238E27FC236}">
                <a16:creationId xmlns:a16="http://schemas.microsoft.com/office/drawing/2014/main" id="{3CCDAF51-C20B-8026-9E9E-F12FC6A8C59F}"/>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Output example</a:t>
            </a:r>
          </a:p>
        </p:txBody>
      </p:sp>
      <p:sp>
        <p:nvSpPr>
          <p:cNvPr id="3" name="Rectangle 2">
            <a:extLst>
              <a:ext uri="{FF2B5EF4-FFF2-40B4-BE49-F238E27FC236}">
                <a16:creationId xmlns:a16="http://schemas.microsoft.com/office/drawing/2014/main" id="{F2F805FE-8B75-A791-C62A-A70127118AA1}"/>
              </a:ext>
            </a:extLst>
          </p:cNvPr>
          <p:cNvSpPr/>
          <p:nvPr/>
        </p:nvSpPr>
        <p:spPr>
          <a:xfrm>
            <a:off x="4859812" y="1054030"/>
            <a:ext cx="50860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2 Mn</a:t>
            </a:r>
          </a:p>
        </p:txBody>
      </p:sp>
      <p:sp>
        <p:nvSpPr>
          <p:cNvPr id="4" name="Rectangle: Rounded Corners 3">
            <a:extLst>
              <a:ext uri="{FF2B5EF4-FFF2-40B4-BE49-F238E27FC236}">
                <a16:creationId xmlns:a16="http://schemas.microsoft.com/office/drawing/2014/main" id="{1EB45C73-AD71-1C31-A798-C9F5CA8B369D}"/>
              </a:ext>
            </a:extLst>
          </p:cNvPr>
          <p:cNvSpPr/>
          <p:nvPr/>
        </p:nvSpPr>
        <p:spPr>
          <a:xfrm>
            <a:off x="3258668" y="4865262"/>
            <a:ext cx="4480560"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Consult PIF for support to estimate supply and demand (</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5" action="ppaction://hlinksldjump"/>
              </a:rPr>
              <a:t>Contacts</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p:txBody>
      </p:sp>
      <p:grpSp>
        <p:nvGrpSpPr>
          <p:cNvPr id="5" name="Group 4">
            <a:extLst>
              <a:ext uri="{FF2B5EF4-FFF2-40B4-BE49-F238E27FC236}">
                <a16:creationId xmlns:a16="http://schemas.microsoft.com/office/drawing/2014/main" id="{0E8A15CC-272E-C4FE-F1F9-F81DDA74FF73}"/>
              </a:ext>
            </a:extLst>
          </p:cNvPr>
          <p:cNvGrpSpPr/>
          <p:nvPr/>
        </p:nvGrpSpPr>
        <p:grpSpPr>
          <a:xfrm>
            <a:off x="3004029" y="4817276"/>
            <a:ext cx="303559" cy="303559"/>
            <a:chOff x="-577629" y="2311332"/>
            <a:chExt cx="404038" cy="404037"/>
          </a:xfrm>
        </p:grpSpPr>
        <p:sp>
          <p:nvSpPr>
            <p:cNvPr id="6" name="Oval 5">
              <a:extLst>
                <a:ext uri="{FF2B5EF4-FFF2-40B4-BE49-F238E27FC236}">
                  <a16:creationId xmlns:a16="http://schemas.microsoft.com/office/drawing/2014/main" id="{C446B4B1-8640-C2AA-506B-BA4CFCD1AED9}"/>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5D0E28E8-F3A0-3B65-F3AC-1230FD5CC99B}"/>
                </a:ext>
              </a:extLst>
            </p:cNvPr>
            <p:cNvPicPr>
              <a:picLocks noChangeAspect="1"/>
            </p:cNvPicPr>
            <p:nvPr/>
          </p:nvPicPr>
          <p:blipFill>
            <a:blip r:embed="rId6"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8" name="Group 7">
            <a:extLst>
              <a:ext uri="{FF2B5EF4-FFF2-40B4-BE49-F238E27FC236}">
                <a16:creationId xmlns:a16="http://schemas.microsoft.com/office/drawing/2014/main" id="{47C4E94A-0283-C702-F9C8-6A98ED108D1B}"/>
              </a:ext>
            </a:extLst>
          </p:cNvPr>
          <p:cNvGrpSpPr/>
          <p:nvPr/>
        </p:nvGrpSpPr>
        <p:grpSpPr>
          <a:xfrm>
            <a:off x="7520095" y="4883810"/>
            <a:ext cx="168686" cy="161455"/>
            <a:chOff x="11260138" y="4194175"/>
            <a:chExt cx="360363" cy="379413"/>
          </a:xfrm>
        </p:grpSpPr>
        <p:sp>
          <p:nvSpPr>
            <p:cNvPr id="9" name="Freeform 289">
              <a:extLst>
                <a:ext uri="{FF2B5EF4-FFF2-40B4-BE49-F238E27FC236}">
                  <a16:creationId xmlns:a16="http://schemas.microsoft.com/office/drawing/2014/main" id="{7202D9CB-BA90-C36D-0597-FB2A6E16ABE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0" name="Freeform 290">
              <a:extLst>
                <a:ext uri="{FF2B5EF4-FFF2-40B4-BE49-F238E27FC236}">
                  <a16:creationId xmlns:a16="http://schemas.microsoft.com/office/drawing/2014/main" id="{A437404A-94D7-0429-C284-A417D004A4A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11" name="Freeform 291">
              <a:extLst>
                <a:ext uri="{FF2B5EF4-FFF2-40B4-BE49-F238E27FC236}">
                  <a16:creationId xmlns:a16="http://schemas.microsoft.com/office/drawing/2014/main" id="{30BE7544-5B83-36A6-653B-9BE4B809A864}"/>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sp>
        <p:nvSpPr>
          <p:cNvPr id="13" name="Rectangle 12">
            <a:extLst>
              <a:ext uri="{FF2B5EF4-FFF2-40B4-BE49-F238E27FC236}">
                <a16:creationId xmlns:a16="http://schemas.microsoft.com/office/drawing/2014/main" id="{74E9F4D6-E5F5-F010-D27F-9A692BC6E542}"/>
              </a:ext>
            </a:extLst>
          </p:cNvPr>
          <p:cNvSpPr/>
          <p:nvPr/>
        </p:nvSpPr>
        <p:spPr>
          <a:xfrm>
            <a:off x="279919" y="965305"/>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demand</a:t>
            </a:r>
          </a:p>
        </p:txBody>
      </p:sp>
      <p:sp>
        <p:nvSpPr>
          <p:cNvPr id="14" name="Rectangle 13">
            <a:extLst>
              <a:ext uri="{FF2B5EF4-FFF2-40B4-BE49-F238E27FC236}">
                <a16:creationId xmlns:a16="http://schemas.microsoft.com/office/drawing/2014/main" id="{C5598F1E-74DD-C109-F270-009EB667DACF}"/>
              </a:ext>
            </a:extLst>
          </p:cNvPr>
          <p:cNvSpPr/>
          <p:nvPr/>
        </p:nvSpPr>
        <p:spPr>
          <a:xfrm>
            <a:off x="280621" y="1535998"/>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supply</a:t>
            </a:r>
          </a:p>
        </p:txBody>
      </p:sp>
      <p:sp>
        <p:nvSpPr>
          <p:cNvPr id="16" name="Rectangle 15">
            <a:extLst>
              <a:ext uri="{FF2B5EF4-FFF2-40B4-BE49-F238E27FC236}">
                <a16:creationId xmlns:a16="http://schemas.microsoft.com/office/drawing/2014/main" id="{99C037CE-9FC2-7FAF-6393-FC2C218FCC03}"/>
              </a:ext>
            </a:extLst>
          </p:cNvPr>
          <p:cNvSpPr/>
          <p:nvPr/>
        </p:nvSpPr>
        <p:spPr>
          <a:xfrm>
            <a:off x="279217" y="2111255"/>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demand / supply gap</a:t>
            </a:r>
          </a:p>
        </p:txBody>
      </p:sp>
      <p:sp>
        <p:nvSpPr>
          <p:cNvPr id="18" name="Rectangle 17">
            <a:extLst>
              <a:ext uri="{FF2B5EF4-FFF2-40B4-BE49-F238E27FC236}">
                <a16:creationId xmlns:a16="http://schemas.microsoft.com/office/drawing/2014/main" id="{986D5B0E-D506-99D9-DC72-11B6FFBE4389}"/>
              </a:ext>
            </a:extLst>
          </p:cNvPr>
          <p:cNvSpPr/>
          <p:nvPr/>
        </p:nvSpPr>
        <p:spPr>
          <a:xfrm>
            <a:off x="278515" y="2686323"/>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Regional export potential</a:t>
            </a:r>
          </a:p>
        </p:txBody>
      </p:sp>
      <p:sp>
        <p:nvSpPr>
          <p:cNvPr id="20" name="Rectangle 19">
            <a:extLst>
              <a:ext uri="{FF2B5EF4-FFF2-40B4-BE49-F238E27FC236}">
                <a16:creationId xmlns:a16="http://schemas.microsoft.com/office/drawing/2014/main" id="{1D6BA45A-4A21-54F3-8B1E-37C6277F0BFC}"/>
              </a:ext>
            </a:extLst>
          </p:cNvPr>
          <p:cNvSpPr/>
          <p:nvPr/>
        </p:nvSpPr>
        <p:spPr>
          <a:xfrm>
            <a:off x="277813" y="3257016"/>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Total addressable demand</a:t>
            </a:r>
          </a:p>
        </p:txBody>
      </p:sp>
      <p:sp>
        <p:nvSpPr>
          <p:cNvPr id="21" name="Rectangle 20">
            <a:extLst>
              <a:ext uri="{FF2B5EF4-FFF2-40B4-BE49-F238E27FC236}">
                <a16:creationId xmlns:a16="http://schemas.microsoft.com/office/drawing/2014/main" id="{421EDA1F-7329-612A-FA7B-F288401F22A5}"/>
              </a:ext>
            </a:extLst>
          </p:cNvPr>
          <p:cNvSpPr/>
          <p:nvPr/>
        </p:nvSpPr>
        <p:spPr>
          <a:xfrm>
            <a:off x="277813" y="3827709"/>
            <a:ext cx="1946900" cy="477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Fund Light" pitchFamily="2" charset="-78"/>
                <a:cs typeface="Fund Light" pitchFamily="2" charset="-78"/>
              </a:rPr>
              <a:t>Minimum viable plant capacity of the LDC product</a:t>
            </a:r>
          </a:p>
        </p:txBody>
      </p:sp>
      <p:sp>
        <p:nvSpPr>
          <p:cNvPr id="23" name="Rectangle 22">
            <a:extLst>
              <a:ext uri="{FF2B5EF4-FFF2-40B4-BE49-F238E27FC236}">
                <a16:creationId xmlns:a16="http://schemas.microsoft.com/office/drawing/2014/main" id="{6B95C1CC-D09A-99F0-6B50-9D84726FBCD8}"/>
              </a:ext>
            </a:extLst>
          </p:cNvPr>
          <p:cNvSpPr/>
          <p:nvPr/>
        </p:nvSpPr>
        <p:spPr>
          <a:xfrm>
            <a:off x="2245352" y="3869075"/>
            <a:ext cx="1862190" cy="39396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cxnSp>
        <p:nvCxnSpPr>
          <p:cNvPr id="24" name="Straight Connector 23">
            <a:extLst>
              <a:ext uri="{FF2B5EF4-FFF2-40B4-BE49-F238E27FC236}">
                <a16:creationId xmlns:a16="http://schemas.microsoft.com/office/drawing/2014/main" id="{E34D4462-B0C8-DF79-6C67-62AF1EA99A5F}"/>
              </a:ext>
            </a:extLst>
          </p:cNvPr>
          <p:cNvCxnSpPr/>
          <p:nvPr/>
        </p:nvCxnSpPr>
        <p:spPr>
          <a:xfrm>
            <a:off x="2237413" y="898300"/>
            <a:ext cx="0" cy="3491983"/>
          </a:xfrm>
          <a:prstGeom prst="line">
            <a:avLst/>
          </a:prstGeom>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08562C93-3B66-40B9-896B-777C83F8F5C9}"/>
              </a:ext>
            </a:extLst>
          </p:cNvPr>
          <p:cNvSpPr/>
          <p:nvPr/>
        </p:nvSpPr>
        <p:spPr>
          <a:xfrm>
            <a:off x="2245353" y="1007037"/>
            <a:ext cx="1748757"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7" name="Rectangle 16">
            <a:extLst>
              <a:ext uri="{FF2B5EF4-FFF2-40B4-BE49-F238E27FC236}">
                <a16:creationId xmlns:a16="http://schemas.microsoft.com/office/drawing/2014/main" id="{F83812CB-BFF2-BE54-7B10-67CA7BAFFF50}"/>
              </a:ext>
            </a:extLst>
          </p:cNvPr>
          <p:cNvSpPr/>
          <p:nvPr/>
        </p:nvSpPr>
        <p:spPr>
          <a:xfrm>
            <a:off x="2245353" y="2152987"/>
            <a:ext cx="1748757"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19" name="Rectangle 18">
            <a:extLst>
              <a:ext uri="{FF2B5EF4-FFF2-40B4-BE49-F238E27FC236}">
                <a16:creationId xmlns:a16="http://schemas.microsoft.com/office/drawing/2014/main" id="{7FBEFFA4-D26C-77A6-AE4E-5847579D7EA9}"/>
              </a:ext>
            </a:extLst>
          </p:cNvPr>
          <p:cNvSpPr/>
          <p:nvPr/>
        </p:nvSpPr>
        <p:spPr>
          <a:xfrm>
            <a:off x="2245353" y="2723315"/>
            <a:ext cx="866252"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26" name="Rectangle 25">
            <a:extLst>
              <a:ext uri="{FF2B5EF4-FFF2-40B4-BE49-F238E27FC236}">
                <a16:creationId xmlns:a16="http://schemas.microsoft.com/office/drawing/2014/main" id="{D85867B7-C6C1-5FB5-EEFE-B63910C99BC7}"/>
              </a:ext>
            </a:extLst>
          </p:cNvPr>
          <p:cNvSpPr/>
          <p:nvPr/>
        </p:nvSpPr>
        <p:spPr>
          <a:xfrm>
            <a:off x="2245352" y="3298382"/>
            <a:ext cx="1748757" cy="393967"/>
          </a:xfrm>
          <a:prstGeom prst="rect">
            <a:avLst/>
          </a:prstGeom>
          <a:solidFill>
            <a:srgbClr val="F3E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Fund Light" pitchFamily="2" charset="-78"/>
                <a:cs typeface="Fund Light" pitchFamily="2" charset="-78"/>
              </a:rPr>
              <a:t>KSA</a:t>
            </a:r>
            <a:endParaRPr kumimoji="0" lang="en-US" sz="1100" b="0" i="1"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27" name="Rectangle 26">
            <a:extLst>
              <a:ext uri="{FF2B5EF4-FFF2-40B4-BE49-F238E27FC236}">
                <a16:creationId xmlns:a16="http://schemas.microsoft.com/office/drawing/2014/main" id="{DE480249-0405-09CC-1014-E33752BB70AE}"/>
              </a:ext>
            </a:extLst>
          </p:cNvPr>
          <p:cNvSpPr/>
          <p:nvPr/>
        </p:nvSpPr>
        <p:spPr>
          <a:xfrm>
            <a:off x="3993558" y="3298382"/>
            <a:ext cx="866252" cy="393967"/>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Fund Light" pitchFamily="2" charset="-78"/>
                <a:cs typeface="Fund Light" pitchFamily="2" charset="-78"/>
              </a:rPr>
              <a:t>Export</a:t>
            </a:r>
          </a:p>
        </p:txBody>
      </p:sp>
      <p:cxnSp>
        <p:nvCxnSpPr>
          <p:cNvPr id="33" name="Straight Connector 32">
            <a:extLst>
              <a:ext uri="{FF2B5EF4-FFF2-40B4-BE49-F238E27FC236}">
                <a16:creationId xmlns:a16="http://schemas.microsoft.com/office/drawing/2014/main" id="{DE431A9F-DA74-9192-42F9-872215CAD3A0}"/>
              </a:ext>
            </a:extLst>
          </p:cNvPr>
          <p:cNvCxnSpPr>
            <a:cxnSpLocks/>
          </p:cNvCxnSpPr>
          <p:nvPr/>
        </p:nvCxnSpPr>
        <p:spPr>
          <a:xfrm>
            <a:off x="3994111" y="1401003"/>
            <a:ext cx="0" cy="751984"/>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22532C6-9377-2379-105F-4AF861EF782D}"/>
              </a:ext>
            </a:extLst>
          </p:cNvPr>
          <p:cNvSpPr/>
          <p:nvPr/>
        </p:nvSpPr>
        <p:spPr>
          <a:xfrm>
            <a:off x="4859812" y="1634437"/>
            <a:ext cx="26422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0</a:t>
            </a:r>
          </a:p>
        </p:txBody>
      </p:sp>
      <p:sp>
        <p:nvSpPr>
          <p:cNvPr id="41" name="Rectangle 40">
            <a:extLst>
              <a:ext uri="{FF2B5EF4-FFF2-40B4-BE49-F238E27FC236}">
                <a16:creationId xmlns:a16="http://schemas.microsoft.com/office/drawing/2014/main" id="{8B5ACF91-4EBD-B296-73D3-14ADDEE2F945}"/>
              </a:ext>
            </a:extLst>
          </p:cNvPr>
          <p:cNvSpPr/>
          <p:nvPr/>
        </p:nvSpPr>
        <p:spPr>
          <a:xfrm>
            <a:off x="4859812" y="3325005"/>
            <a:ext cx="588136" cy="2782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a:solidFill>
                  <a:srgbClr val="00332A"/>
                </a:solidFill>
                <a:latin typeface="Fund Light" pitchFamily="2" charset="-78"/>
                <a:cs typeface="Fund Light" pitchFamily="2" charset="-78"/>
              </a:rPr>
              <a:t>3 Mn</a:t>
            </a:r>
            <a:endPar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
        <p:nvSpPr>
          <p:cNvPr id="43" name="Rectangle 42">
            <a:extLst>
              <a:ext uri="{FF2B5EF4-FFF2-40B4-BE49-F238E27FC236}">
                <a16:creationId xmlns:a16="http://schemas.microsoft.com/office/drawing/2014/main" id="{0CBECC77-6B74-BAE1-9233-50FA6BE2AD1D}"/>
              </a:ext>
            </a:extLst>
          </p:cNvPr>
          <p:cNvSpPr/>
          <p:nvPr/>
        </p:nvSpPr>
        <p:spPr>
          <a:xfrm>
            <a:off x="2245352"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cs typeface="Fund Light" pitchFamily="2" charset="-78"/>
              </a:rPr>
              <a:t>Annual volume (# units)</a:t>
            </a:r>
          </a:p>
        </p:txBody>
      </p:sp>
      <p:cxnSp>
        <p:nvCxnSpPr>
          <p:cNvPr id="44" name="Straight Connector 43">
            <a:extLst>
              <a:ext uri="{FF2B5EF4-FFF2-40B4-BE49-F238E27FC236}">
                <a16:creationId xmlns:a16="http://schemas.microsoft.com/office/drawing/2014/main" id="{71DAEA5B-2E43-F04D-46F0-F0A7F8EAA59E}"/>
              </a:ext>
            </a:extLst>
          </p:cNvPr>
          <p:cNvCxnSpPr/>
          <p:nvPr/>
        </p:nvCxnSpPr>
        <p:spPr>
          <a:xfrm>
            <a:off x="277813" y="1489183"/>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546300F-CD39-C9BB-2D47-FDDFCB3B68A8}"/>
              </a:ext>
            </a:extLst>
          </p:cNvPr>
          <p:cNvCxnSpPr/>
          <p:nvPr/>
        </p:nvCxnSpPr>
        <p:spPr>
          <a:xfrm>
            <a:off x="277813" y="2060934"/>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1F498DE-B7F7-24B7-524A-5BD3124080BD}"/>
              </a:ext>
            </a:extLst>
          </p:cNvPr>
          <p:cNvCxnSpPr/>
          <p:nvPr/>
        </p:nvCxnSpPr>
        <p:spPr>
          <a:xfrm>
            <a:off x="277812" y="2637936"/>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16945DB-2DF2-0B9F-584A-CED79EC00652}"/>
              </a:ext>
            </a:extLst>
          </p:cNvPr>
          <p:cNvCxnSpPr/>
          <p:nvPr/>
        </p:nvCxnSpPr>
        <p:spPr>
          <a:xfrm>
            <a:off x="277811" y="3207730"/>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832EA8-7F81-4897-D064-E63FBA782929}"/>
              </a:ext>
            </a:extLst>
          </p:cNvPr>
          <p:cNvCxnSpPr/>
          <p:nvPr/>
        </p:nvCxnSpPr>
        <p:spPr>
          <a:xfrm>
            <a:off x="277810" y="3784880"/>
            <a:ext cx="8510587"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BB88F1C6-0C5F-5D86-5142-8F826BCB05CF}"/>
              </a:ext>
            </a:extLst>
          </p:cNvPr>
          <p:cNvGrpSpPr/>
          <p:nvPr/>
        </p:nvGrpSpPr>
        <p:grpSpPr>
          <a:xfrm>
            <a:off x="5820569" y="969564"/>
            <a:ext cx="2977098" cy="3361012"/>
            <a:chOff x="5450737" y="1034877"/>
            <a:chExt cx="3346930" cy="3361012"/>
          </a:xfrm>
          <a:noFill/>
        </p:grpSpPr>
        <p:sp>
          <p:nvSpPr>
            <p:cNvPr id="50" name="Rectangle 49">
              <a:extLst>
                <a:ext uri="{FF2B5EF4-FFF2-40B4-BE49-F238E27FC236}">
                  <a16:creationId xmlns:a16="http://schemas.microsoft.com/office/drawing/2014/main" id="{95E45C0F-1662-3507-AB5D-6AFED2914693}"/>
                </a:ext>
              </a:extLst>
            </p:cNvPr>
            <p:cNvSpPr/>
            <p:nvPr/>
          </p:nvSpPr>
          <p:spPr>
            <a:xfrm>
              <a:off x="5450737" y="1034877"/>
              <a:ext cx="3346930" cy="45036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KSA demand is </a:t>
              </a:r>
              <a:r>
                <a:rPr lang="en-US" sz="1000">
                  <a:solidFill>
                    <a:srgbClr val="000000"/>
                  </a:solidFill>
                  <a:latin typeface="Fund Light" pitchFamily="2" charset="-78"/>
                  <a:cs typeface="Fund Light" pitchFamily="2" charset="-78"/>
                </a:rPr>
                <a:t>2 Mn units </a:t>
              </a: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with a 3-5% YoY growth</a:t>
              </a:r>
            </a:p>
          </p:txBody>
        </p:sp>
        <p:sp>
          <p:nvSpPr>
            <p:cNvPr id="51" name="Rectangle 50">
              <a:extLst>
                <a:ext uri="{FF2B5EF4-FFF2-40B4-BE49-F238E27FC236}">
                  <a16:creationId xmlns:a16="http://schemas.microsoft.com/office/drawing/2014/main" id="{346279CA-0620-87E1-7BCE-193A7EE8498C}"/>
                </a:ext>
              </a:extLst>
            </p:cNvPr>
            <p:cNvSpPr/>
            <p:nvPr/>
          </p:nvSpPr>
          <p:spPr>
            <a:xfrm>
              <a:off x="5450737" y="1575691"/>
              <a:ext cx="3346930" cy="50023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endPar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52" name="Rectangle 51">
              <a:extLst>
                <a:ext uri="{FF2B5EF4-FFF2-40B4-BE49-F238E27FC236}">
                  <a16:creationId xmlns:a16="http://schemas.microsoft.com/office/drawing/2014/main" id="{065F5C5A-94DA-907A-840D-503AFFC1BADE}"/>
                </a:ext>
              </a:extLst>
            </p:cNvPr>
            <p:cNvSpPr/>
            <p:nvPr/>
          </p:nvSpPr>
          <p:spPr>
            <a:xfrm>
              <a:off x="5450737" y="2751636"/>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Potential 1 Mn in exports to GCC neighboring countries</a:t>
              </a:r>
            </a:p>
          </p:txBody>
        </p:sp>
        <p:sp>
          <p:nvSpPr>
            <p:cNvPr id="53" name="Rectangle 52">
              <a:extLst>
                <a:ext uri="{FF2B5EF4-FFF2-40B4-BE49-F238E27FC236}">
                  <a16:creationId xmlns:a16="http://schemas.microsoft.com/office/drawing/2014/main" id="{91816D76-4FD9-2BF5-ADDA-71EB1902A046}"/>
                </a:ext>
              </a:extLst>
            </p:cNvPr>
            <p:cNvSpPr/>
            <p:nvPr/>
          </p:nvSpPr>
          <p:spPr>
            <a:xfrm>
              <a:off x="5450737" y="3913797"/>
              <a:ext cx="3346930" cy="482092"/>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For 1 small-medium sized plant</a:t>
              </a:r>
            </a:p>
          </p:txBody>
        </p:sp>
        <p:sp>
          <p:nvSpPr>
            <p:cNvPr id="25" name="Rectangle 24">
              <a:extLst>
                <a:ext uri="{FF2B5EF4-FFF2-40B4-BE49-F238E27FC236}">
                  <a16:creationId xmlns:a16="http://schemas.microsoft.com/office/drawing/2014/main" id="{024F7544-F33A-56FE-4504-4F65D08E7102}"/>
                </a:ext>
              </a:extLst>
            </p:cNvPr>
            <p:cNvSpPr/>
            <p:nvPr/>
          </p:nvSpPr>
          <p:spPr>
            <a:xfrm>
              <a:off x="5450737" y="1582114"/>
              <a:ext cx="3346930" cy="45036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cs typeface="Fund Light" pitchFamily="2" charset="-78"/>
                </a:rPr>
                <a:t>All units are currently sourced through imports</a:t>
              </a:r>
            </a:p>
          </p:txBody>
        </p:sp>
      </p:grpSp>
      <p:sp>
        <p:nvSpPr>
          <p:cNvPr id="54" name="Rectangle 53">
            <a:extLst>
              <a:ext uri="{FF2B5EF4-FFF2-40B4-BE49-F238E27FC236}">
                <a16:creationId xmlns:a16="http://schemas.microsoft.com/office/drawing/2014/main" id="{350B4BE8-59B3-9DA4-2E62-989FA2B2252C}"/>
              </a:ext>
            </a:extLst>
          </p:cNvPr>
          <p:cNvSpPr/>
          <p:nvPr/>
        </p:nvSpPr>
        <p:spPr>
          <a:xfrm>
            <a:off x="5820569" y="711687"/>
            <a:ext cx="3087879" cy="1860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cs typeface="Fund Light" pitchFamily="2" charset="-78"/>
              </a:rPr>
              <a:t>Comments</a:t>
            </a:r>
          </a:p>
        </p:txBody>
      </p:sp>
      <p:sp>
        <p:nvSpPr>
          <p:cNvPr id="55" name="Rectangle 54">
            <a:extLst>
              <a:ext uri="{FF2B5EF4-FFF2-40B4-BE49-F238E27FC236}">
                <a16:creationId xmlns:a16="http://schemas.microsoft.com/office/drawing/2014/main" id="{58E42D88-8F12-F7D8-E509-CB3162F68716}"/>
              </a:ext>
            </a:extLst>
          </p:cNvPr>
          <p:cNvSpPr/>
          <p:nvPr/>
        </p:nvSpPr>
        <p:spPr>
          <a:xfrm>
            <a:off x="211400" y="4390911"/>
            <a:ext cx="8412480" cy="285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1" u="none" strike="noStrike" kern="1200" cap="none" spc="0" normalizeH="0" baseline="0" noProof="0">
                <a:ln>
                  <a:noFill/>
                </a:ln>
                <a:solidFill>
                  <a:srgbClr val="000000"/>
                </a:solidFill>
                <a:effectLst/>
                <a:uLnTx/>
                <a:uFillTx/>
                <a:latin typeface="Fund Light" pitchFamily="2" charset="-78"/>
                <a:cs typeface="Fund Light" pitchFamily="2" charset="-78"/>
              </a:rPr>
              <a:t>In this illustrative example, addressable demand is more than min. viable plant capacity and hence the addressable demand is sufficient</a:t>
            </a:r>
          </a:p>
        </p:txBody>
      </p:sp>
      <p:sp>
        <p:nvSpPr>
          <p:cNvPr id="77" name="Rectangle 76">
            <a:extLst>
              <a:ext uri="{FF2B5EF4-FFF2-40B4-BE49-F238E27FC236}">
                <a16:creationId xmlns:a16="http://schemas.microsoft.com/office/drawing/2014/main" id="{61BD5E2E-52BE-A999-214A-39CED32D48C6}"/>
              </a:ext>
            </a:extLst>
          </p:cNvPr>
          <p:cNvSpPr/>
          <p:nvPr/>
        </p:nvSpPr>
        <p:spPr>
          <a:xfrm>
            <a:off x="4859812" y="2201614"/>
            <a:ext cx="50860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2 Mn</a:t>
            </a:r>
          </a:p>
        </p:txBody>
      </p:sp>
      <p:sp>
        <p:nvSpPr>
          <p:cNvPr id="78" name="Rectangle 77">
            <a:extLst>
              <a:ext uri="{FF2B5EF4-FFF2-40B4-BE49-F238E27FC236}">
                <a16:creationId xmlns:a16="http://schemas.microsoft.com/office/drawing/2014/main" id="{E3B96EC9-F49F-5F79-89BD-5B3CE182EC36}"/>
              </a:ext>
            </a:extLst>
          </p:cNvPr>
          <p:cNvSpPr/>
          <p:nvPr/>
        </p:nvSpPr>
        <p:spPr>
          <a:xfrm>
            <a:off x="4859812" y="2770491"/>
            <a:ext cx="508604" cy="2996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a:solidFill>
                  <a:srgbClr val="00332A"/>
                </a:solidFill>
                <a:latin typeface="Fund Light" pitchFamily="2" charset="-78"/>
                <a:cs typeface="Fund Light" pitchFamily="2" charset="-78"/>
              </a:rPr>
              <a:t>1</a:t>
            </a:r>
            <a:r>
              <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rPr>
              <a:t> Mn</a:t>
            </a:r>
          </a:p>
        </p:txBody>
      </p:sp>
      <p:sp>
        <p:nvSpPr>
          <p:cNvPr id="82" name="Rectangle 81">
            <a:extLst>
              <a:ext uri="{FF2B5EF4-FFF2-40B4-BE49-F238E27FC236}">
                <a16:creationId xmlns:a16="http://schemas.microsoft.com/office/drawing/2014/main" id="{8165C62B-319F-C629-91CA-E42A29130FDA}"/>
              </a:ext>
            </a:extLst>
          </p:cNvPr>
          <p:cNvSpPr/>
          <p:nvPr/>
        </p:nvSpPr>
        <p:spPr>
          <a:xfrm>
            <a:off x="8166100" y="552128"/>
            <a:ext cx="703866" cy="1764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b="1" i="1" u="sng">
                <a:solidFill>
                  <a:srgbClr val="000000"/>
                </a:solidFill>
                <a:latin typeface="Fund Light" pitchFamily="2" charset="-78"/>
                <a:cs typeface="Fund Light" pitchFamily="2" charset="-78"/>
              </a:rPr>
              <a:t>Illustrative</a:t>
            </a:r>
          </a:p>
        </p:txBody>
      </p:sp>
      <p:sp>
        <p:nvSpPr>
          <p:cNvPr id="30" name="Rectangle 29">
            <a:extLst>
              <a:ext uri="{FF2B5EF4-FFF2-40B4-BE49-F238E27FC236}">
                <a16:creationId xmlns:a16="http://schemas.microsoft.com/office/drawing/2014/main" id="{713B43D4-57C0-811C-EDCB-C2EB525DAAB9}"/>
              </a:ext>
            </a:extLst>
          </p:cNvPr>
          <p:cNvSpPr/>
          <p:nvPr/>
        </p:nvSpPr>
        <p:spPr>
          <a:xfrm>
            <a:off x="4859812" y="3927225"/>
            <a:ext cx="588136" cy="2782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a:solidFill>
                  <a:srgbClr val="00332A"/>
                </a:solidFill>
                <a:latin typeface="Fund Light" pitchFamily="2" charset="-78"/>
                <a:cs typeface="Fund Light" pitchFamily="2" charset="-78"/>
              </a:rPr>
              <a:t>2.1 Mn</a:t>
            </a:r>
            <a:endParaRPr kumimoji="0" lang="en-US" sz="1000" b="0" i="0" u="none" strike="noStrike" kern="1200" cap="none" spc="0" normalizeH="0" baseline="0" noProof="0">
              <a:ln>
                <a:noFill/>
              </a:ln>
              <a:solidFill>
                <a:srgbClr val="00332A"/>
              </a:solidFill>
              <a:effectLst/>
              <a:uLnTx/>
              <a:uFillTx/>
              <a:latin typeface="Fund Light" pitchFamily="2" charset="-78"/>
              <a:cs typeface="Fund Light" pitchFamily="2" charset="-78"/>
            </a:endParaRPr>
          </a:p>
        </p:txBody>
      </p:sp>
    </p:spTree>
    <p:extLst>
      <p:ext uri="{BB962C8B-B14F-4D97-AF65-F5344CB8AC3E}">
        <p14:creationId xmlns:p14="http://schemas.microsoft.com/office/powerpoint/2010/main" val="3938420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752647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152322" cy="241824"/>
          </a:xfrm>
        </p:spPr>
        <p:txBody>
          <a:bodyPr vert="horz"/>
          <a:lstStyle/>
          <a:p>
            <a:r>
              <a:rPr lang="en-US"/>
              <a:t>LDC feasibility provides an in-depth assessment of the opportunity by answering four questions </a:t>
            </a:r>
          </a:p>
        </p:txBody>
      </p:sp>
      <p:grpSp>
        <p:nvGrpSpPr>
          <p:cNvPr id="3" name="Group 2">
            <a:extLst>
              <a:ext uri="{FF2B5EF4-FFF2-40B4-BE49-F238E27FC236}">
                <a16:creationId xmlns:a16="http://schemas.microsoft.com/office/drawing/2014/main" id="{DAC50DE7-C568-B65B-9929-BA037D3DE9A3}"/>
              </a:ext>
            </a:extLst>
          </p:cNvPr>
          <p:cNvGrpSpPr/>
          <p:nvPr/>
        </p:nvGrpSpPr>
        <p:grpSpPr>
          <a:xfrm>
            <a:off x="4831240" y="771525"/>
            <a:ext cx="3985386" cy="3744913"/>
            <a:chOff x="7145645" y="771525"/>
            <a:chExt cx="5481331" cy="3744913"/>
          </a:xfrm>
        </p:grpSpPr>
        <p:sp>
          <p:nvSpPr>
            <p:cNvPr id="39" name="TextBox 38">
              <a:extLst>
                <a:ext uri="{FF2B5EF4-FFF2-40B4-BE49-F238E27FC236}">
                  <a16:creationId xmlns:a16="http://schemas.microsoft.com/office/drawing/2014/main" id="{3895A889-C831-4A80-B7E2-2D79EC7354A0}"/>
                </a:ext>
              </a:extLst>
            </p:cNvPr>
            <p:cNvSpPr txBox="1">
              <a:spLocks/>
            </p:cNvSpPr>
            <p:nvPr/>
          </p:nvSpPr>
          <p:spPr>
            <a:xfrm>
              <a:off x="7145645" y="771525"/>
              <a:ext cx="5481331" cy="3744913"/>
            </a:xfrm>
            <a:prstGeom prst="rect">
              <a:avLst/>
            </a:prstGeom>
            <a:noFill/>
            <a:ln w="6350">
              <a:noFill/>
              <a:miter lim="800000"/>
            </a:ln>
          </p:spPr>
          <p:txBody>
            <a:bodyPr vert="horz" wrap="square" lIns="121920" tIns="121920" rIns="121920" bIns="121920" rtlCol="0" anchor="t" anchorCtr="0">
              <a:noAutofit/>
            </a:bodyPr>
            <a:lstStyle/>
            <a:p>
              <a:pPr defTabSz="1219170">
                <a:spcBef>
                  <a:spcPct val="50000"/>
                </a:spcBef>
                <a:defRPr/>
              </a:pPr>
              <a:r>
                <a:rPr lang="en-US" sz="1100" b="1">
                  <a:solidFill>
                    <a:schemeClr val="bg2"/>
                  </a:solidFill>
                  <a:latin typeface="Fund Light" pitchFamily="2" charset="-78"/>
                  <a:cs typeface="Fund Light" pitchFamily="2" charset="-78"/>
                </a:rPr>
                <a:t>Questions covered under the LDC feasibility assessment </a:t>
              </a:r>
              <a:endParaRPr lang="en-GB" sz="1100" b="1">
                <a:solidFill>
                  <a:schemeClr val="bg2"/>
                </a:solidFill>
                <a:latin typeface="Fund Light" pitchFamily="2" charset="-78"/>
                <a:cs typeface="Fund Light" pitchFamily="2" charset="-78"/>
              </a:endParaRPr>
            </a:p>
            <a:p>
              <a:pPr defTabSz="1219170">
                <a:spcBef>
                  <a:spcPts val="400"/>
                </a:spcBef>
                <a:spcAft>
                  <a:spcPts val="400"/>
                </a:spcAft>
                <a:defRPr/>
              </a:pPr>
              <a:endParaRPr lang="en-GB" sz="1100" b="1">
                <a:solidFill>
                  <a:schemeClr val="tx2"/>
                </a:solidFill>
                <a:latin typeface="Fund Light" pitchFamily="2" charset="-78"/>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7629525" y="1292320"/>
              <a:ext cx="4997451" cy="3224118"/>
            </a:xfrm>
            <a:prstGeom prst="rect">
              <a:avLst/>
            </a:prstGeom>
            <a:noFill/>
            <a:ln w="6350">
              <a:noFill/>
              <a:miter lim="800000"/>
            </a:ln>
          </p:spPr>
          <p:txBody>
            <a:bodyPr wrap="square" lIns="91440" tIns="91440" rIns="91440" bIns="91440">
              <a:noAutofit/>
            </a:bodyPr>
            <a:lstStyle/>
            <a:p>
              <a:pPr defTabSz="1219170">
                <a:spcBef>
                  <a:spcPts val="600"/>
                </a:spcBef>
                <a:spcAft>
                  <a:spcPts val="800"/>
                </a:spcAft>
                <a:defRPr/>
              </a:pPr>
              <a:r>
                <a:rPr lang="en-US" sz="1100">
                  <a:solidFill>
                    <a:srgbClr val="000000"/>
                  </a:solidFill>
                  <a:latin typeface="Fund Light" pitchFamily="2" charset="-78"/>
                  <a:cs typeface="Fund Light" pitchFamily="2" charset="-78"/>
                </a:rPr>
                <a:t>What is the </a:t>
              </a:r>
              <a:r>
                <a:rPr lang="en-US" sz="1100" b="1">
                  <a:solidFill>
                    <a:srgbClr val="000000"/>
                  </a:solidFill>
                  <a:latin typeface="Fund Light" pitchFamily="2" charset="-78"/>
                  <a:cs typeface="Fund Light" pitchFamily="2" charset="-78"/>
                </a:rPr>
                <a:t>localization opportunity </a:t>
              </a:r>
              <a:r>
                <a:rPr lang="en-US" sz="1100">
                  <a:solidFill>
                    <a:srgbClr val="000000"/>
                  </a:solidFill>
                  <a:latin typeface="Fund Light" pitchFamily="2" charset="-78"/>
                  <a:cs typeface="Fund Light" pitchFamily="2" charset="-78"/>
                </a:rPr>
                <a:t>and its expected impact?</a:t>
              </a:r>
            </a:p>
            <a:p>
              <a:pPr defTabSz="1219170">
                <a:spcBef>
                  <a:spcPts val="600"/>
                </a:spcBef>
                <a:spcAft>
                  <a:spcPts val="800"/>
                </a:spcAft>
                <a:defRPr/>
              </a:pPr>
              <a:r>
                <a:rPr lang="en-US" sz="1100">
                  <a:solidFill>
                    <a:srgbClr val="000000"/>
                  </a:solidFill>
                  <a:latin typeface="Fund Light" pitchFamily="2" charset="-78"/>
                  <a:cs typeface="Fund Light" pitchFamily="2" charset="-78"/>
                </a:rPr>
                <a:t>Is the </a:t>
              </a:r>
              <a:r>
                <a:rPr lang="en-US" sz="1100" b="1">
                  <a:solidFill>
                    <a:srgbClr val="000000"/>
                  </a:solidFill>
                  <a:latin typeface="Fund Light" pitchFamily="2" charset="-78"/>
                  <a:cs typeface="Fund Light" pitchFamily="2" charset="-78"/>
                </a:rPr>
                <a:t>addressable demand sufficient </a:t>
              </a:r>
              <a:r>
                <a:rPr lang="en-US" sz="1100">
                  <a:solidFill>
                    <a:srgbClr val="000000"/>
                  </a:solidFill>
                  <a:latin typeface="Fund Light" pitchFamily="2" charset="-78"/>
                  <a:cs typeface="Fund Light" pitchFamily="2" charset="-78"/>
                </a:rPr>
                <a:t>for localization? </a:t>
              </a:r>
            </a:p>
            <a:p>
              <a:pPr defTabSz="1219170">
                <a:spcBef>
                  <a:spcPts val="600"/>
                </a:spcBef>
                <a:spcAft>
                  <a:spcPts val="800"/>
                </a:spcAft>
                <a:defRPr/>
              </a:pPr>
              <a:r>
                <a:rPr lang="en-US" sz="1100">
                  <a:solidFill>
                    <a:srgbClr val="000000"/>
                  </a:solidFill>
                  <a:latin typeface="Fund Light" pitchFamily="2" charset="-78"/>
                  <a:cs typeface="Fund Light" pitchFamily="2" charset="-78"/>
                </a:rPr>
                <a:t>Is a </a:t>
              </a:r>
              <a:r>
                <a:rPr lang="en-US" sz="1100" b="1">
                  <a:solidFill>
                    <a:srgbClr val="000000"/>
                  </a:solidFill>
                  <a:latin typeface="Fund Light" pitchFamily="2" charset="-78"/>
                  <a:cs typeface="Fund Light" pitchFamily="2" charset="-78"/>
                </a:rPr>
                <a:t>preferred supplier agreement </a:t>
              </a:r>
              <a:r>
                <a:rPr lang="en-US" sz="1100">
                  <a:solidFill>
                    <a:srgbClr val="000000"/>
                  </a:solidFill>
                  <a:latin typeface="Fund Light" pitchFamily="2" charset="-78"/>
                  <a:cs typeface="Fund Light" pitchFamily="2" charset="-78"/>
                </a:rPr>
                <a:t>sufficient or is a take-or-pay required?</a:t>
              </a:r>
            </a:p>
            <a:p>
              <a:pPr defTabSz="1219170">
                <a:spcBef>
                  <a:spcPts val="600"/>
                </a:spcBef>
                <a:spcAft>
                  <a:spcPts val="800"/>
                </a:spcAft>
                <a:defRPr/>
              </a:pPr>
              <a:r>
                <a:rPr lang="en-US" sz="1100">
                  <a:solidFill>
                    <a:srgbClr val="000000"/>
                  </a:solidFill>
                  <a:latin typeface="Fund Light" pitchFamily="2" charset="-78"/>
                  <a:cs typeface="Fund Light" pitchFamily="2" charset="-78"/>
                </a:rPr>
                <a:t>Are the </a:t>
              </a:r>
              <a:r>
                <a:rPr lang="en-US" sz="1100" b="1">
                  <a:solidFill>
                    <a:srgbClr val="000000"/>
                  </a:solidFill>
                  <a:latin typeface="Fund Light" pitchFamily="2" charset="-78"/>
                  <a:cs typeface="Fund Light" pitchFamily="2" charset="-78"/>
                </a:rPr>
                <a:t>associated risks </a:t>
              </a:r>
              <a:r>
                <a:rPr lang="en-US" sz="1100">
                  <a:solidFill>
                    <a:srgbClr val="000000"/>
                  </a:solidFill>
                  <a:latin typeface="Fund Light" pitchFamily="2" charset="-78"/>
                  <a:cs typeface="Fund Light" pitchFamily="2" charset="-78"/>
                </a:rPr>
                <a:t>manageable?</a:t>
              </a:r>
            </a:p>
          </p:txBody>
        </p:sp>
      </p:grpSp>
      <p:sp>
        <p:nvSpPr>
          <p:cNvPr id="41" name="Oval 40">
            <a:extLst>
              <a:ext uri="{FF2B5EF4-FFF2-40B4-BE49-F238E27FC236}">
                <a16:creationId xmlns:a16="http://schemas.microsoft.com/office/drawing/2014/main" id="{C0722AEB-78F6-4253-9E2C-EED187ED408F}"/>
              </a:ext>
            </a:extLst>
          </p:cNvPr>
          <p:cNvSpPr/>
          <p:nvPr/>
        </p:nvSpPr>
        <p:spPr>
          <a:xfrm>
            <a:off x="4908741" y="141174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1</a:t>
            </a:r>
          </a:p>
        </p:txBody>
      </p:sp>
      <p:sp>
        <p:nvSpPr>
          <p:cNvPr id="7" name="Oval 6">
            <a:extLst>
              <a:ext uri="{FF2B5EF4-FFF2-40B4-BE49-F238E27FC236}">
                <a16:creationId xmlns:a16="http://schemas.microsoft.com/office/drawing/2014/main" id="{3EB334F8-F229-4DBC-8944-1F59DB4F3529}"/>
              </a:ext>
            </a:extLst>
          </p:cNvPr>
          <p:cNvSpPr/>
          <p:nvPr/>
        </p:nvSpPr>
        <p:spPr>
          <a:xfrm>
            <a:off x="4908741" y="1901738"/>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2</a:t>
            </a:r>
          </a:p>
        </p:txBody>
      </p:sp>
      <p:sp>
        <p:nvSpPr>
          <p:cNvPr id="8" name="Oval 7">
            <a:extLst>
              <a:ext uri="{FF2B5EF4-FFF2-40B4-BE49-F238E27FC236}">
                <a16:creationId xmlns:a16="http://schemas.microsoft.com/office/drawing/2014/main" id="{000719F4-36C7-E2BE-5FDE-1A6DC030946E}"/>
              </a:ext>
            </a:extLst>
          </p:cNvPr>
          <p:cNvSpPr/>
          <p:nvPr/>
        </p:nvSpPr>
        <p:spPr>
          <a:xfrm>
            <a:off x="4908741" y="2391735"/>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3</a:t>
            </a:r>
          </a:p>
        </p:txBody>
      </p:sp>
      <p:sp>
        <p:nvSpPr>
          <p:cNvPr id="9" name="Oval 8">
            <a:extLst>
              <a:ext uri="{FF2B5EF4-FFF2-40B4-BE49-F238E27FC236}">
                <a16:creationId xmlns:a16="http://schemas.microsoft.com/office/drawing/2014/main" id="{9E46D201-6EF1-C5A6-6363-813F2254F603}"/>
              </a:ext>
            </a:extLst>
          </p:cNvPr>
          <p:cNvSpPr/>
          <p:nvPr/>
        </p:nvSpPr>
        <p:spPr>
          <a:xfrm>
            <a:off x="4908741" y="2881733"/>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4</a:t>
            </a:r>
          </a:p>
        </p:txBody>
      </p:sp>
      <p:sp>
        <p:nvSpPr>
          <p:cNvPr id="6" name="Rectangle 5">
            <a:extLst>
              <a:ext uri="{FF2B5EF4-FFF2-40B4-BE49-F238E27FC236}">
                <a16:creationId xmlns:a16="http://schemas.microsoft.com/office/drawing/2014/main" id="{2F075E9E-834C-740A-0E8D-4C4FC8297C16}"/>
              </a:ext>
            </a:extLst>
          </p:cNvPr>
          <p:cNvSpPr/>
          <p:nvPr/>
        </p:nvSpPr>
        <p:spPr>
          <a:xfrm>
            <a:off x="4831240" y="2774950"/>
            <a:ext cx="4160360" cy="800100"/>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A6EAF9-4FA0-B496-8770-1BD55C477A42}"/>
              </a:ext>
            </a:extLst>
          </p:cNvPr>
          <p:cNvSpPr/>
          <p:nvPr/>
        </p:nvSpPr>
        <p:spPr>
          <a:xfrm>
            <a:off x="4831240" y="1114852"/>
            <a:ext cx="4160360" cy="1238842"/>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6">
            <a:extLst>
              <a:ext uri="{FF2B5EF4-FFF2-40B4-BE49-F238E27FC236}">
                <a16:creationId xmlns:a16="http://schemas.microsoft.com/office/drawing/2014/main" id="{7B99D195-C674-D3A4-4863-8FA276DABB65}"/>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13" name="Oval 12">
            <a:extLst>
              <a:ext uri="{FF2B5EF4-FFF2-40B4-BE49-F238E27FC236}">
                <a16:creationId xmlns:a16="http://schemas.microsoft.com/office/drawing/2014/main" id="{48DF8001-189D-6B10-B3EB-056ACDBC8247}"/>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11" name="TextBox 10">
            <a:extLst>
              <a:ext uri="{FF2B5EF4-FFF2-40B4-BE49-F238E27FC236}">
                <a16:creationId xmlns:a16="http://schemas.microsoft.com/office/drawing/2014/main" id="{0FB96BFE-D738-B15C-8E9A-2DD94CDB6E77}"/>
              </a:ext>
            </a:extLst>
          </p:cNvPr>
          <p:cNvSpPr txBox="1">
            <a:spLocks/>
          </p:cNvSpPr>
          <p:nvPr/>
        </p:nvSpPr>
        <p:spPr>
          <a:xfrm>
            <a:off x="327025" y="771525"/>
            <a:ext cx="4346576"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GB" sz="1100" b="1" i="0" u="none" strike="noStrike" kern="1200" cap="none" spc="0" normalizeH="0" baseline="0" noProof="0" dirty="0">
                <a:ln>
                  <a:noFill/>
                </a:ln>
                <a:solidFill>
                  <a:srgbClr val="C3984D"/>
                </a:solidFill>
                <a:effectLst/>
                <a:uLnTx/>
                <a:uFillTx/>
                <a:latin typeface="Fund Light" pitchFamily="2" charset="-78"/>
                <a:ea typeface="+mn-ea"/>
                <a:cs typeface="Fund Light" pitchFamily="2" charset="-78"/>
              </a:rPr>
              <a:t>Objective</a:t>
            </a:r>
          </a:p>
          <a:p>
            <a:pPr marL="231642" marR="0" lvl="0" indent="-231642" algn="l" defTabSz="121917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Evaluate whether demand is sufficient to localize the opportunity, based on:</a:t>
            </a:r>
          </a:p>
          <a:p>
            <a:pPr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lang="en-US" sz="1100" dirty="0">
                <a:solidFill>
                  <a:srgbClr val="000000"/>
                </a:solidFill>
                <a:latin typeface="Fund Light" pitchFamily="2" charset="-78"/>
                <a:cs typeface="Fund Light" pitchFamily="2" charset="-78"/>
              </a:rPr>
              <a:t>KSA demand / supply ga</a:t>
            </a: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p</a:t>
            </a:r>
          </a:p>
          <a:p>
            <a:pPr marL="457200"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Regional export potential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2"/>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Develop detailed business case to:</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Select optimal type of LDC agreement (PSA or take-or-pay agreement) based on the financial risk of the investor </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Assess the potential liability risks based on required LDC demand commitments and durations</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Estimate of company-level LC impact as a result of the product localization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3"/>
              <a:tabLst/>
              <a:defRPr/>
            </a:pPr>
            <a:r>
              <a:rPr kumimoji="0" lang="en-US" sz="11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Ultimately, the LDC feasibility assessment aims to develop a thorough understanding of the opportunity and acts as the basis to obtain approval to commence the LDC journey </a:t>
            </a:r>
          </a:p>
        </p:txBody>
      </p:sp>
    </p:spTree>
    <p:extLst>
      <p:ext uri="{BB962C8B-B14F-4D97-AF65-F5344CB8AC3E}">
        <p14:creationId xmlns:p14="http://schemas.microsoft.com/office/powerpoint/2010/main" val="80581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0EB1D8-A67B-4201-9C7D-65C4BABF90C4}"/>
              </a:ext>
            </a:extLst>
          </p:cNvPr>
          <p:cNvGraphicFramePr>
            <a:graphicFrameLocks noChangeAspect="1"/>
          </p:cNvGraphicFramePr>
          <p:nvPr>
            <p:custDataLst>
              <p:tags r:id="rId1"/>
            </p:custDataLst>
            <p:extLst>
              <p:ext uri="{D42A27DB-BD31-4B8C-83A1-F6EECF244321}">
                <p14:modId xmlns:p14="http://schemas.microsoft.com/office/powerpoint/2010/main" val="2680650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63" progId="TCLayout.ActiveDocument.1">
                  <p:embed/>
                </p:oleObj>
              </mc:Choice>
              <mc:Fallback>
                <p:oleObj name="think-cell Slide" r:id="rId4" imgW="353" imgH="363" progId="TCLayout.ActiveDocument.1">
                  <p:embed/>
                  <p:pic>
                    <p:nvPicPr>
                      <p:cNvPr id="6" name="think-cell data - do not delete" hidden="1">
                        <a:extLst>
                          <a:ext uri="{FF2B5EF4-FFF2-40B4-BE49-F238E27FC236}">
                            <a16:creationId xmlns:a16="http://schemas.microsoft.com/office/drawing/2014/main" id="{690EB1D8-A67B-4201-9C7D-65C4BABF90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itle 13">
            <a:extLst>
              <a:ext uri="{FF2B5EF4-FFF2-40B4-BE49-F238E27FC236}">
                <a16:creationId xmlns:a16="http://schemas.microsoft.com/office/drawing/2014/main" id="{2DE94BF8-8CE4-4E61-B462-5372EF048EA8}"/>
              </a:ext>
            </a:extLst>
          </p:cNvPr>
          <p:cNvSpPr>
            <a:spLocks noGrp="1"/>
          </p:cNvSpPr>
          <p:nvPr>
            <p:ph type="title"/>
          </p:nvPr>
        </p:nvSpPr>
        <p:spPr/>
        <p:txBody>
          <a:bodyPr vert="horz"/>
          <a:lstStyle/>
          <a:p>
            <a:r>
              <a:rPr lang="en-US"/>
              <a:t>There are two types of demand commitments that can be offered</a:t>
            </a:r>
          </a:p>
        </p:txBody>
      </p:sp>
      <p:sp>
        <p:nvSpPr>
          <p:cNvPr id="29" name="Rectangle 28">
            <a:extLst>
              <a:ext uri="{FF2B5EF4-FFF2-40B4-BE49-F238E27FC236}">
                <a16:creationId xmlns:a16="http://schemas.microsoft.com/office/drawing/2014/main" id="{1CC21278-BD35-2F71-EF9E-75DE79A98A8C}"/>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sp>
        <p:nvSpPr>
          <p:cNvPr id="4" name="Text Placeholder 6">
            <a:extLst>
              <a:ext uri="{FF2B5EF4-FFF2-40B4-BE49-F238E27FC236}">
                <a16:creationId xmlns:a16="http://schemas.microsoft.com/office/drawing/2014/main" id="{A3973878-BFE4-4B57-4BA7-6FFD379F7110}"/>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5" name="Oval 4">
            <a:extLst>
              <a:ext uri="{FF2B5EF4-FFF2-40B4-BE49-F238E27FC236}">
                <a16:creationId xmlns:a16="http://schemas.microsoft.com/office/drawing/2014/main" id="{AB256DC3-2A90-FC41-2155-426704A4CC0B}"/>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11" name="Text Placeholder 1">
            <a:extLst>
              <a:ext uri="{FF2B5EF4-FFF2-40B4-BE49-F238E27FC236}">
                <a16:creationId xmlns:a16="http://schemas.microsoft.com/office/drawing/2014/main" id="{431BB460-725F-D24E-F9B2-C900E0B70491}"/>
              </a:ext>
            </a:extLst>
          </p:cNvPr>
          <p:cNvSpPr txBox="1">
            <a:spLocks/>
          </p:cNvSpPr>
          <p:nvPr/>
        </p:nvSpPr>
        <p:spPr>
          <a:xfrm>
            <a:off x="1551727" y="4767025"/>
            <a:ext cx="6915047" cy="274834"/>
          </a:xfrm>
          <a:prstGeom prst="rect">
            <a:avLst/>
          </a:prstGeom>
        </p:spPr>
        <p:txBody>
          <a:bodyPr anchor="t"/>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sz="600" dirty="0"/>
              <a:t>1. Product Complexity Index</a:t>
            </a:r>
          </a:p>
        </p:txBody>
      </p:sp>
      <p:sp>
        <p:nvSpPr>
          <p:cNvPr id="25" name="Rectangle 24">
            <a:extLst>
              <a:ext uri="{FF2B5EF4-FFF2-40B4-BE49-F238E27FC236}">
                <a16:creationId xmlns:a16="http://schemas.microsoft.com/office/drawing/2014/main" id="{F8AFA2CB-CD95-9A6C-E248-BEB4534E09DF}"/>
              </a:ext>
            </a:extLst>
          </p:cNvPr>
          <p:cNvSpPr>
            <a:spLocks/>
          </p:cNvSpPr>
          <p:nvPr/>
        </p:nvSpPr>
        <p:spPr>
          <a:xfrm>
            <a:off x="326231" y="991885"/>
            <a:ext cx="959644" cy="391581"/>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Type of agreement</a:t>
            </a:r>
          </a:p>
        </p:txBody>
      </p:sp>
      <p:cxnSp>
        <p:nvCxnSpPr>
          <p:cNvPr id="26" name="Straight Connector 25">
            <a:extLst>
              <a:ext uri="{FF2B5EF4-FFF2-40B4-BE49-F238E27FC236}">
                <a16:creationId xmlns:a16="http://schemas.microsoft.com/office/drawing/2014/main" id="{02EBD092-33DE-8EDA-A2DA-CCA3F613025B}"/>
              </a:ext>
            </a:extLst>
          </p:cNvPr>
          <p:cNvCxnSpPr>
            <a:cxnSpLocks/>
          </p:cNvCxnSpPr>
          <p:nvPr/>
        </p:nvCxnSpPr>
        <p:spPr>
          <a:xfrm>
            <a:off x="326230" y="3266933"/>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55ABA42-416B-6401-EE3E-CE62AA50BF91}"/>
              </a:ext>
            </a:extLst>
          </p:cNvPr>
          <p:cNvCxnSpPr>
            <a:cxnSpLocks/>
          </p:cNvCxnSpPr>
          <p:nvPr/>
        </p:nvCxnSpPr>
        <p:spPr>
          <a:xfrm>
            <a:off x="326230" y="3662807"/>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D1CB293-4A71-E472-861D-CF731C916D88}"/>
              </a:ext>
            </a:extLst>
          </p:cNvPr>
          <p:cNvSpPr>
            <a:spLocks/>
          </p:cNvSpPr>
          <p:nvPr/>
        </p:nvSpPr>
        <p:spPr>
          <a:xfrm>
            <a:off x="326231" y="1426510"/>
            <a:ext cx="959644" cy="1592424"/>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How does it work?</a:t>
            </a:r>
          </a:p>
        </p:txBody>
      </p:sp>
      <p:sp>
        <p:nvSpPr>
          <p:cNvPr id="30" name="Rectangle 29">
            <a:extLst>
              <a:ext uri="{FF2B5EF4-FFF2-40B4-BE49-F238E27FC236}">
                <a16:creationId xmlns:a16="http://schemas.microsoft.com/office/drawing/2014/main" id="{FE95872C-473F-A48E-0D9A-9D459E364E40}"/>
              </a:ext>
            </a:extLst>
          </p:cNvPr>
          <p:cNvSpPr>
            <a:spLocks/>
          </p:cNvSpPr>
          <p:nvPr/>
        </p:nvSpPr>
        <p:spPr>
          <a:xfrm>
            <a:off x="326231" y="3308898"/>
            <a:ext cx="959644" cy="310865"/>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Liability risk exposure? </a:t>
            </a:r>
          </a:p>
        </p:txBody>
      </p:sp>
      <p:sp>
        <p:nvSpPr>
          <p:cNvPr id="31" name="Rectangle 30">
            <a:extLst>
              <a:ext uri="{FF2B5EF4-FFF2-40B4-BE49-F238E27FC236}">
                <a16:creationId xmlns:a16="http://schemas.microsoft.com/office/drawing/2014/main" id="{B377685C-9B1F-7223-6992-DE1B189FDD01}"/>
              </a:ext>
            </a:extLst>
          </p:cNvPr>
          <p:cNvSpPr>
            <a:spLocks/>
          </p:cNvSpPr>
          <p:nvPr/>
        </p:nvSpPr>
        <p:spPr>
          <a:xfrm>
            <a:off x="326231" y="3658555"/>
            <a:ext cx="959644" cy="857883"/>
          </a:xfrm>
          <a:prstGeom prst="rect">
            <a:avLst/>
          </a:prstGeom>
          <a:noFill/>
        </p:spPr>
        <p:txBody>
          <a:bodyPr wrap="square" rtlCol="0" anchor="ctr">
            <a:noAutofit/>
          </a:bodyPr>
          <a:lstStyle/>
          <a:p>
            <a:pPr marL="0" marR="0" lvl="0" indent="0" algn="r" defTabSz="914400" rtl="0" eaLnBrk="1" fontAlgn="auto" latinLnBrk="0" hangingPunct="1">
              <a:lnSpc>
                <a:spcPct val="100000"/>
              </a:lnSpc>
              <a:spcBef>
                <a:spcPts val="400"/>
              </a:spcBef>
              <a:spcAft>
                <a:spcPts val="4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When to apply?</a:t>
            </a:r>
          </a:p>
        </p:txBody>
      </p:sp>
      <p:sp>
        <p:nvSpPr>
          <p:cNvPr id="41" name="TextBox 40">
            <a:extLst>
              <a:ext uri="{FF2B5EF4-FFF2-40B4-BE49-F238E27FC236}">
                <a16:creationId xmlns:a16="http://schemas.microsoft.com/office/drawing/2014/main" id="{74E6E186-291B-BF08-638E-C09E80A4E7AE}"/>
              </a:ext>
            </a:extLst>
          </p:cNvPr>
          <p:cNvSpPr txBox="1">
            <a:spLocks/>
          </p:cNvSpPr>
          <p:nvPr/>
        </p:nvSpPr>
        <p:spPr>
          <a:xfrm>
            <a:off x="1357313" y="991885"/>
            <a:ext cx="3566160" cy="391581"/>
          </a:xfrm>
          <a:prstGeom prst="rect">
            <a:avLst/>
          </a:prstGeom>
          <a:solidFill>
            <a:schemeClr val="bg2"/>
          </a:solidFill>
        </p:spPr>
        <p:txBody>
          <a:bodyPr wrap="square" rtlCol="0" anchor="ctr">
            <a:noAutofit/>
          </a:bodyPr>
          <a:lstStyle>
            <a:defPPr>
              <a:defRPr lang="en-US"/>
            </a:defPPr>
            <a:lvl1pPr marR="0" lvl="0" indent="0" algn="ctr" defTabSz="914400" fontAlgn="auto">
              <a:lnSpc>
                <a:spcPct val="100000"/>
              </a:lnSpc>
              <a:spcBef>
                <a:spcPts val="300"/>
              </a:spcBef>
              <a:spcAft>
                <a:spcPts val="300"/>
              </a:spcAft>
              <a:buClrTx/>
              <a:buSzTx/>
              <a:buFontTx/>
              <a:buNone/>
              <a:tabLst/>
              <a:defRPr kumimoji="0" sz="1000" b="1" i="0" u="none" strike="noStrike" cap="none" spc="0" normalizeH="0" baseline="0">
                <a:ln>
                  <a:noFill/>
                </a:ln>
                <a:solidFill>
                  <a:srgbClr val="FFFFFF"/>
                </a:solidFill>
                <a:effectLst/>
                <a:uLnTx/>
                <a:uFillTx/>
                <a:latin typeface="Fund Light" pitchFamily="2" charset="-78"/>
                <a:cs typeface="Fund Light" pitchFamily="2" charset="-78"/>
              </a:defRPr>
            </a:lvl1pPr>
          </a:lstStyle>
          <a:p>
            <a:r>
              <a:rPr lang="en-US"/>
              <a:t>Preferred supplier agreement</a:t>
            </a:r>
          </a:p>
        </p:txBody>
      </p:sp>
      <p:sp>
        <p:nvSpPr>
          <p:cNvPr id="51" name="Oval 50">
            <a:extLst>
              <a:ext uri="{FF2B5EF4-FFF2-40B4-BE49-F238E27FC236}">
                <a16:creationId xmlns:a16="http://schemas.microsoft.com/office/drawing/2014/main" id="{143E0401-25F9-88F0-A7BF-B13BE098051C}"/>
              </a:ext>
            </a:extLst>
          </p:cNvPr>
          <p:cNvSpPr/>
          <p:nvPr/>
        </p:nvSpPr>
        <p:spPr>
          <a:xfrm>
            <a:off x="1426369" y="1064231"/>
            <a:ext cx="246888" cy="246888"/>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4400">
              <a:spcBef>
                <a:spcPts val="300"/>
              </a:spcBef>
              <a:spcAft>
                <a:spcPts val="300"/>
              </a:spcAft>
            </a:pPr>
            <a:r>
              <a:rPr lang="en-US" sz="1200" b="1">
                <a:solidFill>
                  <a:srgbClr val="FFFFFF"/>
                </a:solidFill>
                <a:latin typeface="Fund Light" pitchFamily="2" charset="-78"/>
                <a:cs typeface="Fund Light" pitchFamily="2" charset="-78"/>
              </a:rPr>
              <a:t>1</a:t>
            </a:r>
          </a:p>
        </p:txBody>
      </p:sp>
      <p:sp>
        <p:nvSpPr>
          <p:cNvPr id="55" name="TextBox 54">
            <a:extLst>
              <a:ext uri="{FF2B5EF4-FFF2-40B4-BE49-F238E27FC236}">
                <a16:creationId xmlns:a16="http://schemas.microsoft.com/office/drawing/2014/main" id="{649AEB60-03CC-20FC-63B8-736ECBE9BAB4}"/>
              </a:ext>
            </a:extLst>
          </p:cNvPr>
          <p:cNvSpPr txBox="1">
            <a:spLocks/>
          </p:cNvSpPr>
          <p:nvPr/>
        </p:nvSpPr>
        <p:spPr>
          <a:xfrm>
            <a:off x="5248277" y="991885"/>
            <a:ext cx="3566160" cy="391581"/>
          </a:xfrm>
          <a:prstGeom prst="rect">
            <a:avLst/>
          </a:prstGeom>
          <a:solidFill>
            <a:schemeClr val="bg2"/>
          </a:solidFill>
        </p:spPr>
        <p:txBody>
          <a:bodyPr wrap="square" rtlCol="0" anchor="ctr">
            <a:noAutofit/>
          </a:bodyPr>
          <a:lstStyle>
            <a:defPPr>
              <a:defRPr lang="en-US"/>
            </a:defPPr>
            <a:lvl1pPr algn="r">
              <a:spcBef>
                <a:spcPts val="300"/>
              </a:spcBef>
              <a:spcAft>
                <a:spcPts val="300"/>
              </a:spcAft>
              <a:defRPr sz="800" b="1">
                <a:solidFill>
                  <a:schemeClr val="tx1">
                    <a:lumMod val="65000"/>
                    <a:lumOff val="35000"/>
                  </a:schemeClr>
                </a:solidFill>
                <a:cs typeface="Fund Regular" pitchFamily="2" charset="-78"/>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Take-or-pay agreement</a:t>
            </a:r>
          </a:p>
        </p:txBody>
      </p:sp>
      <p:sp>
        <p:nvSpPr>
          <p:cNvPr id="57" name="Rectangle 56">
            <a:extLst>
              <a:ext uri="{FF2B5EF4-FFF2-40B4-BE49-F238E27FC236}">
                <a16:creationId xmlns:a16="http://schemas.microsoft.com/office/drawing/2014/main" id="{D03795C2-7332-C467-6E2C-1BF0EFA4B4E3}"/>
              </a:ext>
            </a:extLst>
          </p:cNvPr>
          <p:cNvSpPr>
            <a:spLocks/>
          </p:cNvSpPr>
          <p:nvPr/>
        </p:nvSpPr>
        <p:spPr>
          <a:xfrm>
            <a:off x="5553075" y="771525"/>
            <a:ext cx="3267073" cy="167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GB" sz="900" b="0" i="1"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Offered only as a last-resort</a:t>
            </a:r>
          </a:p>
        </p:txBody>
      </p:sp>
      <p:sp>
        <p:nvSpPr>
          <p:cNvPr id="59" name="Oval 58">
            <a:extLst>
              <a:ext uri="{FF2B5EF4-FFF2-40B4-BE49-F238E27FC236}">
                <a16:creationId xmlns:a16="http://schemas.microsoft.com/office/drawing/2014/main" id="{1BC5A020-3CA9-268D-F3D5-E305E6858E8D}"/>
              </a:ext>
            </a:extLst>
          </p:cNvPr>
          <p:cNvSpPr/>
          <p:nvPr/>
        </p:nvSpPr>
        <p:spPr>
          <a:xfrm>
            <a:off x="5318241" y="1064231"/>
            <a:ext cx="246888" cy="246888"/>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a:t>
            </a:r>
          </a:p>
        </p:txBody>
      </p:sp>
      <p:sp>
        <p:nvSpPr>
          <p:cNvPr id="61" name="TextBox 60">
            <a:extLst>
              <a:ext uri="{FF2B5EF4-FFF2-40B4-BE49-F238E27FC236}">
                <a16:creationId xmlns:a16="http://schemas.microsoft.com/office/drawing/2014/main" id="{6656322E-115F-D90F-A291-92711DFEA13E}"/>
              </a:ext>
            </a:extLst>
          </p:cNvPr>
          <p:cNvSpPr txBox="1">
            <a:spLocks/>
          </p:cNvSpPr>
          <p:nvPr/>
        </p:nvSpPr>
        <p:spPr>
          <a:xfrm>
            <a:off x="1357313" y="1426510"/>
            <a:ext cx="3566160" cy="1392369"/>
          </a:xfrm>
          <a:prstGeom prst="rect">
            <a:avLst/>
          </a:prstGeom>
          <a:noFill/>
        </p:spPr>
        <p:txBody>
          <a:bodyPr wrap="square" rtlCol="0" anchor="t" anchorCtr="0">
            <a:noAutofit/>
          </a:bodyPr>
          <a:lstStyle/>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The buyer has to procure from supplier</a:t>
            </a:r>
            <a:r>
              <a:rPr kumimoji="0" lang="en-US" sz="900" b="0" i="0" strike="noStrike" kern="1200" cap="none" spc="0" normalizeH="0" baseline="0" noProof="0">
                <a:ln>
                  <a:noFill/>
                </a:ln>
                <a:solidFill>
                  <a:srgbClr val="000000"/>
                </a:solidFill>
                <a:effectLst/>
                <a:uLnTx/>
                <a:uFillTx/>
                <a:latin typeface="Fund Light" pitchFamily="2" charset="-78"/>
                <a:ea typeface="+mn-ea"/>
                <a:cs typeface="Fund Light" pitchFamily="2" charset="-78"/>
              </a:rPr>
              <a:t> </a:t>
            </a:r>
            <a:r>
              <a:rPr kumimoji="0" lang="en-US" sz="900" b="1" i="0" strike="noStrike" kern="1200" cap="none" spc="0" normalizeH="0" baseline="0" noProof="0">
                <a:ln>
                  <a:noFill/>
                </a:ln>
                <a:solidFill>
                  <a:srgbClr val="000000"/>
                </a:solidFill>
                <a:effectLst/>
                <a:uLnTx/>
                <a:uFillTx/>
                <a:latin typeface="Fund Light" pitchFamily="2" charset="-78"/>
                <a:ea typeface="+mn-ea"/>
                <a:cs typeface="Fund Light" pitchFamily="2" charset="-78"/>
              </a:rPr>
              <a:t>only if business need arises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i.e., if there is demand and the buyer procures from a foreign entity, legal implications arise. However, if the buyer does not procure, no legal obligations arise</a:t>
            </a:r>
          </a:p>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Purchase quantity, duration, and price contractually agreed upon </a:t>
            </a:r>
          </a:p>
          <a:p>
            <a:pPr marL="182880" marR="0" lvl="0" indent="-182880" algn="l" defTabSz="914400" rtl="0" eaLnBrk="1" fontAlgn="auto" latinLnBrk="0" hangingPunct="1">
              <a:lnSpc>
                <a:spcPct val="150000"/>
              </a:lnSpc>
              <a:spcBef>
                <a:spcPts val="30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must commit to invest in a local facility</a:t>
            </a:r>
          </a:p>
        </p:txBody>
      </p:sp>
      <p:sp>
        <p:nvSpPr>
          <p:cNvPr id="62" name="TextBox 61">
            <a:extLst>
              <a:ext uri="{FF2B5EF4-FFF2-40B4-BE49-F238E27FC236}">
                <a16:creationId xmlns:a16="http://schemas.microsoft.com/office/drawing/2014/main" id="{BBDD1FE2-147A-F9AD-257B-78B1840D0DB5}"/>
              </a:ext>
            </a:extLst>
          </p:cNvPr>
          <p:cNvSpPr txBox="1">
            <a:spLocks/>
          </p:cNvSpPr>
          <p:nvPr/>
        </p:nvSpPr>
        <p:spPr>
          <a:xfrm>
            <a:off x="1357313" y="3308898"/>
            <a:ext cx="3566160" cy="310865"/>
          </a:xfrm>
          <a:prstGeom prst="rect">
            <a:avLst/>
          </a:prstGeom>
          <a:noFill/>
        </p:spPr>
        <p:txBody>
          <a:bodyPr wrap="square" rtlCol="0" anchor="ctr">
            <a:noAutofit/>
          </a:bodyPr>
          <a:lstStyle/>
          <a:p>
            <a:pPr marL="182880" marR="0" lvl="0" indent="-182880" algn="l" defTabSz="914400" rtl="0" eaLnBrk="1" fontAlgn="auto" latinLnBrk="0" hangingPunct="1">
              <a:lnSpc>
                <a:spcPct val="150000"/>
              </a:lnSpc>
              <a:spcBef>
                <a:spcPts val="400"/>
              </a:spcBef>
              <a:spcAft>
                <a:spcPts val="400"/>
              </a:spcAft>
              <a:buClrTx/>
              <a:buSzTx/>
              <a:buFont typeface="+mj-lt"/>
              <a:buAutoNum type="arabicPeriod"/>
              <a:tabLst/>
              <a:defRPr/>
            </a:pPr>
            <a:r>
              <a:rPr kumimoji="0" lang="en-US" sz="9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No</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(procurement only if business need arises)</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
        <p:nvSpPr>
          <p:cNvPr id="63" name="TextBox 62">
            <a:extLst>
              <a:ext uri="{FF2B5EF4-FFF2-40B4-BE49-F238E27FC236}">
                <a16:creationId xmlns:a16="http://schemas.microsoft.com/office/drawing/2014/main" id="{61D6760D-091C-F62C-3754-DB1BCCE854ED}"/>
              </a:ext>
            </a:extLst>
          </p:cNvPr>
          <p:cNvSpPr txBox="1">
            <a:spLocks/>
          </p:cNvSpPr>
          <p:nvPr/>
        </p:nvSpPr>
        <p:spPr>
          <a:xfrm>
            <a:off x="1357313" y="3658555"/>
            <a:ext cx="3566160" cy="857883"/>
          </a:xfrm>
          <a:prstGeom prst="rect">
            <a:avLst/>
          </a:prstGeom>
          <a:noFill/>
        </p:spPr>
        <p:txBody>
          <a:bodyPr wrap="square" rtlCol="0" anchor="ctr">
            <a:noAutofit/>
          </a:bodyPr>
          <a:lstStyle/>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Low financial risk for the investor</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Low to medium capex </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Medium to high Internal Rate of R</a:t>
            </a:r>
            <a:r>
              <a:rPr lang="en-US" sz="900" dirty="0" err="1">
                <a:solidFill>
                  <a:srgbClr val="000000"/>
                </a:solidFill>
                <a:latin typeface="Fund Light" pitchFamily="2" charset="-78"/>
                <a:cs typeface="Fund Light" pitchFamily="2" charset="-78"/>
              </a:rPr>
              <a:t>eturn</a:t>
            </a:r>
            <a:r>
              <a:rPr lang="en-US" sz="900" dirty="0">
                <a:solidFill>
                  <a:srgbClr val="000000"/>
                </a:solidFill>
                <a:latin typeface="Fund Light" pitchFamily="2" charset="-78"/>
                <a:cs typeface="Fund Light" pitchFamily="2" charset="-78"/>
              </a:rPr>
              <a:t> (IRR)</a:t>
            </a:r>
            <a:endPar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endParaRPr>
          </a:p>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Low to medium product complexity (based on PCI</a:t>
            </a:r>
            <a:r>
              <a:rPr kumimoji="0" lang="en-US" sz="900" b="0" i="0" u="none" strike="noStrike" kern="1200" cap="none" spc="0" normalizeH="0" baseline="30000" noProof="0" dirty="0">
                <a:ln>
                  <a:noFill/>
                </a:ln>
                <a:solidFill>
                  <a:srgbClr val="000000"/>
                </a:solidFill>
                <a:effectLst/>
                <a:uLnTx/>
                <a:uFillTx/>
                <a:latin typeface="Fund Light" pitchFamily="2" charset="-78"/>
                <a:ea typeface="+mn-ea"/>
                <a:cs typeface="Fund Light" pitchFamily="2" charset="-78"/>
              </a:rPr>
              <a:t>1</a:t>
            </a: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a:t>
            </a:r>
            <a:endParaRPr kumimoji="0" lang="en-US" sz="900" b="0" i="1" u="none" strike="noStrike" kern="1200" cap="none" spc="0" normalizeH="0" baseline="0" noProof="0" dirty="0">
              <a:ln>
                <a:noFill/>
              </a:ln>
              <a:solidFill>
                <a:srgbClr val="000000"/>
              </a:solidFill>
              <a:effectLst/>
              <a:uLnTx/>
              <a:uFillTx/>
              <a:latin typeface="Fund Light" pitchFamily="2" charset="-78"/>
              <a:ea typeface="+mn-ea"/>
              <a:cs typeface="Fund Light" pitchFamily="2" charset="-78"/>
            </a:endParaRPr>
          </a:p>
        </p:txBody>
      </p:sp>
      <p:sp>
        <p:nvSpPr>
          <p:cNvPr id="64" name="TextBox 63">
            <a:extLst>
              <a:ext uri="{FF2B5EF4-FFF2-40B4-BE49-F238E27FC236}">
                <a16:creationId xmlns:a16="http://schemas.microsoft.com/office/drawing/2014/main" id="{1792629B-7220-1AE0-1BFD-D344C84DD2E1}"/>
              </a:ext>
            </a:extLst>
          </p:cNvPr>
          <p:cNvSpPr txBox="1">
            <a:spLocks/>
          </p:cNvSpPr>
          <p:nvPr/>
        </p:nvSpPr>
        <p:spPr>
          <a:xfrm>
            <a:off x="5248278" y="1426510"/>
            <a:ext cx="3566159" cy="1592424"/>
          </a:xfrm>
          <a:prstGeom prst="rect">
            <a:avLst/>
          </a:prstGeom>
          <a:noFill/>
        </p:spPr>
        <p:txBody>
          <a:bodyPr wrap="square" rtlCol="0" anchor="t" anchorCtr="0">
            <a:noAutofit/>
          </a:bodyPr>
          <a:lstStyle/>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Demand commitment </a:t>
            </a:r>
            <a:r>
              <a:rPr kumimoji="0" lang="en-US" sz="900" b="1" i="0" strike="noStrike" kern="1200" cap="none" spc="0" normalizeH="0" baseline="0" noProof="0" dirty="0">
                <a:ln>
                  <a:noFill/>
                </a:ln>
                <a:solidFill>
                  <a:srgbClr val="000000"/>
                </a:solidFill>
                <a:effectLst/>
                <a:uLnTx/>
                <a:uFillTx/>
                <a:latin typeface="Fund Light" pitchFamily="2" charset="-78"/>
                <a:ea typeface="+mn-ea"/>
                <a:cs typeface="Fund Light" pitchFamily="2" charset="-78"/>
              </a:rPr>
              <a:t>with purchase obligations:</a:t>
            </a:r>
            <a:r>
              <a:rPr kumimoji="0" lang="en-US" sz="900" b="0" i="0" strike="noStrike" kern="1200" cap="none" spc="0" normalizeH="0" baseline="0" noProof="0" dirty="0">
                <a:ln>
                  <a:noFill/>
                </a:ln>
                <a:solidFill>
                  <a:srgbClr val="000000"/>
                </a:solidFill>
                <a:effectLst/>
                <a:uLnTx/>
                <a:uFillTx/>
                <a:latin typeface="Fund Light" pitchFamily="2" charset="-78"/>
                <a:ea typeface="+mn-ea"/>
                <a:cs typeface="Fund Light" pitchFamily="2" charset="-78"/>
              </a:rPr>
              <a:t> </a:t>
            </a: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if such an agreement has been concluded, the buyer is legally obliged to procure from the supplier even if no business need arises</a:t>
            </a:r>
          </a:p>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Product quantity, duration, and price contractually agreed upon</a:t>
            </a:r>
          </a:p>
          <a:p>
            <a:pPr marL="182880" marR="0" lvl="0" indent="-182880" algn="l" defTabSz="914400" rtl="0" eaLnBrk="1" fontAlgn="auto" latinLnBrk="0" hangingPunct="1">
              <a:lnSpc>
                <a:spcPct val="150000"/>
              </a:lnSpc>
              <a:spcBef>
                <a:spcPct val="25000"/>
              </a:spcBef>
              <a:spcAft>
                <a:spcPts val="0"/>
              </a:spcAft>
              <a:buClrTx/>
              <a:buSzTx/>
              <a:buFont typeface="+mj-lt"/>
              <a:buAutoNum type="arabicPeriod"/>
              <a:tabLst/>
              <a:defRPr/>
            </a:pPr>
            <a:r>
              <a:rPr kumimoji="0" lang="en-US" sz="900" b="0" i="0" u="none" strike="noStrike" kern="1200" cap="none" spc="0" normalizeH="0" baseline="0" noProof="0" dirty="0">
                <a:ln>
                  <a:noFill/>
                </a:ln>
                <a:solidFill>
                  <a:srgbClr val="000000"/>
                </a:solidFill>
                <a:effectLst/>
                <a:uLnTx/>
                <a:uFillTx/>
                <a:latin typeface="Fund Light" pitchFamily="2" charset="-78"/>
                <a:ea typeface="+mn-ea"/>
                <a:cs typeface="Fund Light" pitchFamily="2" charset="-78"/>
              </a:rPr>
              <a:t>Supplier must commit to invest in a local facility</a:t>
            </a:r>
          </a:p>
        </p:txBody>
      </p:sp>
      <p:sp>
        <p:nvSpPr>
          <p:cNvPr id="65" name="TextBox 64">
            <a:extLst>
              <a:ext uri="{FF2B5EF4-FFF2-40B4-BE49-F238E27FC236}">
                <a16:creationId xmlns:a16="http://schemas.microsoft.com/office/drawing/2014/main" id="{08763DE5-533D-7DC0-82EB-2F2ABA1E6413}"/>
              </a:ext>
            </a:extLst>
          </p:cNvPr>
          <p:cNvSpPr txBox="1">
            <a:spLocks/>
          </p:cNvSpPr>
          <p:nvPr/>
        </p:nvSpPr>
        <p:spPr>
          <a:xfrm>
            <a:off x="5248278" y="3308898"/>
            <a:ext cx="3566159" cy="310865"/>
          </a:xfrm>
          <a:prstGeom prst="rect">
            <a:avLst/>
          </a:prstGeom>
          <a:noFill/>
        </p:spPr>
        <p:txBody>
          <a:bodyPr wrap="square" rtlCol="0" anchor="ctr">
            <a:noAutofit/>
          </a:bodyPr>
          <a:lstStyle/>
          <a:p>
            <a:pPr marL="182880" marR="0" lvl="0" indent="-182880" algn="l" defTabSz="914400" rtl="0" eaLnBrk="1" fontAlgn="auto" latinLnBrk="0" hangingPunct="1">
              <a:lnSpc>
                <a:spcPct val="150000"/>
              </a:lnSpc>
              <a:spcBef>
                <a:spcPts val="400"/>
              </a:spcBef>
              <a:spcAft>
                <a:spcPts val="400"/>
              </a:spcAft>
              <a:buClrTx/>
              <a:buSzTx/>
              <a:buFont typeface="+mj-lt"/>
              <a:buAutoNum type="arabicPeriod"/>
              <a:tabLst/>
              <a:defRPr/>
            </a:pPr>
            <a:r>
              <a:rPr kumimoji="0" lang="en-US" sz="9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(in the form of take-or-pay)</a:t>
            </a:r>
          </a:p>
        </p:txBody>
      </p:sp>
      <p:sp>
        <p:nvSpPr>
          <p:cNvPr id="66" name="TextBox 65">
            <a:extLst>
              <a:ext uri="{FF2B5EF4-FFF2-40B4-BE49-F238E27FC236}">
                <a16:creationId xmlns:a16="http://schemas.microsoft.com/office/drawing/2014/main" id="{228731BE-F611-B689-290A-56D748E6252A}"/>
              </a:ext>
            </a:extLst>
          </p:cNvPr>
          <p:cNvSpPr txBox="1">
            <a:spLocks/>
          </p:cNvSpPr>
          <p:nvPr/>
        </p:nvSpPr>
        <p:spPr>
          <a:xfrm>
            <a:off x="5248278" y="3658555"/>
            <a:ext cx="3566159" cy="857883"/>
          </a:xfrm>
          <a:prstGeom prst="rect">
            <a:avLst/>
          </a:prstGeom>
          <a:noFill/>
        </p:spPr>
        <p:txBody>
          <a:bodyPr wrap="square" rtlCol="0" anchor="ctr">
            <a:noAutofit/>
          </a:bodyPr>
          <a:lstStyle/>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financial risk for the investor</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capex </a:t>
            </a:r>
          </a:p>
          <a:p>
            <a:pPr marL="411480" marR="0" lvl="1" indent="-228600" algn="l" defTabSz="457200" rtl="0" eaLnBrk="1" fontAlgn="auto" latinLnBrk="0" hangingPunct="1">
              <a:lnSpc>
                <a:spcPct val="100000"/>
              </a:lnSpc>
              <a:spcBef>
                <a:spcPts val="0"/>
              </a:spcBef>
              <a:spcAft>
                <a:spcPts val="400"/>
              </a:spcAft>
              <a:buClrTx/>
              <a:buSzTx/>
              <a:buFont typeface="+mj-lt"/>
              <a:buAutoNum type="alphaL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Low IRR</a:t>
            </a:r>
          </a:p>
          <a:p>
            <a:pPr marL="182880" marR="0" lvl="0" indent="-182880" algn="l" defTabSz="914400" rtl="0" eaLnBrk="1" fontAlgn="auto" latinLnBrk="0" hangingPunct="1">
              <a:lnSpc>
                <a:spcPct val="100000"/>
              </a:lnSpc>
              <a:spcBef>
                <a:spcPts val="0"/>
              </a:spcBef>
              <a:spcAft>
                <a:spcPts val="40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 product complexity (based on PCI</a:t>
            </a:r>
            <a:r>
              <a:rPr kumimoji="0" lang="en-US" sz="9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rPr>
              <a:t>1</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endPar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spTree>
    <p:extLst>
      <p:ext uri="{BB962C8B-B14F-4D97-AF65-F5344CB8AC3E}">
        <p14:creationId xmlns:p14="http://schemas.microsoft.com/office/powerpoint/2010/main" val="3186829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9580E8-CF1D-D4F4-BD93-0A025E264D3C}"/>
              </a:ext>
            </a:extLst>
          </p:cNvPr>
          <p:cNvGraphicFramePr>
            <a:graphicFrameLocks noChangeAspect="1"/>
          </p:cNvGraphicFramePr>
          <p:nvPr>
            <p:custDataLst>
              <p:tags r:id="rId1"/>
            </p:custDataLst>
            <p:extLst>
              <p:ext uri="{D42A27DB-BD31-4B8C-83A1-F6EECF244321}">
                <p14:modId xmlns:p14="http://schemas.microsoft.com/office/powerpoint/2010/main" val="2770474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A9580E8-CF1D-D4F4-BD93-0A025E264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7" name="Speech Bubble: Rectangle 46">
            <a:extLst>
              <a:ext uri="{FF2B5EF4-FFF2-40B4-BE49-F238E27FC236}">
                <a16:creationId xmlns:a16="http://schemas.microsoft.com/office/drawing/2014/main" id="{A89D6E6E-62DD-90F5-D746-069BA5EF97B2}"/>
              </a:ext>
            </a:extLst>
          </p:cNvPr>
          <p:cNvSpPr/>
          <p:nvPr/>
        </p:nvSpPr>
        <p:spPr>
          <a:xfrm>
            <a:off x="304727" y="2652236"/>
            <a:ext cx="1297684" cy="324266"/>
          </a:xfrm>
          <a:prstGeom prst="wedgeRectCallout">
            <a:avLst>
              <a:gd name="adj1" fmla="val -31566"/>
              <a:gd name="adj2" fmla="val -106358"/>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900">
              <a:solidFill>
                <a:srgbClr val="000000"/>
              </a:solidFill>
              <a:latin typeface="Fund Light" pitchFamily="2" charset="-78"/>
              <a:cs typeface="Fund Light" pitchFamily="2" charset="-78"/>
            </a:endParaRPr>
          </a:p>
        </p:txBody>
      </p:sp>
      <p:sp>
        <p:nvSpPr>
          <p:cNvPr id="2" name="Title 1">
            <a:extLst>
              <a:ext uri="{FF2B5EF4-FFF2-40B4-BE49-F238E27FC236}">
                <a16:creationId xmlns:a16="http://schemas.microsoft.com/office/drawing/2014/main" id="{965543F5-AEFF-F0E3-7EC4-41ADC749C269}"/>
              </a:ext>
            </a:extLst>
          </p:cNvPr>
          <p:cNvSpPr>
            <a:spLocks noGrp="1"/>
          </p:cNvSpPr>
          <p:nvPr>
            <p:ph type="title"/>
          </p:nvPr>
        </p:nvSpPr>
        <p:spPr>
          <a:xfrm>
            <a:off x="1255078" y="255973"/>
            <a:ext cx="6583680" cy="241824"/>
          </a:xfrm>
        </p:spPr>
        <p:txBody>
          <a:bodyPr vert="horz"/>
          <a:lstStyle/>
          <a:p>
            <a:r>
              <a:rPr lang="en-US"/>
              <a:t>A business model needs to be created to assess the type of demand commitment </a:t>
            </a:r>
          </a:p>
        </p:txBody>
      </p:sp>
      <p:sp>
        <p:nvSpPr>
          <p:cNvPr id="3" name="Rectangle 2">
            <a:extLst>
              <a:ext uri="{FF2B5EF4-FFF2-40B4-BE49-F238E27FC236}">
                <a16:creationId xmlns:a16="http://schemas.microsoft.com/office/drawing/2014/main" id="{FB6375BF-6BE3-C914-55A6-3773449FFDE8}"/>
              </a:ext>
            </a:extLst>
          </p:cNvPr>
          <p:cNvSpPr>
            <a:spLocks/>
          </p:cNvSpPr>
          <p:nvPr/>
        </p:nvSpPr>
        <p:spPr>
          <a:xfrm>
            <a:off x="526260" y="1830005"/>
            <a:ext cx="1143000"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Capex</a:t>
            </a:r>
          </a:p>
        </p:txBody>
      </p:sp>
      <p:sp>
        <p:nvSpPr>
          <p:cNvPr id="12" name="Rectangle 11">
            <a:extLst>
              <a:ext uri="{FF2B5EF4-FFF2-40B4-BE49-F238E27FC236}">
                <a16:creationId xmlns:a16="http://schemas.microsoft.com/office/drawing/2014/main" id="{116BE2D3-005D-10FC-2A03-260A6A81188A}"/>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sp>
        <p:nvSpPr>
          <p:cNvPr id="24" name="TextBox 23">
            <a:extLst>
              <a:ext uri="{FF2B5EF4-FFF2-40B4-BE49-F238E27FC236}">
                <a16:creationId xmlns:a16="http://schemas.microsoft.com/office/drawing/2014/main" id="{31AAD358-E7C2-00C0-665F-3A5B7396F117}"/>
              </a:ext>
            </a:extLst>
          </p:cNvPr>
          <p:cNvSpPr txBox="1">
            <a:spLocks/>
          </p:cNvSpPr>
          <p:nvPr/>
        </p:nvSpPr>
        <p:spPr>
          <a:xfrm>
            <a:off x="269720" y="1469779"/>
            <a:ext cx="1255607"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Parameters</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5" name="Straight Connector 24">
            <a:extLst>
              <a:ext uri="{FF2B5EF4-FFF2-40B4-BE49-F238E27FC236}">
                <a16:creationId xmlns:a16="http://schemas.microsoft.com/office/drawing/2014/main" id="{32FFC576-5CBB-4066-CABD-8865E6145C4D}"/>
              </a:ext>
            </a:extLst>
          </p:cNvPr>
          <p:cNvCxnSpPr>
            <a:cxnSpLocks/>
          </p:cNvCxnSpPr>
          <p:nvPr/>
        </p:nvCxnSpPr>
        <p:spPr>
          <a:xfrm>
            <a:off x="269720" y="1755698"/>
            <a:ext cx="125560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3572D31-DEBC-62C8-A7F2-1D2653EE4119}"/>
              </a:ext>
            </a:extLst>
          </p:cNvPr>
          <p:cNvSpPr txBox="1">
            <a:spLocks/>
          </p:cNvSpPr>
          <p:nvPr/>
        </p:nvSpPr>
        <p:spPr>
          <a:xfrm>
            <a:off x="1669261" y="1469779"/>
            <a:ext cx="2898106"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Definition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7" name="Straight Connector 26">
            <a:extLst>
              <a:ext uri="{FF2B5EF4-FFF2-40B4-BE49-F238E27FC236}">
                <a16:creationId xmlns:a16="http://schemas.microsoft.com/office/drawing/2014/main" id="{02DD12A4-3335-631D-2195-F304F41C22EE}"/>
              </a:ext>
            </a:extLst>
          </p:cNvPr>
          <p:cNvCxnSpPr>
            <a:cxnSpLocks/>
          </p:cNvCxnSpPr>
          <p:nvPr/>
        </p:nvCxnSpPr>
        <p:spPr>
          <a:xfrm>
            <a:off x="1669260" y="1755698"/>
            <a:ext cx="289810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0A0B168-2145-1FDF-2F41-EF5FE44627FE}"/>
              </a:ext>
            </a:extLst>
          </p:cNvPr>
          <p:cNvSpPr txBox="1">
            <a:spLocks/>
          </p:cNvSpPr>
          <p:nvPr/>
        </p:nvSpPr>
        <p:spPr>
          <a:xfrm>
            <a:off x="4632763" y="1469779"/>
            <a:ext cx="2072338"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How to calculate</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9" name="Straight Connector 28">
            <a:extLst>
              <a:ext uri="{FF2B5EF4-FFF2-40B4-BE49-F238E27FC236}">
                <a16:creationId xmlns:a16="http://schemas.microsoft.com/office/drawing/2014/main" id="{1CD52802-90FE-9AAF-17F1-CEF8464DB117}"/>
              </a:ext>
            </a:extLst>
          </p:cNvPr>
          <p:cNvCxnSpPr>
            <a:cxnSpLocks/>
          </p:cNvCxnSpPr>
          <p:nvPr/>
        </p:nvCxnSpPr>
        <p:spPr>
          <a:xfrm>
            <a:off x="4698380" y="1755698"/>
            <a:ext cx="19202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5E2F300-3502-06E6-8E59-288A6022D773}"/>
              </a:ext>
            </a:extLst>
          </p:cNvPr>
          <p:cNvSpPr txBox="1">
            <a:spLocks/>
          </p:cNvSpPr>
          <p:nvPr/>
        </p:nvSpPr>
        <p:spPr>
          <a:xfrm>
            <a:off x="6723861" y="1315890"/>
            <a:ext cx="2059940"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Implications for demand commitment</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31" name="Straight Connector 30">
            <a:extLst>
              <a:ext uri="{FF2B5EF4-FFF2-40B4-BE49-F238E27FC236}">
                <a16:creationId xmlns:a16="http://schemas.microsoft.com/office/drawing/2014/main" id="{F7D45E48-A432-78AC-317C-3E95DD4BA104}"/>
              </a:ext>
            </a:extLst>
          </p:cNvPr>
          <p:cNvCxnSpPr>
            <a:cxnSpLocks/>
          </p:cNvCxnSpPr>
          <p:nvPr/>
        </p:nvCxnSpPr>
        <p:spPr>
          <a:xfrm>
            <a:off x="6723860" y="1755698"/>
            <a:ext cx="20599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14D1A25-6220-A7BD-86D6-BC0FFD6359FD}"/>
              </a:ext>
            </a:extLst>
          </p:cNvPr>
          <p:cNvCxnSpPr>
            <a:cxnSpLocks/>
          </p:cNvCxnSpPr>
          <p:nvPr/>
        </p:nvCxnSpPr>
        <p:spPr>
          <a:xfrm>
            <a:off x="409518" y="2774174"/>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46A0900C-87BB-A642-1DD3-7AB39F2E9779}"/>
              </a:ext>
            </a:extLst>
          </p:cNvPr>
          <p:cNvSpPr>
            <a:spLocks/>
          </p:cNvSpPr>
          <p:nvPr/>
        </p:nvSpPr>
        <p:spPr>
          <a:xfrm>
            <a:off x="526260" y="2859768"/>
            <a:ext cx="1143000"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Returns (IRR</a:t>
            </a:r>
            <a:r>
              <a:rPr kumimoji="0" lang="en-US" sz="1000" b="1" i="0" u="none" strike="noStrike" kern="1200" cap="none" spc="0" normalizeH="0" baseline="30000" noProof="0">
                <a:ln>
                  <a:noFill/>
                </a:ln>
                <a:solidFill>
                  <a:schemeClr val="bg2"/>
                </a:solidFill>
                <a:effectLst/>
                <a:uLnTx/>
                <a:uFillTx/>
                <a:latin typeface="Fund Light" pitchFamily="2" charset="-78"/>
                <a:ea typeface="+mn-ea"/>
                <a:cs typeface="Fund Light" pitchFamily="2" charset="-78"/>
              </a:rPr>
              <a:t>2</a:t>
            </a: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a:t>
            </a:r>
          </a:p>
        </p:txBody>
      </p:sp>
      <p:sp>
        <p:nvSpPr>
          <p:cNvPr id="40" name="Oval 39">
            <a:extLst>
              <a:ext uri="{FF2B5EF4-FFF2-40B4-BE49-F238E27FC236}">
                <a16:creationId xmlns:a16="http://schemas.microsoft.com/office/drawing/2014/main" id="{F56457CE-79A8-E7E1-A67A-B7969B5A5523}"/>
              </a:ext>
            </a:extLst>
          </p:cNvPr>
          <p:cNvSpPr/>
          <p:nvPr/>
        </p:nvSpPr>
        <p:spPr>
          <a:xfrm>
            <a:off x="348460" y="2169850"/>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1</a:t>
            </a:r>
          </a:p>
        </p:txBody>
      </p:sp>
      <p:sp>
        <p:nvSpPr>
          <p:cNvPr id="48" name="Oval 47">
            <a:extLst>
              <a:ext uri="{FF2B5EF4-FFF2-40B4-BE49-F238E27FC236}">
                <a16:creationId xmlns:a16="http://schemas.microsoft.com/office/drawing/2014/main" id="{9B459C35-93BF-FBDD-0566-C77CEF245137}"/>
              </a:ext>
            </a:extLst>
          </p:cNvPr>
          <p:cNvSpPr/>
          <p:nvPr/>
        </p:nvSpPr>
        <p:spPr>
          <a:xfrm>
            <a:off x="348460" y="3210791"/>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2</a:t>
            </a:r>
          </a:p>
        </p:txBody>
      </p:sp>
      <p:sp>
        <p:nvSpPr>
          <p:cNvPr id="17" name="TextBox 16">
            <a:extLst>
              <a:ext uri="{FF2B5EF4-FFF2-40B4-BE49-F238E27FC236}">
                <a16:creationId xmlns:a16="http://schemas.microsoft.com/office/drawing/2014/main" id="{34AFF30E-0629-F1DB-43CE-3C93B999358A}"/>
              </a:ext>
            </a:extLst>
          </p:cNvPr>
          <p:cNvSpPr txBox="1"/>
          <p:nvPr/>
        </p:nvSpPr>
        <p:spPr>
          <a:xfrm>
            <a:off x="292100" y="597717"/>
            <a:ext cx="8519188" cy="507831"/>
          </a:xfrm>
          <a:prstGeom prst="rect">
            <a:avLst/>
          </a:prstGeom>
          <a:noFill/>
        </p:spPr>
        <p:txBody>
          <a:bodyPr wrap="square">
            <a:spAutoFit/>
          </a:bodyPr>
          <a:lstStyle/>
          <a:p>
            <a:r>
              <a:rPr kumimoji="0" lang="en-US" sz="9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The following three parameters are crucial to deciding whether a PSA will suffice, </a:t>
            </a:r>
            <a:r>
              <a:rPr lang="en-US" sz="900" kern="0">
                <a:solidFill>
                  <a:srgbClr val="000000"/>
                </a:solidFill>
                <a:latin typeface="Fund Light" pitchFamily="2" charset="-78"/>
                <a:cs typeface="Fund Light" pitchFamily="2" charset="-78"/>
                <a:sym typeface="Arial"/>
              </a:rPr>
              <a:t>or if a take-or-pay is needed. The investment parameters are calculated after creating a business model (template shared separately), which estimates the yearly cash flows, net of cash outflow (capex, operating costs, etc.) and cash inflow (profits)</a:t>
            </a:r>
            <a:endParaRPr lang="en-US" sz="900" i="1"/>
          </a:p>
        </p:txBody>
      </p:sp>
      <p:sp>
        <p:nvSpPr>
          <p:cNvPr id="14" name="Text Placeholder 1">
            <a:extLst>
              <a:ext uri="{FF2B5EF4-FFF2-40B4-BE49-F238E27FC236}">
                <a16:creationId xmlns:a16="http://schemas.microsoft.com/office/drawing/2014/main" id="{F025D183-C3F1-1478-1405-A5949B214167}"/>
              </a:ext>
            </a:extLst>
          </p:cNvPr>
          <p:cNvSpPr txBox="1">
            <a:spLocks/>
          </p:cNvSpPr>
          <p:nvPr/>
        </p:nvSpPr>
        <p:spPr>
          <a:xfrm>
            <a:off x="1551727" y="4767025"/>
            <a:ext cx="6309360" cy="274834"/>
          </a:xfrm>
          <a:prstGeom prst="rect">
            <a:avLst/>
          </a:prstGeom>
        </p:spPr>
        <p:txBody>
          <a:bodyPr anchor="t"/>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a:t>1. More details can be found here (</a:t>
            </a:r>
            <a:r>
              <a:rPr kumimoji="0" lang="en-US" b="0" i="0" u="none" strike="noStrike" kern="1200" cap="none" spc="0" normalizeH="0" baseline="0" noProof="0">
                <a:ln>
                  <a:noFill/>
                </a:ln>
                <a:solidFill>
                  <a:srgbClr val="FFFFFF">
                    <a:lumMod val="65000"/>
                  </a:srgbClr>
                </a:solidFill>
                <a:effectLst/>
                <a:uLnTx/>
                <a:uFillTx/>
                <a:latin typeface="Fund Regular" pitchFamily="2" charset="-78"/>
                <a:ea typeface="+mn-ea"/>
                <a:cs typeface="Fund Regular" pitchFamily="2" charset="-78"/>
                <a:hlinkClick r:id="rId5"/>
              </a:rPr>
              <a:t>Link</a:t>
            </a:r>
            <a:r>
              <a:rPr lang="en-US"/>
              <a:t>) 2. Internal Rate of Return 3. More details can be found here (</a:t>
            </a:r>
            <a:r>
              <a:rPr kumimoji="0" lang="en-US" b="0" i="0" u="none" strike="noStrike" kern="1200" cap="none" spc="0" normalizeH="0" baseline="0" noProof="0">
                <a:ln>
                  <a:noFill/>
                </a:ln>
                <a:solidFill>
                  <a:srgbClr val="FFFFFF">
                    <a:lumMod val="65000"/>
                  </a:srgbClr>
                </a:solidFill>
                <a:effectLst/>
                <a:uLnTx/>
                <a:uFillTx/>
                <a:latin typeface="Fund Regular" pitchFamily="2" charset="-78"/>
                <a:ea typeface="+mn-ea"/>
                <a:cs typeface="Fund Regular" pitchFamily="2" charset="-78"/>
                <a:hlinkClick r:id="rId6"/>
              </a:rPr>
              <a:t>Link</a:t>
            </a:r>
            <a:r>
              <a:rPr lang="en-US"/>
              <a:t>) 4. Thresholds are typically product / industry / capital structure specific and should be nuanced as per the context</a:t>
            </a:r>
          </a:p>
        </p:txBody>
      </p:sp>
      <p:sp>
        <p:nvSpPr>
          <p:cNvPr id="5" name="Text Placeholder 6">
            <a:extLst>
              <a:ext uri="{FF2B5EF4-FFF2-40B4-BE49-F238E27FC236}">
                <a16:creationId xmlns:a16="http://schemas.microsoft.com/office/drawing/2014/main" id="{1ECEF3A2-D4FC-B3B6-A05B-88517ECF309F}"/>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6" name="Oval 5">
            <a:extLst>
              <a:ext uri="{FF2B5EF4-FFF2-40B4-BE49-F238E27FC236}">
                <a16:creationId xmlns:a16="http://schemas.microsoft.com/office/drawing/2014/main" id="{10713752-E8AC-753B-0330-54C6911EA6CF}"/>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cxnSp>
        <p:nvCxnSpPr>
          <p:cNvPr id="33" name="Straight Connector 32">
            <a:extLst>
              <a:ext uri="{FF2B5EF4-FFF2-40B4-BE49-F238E27FC236}">
                <a16:creationId xmlns:a16="http://schemas.microsoft.com/office/drawing/2014/main" id="{994E7601-6A03-B4C6-A622-46914B45193A}"/>
              </a:ext>
            </a:extLst>
          </p:cNvPr>
          <p:cNvCxnSpPr>
            <a:cxnSpLocks/>
          </p:cNvCxnSpPr>
          <p:nvPr/>
        </p:nvCxnSpPr>
        <p:spPr>
          <a:xfrm>
            <a:off x="278503" y="3739434"/>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A7F9622-7CFF-7563-7992-842EBF7DB369}"/>
              </a:ext>
            </a:extLst>
          </p:cNvPr>
          <p:cNvSpPr>
            <a:spLocks/>
          </p:cNvSpPr>
          <p:nvPr/>
        </p:nvSpPr>
        <p:spPr>
          <a:xfrm>
            <a:off x="526260" y="3701235"/>
            <a:ext cx="1143000"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Product complexity </a:t>
            </a:r>
            <a:r>
              <a:rPr lang="en-US" sz="1000" b="1">
                <a:solidFill>
                  <a:schemeClr val="bg2"/>
                </a:solidFill>
                <a:latin typeface="Fund Light" pitchFamily="2" charset="-78"/>
                <a:cs typeface="Fund Light" pitchFamily="2" charset="-78"/>
              </a:rPr>
              <a:t>i</a:t>
            </a: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ndex</a:t>
            </a:r>
          </a:p>
        </p:txBody>
      </p:sp>
      <p:sp>
        <p:nvSpPr>
          <p:cNvPr id="37" name="Oval 36">
            <a:extLst>
              <a:ext uri="{FF2B5EF4-FFF2-40B4-BE49-F238E27FC236}">
                <a16:creationId xmlns:a16="http://schemas.microsoft.com/office/drawing/2014/main" id="{4A234701-DFB7-E585-0FE0-41FCD95FF780}"/>
              </a:ext>
            </a:extLst>
          </p:cNvPr>
          <p:cNvSpPr/>
          <p:nvPr/>
        </p:nvSpPr>
        <p:spPr>
          <a:xfrm>
            <a:off x="348460" y="4052258"/>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3</a:t>
            </a:r>
          </a:p>
        </p:txBody>
      </p:sp>
      <p:sp>
        <p:nvSpPr>
          <p:cNvPr id="44" name="Rectangle 43">
            <a:extLst>
              <a:ext uri="{FF2B5EF4-FFF2-40B4-BE49-F238E27FC236}">
                <a16:creationId xmlns:a16="http://schemas.microsoft.com/office/drawing/2014/main" id="{D1319E32-C7F9-9964-5D58-E6C46215FB29}"/>
              </a:ext>
            </a:extLst>
          </p:cNvPr>
          <p:cNvSpPr>
            <a:spLocks/>
          </p:cNvSpPr>
          <p:nvPr/>
        </p:nvSpPr>
        <p:spPr>
          <a:xfrm>
            <a:off x="4698381" y="3836824"/>
            <a:ext cx="2012780"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R="0" lvl="0" algn="l" defTabSz="457200" rtl="0" eaLnBrk="1" fontAlgn="auto" latinLnBrk="0" hangingPunct="1">
              <a:lnSpc>
                <a:spcPct val="100000"/>
              </a:lnSpc>
              <a:spcBef>
                <a:spcPts val="225"/>
              </a:spcBef>
              <a:spcAft>
                <a:spcPts val="225"/>
              </a:spcAft>
              <a:buClrTx/>
              <a:buSzTx/>
              <a:tabLst/>
              <a:defRPr/>
            </a:pPr>
            <a:r>
              <a:rPr lang="en-US" sz="1000">
                <a:solidFill>
                  <a:srgbClr val="000000"/>
                </a:solidFill>
                <a:latin typeface="Fund Light" pitchFamily="2" charset="-78"/>
                <a:cs typeface="Fund Light" pitchFamily="2" charset="-78"/>
              </a:rPr>
              <a:t>Provided by </a:t>
            </a:r>
            <a:r>
              <a:rPr lang="en-US" sz="1000">
                <a:solidFill>
                  <a:srgbClr val="000000"/>
                </a:solidFill>
                <a:latin typeface="Fund Light" pitchFamily="2" charset="-78"/>
                <a:cs typeface="Fund Light" pitchFamily="2" charset="-78"/>
                <a:hlinkClick r:id="rId7"/>
              </a:rPr>
              <a:t>“The Atlas of Economic Activity</a:t>
            </a:r>
            <a:r>
              <a:rPr lang="en-US" sz="1000">
                <a:solidFill>
                  <a:srgbClr val="000000"/>
                </a:solidFill>
                <a:latin typeface="Fund Light" pitchFamily="2" charset="-78"/>
                <a:cs typeface="Fund Light" pitchFamily="2" charset="-78"/>
              </a:rPr>
              <a:t>”</a:t>
            </a:r>
            <a:endParaRPr kumimoji="0" lang="en-US" sz="10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46" name="Speech Bubble: Rectangle 45">
            <a:extLst>
              <a:ext uri="{FF2B5EF4-FFF2-40B4-BE49-F238E27FC236}">
                <a16:creationId xmlns:a16="http://schemas.microsoft.com/office/drawing/2014/main" id="{C0C90968-CA3B-9EB8-F8AC-D3996205B7B1}"/>
              </a:ext>
            </a:extLst>
          </p:cNvPr>
          <p:cNvSpPr/>
          <p:nvPr/>
        </p:nvSpPr>
        <p:spPr>
          <a:xfrm>
            <a:off x="307414" y="2652236"/>
            <a:ext cx="1297684" cy="324266"/>
          </a:xfrm>
          <a:prstGeom prst="wedgeRectCallout">
            <a:avLst>
              <a:gd name="adj1" fmla="val -34828"/>
              <a:gd name="adj2" fmla="val 84247"/>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Outputs from the business case</a:t>
            </a:r>
          </a:p>
        </p:txBody>
      </p:sp>
      <p:grpSp>
        <p:nvGrpSpPr>
          <p:cNvPr id="8" name="Group 7">
            <a:extLst>
              <a:ext uri="{FF2B5EF4-FFF2-40B4-BE49-F238E27FC236}">
                <a16:creationId xmlns:a16="http://schemas.microsoft.com/office/drawing/2014/main" id="{202907D2-FA99-9D31-B4F2-FB8AA9831567}"/>
              </a:ext>
            </a:extLst>
          </p:cNvPr>
          <p:cNvGrpSpPr/>
          <p:nvPr/>
        </p:nvGrpSpPr>
        <p:grpSpPr>
          <a:xfrm>
            <a:off x="5983955" y="4200130"/>
            <a:ext cx="168686" cy="161455"/>
            <a:chOff x="11260138" y="4194175"/>
            <a:chExt cx="360363" cy="379413"/>
          </a:xfrm>
        </p:grpSpPr>
        <p:sp>
          <p:nvSpPr>
            <p:cNvPr id="9" name="Freeform 289">
              <a:extLst>
                <a:ext uri="{FF2B5EF4-FFF2-40B4-BE49-F238E27FC236}">
                  <a16:creationId xmlns:a16="http://schemas.microsoft.com/office/drawing/2014/main" id="{A237F8C3-A6C7-7ED8-24BE-4CABAAF17B6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290">
              <a:extLst>
                <a:ext uri="{FF2B5EF4-FFF2-40B4-BE49-F238E27FC236}">
                  <a16:creationId xmlns:a16="http://schemas.microsoft.com/office/drawing/2014/main" id="{8C889617-22E9-86F7-89DF-6996D73761EC}"/>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291">
              <a:extLst>
                <a:ext uri="{FF2B5EF4-FFF2-40B4-BE49-F238E27FC236}">
                  <a16:creationId xmlns:a16="http://schemas.microsoft.com/office/drawing/2014/main" id="{1D6B9900-2B90-D6D5-D7C0-93085C23D45F}"/>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3" name="Rectangle 12">
            <a:extLst>
              <a:ext uri="{FF2B5EF4-FFF2-40B4-BE49-F238E27FC236}">
                <a16:creationId xmlns:a16="http://schemas.microsoft.com/office/drawing/2014/main" id="{EAA406FB-E071-1C8A-3303-572BA468F68B}"/>
              </a:ext>
            </a:extLst>
          </p:cNvPr>
          <p:cNvSpPr>
            <a:spLocks/>
          </p:cNvSpPr>
          <p:nvPr/>
        </p:nvSpPr>
        <p:spPr>
          <a:xfrm>
            <a:off x="1669261" y="1795267"/>
            <a:ext cx="2898106"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Funds that a company spends on acquiring or maintaining physical assets such as property, buildings, machinery, or equipment. These are long-term investments</a:t>
            </a:r>
          </a:p>
        </p:txBody>
      </p:sp>
      <p:sp>
        <p:nvSpPr>
          <p:cNvPr id="15" name="Rectangle 14">
            <a:extLst>
              <a:ext uri="{FF2B5EF4-FFF2-40B4-BE49-F238E27FC236}">
                <a16:creationId xmlns:a16="http://schemas.microsoft.com/office/drawing/2014/main" id="{76CE3244-57A0-232E-9182-3F7C834DEB01}"/>
              </a:ext>
            </a:extLst>
          </p:cNvPr>
          <p:cNvSpPr>
            <a:spLocks/>
          </p:cNvSpPr>
          <p:nvPr/>
        </p:nvSpPr>
        <p:spPr>
          <a:xfrm>
            <a:off x="4698381" y="1795267"/>
            <a:ext cx="2012780"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Consider and estimate all direct and indirect costs that will be incurred to operationalize a manufacturing facility</a:t>
            </a:r>
            <a:r>
              <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rPr>
              <a:t>1</a:t>
            </a:r>
          </a:p>
        </p:txBody>
      </p:sp>
      <p:sp>
        <p:nvSpPr>
          <p:cNvPr id="16" name="Rectangle 15">
            <a:extLst>
              <a:ext uri="{FF2B5EF4-FFF2-40B4-BE49-F238E27FC236}">
                <a16:creationId xmlns:a16="http://schemas.microsoft.com/office/drawing/2014/main" id="{96A33931-3C5B-A4BF-23B7-81A85DFCCA65}"/>
              </a:ext>
            </a:extLst>
          </p:cNvPr>
          <p:cNvSpPr>
            <a:spLocks/>
          </p:cNvSpPr>
          <p:nvPr/>
        </p:nvSpPr>
        <p:spPr>
          <a:xfrm>
            <a:off x="6723860" y="1795267"/>
            <a:ext cx="2058853" cy="908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Higher capex will increase investor risk and may require take-or-pay</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18" name="Rectangle 17">
            <a:extLst>
              <a:ext uri="{FF2B5EF4-FFF2-40B4-BE49-F238E27FC236}">
                <a16:creationId xmlns:a16="http://schemas.microsoft.com/office/drawing/2014/main" id="{DAE6C70B-9AA3-5E0E-6DC8-1DC075A8717F}"/>
              </a:ext>
            </a:extLst>
          </p:cNvPr>
          <p:cNvSpPr>
            <a:spLocks/>
          </p:cNvSpPr>
          <p:nvPr/>
        </p:nvSpPr>
        <p:spPr>
          <a:xfrm>
            <a:off x="1669261" y="2825030"/>
            <a:ext cx="2898106"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IRR is the rate of return at which the present value of a project's cash inflows equals the present value of its cash outflows, or the project breaks even in terms of net value</a:t>
            </a:r>
          </a:p>
        </p:txBody>
      </p:sp>
      <p:sp>
        <p:nvSpPr>
          <p:cNvPr id="19" name="Rectangle 18">
            <a:extLst>
              <a:ext uri="{FF2B5EF4-FFF2-40B4-BE49-F238E27FC236}">
                <a16:creationId xmlns:a16="http://schemas.microsoft.com/office/drawing/2014/main" id="{070D674C-2923-312B-5CAA-21B4F6B39090}"/>
              </a:ext>
            </a:extLst>
          </p:cNvPr>
          <p:cNvSpPr>
            <a:spLocks/>
          </p:cNvSpPr>
          <p:nvPr/>
        </p:nvSpPr>
        <p:spPr>
          <a:xfrm>
            <a:off x="4698381" y="2825030"/>
            <a:ext cx="2012780"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Estimate yearly net cash flows of the project</a:t>
            </a:r>
            <a:r>
              <a:rPr lang="en-US" sz="1000" baseline="30000">
                <a:solidFill>
                  <a:srgbClr val="000000"/>
                </a:solidFill>
                <a:latin typeface="Fund Light" pitchFamily="2" charset="-78"/>
                <a:cs typeface="Fund Light" pitchFamily="2" charset="-78"/>
              </a:rPr>
              <a:t>3</a:t>
            </a:r>
            <a:r>
              <a:rPr lang="en-US" sz="1000">
                <a:solidFill>
                  <a:srgbClr val="000000"/>
                </a:solidFill>
                <a:latin typeface="Fund Light" pitchFamily="2" charset="-78"/>
                <a:cs typeface="Fund Light" pitchFamily="2" charset="-78"/>
              </a:rPr>
              <a:t> </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20" name="Rectangle 19">
            <a:extLst>
              <a:ext uri="{FF2B5EF4-FFF2-40B4-BE49-F238E27FC236}">
                <a16:creationId xmlns:a16="http://schemas.microsoft.com/office/drawing/2014/main" id="{4FAAB887-6A95-F6E6-8E15-A47CE0266648}"/>
              </a:ext>
            </a:extLst>
          </p:cNvPr>
          <p:cNvSpPr>
            <a:spLocks/>
          </p:cNvSpPr>
          <p:nvPr/>
        </p:nvSpPr>
        <p:spPr>
          <a:xfrm>
            <a:off x="6723860" y="2825030"/>
            <a:ext cx="2058853" cy="930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Lower IRR (typically less than 10%</a:t>
            </a:r>
            <a:r>
              <a:rPr lang="en-US" sz="1000" baseline="30000">
                <a:solidFill>
                  <a:srgbClr val="000000"/>
                </a:solidFill>
                <a:latin typeface="Fund Light" pitchFamily="2" charset="-78"/>
                <a:cs typeface="Fund Light" pitchFamily="2" charset="-78"/>
              </a:rPr>
              <a:t>4</a:t>
            </a:r>
            <a:r>
              <a:rPr lang="en-US" sz="1000">
                <a:solidFill>
                  <a:srgbClr val="000000"/>
                </a:solidFill>
                <a:latin typeface="Fund Light" pitchFamily="2" charset="-78"/>
                <a:cs typeface="Fund Light" pitchFamily="2" charset="-78"/>
              </a:rPr>
              <a:t>) increases investor risk and may require take-or-pay </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21" name="Rectangle 20">
            <a:extLst>
              <a:ext uri="{FF2B5EF4-FFF2-40B4-BE49-F238E27FC236}">
                <a16:creationId xmlns:a16="http://schemas.microsoft.com/office/drawing/2014/main" id="{C7C802E8-7A60-1573-E0EE-A149EEC47195}"/>
              </a:ext>
            </a:extLst>
          </p:cNvPr>
          <p:cNvSpPr>
            <a:spLocks/>
          </p:cNvSpPr>
          <p:nvPr/>
        </p:nvSpPr>
        <p:spPr>
          <a:xfrm>
            <a:off x="1669261" y="3836824"/>
            <a:ext cx="2450039"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Measure of a product’s complexity and requirement of technical know-how</a:t>
            </a:r>
          </a:p>
        </p:txBody>
      </p:sp>
      <p:sp>
        <p:nvSpPr>
          <p:cNvPr id="22" name="Rectangle 21">
            <a:extLst>
              <a:ext uri="{FF2B5EF4-FFF2-40B4-BE49-F238E27FC236}">
                <a16:creationId xmlns:a16="http://schemas.microsoft.com/office/drawing/2014/main" id="{C664ECDF-681F-A05D-93B3-BF0E9AAB8753}"/>
              </a:ext>
            </a:extLst>
          </p:cNvPr>
          <p:cNvSpPr>
            <a:spLocks/>
          </p:cNvSpPr>
          <p:nvPr/>
        </p:nvSpPr>
        <p:spPr>
          <a:xfrm>
            <a:off x="6723860" y="3836824"/>
            <a:ext cx="2058853" cy="659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Higher product complexity will increase investor risk and may require take-or pay</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Tree>
    <p:extLst>
      <p:ext uri="{BB962C8B-B14F-4D97-AF65-F5344CB8AC3E}">
        <p14:creationId xmlns:p14="http://schemas.microsoft.com/office/powerpoint/2010/main" val="2465327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02ECCB0C-C862-5921-7FD4-A64DDA9ECB22}"/>
              </a:ext>
            </a:extLst>
          </p:cNvPr>
          <p:cNvGraphicFramePr>
            <a:graphicFrameLocks noChangeAspect="1"/>
          </p:cNvGraphicFramePr>
          <p:nvPr>
            <p:custDataLst>
              <p:tags r:id="rId1"/>
            </p:custDataLst>
            <p:extLst>
              <p:ext uri="{D42A27DB-BD31-4B8C-83A1-F6EECF244321}">
                <p14:modId xmlns:p14="http://schemas.microsoft.com/office/powerpoint/2010/main" val="197817625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29" imgW="484" imgH="486" progId="TCLayout.ActiveDocument.1">
                  <p:embed/>
                </p:oleObj>
              </mc:Choice>
              <mc:Fallback>
                <p:oleObj name="think-cell Slide" r:id="rId29" imgW="484" imgH="486" progId="TCLayout.ActiveDocument.1">
                  <p:embed/>
                  <p:pic>
                    <p:nvPicPr>
                      <p:cNvPr id="87" name="think-cell data - do not delete" hidden="1">
                        <a:extLst>
                          <a:ext uri="{FF2B5EF4-FFF2-40B4-BE49-F238E27FC236}">
                            <a16:creationId xmlns:a16="http://schemas.microsoft.com/office/drawing/2014/main" id="{02ECCB0C-C862-5921-7FD4-A64DDA9ECB22}"/>
                          </a:ext>
                        </a:extLst>
                      </p:cNvPr>
                      <p:cNvPicPr/>
                      <p:nvPr/>
                    </p:nvPicPr>
                    <p:blipFill>
                      <a:blip r:embed="rId30"/>
                      <a:stretch>
                        <a:fillRect/>
                      </a:stretch>
                    </p:blipFill>
                    <p:spPr>
                      <a:xfrm>
                        <a:off x="1589" y="1589"/>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D8BB23CB-C720-4469-838D-9B8CDB7231DA}"/>
              </a:ext>
            </a:extLst>
          </p:cNvPr>
          <p:cNvSpPr>
            <a:spLocks noGrp="1"/>
          </p:cNvSpPr>
          <p:nvPr>
            <p:ph type="title"/>
          </p:nvPr>
        </p:nvSpPr>
        <p:spPr/>
        <p:txBody>
          <a:bodyPr vert="horz"/>
          <a:lstStyle/>
          <a:p>
            <a:r>
              <a:rPr lang="en-US"/>
              <a:t>Example output of a business case – telecom product </a:t>
            </a:r>
          </a:p>
        </p:txBody>
      </p:sp>
      <p:graphicFrame>
        <p:nvGraphicFramePr>
          <p:cNvPr id="47" name="Chart 46">
            <a:extLst>
              <a:ext uri="{FF2B5EF4-FFF2-40B4-BE49-F238E27FC236}">
                <a16:creationId xmlns:a16="http://schemas.microsoft.com/office/drawing/2014/main" id="{7EC00F65-AFB4-4415-E1A0-19D872C4F0FF}"/>
              </a:ext>
            </a:extLst>
          </p:cNvPr>
          <p:cNvGraphicFramePr/>
          <p:nvPr>
            <p:custDataLst>
              <p:tags r:id="rId2"/>
            </p:custDataLst>
            <p:extLst>
              <p:ext uri="{D42A27DB-BD31-4B8C-83A1-F6EECF244321}">
                <p14:modId xmlns:p14="http://schemas.microsoft.com/office/powerpoint/2010/main" val="2023977118"/>
              </p:ext>
            </p:extLst>
          </p:nvPr>
        </p:nvGraphicFramePr>
        <p:xfrm>
          <a:off x="974725" y="773113"/>
          <a:ext cx="5430838" cy="2617787"/>
        </p:xfrm>
        <a:graphic>
          <a:graphicData uri="http://schemas.openxmlformats.org/drawingml/2006/chart">
            <c:chart xmlns:c="http://schemas.openxmlformats.org/drawingml/2006/chart" xmlns:r="http://schemas.openxmlformats.org/officeDocument/2006/relationships" r:id="rId31"/>
          </a:graphicData>
        </a:graphic>
      </p:graphicFrame>
      <p:sp>
        <p:nvSpPr>
          <p:cNvPr id="481" name="Text Placeholder 2">
            <a:extLst>
              <a:ext uri="{FF2B5EF4-FFF2-40B4-BE49-F238E27FC236}">
                <a16:creationId xmlns:a16="http://schemas.microsoft.com/office/drawing/2014/main" id="{4D875A80-D0C6-53EA-AB61-81F1DCEDC98C}"/>
              </a:ext>
            </a:extLst>
          </p:cNvPr>
          <p:cNvSpPr>
            <a:spLocks noGrp="1"/>
          </p:cNvSpPr>
          <p:nvPr>
            <p:custDataLst>
              <p:tags r:id="rId3"/>
            </p:custDataLst>
          </p:nvPr>
        </p:nvSpPr>
        <p:spPr bwMode="gray">
          <a:xfrm>
            <a:off x="666750" y="3127375"/>
            <a:ext cx="2762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53B92E42-657F-4E5A-A1D3-5317EC614790}" type="datetime'''''''''''''-''''''''''''''''''''''''8''''0''''''''''''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-800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490" name="Text Placeholder 2">
            <a:extLst>
              <a:ext uri="{FF2B5EF4-FFF2-40B4-BE49-F238E27FC236}">
                <a16:creationId xmlns:a16="http://schemas.microsoft.com/office/drawing/2014/main" id="{E9AC16D8-0BA4-E61C-105C-E5517A17A05C}"/>
              </a:ext>
            </a:extLst>
          </p:cNvPr>
          <p:cNvSpPr>
            <a:spLocks noGrp="1"/>
          </p:cNvSpPr>
          <p:nvPr>
            <p:custDataLst>
              <p:tags r:id="rId4"/>
            </p:custDataLst>
          </p:nvPr>
        </p:nvSpPr>
        <p:spPr bwMode="gray">
          <a:xfrm>
            <a:off x="862013" y="2144713"/>
            <a:ext cx="8096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943FFA52-726C-4AA5-B1B3-AF96811B5114}" type="datetime'''''''''''''''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5" name="Text Placeholder 3">
            <a:extLst>
              <a:ext uri="{FF2B5EF4-FFF2-40B4-BE49-F238E27FC236}">
                <a16:creationId xmlns:a16="http://schemas.microsoft.com/office/drawing/2014/main" id="{38C105A4-D9ED-AB7A-1812-A3D4127631C0}"/>
              </a:ext>
            </a:extLst>
          </p:cNvPr>
          <p:cNvSpPr>
            <a:spLocks noGrp="1"/>
          </p:cNvSpPr>
          <p:nvPr>
            <p:custDataLst>
              <p:tags r:id="rId5"/>
            </p:custDataLst>
          </p:nvPr>
        </p:nvSpPr>
        <p:spPr bwMode="gray">
          <a:xfrm>
            <a:off x="636588" y="857250"/>
            <a:ext cx="306388" cy="2063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fld id="{274B6E48-327F-4BC4-9312-6D3F0AF4C7FE}" type="datetime'''''1'''''''',''''''''''''00''''''''''''''''0'''''''">
              <a:rPr kumimoji="0" lang="en-US" altLang="en-US" sz="900" b="0" i="0" u="none" strike="noStrike" kern="1200" cap="none" spc="0" normalizeH="0" baseline="0" noProof="0" smtClean="0">
                <a:ln>
                  <a:noFill/>
                </a:ln>
                <a:solidFill>
                  <a:srgbClr val="FFFFFF">
                    <a:lumMod val="50000"/>
                  </a:srgbClr>
                </a:solidFill>
                <a:effectLst/>
                <a:uLnTx/>
                <a:uFillTx/>
                <a:latin typeface="Fund Light" pitchFamily="2" charset="-78"/>
                <a:ea typeface="+mn-ea"/>
                <a:cs typeface="Fund Light" pitchFamily="2" charset="-78"/>
              </a:rPr>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t>1,000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17" name="Text Placeholder 2">
            <a:extLst>
              <a:ext uri="{FF2B5EF4-FFF2-40B4-BE49-F238E27FC236}">
                <a16:creationId xmlns:a16="http://schemas.microsoft.com/office/drawing/2014/main" id="{3CC6DB02-F5DA-470F-F805-B469533AB9E4}"/>
              </a:ext>
            </a:extLst>
          </p:cNvPr>
          <p:cNvSpPr>
            <a:spLocks noGrp="1"/>
          </p:cNvSpPr>
          <p:nvPr>
            <p:custDataLst>
              <p:tags r:id="rId6"/>
            </p:custDataLst>
          </p:nvPr>
        </p:nvSpPr>
        <p:spPr bwMode="auto">
          <a:xfrm>
            <a:off x="835025" y="641350"/>
            <a:ext cx="4460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SAR Mn</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2" name="Text Placeholder 2">
            <a:extLst>
              <a:ext uri="{FF2B5EF4-FFF2-40B4-BE49-F238E27FC236}">
                <a16:creationId xmlns:a16="http://schemas.microsoft.com/office/drawing/2014/main" id="{65741619-CE17-E45D-AAC3-C65EDA375F29}"/>
              </a:ext>
            </a:extLst>
          </p:cNvPr>
          <p:cNvSpPr>
            <a:spLocks noGrp="1"/>
          </p:cNvSpPr>
          <p:nvPr>
            <p:custDataLst>
              <p:tags r:id="rId7"/>
            </p:custDataLst>
          </p:nvPr>
        </p:nvSpPr>
        <p:spPr bwMode="auto">
          <a:xfrm>
            <a:off x="1135063" y="3262313"/>
            <a:ext cx="3698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36A5F14F-DA15-40EA-9333-5E0837CC670A}" type="datetime'Y''e''''''''a''''r'' ''''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3" name="Text Placeholder 2">
            <a:extLst>
              <a:ext uri="{FF2B5EF4-FFF2-40B4-BE49-F238E27FC236}">
                <a16:creationId xmlns:a16="http://schemas.microsoft.com/office/drawing/2014/main" id="{40D1B20C-FB1F-89BB-157F-62F48C6B852D}"/>
              </a:ext>
            </a:extLst>
          </p:cNvPr>
          <p:cNvSpPr>
            <a:spLocks noGrp="1"/>
          </p:cNvSpPr>
          <p:nvPr>
            <p:custDataLst>
              <p:tags r:id="rId8"/>
            </p:custDataLst>
          </p:nvPr>
        </p:nvSpPr>
        <p:spPr bwMode="auto">
          <a:xfrm>
            <a:off x="1681163" y="3262313"/>
            <a:ext cx="3302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13059ED-6BF6-477A-A5AB-AD4C5A9A0F26}" type="datetime'''Y''''''''''''''''''''ea''''r'' ''''''1'''''">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1</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4" name="Text Placeholder 2">
            <a:extLst>
              <a:ext uri="{FF2B5EF4-FFF2-40B4-BE49-F238E27FC236}">
                <a16:creationId xmlns:a16="http://schemas.microsoft.com/office/drawing/2014/main" id="{1F87E448-7DC2-F5A6-DDA5-2E8485AB1AE3}"/>
              </a:ext>
            </a:extLst>
          </p:cNvPr>
          <p:cNvSpPr>
            <a:spLocks noGrp="1"/>
          </p:cNvSpPr>
          <p:nvPr>
            <p:custDataLst>
              <p:tags r:id="rId9"/>
            </p:custDataLst>
          </p:nvPr>
        </p:nvSpPr>
        <p:spPr bwMode="auto">
          <a:xfrm>
            <a:off x="2195513"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703DE821-FC6D-4BD5-9E0A-06D3DC4618F8}" type="datetime'Y''ea''''''''''''''''''''r'''''''''''''''''' 2'''''''''''">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2</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5" name="Text Placeholder 2">
            <a:extLst>
              <a:ext uri="{FF2B5EF4-FFF2-40B4-BE49-F238E27FC236}">
                <a16:creationId xmlns:a16="http://schemas.microsoft.com/office/drawing/2014/main" id="{3BF31A5B-C692-4018-E9DB-1BFDAFBAD6BA}"/>
              </a:ext>
            </a:extLst>
          </p:cNvPr>
          <p:cNvSpPr>
            <a:spLocks noGrp="1"/>
          </p:cNvSpPr>
          <p:nvPr>
            <p:custDataLst>
              <p:tags r:id="rId10"/>
            </p:custDataLst>
          </p:nvPr>
        </p:nvSpPr>
        <p:spPr bwMode="auto">
          <a:xfrm>
            <a:off x="272097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C2F58B6-3468-4B65-B517-DF0E95A3C729}" type="datetime'''Ye''''ar'''''''''''''''' ''''''''3'''''''''''''''''''''''">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3</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6" name="Text Placeholder 2">
            <a:extLst>
              <a:ext uri="{FF2B5EF4-FFF2-40B4-BE49-F238E27FC236}">
                <a16:creationId xmlns:a16="http://schemas.microsoft.com/office/drawing/2014/main" id="{507C9939-FB85-D63C-90BC-89119C6D828E}"/>
              </a:ext>
            </a:extLst>
          </p:cNvPr>
          <p:cNvSpPr>
            <a:spLocks noGrp="1"/>
          </p:cNvSpPr>
          <p:nvPr>
            <p:custDataLst>
              <p:tags r:id="rId11"/>
            </p:custDataLst>
          </p:nvPr>
        </p:nvSpPr>
        <p:spPr bwMode="auto">
          <a:xfrm>
            <a:off x="324802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07B75FEB-4CC1-4CDD-B30B-B07BF20F5439}" type="datetime'''''''''''Y''e''''''''a''''''''''''''r'''''''''''' ''4'''''''">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4</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7" name="Text Placeholder 2">
            <a:extLst>
              <a:ext uri="{FF2B5EF4-FFF2-40B4-BE49-F238E27FC236}">
                <a16:creationId xmlns:a16="http://schemas.microsoft.com/office/drawing/2014/main" id="{8EAA287E-5D61-DF8C-D536-D078F060DF62}"/>
              </a:ext>
            </a:extLst>
          </p:cNvPr>
          <p:cNvSpPr>
            <a:spLocks noGrp="1"/>
          </p:cNvSpPr>
          <p:nvPr>
            <p:custDataLst>
              <p:tags r:id="rId12"/>
            </p:custDataLst>
          </p:nvPr>
        </p:nvSpPr>
        <p:spPr bwMode="auto">
          <a:xfrm>
            <a:off x="3773488" y="3262313"/>
            <a:ext cx="35877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858922A-C4EE-4F6C-B261-B8EC25F80947}" type="datetime'''Y''ea''''''''''''r'''''''''''''''' ''''''5'''''''''">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5</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8" name="Text Placeholder 2">
            <a:extLst>
              <a:ext uri="{FF2B5EF4-FFF2-40B4-BE49-F238E27FC236}">
                <a16:creationId xmlns:a16="http://schemas.microsoft.com/office/drawing/2014/main" id="{2F27AB08-CDD0-0A30-B43D-58AE11EC3ED8}"/>
              </a:ext>
            </a:extLst>
          </p:cNvPr>
          <p:cNvSpPr>
            <a:spLocks noGrp="1"/>
          </p:cNvSpPr>
          <p:nvPr>
            <p:custDataLst>
              <p:tags r:id="rId13"/>
            </p:custDataLst>
          </p:nvPr>
        </p:nvSpPr>
        <p:spPr bwMode="auto">
          <a:xfrm>
            <a:off x="42973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EF3E43C8-9459-4F7E-A42F-A8E4C39CEF55}" type="datetime'''''''''''Y''e''ar'' ''''''''''''''''6'''''''''''''''''''''''">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6</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9" name="Text Placeholder 2">
            <a:extLst>
              <a:ext uri="{FF2B5EF4-FFF2-40B4-BE49-F238E27FC236}">
                <a16:creationId xmlns:a16="http://schemas.microsoft.com/office/drawing/2014/main" id="{4C3F33A2-3F3D-E6C3-2BED-1C888388B3A9}"/>
              </a:ext>
            </a:extLst>
          </p:cNvPr>
          <p:cNvSpPr>
            <a:spLocks noGrp="1"/>
          </p:cNvSpPr>
          <p:nvPr>
            <p:custDataLst>
              <p:tags r:id="rId14"/>
            </p:custDataLst>
          </p:nvPr>
        </p:nvSpPr>
        <p:spPr bwMode="auto">
          <a:xfrm>
            <a:off x="4829175"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5779142E-36BB-487C-98FF-7A88F944F3E5}" type="datetime'''Y''''''''ear'' ''7'''''''''''''''''''''''''''''">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7</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0" name="Text Placeholder 2">
            <a:extLst>
              <a:ext uri="{FF2B5EF4-FFF2-40B4-BE49-F238E27FC236}">
                <a16:creationId xmlns:a16="http://schemas.microsoft.com/office/drawing/2014/main" id="{0820717A-A34F-48A5-D046-2B47FD84FE6D}"/>
              </a:ext>
            </a:extLst>
          </p:cNvPr>
          <p:cNvSpPr>
            <a:spLocks noGrp="1"/>
          </p:cNvSpPr>
          <p:nvPr>
            <p:custDataLst>
              <p:tags r:id="rId15"/>
            </p:custDataLst>
          </p:nvPr>
        </p:nvSpPr>
        <p:spPr bwMode="auto">
          <a:xfrm>
            <a:off x="53514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B9F473F-DC2D-46D4-A910-7FF45B69B8A3}" type="datetime'''''''''''''Y''''''''''''''''''''e''a''''''''''''''''r'' ''8'">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8</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1" name="Text Placeholder 2">
            <a:extLst>
              <a:ext uri="{FF2B5EF4-FFF2-40B4-BE49-F238E27FC236}">
                <a16:creationId xmlns:a16="http://schemas.microsoft.com/office/drawing/2014/main" id="{96D0CD1B-56F3-C81B-6948-3BE048C1FCDB}"/>
              </a:ext>
            </a:extLst>
          </p:cNvPr>
          <p:cNvSpPr>
            <a:spLocks noGrp="1"/>
          </p:cNvSpPr>
          <p:nvPr>
            <p:custDataLst>
              <p:tags r:id="rId16"/>
            </p:custDataLst>
          </p:nvPr>
        </p:nvSpPr>
        <p:spPr bwMode="auto">
          <a:xfrm>
            <a:off x="5876925"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ACF2B46C-5BAD-4359-A478-F79D5217639E}" type="datetime'''''Y''''''''''''''''''''''''''e''''a''''''''r ''''9'''''''">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9</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graphicFrame>
        <p:nvGraphicFramePr>
          <p:cNvPr id="456" name="Table 141">
            <a:extLst>
              <a:ext uri="{FF2B5EF4-FFF2-40B4-BE49-F238E27FC236}">
                <a16:creationId xmlns:a16="http://schemas.microsoft.com/office/drawing/2014/main" id="{5682F1F0-D0D6-AD87-C36B-FE26E7F7026D}"/>
              </a:ext>
            </a:extLst>
          </p:cNvPr>
          <p:cNvGraphicFramePr>
            <a:graphicFrameLocks noGrp="1"/>
          </p:cNvGraphicFramePr>
          <p:nvPr>
            <p:extLst>
              <p:ext uri="{D42A27DB-BD31-4B8C-83A1-F6EECF244321}">
                <p14:modId xmlns:p14="http://schemas.microsoft.com/office/powerpoint/2010/main" val="3793113406"/>
              </p:ext>
            </p:extLst>
          </p:nvPr>
        </p:nvGraphicFramePr>
        <p:xfrm>
          <a:off x="6551756" y="1171575"/>
          <a:ext cx="2255146" cy="1075556"/>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7778">
                <a:tc>
                  <a:txBody>
                    <a:bodyPr/>
                    <a:lstStyle/>
                    <a:p>
                      <a:pPr algn="l" rtl="0"/>
                      <a:r>
                        <a:rPr lang="en-GB" sz="1000" b="1">
                          <a:solidFill>
                            <a:srgbClr val="000000"/>
                          </a:solidFill>
                          <a:latin typeface="Fund Light" pitchFamily="2" charset="-78"/>
                          <a:cs typeface="Fund Light" pitchFamily="2" charset="-78"/>
                        </a:rPr>
                        <a:t>Capex </a:t>
                      </a:r>
                      <a:r>
                        <a:rPr lang="en-GB" sz="1000" b="0">
                          <a:solidFill>
                            <a:srgbClr val="000000"/>
                          </a:solidFill>
                          <a:latin typeface="Fund Light" pitchFamily="2" charset="-78"/>
                          <a:cs typeface="Fund Light" pitchFamily="2" charset="-78"/>
                        </a:rPr>
                        <a:t>(SAR Mn)</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algn="ctr" rtl="0"/>
                      <a:r>
                        <a:rPr lang="en-GB" sz="1000" b="0">
                          <a:solidFill>
                            <a:srgbClr val="000000"/>
                          </a:solidFill>
                          <a:latin typeface="Fund Light" pitchFamily="2" charset="-78"/>
                          <a:cs typeface="Fund Light" pitchFamily="2" charset="-78"/>
                        </a:rPr>
                        <a:t>175-200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674150051"/>
                  </a:ext>
                </a:extLst>
              </a:tr>
              <a:tr h="537778">
                <a:tc>
                  <a:txBody>
                    <a:bodyPr/>
                    <a:lstStyle/>
                    <a:p>
                      <a:pPr algn="l" rtl="0"/>
                      <a:r>
                        <a:rPr lang="en-GB" sz="1000" b="1">
                          <a:solidFill>
                            <a:srgbClr val="000000"/>
                          </a:solidFill>
                          <a:latin typeface="Fund Light" pitchFamily="2" charset="-78"/>
                          <a:cs typeface="Fund Light" pitchFamily="2" charset="-78"/>
                        </a:rPr>
                        <a:t>IRR</a:t>
                      </a:r>
                      <a:endParaRPr lang="en-GB" sz="1000" b="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13-15%</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3569938270"/>
                  </a:ext>
                </a:extLst>
              </a:tr>
            </a:tbl>
          </a:graphicData>
        </a:graphic>
      </p:graphicFrame>
      <p:sp>
        <p:nvSpPr>
          <p:cNvPr id="94" name="Rectangle 93">
            <a:extLst>
              <a:ext uri="{FF2B5EF4-FFF2-40B4-BE49-F238E27FC236}">
                <a16:creationId xmlns:a16="http://schemas.microsoft.com/office/drawing/2014/main" id="{5EEB76D3-C839-AE95-8A00-A2FFD30C2F43}"/>
              </a:ext>
            </a:extLst>
          </p:cNvPr>
          <p:cNvSpPr/>
          <p:nvPr>
            <p:custDataLst>
              <p:tags r:id="rId17"/>
            </p:custDataLst>
          </p:nvPr>
        </p:nvSpPr>
        <p:spPr bwMode="auto">
          <a:xfrm>
            <a:off x="1403350" y="922338"/>
            <a:ext cx="160338" cy="120650"/>
          </a:xfrm>
          <a:prstGeom prst="rect">
            <a:avLst/>
          </a:prstGeom>
          <a:solidFill>
            <a:srgbClr val="C39A5C"/>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6" name="Rectangle 25">
            <a:extLst>
              <a:ext uri="{FF2B5EF4-FFF2-40B4-BE49-F238E27FC236}">
                <a16:creationId xmlns:a16="http://schemas.microsoft.com/office/drawing/2014/main" id="{B964AB21-C1C2-E02C-6CCB-73D4CCACB771}"/>
              </a:ext>
            </a:extLst>
          </p:cNvPr>
          <p:cNvSpPr/>
          <p:nvPr>
            <p:custDataLst>
              <p:tags r:id="rId18"/>
            </p:custDataLst>
          </p:nvPr>
        </p:nvSpPr>
        <p:spPr bwMode="auto">
          <a:xfrm>
            <a:off x="1403350" y="1103313"/>
            <a:ext cx="160338" cy="120650"/>
          </a:xfrm>
          <a:prstGeom prst="rect">
            <a:avLst/>
          </a:prstGeom>
          <a:solidFill>
            <a:schemeClr val="tx2"/>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7" name="Rectangle 26">
            <a:extLst>
              <a:ext uri="{FF2B5EF4-FFF2-40B4-BE49-F238E27FC236}">
                <a16:creationId xmlns:a16="http://schemas.microsoft.com/office/drawing/2014/main" id="{B2C51150-AA48-6C41-171B-AF1195A77A00}"/>
              </a:ext>
            </a:extLst>
          </p:cNvPr>
          <p:cNvSpPr/>
          <p:nvPr>
            <p:custDataLst>
              <p:tags r:id="rId19"/>
            </p:custDataLst>
          </p:nvPr>
        </p:nvSpPr>
        <p:spPr bwMode="auto">
          <a:xfrm>
            <a:off x="2265363" y="922338"/>
            <a:ext cx="160338" cy="120650"/>
          </a:xfrm>
          <a:prstGeom prst="rect">
            <a:avLst/>
          </a:prstGeom>
          <a:solidFill>
            <a:srgbClr val="B9B9B9"/>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495" name="Rectangle 494">
            <a:extLst>
              <a:ext uri="{FF2B5EF4-FFF2-40B4-BE49-F238E27FC236}">
                <a16:creationId xmlns:a16="http://schemas.microsoft.com/office/drawing/2014/main" id="{875EFDA7-2477-7CCD-CBA9-ED1F1F372CEB}"/>
              </a:ext>
            </a:extLst>
          </p:cNvPr>
          <p:cNvSpPr/>
          <p:nvPr>
            <p:custDataLst>
              <p:tags r:id="rId20"/>
            </p:custDataLst>
          </p:nvPr>
        </p:nvSpPr>
        <p:spPr bwMode="auto">
          <a:xfrm>
            <a:off x="2265363" y="1103313"/>
            <a:ext cx="160338" cy="120650"/>
          </a:xfrm>
          <a:prstGeom prst="rect">
            <a:avLst/>
          </a:prstGeom>
          <a:solidFill>
            <a:srgbClr val="5A5A5A"/>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cxnSp>
        <p:nvCxnSpPr>
          <p:cNvPr id="91" name="Straight Connector 90">
            <a:extLst>
              <a:ext uri="{FF2B5EF4-FFF2-40B4-BE49-F238E27FC236}">
                <a16:creationId xmlns:a16="http://schemas.microsoft.com/office/drawing/2014/main" id="{C44BAC23-A02E-F20C-66FB-0A6A3B5A237B}"/>
              </a:ext>
            </a:extLst>
          </p:cNvPr>
          <p:cNvCxnSpPr/>
          <p:nvPr>
            <p:custDataLst>
              <p:tags r:id="rId21"/>
            </p:custDataLst>
          </p:nvPr>
        </p:nvCxnSpPr>
        <p:spPr bwMode="gray">
          <a:xfrm>
            <a:off x="4210050" y="982663"/>
            <a:ext cx="201613" cy="0"/>
          </a:xfrm>
          <a:prstGeom prst="line">
            <a:avLst/>
          </a:prstGeom>
          <a:ln w="19050" cap="rnd" cmpd="sng" algn="ctr">
            <a:solidFill>
              <a:srgbClr val="00000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1" name="Oval 110">
            <a:extLst>
              <a:ext uri="{FF2B5EF4-FFF2-40B4-BE49-F238E27FC236}">
                <a16:creationId xmlns:a16="http://schemas.microsoft.com/office/drawing/2014/main" id="{C61B211A-F3BA-416C-1FF2-31EF534522B5}"/>
              </a:ext>
            </a:extLst>
          </p:cNvPr>
          <p:cNvSpPr/>
          <p:nvPr>
            <p:custDataLst>
              <p:tags r:id="rId22"/>
            </p:custDataLst>
          </p:nvPr>
        </p:nvSpPr>
        <p:spPr bwMode="auto">
          <a:xfrm>
            <a:off x="4284663" y="957263"/>
            <a:ext cx="50800" cy="50800"/>
          </a:xfrm>
          <a:prstGeom prst="ellipse">
            <a:avLst/>
          </a:prstGeom>
          <a:solidFill>
            <a:schemeClr val="accent1"/>
          </a:solidFill>
          <a:ln w="9525" cmpd="sng" algn="ctr">
            <a:solidFill>
              <a:schemeClr val="accent1"/>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6" name="Text Placeholder 2">
            <a:extLst>
              <a:ext uri="{FF2B5EF4-FFF2-40B4-BE49-F238E27FC236}">
                <a16:creationId xmlns:a16="http://schemas.microsoft.com/office/drawing/2014/main" id="{457A6E2C-88E2-DD20-6AB3-C0F92F52679E}"/>
              </a:ext>
            </a:extLst>
          </p:cNvPr>
          <p:cNvSpPr>
            <a:spLocks noGrp="1"/>
          </p:cNvSpPr>
          <p:nvPr>
            <p:custDataLst>
              <p:tags r:id="rId23"/>
            </p:custDataLst>
          </p:nvPr>
        </p:nvSpPr>
        <p:spPr bwMode="auto">
          <a:xfrm>
            <a:off x="1614488" y="928688"/>
            <a:ext cx="488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B7621481-A5AB-4D6E-8C90-E2933302223E}" type="datetime'''''''''''''R''''''ev''''''''e''''''''n''ue'''''''">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Revenue</a:t>
            </a:fld>
            <a:endParaRPr kumimoji="0" lang="en-US" sz="900" b="0" i="0" u="none" strike="noStrike" kern="1200" cap="none" spc="0" normalizeH="0" baseline="3000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 name="Text Placeholder 2">
            <a:extLst>
              <a:ext uri="{FF2B5EF4-FFF2-40B4-BE49-F238E27FC236}">
                <a16:creationId xmlns:a16="http://schemas.microsoft.com/office/drawing/2014/main" id="{1528EFD7-B1C4-E0EC-F4BB-C14B0C1C6473}"/>
              </a:ext>
            </a:extLst>
          </p:cNvPr>
          <p:cNvSpPr>
            <a:spLocks noGrp="1"/>
          </p:cNvSpPr>
          <p:nvPr>
            <p:custDataLst>
              <p:tags r:id="rId24"/>
            </p:custDataLst>
          </p:nvPr>
        </p:nvSpPr>
        <p:spPr bwMode="auto">
          <a:xfrm>
            <a:off x="1614488" y="1109663"/>
            <a:ext cx="3508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Capex</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8" name="Text Placeholder 2">
            <a:extLst>
              <a:ext uri="{FF2B5EF4-FFF2-40B4-BE49-F238E27FC236}">
                <a16:creationId xmlns:a16="http://schemas.microsoft.com/office/drawing/2014/main" id="{BE63498C-A687-5E67-BF91-E829C4B320CB}"/>
              </a:ext>
            </a:extLst>
          </p:cNvPr>
          <p:cNvSpPr>
            <a:spLocks noGrp="1"/>
          </p:cNvSpPr>
          <p:nvPr>
            <p:custDataLst>
              <p:tags r:id="rId25"/>
            </p:custDataLst>
          </p:nvPr>
        </p:nvSpPr>
        <p:spPr bwMode="auto">
          <a:xfrm>
            <a:off x="2476500" y="928688"/>
            <a:ext cx="935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4138F85B-45B0-4CA9-9544-F8C9CC9C0046}" type="datetime'''''''''Cost'' ''''o''''''''f'' ''''''''mate''r''''''ials'">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Cost of materials</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5" name="Text Placeholder 2">
            <a:extLst>
              <a:ext uri="{FF2B5EF4-FFF2-40B4-BE49-F238E27FC236}">
                <a16:creationId xmlns:a16="http://schemas.microsoft.com/office/drawing/2014/main" id="{F5F325E4-0C1E-C683-EA07-2B7C2C449736}"/>
              </a:ext>
            </a:extLst>
          </p:cNvPr>
          <p:cNvSpPr>
            <a:spLocks noGrp="1"/>
          </p:cNvSpPr>
          <p:nvPr>
            <p:custDataLst>
              <p:tags r:id="rId26"/>
            </p:custDataLst>
          </p:nvPr>
        </p:nvSpPr>
        <p:spPr bwMode="auto">
          <a:xfrm>
            <a:off x="2476500" y="1109663"/>
            <a:ext cx="16224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Fixed and variable overheads</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6" name="Text Placeholder 2">
            <a:extLst>
              <a:ext uri="{FF2B5EF4-FFF2-40B4-BE49-F238E27FC236}">
                <a16:creationId xmlns:a16="http://schemas.microsoft.com/office/drawing/2014/main" id="{4CD1A44B-6DEE-7480-4782-D950415C77AA}"/>
              </a:ext>
            </a:extLst>
          </p:cNvPr>
          <p:cNvSpPr>
            <a:spLocks noGrp="1"/>
          </p:cNvSpPr>
          <p:nvPr>
            <p:custDataLst>
              <p:tags r:id="rId27"/>
            </p:custDataLst>
          </p:nvPr>
        </p:nvSpPr>
        <p:spPr bwMode="auto">
          <a:xfrm>
            <a:off x="4471988" y="928688"/>
            <a:ext cx="1443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spcBef>
                <a:spcPct val="0"/>
              </a:spcBef>
              <a:spcAft>
                <a:spcPct val="0"/>
              </a:spcAft>
              <a:buNone/>
              <a:defRPr/>
            </a:pPr>
            <a:fld id="{354CFD01-DF3E-4C0A-937F-42BD09EED304}" type="datetime'''''''Cu''mu''lat''ive'' ''''''''f''''r''e''e'' cash f''lo''w'">
              <a:rPr lang="en-US" altLang="en-US" sz="900" smtClean="0">
                <a:solidFill>
                  <a:srgbClr val="FFFFFF">
                    <a:lumMod val="50000"/>
                  </a:srgbClr>
                </a:solidFill>
                <a:latin typeface="Fund Light" pitchFamily="2" charset="-78"/>
                <a:cs typeface="Fund Light" pitchFamily="2" charset="-78"/>
              </a:rPr>
              <a:pPr marL="0" lvl="0" indent="0">
                <a:spcBef>
                  <a:spcPct val="0"/>
                </a:spcBef>
                <a:spcAft>
                  <a:spcPct val="0"/>
                </a:spcAft>
                <a:buNone/>
                <a:defRPr/>
              </a:pPr>
              <a:t>Cumulative free cash flow</a:t>
            </a:fld>
            <a:endParaRPr kumimoji="0" lang="en-US" sz="900" b="0" i="0" strike="noStrike" kern="1200" cap="none" spc="0" normalizeH="0" baseline="0" noProof="0">
              <a:ln>
                <a:noFill/>
              </a:ln>
              <a:solidFill>
                <a:srgbClr val="FFFFFF">
                  <a:lumMod val="50000"/>
                </a:srgbClr>
              </a:solidFill>
              <a:effectLst/>
              <a:uLnTx/>
              <a:uFillTx/>
              <a:latin typeface="Fund Light" pitchFamily="2" charset="-78"/>
              <a:cs typeface="Fund Light" pitchFamily="2" charset="-78"/>
            </a:endParaRPr>
          </a:p>
        </p:txBody>
      </p:sp>
      <p:sp>
        <p:nvSpPr>
          <p:cNvPr id="808" name="Rectangle 807">
            <a:extLst>
              <a:ext uri="{FF2B5EF4-FFF2-40B4-BE49-F238E27FC236}">
                <a16:creationId xmlns:a16="http://schemas.microsoft.com/office/drawing/2014/main" id="{0C4C266E-7CCE-A990-95B9-758A9EAAE34A}"/>
              </a:ext>
            </a:extLst>
          </p:cNvPr>
          <p:cNvSpPr/>
          <p:nvPr/>
        </p:nvSpPr>
        <p:spPr>
          <a:xfrm rot="16200000" flipH="1">
            <a:off x="-6012" y="1622759"/>
            <a:ext cx="932442"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Revenues</a:t>
            </a:r>
          </a:p>
        </p:txBody>
      </p:sp>
      <p:sp>
        <p:nvSpPr>
          <p:cNvPr id="809" name="Rectangle 808">
            <a:extLst>
              <a:ext uri="{FF2B5EF4-FFF2-40B4-BE49-F238E27FC236}">
                <a16:creationId xmlns:a16="http://schemas.microsoft.com/office/drawing/2014/main" id="{D6C7BA57-9AB7-60F2-CEA3-0B22B5414B6F}"/>
              </a:ext>
            </a:extLst>
          </p:cNvPr>
          <p:cNvSpPr/>
          <p:nvPr/>
        </p:nvSpPr>
        <p:spPr>
          <a:xfrm rot="16200000" flipH="1">
            <a:off x="145715" y="2383238"/>
            <a:ext cx="628985"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Costs</a:t>
            </a:r>
          </a:p>
        </p:txBody>
      </p:sp>
      <p:sp>
        <p:nvSpPr>
          <p:cNvPr id="11" name="Rectangle 10">
            <a:extLst>
              <a:ext uri="{FF2B5EF4-FFF2-40B4-BE49-F238E27FC236}">
                <a16:creationId xmlns:a16="http://schemas.microsoft.com/office/drawing/2014/main" id="{7C1E9AF4-CCB6-E998-FCF0-872333D25B1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Output example </a:t>
            </a:r>
          </a:p>
        </p:txBody>
      </p:sp>
      <p:sp>
        <p:nvSpPr>
          <p:cNvPr id="33" name="Rectangle 32">
            <a:extLst>
              <a:ext uri="{FF2B5EF4-FFF2-40B4-BE49-F238E27FC236}">
                <a16:creationId xmlns:a16="http://schemas.microsoft.com/office/drawing/2014/main" id="{07ED1F55-CE19-1D14-DBD1-0C493DCFF551}"/>
              </a:ext>
            </a:extLst>
          </p:cNvPr>
          <p:cNvSpPr/>
          <p:nvPr/>
        </p:nvSpPr>
        <p:spPr>
          <a:xfrm flipH="1">
            <a:off x="117200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34" name="Rectangle 33">
            <a:extLst>
              <a:ext uri="{FF2B5EF4-FFF2-40B4-BE49-F238E27FC236}">
                <a16:creationId xmlns:a16="http://schemas.microsoft.com/office/drawing/2014/main" id="{4BB122E7-8EFE-40B2-8D95-A742C7DC371F}"/>
              </a:ext>
            </a:extLst>
          </p:cNvPr>
          <p:cNvSpPr/>
          <p:nvPr/>
        </p:nvSpPr>
        <p:spPr>
          <a:xfrm flipH="1">
            <a:off x="169757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50%</a:t>
            </a:r>
          </a:p>
        </p:txBody>
      </p:sp>
      <p:sp>
        <p:nvSpPr>
          <p:cNvPr id="31" name="Rectangle 30">
            <a:extLst>
              <a:ext uri="{FF2B5EF4-FFF2-40B4-BE49-F238E27FC236}">
                <a16:creationId xmlns:a16="http://schemas.microsoft.com/office/drawing/2014/main" id="{9AA5F930-A16C-5056-BA53-8DBC22549923}"/>
              </a:ext>
            </a:extLst>
          </p:cNvPr>
          <p:cNvSpPr/>
          <p:nvPr/>
        </p:nvSpPr>
        <p:spPr>
          <a:xfrm>
            <a:off x="326230" y="35161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ramp-up</a:t>
            </a:r>
          </a:p>
        </p:txBody>
      </p:sp>
      <p:sp>
        <p:nvSpPr>
          <p:cNvPr id="38" name="Rectangle 37">
            <a:extLst>
              <a:ext uri="{FF2B5EF4-FFF2-40B4-BE49-F238E27FC236}">
                <a16:creationId xmlns:a16="http://schemas.microsoft.com/office/drawing/2014/main" id="{BA6E6B77-656C-3F70-3C4E-6634C530D8CA}"/>
              </a:ext>
            </a:extLst>
          </p:cNvPr>
          <p:cNvSpPr/>
          <p:nvPr/>
        </p:nvSpPr>
        <p:spPr>
          <a:xfrm flipH="1">
            <a:off x="2216003"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39" name="Rectangle 38">
            <a:extLst>
              <a:ext uri="{FF2B5EF4-FFF2-40B4-BE49-F238E27FC236}">
                <a16:creationId xmlns:a16="http://schemas.microsoft.com/office/drawing/2014/main" id="{B84B2F15-F02B-11BF-A141-5275B5C64114}"/>
              </a:ext>
            </a:extLst>
          </p:cNvPr>
          <p:cNvSpPr/>
          <p:nvPr/>
        </p:nvSpPr>
        <p:spPr>
          <a:xfrm flipH="1">
            <a:off x="274573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40" name="Rectangle 39">
            <a:extLst>
              <a:ext uri="{FF2B5EF4-FFF2-40B4-BE49-F238E27FC236}">
                <a16:creationId xmlns:a16="http://schemas.microsoft.com/office/drawing/2014/main" id="{86B5BFAE-8C73-EB7E-2D1A-CCF5FA235F26}"/>
              </a:ext>
            </a:extLst>
          </p:cNvPr>
          <p:cNvSpPr/>
          <p:nvPr/>
        </p:nvSpPr>
        <p:spPr>
          <a:xfrm flipH="1">
            <a:off x="3276070"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3" name="Rectangle 52">
            <a:extLst>
              <a:ext uri="{FF2B5EF4-FFF2-40B4-BE49-F238E27FC236}">
                <a16:creationId xmlns:a16="http://schemas.microsoft.com/office/drawing/2014/main" id="{4493D941-5B05-F37A-98D8-A738BECED5C6}"/>
              </a:ext>
            </a:extLst>
          </p:cNvPr>
          <p:cNvSpPr/>
          <p:nvPr/>
        </p:nvSpPr>
        <p:spPr>
          <a:xfrm flipH="1">
            <a:off x="3807592"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4" name="Rectangle 53">
            <a:extLst>
              <a:ext uri="{FF2B5EF4-FFF2-40B4-BE49-F238E27FC236}">
                <a16:creationId xmlns:a16="http://schemas.microsoft.com/office/drawing/2014/main" id="{51FB2B5B-B607-6BF8-6D50-23A8F376BC43}"/>
              </a:ext>
            </a:extLst>
          </p:cNvPr>
          <p:cNvSpPr/>
          <p:nvPr/>
        </p:nvSpPr>
        <p:spPr>
          <a:xfrm flipH="1">
            <a:off x="4341494"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5" name="Rectangle 54">
            <a:extLst>
              <a:ext uri="{FF2B5EF4-FFF2-40B4-BE49-F238E27FC236}">
                <a16:creationId xmlns:a16="http://schemas.microsoft.com/office/drawing/2014/main" id="{E55BE001-3AE2-AF18-94F8-CA141CFE0822}"/>
              </a:ext>
            </a:extLst>
          </p:cNvPr>
          <p:cNvSpPr/>
          <p:nvPr/>
        </p:nvSpPr>
        <p:spPr>
          <a:xfrm flipH="1">
            <a:off x="4873016"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6" name="Rectangle 55">
            <a:extLst>
              <a:ext uri="{FF2B5EF4-FFF2-40B4-BE49-F238E27FC236}">
                <a16:creationId xmlns:a16="http://schemas.microsoft.com/office/drawing/2014/main" id="{A0969727-A1B6-73E4-0EA7-9A084C63D9C4}"/>
              </a:ext>
            </a:extLst>
          </p:cNvPr>
          <p:cNvSpPr/>
          <p:nvPr/>
        </p:nvSpPr>
        <p:spPr>
          <a:xfrm flipH="1">
            <a:off x="593962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7" name="Rectangle 56">
            <a:extLst>
              <a:ext uri="{FF2B5EF4-FFF2-40B4-BE49-F238E27FC236}">
                <a16:creationId xmlns:a16="http://schemas.microsoft.com/office/drawing/2014/main" id="{02EE3297-C954-18D6-618F-99B797B631EE}"/>
              </a:ext>
            </a:extLst>
          </p:cNvPr>
          <p:cNvSpPr/>
          <p:nvPr/>
        </p:nvSpPr>
        <p:spPr>
          <a:xfrm flipH="1">
            <a:off x="540453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21" name="Rectangle 20">
            <a:extLst>
              <a:ext uri="{FF2B5EF4-FFF2-40B4-BE49-F238E27FC236}">
                <a16:creationId xmlns:a16="http://schemas.microsoft.com/office/drawing/2014/main" id="{213475C6-BC4F-46B3-EAB5-5799B36034D4}"/>
              </a:ext>
            </a:extLst>
          </p:cNvPr>
          <p:cNvSpPr/>
          <p:nvPr/>
        </p:nvSpPr>
        <p:spPr>
          <a:xfrm>
            <a:off x="144000" y="4260737"/>
            <a:ext cx="887464" cy="20005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Sales (Mn units)</a:t>
            </a:r>
          </a:p>
        </p:txBody>
      </p:sp>
      <p:sp>
        <p:nvSpPr>
          <p:cNvPr id="19" name="Oval 18">
            <a:extLst>
              <a:ext uri="{FF2B5EF4-FFF2-40B4-BE49-F238E27FC236}">
                <a16:creationId xmlns:a16="http://schemas.microsoft.com/office/drawing/2014/main" id="{40583CBE-8618-6A8C-3738-ECA2BE93742E}"/>
              </a:ext>
            </a:extLst>
          </p:cNvPr>
          <p:cNvSpPr/>
          <p:nvPr/>
        </p:nvSpPr>
        <p:spPr>
          <a:xfrm flipH="1">
            <a:off x="1678398"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a:t>
            </a:r>
          </a:p>
        </p:txBody>
      </p:sp>
      <p:sp>
        <p:nvSpPr>
          <p:cNvPr id="20" name="Oval 19">
            <a:extLst>
              <a:ext uri="{FF2B5EF4-FFF2-40B4-BE49-F238E27FC236}">
                <a16:creationId xmlns:a16="http://schemas.microsoft.com/office/drawing/2014/main" id="{049FAAF2-A398-E553-4024-FC452443A507}"/>
              </a:ext>
            </a:extLst>
          </p:cNvPr>
          <p:cNvSpPr/>
          <p:nvPr/>
        </p:nvSpPr>
        <p:spPr>
          <a:xfrm flipH="1">
            <a:off x="2196824"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2.0</a:t>
            </a:r>
          </a:p>
        </p:txBody>
      </p:sp>
      <p:sp>
        <p:nvSpPr>
          <p:cNvPr id="22" name="Oval 21">
            <a:extLst>
              <a:ext uri="{FF2B5EF4-FFF2-40B4-BE49-F238E27FC236}">
                <a16:creationId xmlns:a16="http://schemas.microsoft.com/office/drawing/2014/main" id="{26F8DB8A-C20B-38B0-83F3-54CF092DCFAE}"/>
              </a:ext>
            </a:extLst>
          </p:cNvPr>
          <p:cNvSpPr/>
          <p:nvPr/>
        </p:nvSpPr>
        <p:spPr>
          <a:xfrm flipH="1">
            <a:off x="272656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2.1</a:t>
            </a:r>
          </a:p>
        </p:txBody>
      </p:sp>
      <p:sp>
        <p:nvSpPr>
          <p:cNvPr id="23" name="Oval 22">
            <a:extLst>
              <a:ext uri="{FF2B5EF4-FFF2-40B4-BE49-F238E27FC236}">
                <a16:creationId xmlns:a16="http://schemas.microsoft.com/office/drawing/2014/main" id="{85AF727D-9D31-5255-8834-90E27D03F159}"/>
              </a:ext>
            </a:extLst>
          </p:cNvPr>
          <p:cNvSpPr/>
          <p:nvPr/>
        </p:nvSpPr>
        <p:spPr>
          <a:xfrm flipH="1">
            <a:off x="325689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2.2</a:t>
            </a:r>
          </a:p>
        </p:txBody>
      </p:sp>
      <p:sp>
        <p:nvSpPr>
          <p:cNvPr id="24" name="Oval 23">
            <a:extLst>
              <a:ext uri="{FF2B5EF4-FFF2-40B4-BE49-F238E27FC236}">
                <a16:creationId xmlns:a16="http://schemas.microsoft.com/office/drawing/2014/main" id="{FA967205-EB04-A858-9167-0529D91F8345}"/>
              </a:ext>
            </a:extLst>
          </p:cNvPr>
          <p:cNvSpPr/>
          <p:nvPr/>
        </p:nvSpPr>
        <p:spPr>
          <a:xfrm flipH="1">
            <a:off x="3788412"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2.3</a:t>
            </a:r>
          </a:p>
        </p:txBody>
      </p:sp>
      <p:sp>
        <p:nvSpPr>
          <p:cNvPr id="25" name="Oval 24">
            <a:extLst>
              <a:ext uri="{FF2B5EF4-FFF2-40B4-BE49-F238E27FC236}">
                <a16:creationId xmlns:a16="http://schemas.microsoft.com/office/drawing/2014/main" id="{2241A994-8A0D-D798-106F-1CCEFB34505F}"/>
              </a:ext>
            </a:extLst>
          </p:cNvPr>
          <p:cNvSpPr/>
          <p:nvPr/>
        </p:nvSpPr>
        <p:spPr>
          <a:xfrm flipH="1">
            <a:off x="4322315"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2.4</a:t>
            </a:r>
          </a:p>
        </p:txBody>
      </p:sp>
      <p:sp>
        <p:nvSpPr>
          <p:cNvPr id="29" name="Oval 28">
            <a:extLst>
              <a:ext uri="{FF2B5EF4-FFF2-40B4-BE49-F238E27FC236}">
                <a16:creationId xmlns:a16="http://schemas.microsoft.com/office/drawing/2014/main" id="{D900F326-A419-5DD8-33F2-71C81C238439}"/>
              </a:ext>
            </a:extLst>
          </p:cNvPr>
          <p:cNvSpPr/>
          <p:nvPr/>
        </p:nvSpPr>
        <p:spPr>
          <a:xfrm flipH="1">
            <a:off x="4853837"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2.6</a:t>
            </a:r>
          </a:p>
        </p:txBody>
      </p:sp>
      <p:sp>
        <p:nvSpPr>
          <p:cNvPr id="30" name="Oval 29">
            <a:extLst>
              <a:ext uri="{FF2B5EF4-FFF2-40B4-BE49-F238E27FC236}">
                <a16:creationId xmlns:a16="http://schemas.microsoft.com/office/drawing/2014/main" id="{82FE7657-FF7F-2326-BB21-A28429FFDF39}"/>
              </a:ext>
            </a:extLst>
          </p:cNvPr>
          <p:cNvSpPr/>
          <p:nvPr/>
        </p:nvSpPr>
        <p:spPr>
          <a:xfrm flipH="1">
            <a:off x="538535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2.7</a:t>
            </a:r>
          </a:p>
        </p:txBody>
      </p:sp>
      <p:sp>
        <p:nvSpPr>
          <p:cNvPr id="37" name="Oval 36">
            <a:extLst>
              <a:ext uri="{FF2B5EF4-FFF2-40B4-BE49-F238E27FC236}">
                <a16:creationId xmlns:a16="http://schemas.microsoft.com/office/drawing/2014/main" id="{8807D88F-50AC-E34B-4BC0-F7492AA2BE7A}"/>
              </a:ext>
            </a:extLst>
          </p:cNvPr>
          <p:cNvSpPr/>
          <p:nvPr/>
        </p:nvSpPr>
        <p:spPr>
          <a:xfrm flipH="1">
            <a:off x="592044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2.8</a:t>
            </a:r>
          </a:p>
        </p:txBody>
      </p:sp>
      <p:sp>
        <p:nvSpPr>
          <p:cNvPr id="62" name="Oval 61">
            <a:extLst>
              <a:ext uri="{FF2B5EF4-FFF2-40B4-BE49-F238E27FC236}">
                <a16:creationId xmlns:a16="http://schemas.microsoft.com/office/drawing/2014/main" id="{2139DC56-63A0-4722-A6A3-58F5B9E51409}"/>
              </a:ext>
            </a:extLst>
          </p:cNvPr>
          <p:cNvSpPr/>
          <p:nvPr/>
        </p:nvSpPr>
        <p:spPr>
          <a:xfrm flipH="1">
            <a:off x="115282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4" name="Rectangle 773">
            <a:extLst>
              <a:ext uri="{FF2B5EF4-FFF2-40B4-BE49-F238E27FC236}">
                <a16:creationId xmlns:a16="http://schemas.microsoft.com/office/drawing/2014/main" id="{9D6FD138-AF31-A28A-55BB-6C692DD6AA35}"/>
              </a:ext>
            </a:extLst>
          </p:cNvPr>
          <p:cNvSpPr/>
          <p:nvPr/>
        </p:nvSpPr>
        <p:spPr>
          <a:xfrm flipH="1">
            <a:off x="117200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5" name="Rectangle 774">
            <a:extLst>
              <a:ext uri="{FF2B5EF4-FFF2-40B4-BE49-F238E27FC236}">
                <a16:creationId xmlns:a16="http://schemas.microsoft.com/office/drawing/2014/main" id="{ADC149B9-0BEF-1B5D-5F4F-E53436805EC2}"/>
              </a:ext>
            </a:extLst>
          </p:cNvPr>
          <p:cNvSpPr/>
          <p:nvPr/>
        </p:nvSpPr>
        <p:spPr>
          <a:xfrm flipH="1">
            <a:off x="169757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33%</a:t>
            </a:r>
          </a:p>
        </p:txBody>
      </p:sp>
      <p:sp>
        <p:nvSpPr>
          <p:cNvPr id="776" name="Rectangle 775">
            <a:extLst>
              <a:ext uri="{FF2B5EF4-FFF2-40B4-BE49-F238E27FC236}">
                <a16:creationId xmlns:a16="http://schemas.microsoft.com/office/drawing/2014/main" id="{73D9DDA8-EFE2-190D-9E74-47B50344CC23}"/>
              </a:ext>
            </a:extLst>
          </p:cNvPr>
          <p:cNvSpPr/>
          <p:nvPr/>
        </p:nvSpPr>
        <p:spPr>
          <a:xfrm>
            <a:off x="326230" y="38635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utilization</a:t>
            </a:r>
          </a:p>
        </p:txBody>
      </p:sp>
      <p:sp>
        <p:nvSpPr>
          <p:cNvPr id="777" name="Rectangle 776">
            <a:extLst>
              <a:ext uri="{FF2B5EF4-FFF2-40B4-BE49-F238E27FC236}">
                <a16:creationId xmlns:a16="http://schemas.microsoft.com/office/drawing/2014/main" id="{F1B98950-65A9-3689-C91A-5068EF2D3E1A}"/>
              </a:ext>
            </a:extLst>
          </p:cNvPr>
          <p:cNvSpPr/>
          <p:nvPr/>
        </p:nvSpPr>
        <p:spPr>
          <a:xfrm flipH="1">
            <a:off x="2216003"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67%</a:t>
            </a:r>
          </a:p>
        </p:txBody>
      </p:sp>
      <p:sp>
        <p:nvSpPr>
          <p:cNvPr id="778" name="Rectangle 777">
            <a:extLst>
              <a:ext uri="{FF2B5EF4-FFF2-40B4-BE49-F238E27FC236}">
                <a16:creationId xmlns:a16="http://schemas.microsoft.com/office/drawing/2014/main" id="{5498C892-DE76-2DC1-DC34-85DAAD329426}"/>
              </a:ext>
            </a:extLst>
          </p:cNvPr>
          <p:cNvSpPr/>
          <p:nvPr/>
        </p:nvSpPr>
        <p:spPr>
          <a:xfrm flipH="1">
            <a:off x="274573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70%</a:t>
            </a:r>
          </a:p>
        </p:txBody>
      </p:sp>
      <p:sp>
        <p:nvSpPr>
          <p:cNvPr id="779" name="Rectangle 778">
            <a:extLst>
              <a:ext uri="{FF2B5EF4-FFF2-40B4-BE49-F238E27FC236}">
                <a16:creationId xmlns:a16="http://schemas.microsoft.com/office/drawing/2014/main" id="{6B1F6566-DE9B-A97B-89F6-CC511F120909}"/>
              </a:ext>
            </a:extLst>
          </p:cNvPr>
          <p:cNvSpPr/>
          <p:nvPr/>
        </p:nvSpPr>
        <p:spPr>
          <a:xfrm flipH="1">
            <a:off x="3276070"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74%</a:t>
            </a:r>
          </a:p>
        </p:txBody>
      </p:sp>
      <p:sp>
        <p:nvSpPr>
          <p:cNvPr id="780" name="Rectangle 779">
            <a:extLst>
              <a:ext uri="{FF2B5EF4-FFF2-40B4-BE49-F238E27FC236}">
                <a16:creationId xmlns:a16="http://schemas.microsoft.com/office/drawing/2014/main" id="{715FFBDD-772A-6823-E091-63B77BA22B86}"/>
              </a:ext>
            </a:extLst>
          </p:cNvPr>
          <p:cNvSpPr/>
          <p:nvPr/>
        </p:nvSpPr>
        <p:spPr>
          <a:xfrm flipH="1">
            <a:off x="3807592"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77%</a:t>
            </a:r>
          </a:p>
        </p:txBody>
      </p:sp>
      <p:sp>
        <p:nvSpPr>
          <p:cNvPr id="781" name="Rectangle 780">
            <a:extLst>
              <a:ext uri="{FF2B5EF4-FFF2-40B4-BE49-F238E27FC236}">
                <a16:creationId xmlns:a16="http://schemas.microsoft.com/office/drawing/2014/main" id="{FEBC73E7-91B4-33E8-F8C3-A3B3A170B337}"/>
              </a:ext>
            </a:extLst>
          </p:cNvPr>
          <p:cNvSpPr/>
          <p:nvPr/>
        </p:nvSpPr>
        <p:spPr>
          <a:xfrm flipH="1">
            <a:off x="4341494"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81%</a:t>
            </a:r>
          </a:p>
        </p:txBody>
      </p:sp>
      <p:sp>
        <p:nvSpPr>
          <p:cNvPr id="782" name="Rectangle 781">
            <a:extLst>
              <a:ext uri="{FF2B5EF4-FFF2-40B4-BE49-F238E27FC236}">
                <a16:creationId xmlns:a16="http://schemas.microsoft.com/office/drawing/2014/main" id="{3DC7CE60-BCAC-FC3A-C472-01498588DC9A}"/>
              </a:ext>
            </a:extLst>
          </p:cNvPr>
          <p:cNvSpPr/>
          <p:nvPr/>
        </p:nvSpPr>
        <p:spPr>
          <a:xfrm flipH="1">
            <a:off x="4873016"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85%</a:t>
            </a:r>
          </a:p>
        </p:txBody>
      </p:sp>
      <p:sp>
        <p:nvSpPr>
          <p:cNvPr id="783" name="Rectangle 782">
            <a:extLst>
              <a:ext uri="{FF2B5EF4-FFF2-40B4-BE49-F238E27FC236}">
                <a16:creationId xmlns:a16="http://schemas.microsoft.com/office/drawing/2014/main" id="{D40A698F-4074-91F3-9C0F-536F872C6DAF}"/>
              </a:ext>
            </a:extLst>
          </p:cNvPr>
          <p:cNvSpPr/>
          <p:nvPr/>
        </p:nvSpPr>
        <p:spPr>
          <a:xfrm flipH="1">
            <a:off x="593962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94%</a:t>
            </a:r>
          </a:p>
        </p:txBody>
      </p:sp>
      <p:sp>
        <p:nvSpPr>
          <p:cNvPr id="784" name="Rectangle 783">
            <a:extLst>
              <a:ext uri="{FF2B5EF4-FFF2-40B4-BE49-F238E27FC236}">
                <a16:creationId xmlns:a16="http://schemas.microsoft.com/office/drawing/2014/main" id="{3A77C160-83E2-2B13-64A1-8FC7B37669BC}"/>
              </a:ext>
            </a:extLst>
          </p:cNvPr>
          <p:cNvSpPr/>
          <p:nvPr/>
        </p:nvSpPr>
        <p:spPr>
          <a:xfrm flipH="1">
            <a:off x="540453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89%</a:t>
            </a:r>
          </a:p>
        </p:txBody>
      </p:sp>
      <p:pic>
        <p:nvPicPr>
          <p:cNvPr id="28" name="Picture 4">
            <a:extLst>
              <a:ext uri="{FF2B5EF4-FFF2-40B4-BE49-F238E27FC236}">
                <a16:creationId xmlns:a16="http://schemas.microsoft.com/office/drawing/2014/main" id="{0A2E3EAD-FB75-FF9B-CBCF-7F03685F194F}"/>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679512" y="4634955"/>
            <a:ext cx="396928" cy="39060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FDEE7FCA-EAB5-B5FF-616C-413622FF2D2C}"/>
              </a:ext>
            </a:extLst>
          </p:cNvPr>
          <p:cNvSpPr txBox="1">
            <a:spLocks/>
          </p:cNvSpPr>
          <p:nvPr/>
        </p:nvSpPr>
        <p:spPr>
          <a:xfrm>
            <a:off x="7076441" y="4684060"/>
            <a:ext cx="1464310" cy="2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defPPr>
              <a:defRPr lang="en-US"/>
            </a:defPPr>
            <a:lvl1pPr>
              <a:spcBef>
                <a:spcPts val="300"/>
              </a:spcBef>
              <a:spcAft>
                <a:spcPts val="300"/>
              </a:spcAft>
              <a:defRPr sz="12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800">
                <a:solidFill>
                  <a:srgbClr val="000000"/>
                </a:solidFill>
                <a:latin typeface="Fund Light" pitchFamily="2" charset="-78"/>
                <a:cs typeface="Fund Light" pitchFamily="2" charset="-78"/>
              </a:rPr>
              <a:t>Ready-to-plug business model template can be shared upon request</a:t>
            </a:r>
          </a:p>
        </p:txBody>
      </p:sp>
      <p:graphicFrame>
        <p:nvGraphicFramePr>
          <p:cNvPr id="41" name="Table 141">
            <a:extLst>
              <a:ext uri="{FF2B5EF4-FFF2-40B4-BE49-F238E27FC236}">
                <a16:creationId xmlns:a16="http://schemas.microsoft.com/office/drawing/2014/main" id="{6AA348EE-56C7-9475-D466-70EDF945BB6C}"/>
              </a:ext>
            </a:extLst>
          </p:cNvPr>
          <p:cNvGraphicFramePr>
            <a:graphicFrameLocks noGrp="1"/>
          </p:cNvGraphicFramePr>
          <p:nvPr>
            <p:extLst>
              <p:ext uri="{D42A27DB-BD31-4B8C-83A1-F6EECF244321}">
                <p14:modId xmlns:p14="http://schemas.microsoft.com/office/powerpoint/2010/main" val="1216226009"/>
              </p:ext>
            </p:extLst>
          </p:nvPr>
        </p:nvGraphicFramePr>
        <p:xfrm>
          <a:off x="6573838" y="2864162"/>
          <a:ext cx="2255146" cy="1618488"/>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9496">
                <a:tc>
                  <a:txBody>
                    <a:bodyPr/>
                    <a:lstStyle/>
                    <a:p>
                      <a:pPr algn="l" rtl="0"/>
                      <a:r>
                        <a:rPr lang="en-GB" sz="1000" b="1">
                          <a:solidFill>
                            <a:schemeClr val="bg1">
                              <a:lumMod val="95000"/>
                            </a:schemeClr>
                          </a:solidFill>
                          <a:latin typeface="Fund Light" pitchFamily="2" charset="-78"/>
                          <a:cs typeface="Fund Light" pitchFamily="2" charset="-78"/>
                        </a:rPr>
                        <a:t>NPV</a:t>
                      </a:r>
                      <a:r>
                        <a:rPr lang="en-GB" sz="1000" b="0">
                          <a:solidFill>
                            <a:schemeClr val="bg1">
                              <a:lumMod val="95000"/>
                            </a:schemeClr>
                          </a:solidFill>
                          <a:latin typeface="Fund Light" pitchFamily="2" charset="-78"/>
                          <a:cs typeface="Fund Light" pitchFamily="2" charset="-78"/>
                        </a:rPr>
                        <a:t> </a:t>
                      </a:r>
                      <a:r>
                        <a:rPr lang="en-GB" sz="1000" b="0" i="0">
                          <a:solidFill>
                            <a:schemeClr val="bg1">
                              <a:lumMod val="95000"/>
                            </a:schemeClr>
                          </a:solidFill>
                          <a:latin typeface="Fund Light" pitchFamily="2" charset="-78"/>
                          <a:cs typeface="Fund Light" pitchFamily="2" charset="-78"/>
                        </a:rPr>
                        <a:t>(SAR Mn)</a:t>
                      </a:r>
                      <a:r>
                        <a:rPr lang="en-GB" sz="1000" b="0" i="0" baseline="30000">
                          <a:solidFill>
                            <a:schemeClr val="bg1">
                              <a:lumMod val="95000"/>
                            </a:schemeClr>
                          </a:solidFill>
                          <a:latin typeface="Fund Light" pitchFamily="2" charset="-78"/>
                          <a:cs typeface="Fund Light" pitchFamily="2" charset="-78"/>
                        </a:rPr>
                        <a:t>1</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50+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1349318006"/>
                  </a:ext>
                </a:extLst>
              </a:tr>
              <a:tr h="539496">
                <a:tc>
                  <a:txBody>
                    <a:bodyPr/>
                    <a:lstStyle/>
                    <a:p>
                      <a:pPr algn="l" rtl="0"/>
                      <a:r>
                        <a:rPr lang="en-GB" sz="1000" b="1">
                          <a:solidFill>
                            <a:schemeClr val="bg1">
                              <a:lumMod val="95000"/>
                            </a:schemeClr>
                          </a:solidFill>
                          <a:latin typeface="Fund Light" pitchFamily="2" charset="-78"/>
                          <a:cs typeface="Fund Light" pitchFamily="2" charset="-78"/>
                        </a:rPr>
                        <a:t>Break-even</a:t>
                      </a:r>
                      <a:br>
                        <a:rPr lang="en-GB" sz="1000" b="1">
                          <a:solidFill>
                            <a:schemeClr val="bg1">
                              <a:lumMod val="95000"/>
                            </a:schemeClr>
                          </a:solidFill>
                          <a:latin typeface="Fund Light" pitchFamily="2" charset="-78"/>
                          <a:cs typeface="Fund Light" pitchFamily="2" charset="-78"/>
                        </a:rPr>
                      </a:br>
                      <a:r>
                        <a:rPr lang="en-GB" sz="1000" b="1">
                          <a:solidFill>
                            <a:schemeClr val="bg1">
                              <a:lumMod val="95000"/>
                            </a:schemeClr>
                          </a:solidFill>
                          <a:latin typeface="Fund Light" pitchFamily="2" charset="-78"/>
                          <a:cs typeface="Fund Light" pitchFamily="2" charset="-78"/>
                        </a:rPr>
                        <a:t>volume </a:t>
                      </a:r>
                      <a:r>
                        <a:rPr lang="en-GB" sz="1000" b="0" i="1">
                          <a:solidFill>
                            <a:schemeClr val="bg1">
                              <a:lumMod val="95000"/>
                            </a:schemeClr>
                          </a:solidFill>
                          <a:latin typeface="Fund Light" pitchFamily="2" charset="-78"/>
                          <a:cs typeface="Fund Light" pitchFamily="2" charset="-78"/>
                        </a:rPr>
                        <a:t>(yearly)</a:t>
                      </a:r>
                      <a:endParaRPr lang="en-GB" sz="1000" b="0" i="1" baseline="30000">
                        <a:solidFill>
                          <a:schemeClr val="bg1">
                            <a:lumMod val="95000"/>
                          </a:schemeClr>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~1M units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887367567"/>
                  </a:ext>
                </a:extLst>
              </a:tr>
              <a:tr h="5394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bg1">
                              <a:lumMod val="95000"/>
                            </a:schemeClr>
                          </a:solidFill>
                          <a:latin typeface="Fund Light" pitchFamily="2" charset="-78"/>
                          <a:cs typeface="Fund Light" pitchFamily="2" charset="-78"/>
                        </a:rPr>
                        <a:t>Payback period</a:t>
                      </a:r>
                      <a:endParaRPr lang="en-GB" sz="1000" b="0">
                        <a:solidFill>
                          <a:schemeClr val="bg1">
                            <a:lumMod val="95000"/>
                          </a:schemeClr>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chemeClr val="bg1">
                              <a:lumMod val="95000"/>
                            </a:schemeClr>
                          </a:solidFill>
                          <a:latin typeface="Fund Light" pitchFamily="2" charset="-78"/>
                          <a:cs typeface="Fund Light" pitchFamily="2" charset="-78"/>
                        </a:rPr>
                        <a:t>6 - 8 yrs.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434825908"/>
                  </a:ext>
                </a:extLst>
              </a:tr>
            </a:tbl>
          </a:graphicData>
        </a:graphic>
      </p:graphicFrame>
      <p:sp>
        <p:nvSpPr>
          <p:cNvPr id="15" name="Text Placeholder 1">
            <a:extLst>
              <a:ext uri="{FF2B5EF4-FFF2-40B4-BE49-F238E27FC236}">
                <a16:creationId xmlns:a16="http://schemas.microsoft.com/office/drawing/2014/main" id="{75034937-668B-4740-7B34-2E1BF8559423}"/>
              </a:ext>
            </a:extLst>
          </p:cNvPr>
          <p:cNvSpPr txBox="1">
            <a:spLocks/>
          </p:cNvSpPr>
          <p:nvPr/>
        </p:nvSpPr>
        <p:spPr>
          <a:xfrm>
            <a:off x="1551727" y="4767025"/>
            <a:ext cx="1452301" cy="274834"/>
          </a:xfrm>
          <a:prstGeom prst="rect">
            <a:avLst/>
          </a:prstGeom>
        </p:spPr>
        <p:txBody>
          <a:bodyPr anchor="t"/>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sz="600"/>
              <a:t>1. If NPV is negative, the investment is likely non-viable in its current form</a:t>
            </a:r>
          </a:p>
        </p:txBody>
      </p:sp>
      <p:sp>
        <p:nvSpPr>
          <p:cNvPr id="2" name="Rectangle: Rounded Corners 1">
            <a:extLst>
              <a:ext uri="{FF2B5EF4-FFF2-40B4-BE49-F238E27FC236}">
                <a16:creationId xmlns:a16="http://schemas.microsoft.com/office/drawing/2014/main" id="{5FF8C289-271B-D902-F344-B763CEA69DC5}"/>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33"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9ABB522E-B146-8C0E-0442-169468F20675}"/>
              </a:ext>
            </a:extLst>
          </p:cNvPr>
          <p:cNvGrpSpPr/>
          <p:nvPr/>
        </p:nvGrpSpPr>
        <p:grpSpPr>
          <a:xfrm>
            <a:off x="3004029" y="4817276"/>
            <a:ext cx="303559" cy="303559"/>
            <a:chOff x="-577629" y="2311332"/>
            <a:chExt cx="404038" cy="404037"/>
          </a:xfrm>
        </p:grpSpPr>
        <p:sp>
          <p:nvSpPr>
            <p:cNvPr id="4" name="Oval 3">
              <a:extLst>
                <a:ext uri="{FF2B5EF4-FFF2-40B4-BE49-F238E27FC236}">
                  <a16:creationId xmlns:a16="http://schemas.microsoft.com/office/drawing/2014/main" id="{7C4F3C51-2C81-5C19-6CA3-D707FA9F0D03}"/>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246D988-6B3E-DB31-EB29-840D44940A2F}"/>
                </a:ext>
              </a:extLst>
            </p:cNvPr>
            <p:cNvPicPr>
              <a:picLocks noChangeAspect="1"/>
            </p:cNvPicPr>
            <p:nvPr/>
          </p:nvPicPr>
          <p:blipFill>
            <a:blip r:embed="rId34"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0" name="Group 9">
            <a:extLst>
              <a:ext uri="{FF2B5EF4-FFF2-40B4-BE49-F238E27FC236}">
                <a16:creationId xmlns:a16="http://schemas.microsoft.com/office/drawing/2014/main" id="{3310EE92-65BA-EDAA-A545-AE7A0B026DB4}"/>
              </a:ext>
            </a:extLst>
          </p:cNvPr>
          <p:cNvGrpSpPr/>
          <p:nvPr/>
        </p:nvGrpSpPr>
        <p:grpSpPr>
          <a:xfrm>
            <a:off x="6211995" y="4883810"/>
            <a:ext cx="168686" cy="161455"/>
            <a:chOff x="11260138" y="4194175"/>
            <a:chExt cx="360363" cy="379413"/>
          </a:xfrm>
        </p:grpSpPr>
        <p:sp>
          <p:nvSpPr>
            <p:cNvPr id="12" name="Freeform 289">
              <a:extLst>
                <a:ext uri="{FF2B5EF4-FFF2-40B4-BE49-F238E27FC236}">
                  <a16:creationId xmlns:a16="http://schemas.microsoft.com/office/drawing/2014/main" id="{495CD938-CFEF-2A76-63F0-BFCD31E86559}"/>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0">
              <a:extLst>
                <a:ext uri="{FF2B5EF4-FFF2-40B4-BE49-F238E27FC236}">
                  <a16:creationId xmlns:a16="http://schemas.microsoft.com/office/drawing/2014/main" id="{A002806C-F663-9EA0-5D01-E8658C1B2324}"/>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291">
              <a:extLst>
                <a:ext uri="{FF2B5EF4-FFF2-40B4-BE49-F238E27FC236}">
                  <a16:creationId xmlns:a16="http://schemas.microsoft.com/office/drawing/2014/main" id="{34CEDE8D-F606-8C58-6C40-490E540C5327}"/>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43" name="Text Placeholder 6">
            <a:extLst>
              <a:ext uri="{FF2B5EF4-FFF2-40B4-BE49-F238E27FC236}">
                <a16:creationId xmlns:a16="http://schemas.microsoft.com/office/drawing/2014/main" id="{264852FF-F34D-27BA-76E8-D7C0189AE91F}"/>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44" name="Oval 43">
            <a:extLst>
              <a:ext uri="{FF2B5EF4-FFF2-40B4-BE49-F238E27FC236}">
                <a16:creationId xmlns:a16="http://schemas.microsoft.com/office/drawing/2014/main" id="{8FAA6148-7C32-6506-583A-FCEC9A081FD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13" name="Speech Bubble: Rectangle 12">
            <a:extLst>
              <a:ext uri="{FF2B5EF4-FFF2-40B4-BE49-F238E27FC236}">
                <a16:creationId xmlns:a16="http://schemas.microsoft.com/office/drawing/2014/main" id="{2F07045D-FD32-622A-FD28-F7D6622C37CF}"/>
              </a:ext>
            </a:extLst>
          </p:cNvPr>
          <p:cNvSpPr/>
          <p:nvPr/>
        </p:nvSpPr>
        <p:spPr>
          <a:xfrm>
            <a:off x="6573838" y="409927"/>
            <a:ext cx="2435578" cy="483542"/>
          </a:xfrm>
          <a:prstGeom prst="wedgeRectCallout">
            <a:avLst>
              <a:gd name="adj1" fmla="val -34502"/>
              <a:gd name="adj2" fmla="val 106440"/>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KPIs to inform the type of LDC agreement (output of the business case)</a:t>
            </a:r>
          </a:p>
        </p:txBody>
      </p:sp>
    </p:spTree>
    <p:extLst>
      <p:ext uri="{BB962C8B-B14F-4D97-AF65-F5344CB8AC3E}">
        <p14:creationId xmlns:p14="http://schemas.microsoft.com/office/powerpoint/2010/main" val="1590886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4A349EF-BAF2-A52C-0A3F-028C35AF0B12}"/>
              </a:ext>
            </a:extLst>
          </p:cNvPr>
          <p:cNvGraphicFramePr>
            <a:graphicFrameLocks noChangeAspect="1"/>
          </p:cNvGraphicFramePr>
          <p:nvPr>
            <p:custDataLst>
              <p:tags r:id="rId1"/>
            </p:custDataLst>
            <p:extLst>
              <p:ext uri="{D42A27DB-BD31-4B8C-83A1-F6EECF244321}">
                <p14:modId xmlns:p14="http://schemas.microsoft.com/office/powerpoint/2010/main" val="2947501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C4A349EF-BAF2-A52C-0A3F-028C35AF0B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5BDA416B-8DD8-4E32-901D-9AD51376E815}"/>
              </a:ext>
            </a:extLst>
          </p:cNvPr>
          <p:cNvSpPr>
            <a:spLocks noGrp="1"/>
          </p:cNvSpPr>
          <p:nvPr>
            <p:ph type="title"/>
          </p:nvPr>
        </p:nvSpPr>
        <p:spPr>
          <a:xfrm>
            <a:off x="1255078" y="255973"/>
            <a:ext cx="6979601" cy="241824"/>
          </a:xfrm>
        </p:spPr>
        <p:txBody>
          <a:bodyPr vert="horz"/>
          <a:lstStyle/>
          <a:p>
            <a:r>
              <a:rPr lang="en-US"/>
              <a:t>The type of demand commitment is informed by three parameters</a:t>
            </a:r>
          </a:p>
        </p:txBody>
      </p:sp>
      <p:graphicFrame>
        <p:nvGraphicFramePr>
          <p:cNvPr id="14" name="Table 141">
            <a:extLst>
              <a:ext uri="{FF2B5EF4-FFF2-40B4-BE49-F238E27FC236}">
                <a16:creationId xmlns:a16="http://schemas.microsoft.com/office/drawing/2014/main" id="{7FB8D1C2-599F-9AE4-6F85-2073AE6F2891}"/>
              </a:ext>
            </a:extLst>
          </p:cNvPr>
          <p:cNvGraphicFramePr>
            <a:graphicFrameLocks noGrp="1"/>
          </p:cNvGraphicFramePr>
          <p:nvPr>
            <p:extLst>
              <p:ext uri="{D42A27DB-BD31-4B8C-83A1-F6EECF244321}">
                <p14:modId xmlns:p14="http://schemas.microsoft.com/office/powerpoint/2010/main" val="2973440853"/>
              </p:ext>
            </p:extLst>
          </p:nvPr>
        </p:nvGraphicFramePr>
        <p:xfrm>
          <a:off x="6918762" y="998411"/>
          <a:ext cx="1897863" cy="3556325"/>
        </p:xfrm>
        <a:graphic>
          <a:graphicData uri="http://schemas.openxmlformats.org/drawingml/2006/table">
            <a:tbl>
              <a:tblPr firstRow="1" bandRow="1">
                <a:tableStyleId>{5C22544A-7EE6-4342-B048-85BDC9FD1C3A}</a:tableStyleId>
              </a:tblPr>
              <a:tblGrid>
                <a:gridCol w="632621">
                  <a:extLst>
                    <a:ext uri="{9D8B030D-6E8A-4147-A177-3AD203B41FA5}">
                      <a16:colId xmlns:a16="http://schemas.microsoft.com/office/drawing/2014/main" val="273455641"/>
                    </a:ext>
                  </a:extLst>
                </a:gridCol>
                <a:gridCol w="632621">
                  <a:extLst>
                    <a:ext uri="{9D8B030D-6E8A-4147-A177-3AD203B41FA5}">
                      <a16:colId xmlns:a16="http://schemas.microsoft.com/office/drawing/2014/main" val="2924351273"/>
                    </a:ext>
                  </a:extLst>
                </a:gridCol>
                <a:gridCol w="632621">
                  <a:extLst>
                    <a:ext uri="{9D8B030D-6E8A-4147-A177-3AD203B41FA5}">
                      <a16:colId xmlns:a16="http://schemas.microsoft.com/office/drawing/2014/main" val="251915459"/>
                    </a:ext>
                  </a:extLst>
                </a:gridCol>
              </a:tblGrid>
              <a:tr h="425285">
                <a:tc>
                  <a:txBody>
                    <a:bodyPr/>
                    <a:lstStyle/>
                    <a:p>
                      <a:pPr algn="ctr" rtl="0"/>
                      <a:r>
                        <a:rPr lang="en-GB" sz="1000" b="1">
                          <a:solidFill>
                            <a:srgbClr val="000000"/>
                          </a:solidFill>
                          <a:latin typeface="Fund Light" pitchFamily="2" charset="-78"/>
                          <a:cs typeface="Fund Light" pitchFamily="2" charset="-78"/>
                        </a:rPr>
                        <a:t>Take-or-</a:t>
                      </a:r>
                      <a:br>
                        <a:rPr lang="en-GB" sz="1000" b="1">
                          <a:solidFill>
                            <a:srgbClr val="000000"/>
                          </a:solidFill>
                          <a:latin typeface="Fund Light" pitchFamily="2" charset="-78"/>
                          <a:cs typeface="Fund Light" pitchFamily="2" charset="-78"/>
                        </a:rPr>
                      </a:br>
                      <a:r>
                        <a:rPr lang="en-GB" sz="1000" b="1">
                          <a:solidFill>
                            <a:srgbClr val="000000"/>
                          </a:solidFill>
                          <a:latin typeface="Fund Light" pitchFamily="2" charset="-78"/>
                          <a:cs typeface="Fund Light" pitchFamily="2" charset="-78"/>
                        </a:rPr>
                        <a:t>pay</a:t>
                      </a:r>
                    </a:p>
                  </a:txBody>
                  <a:tcPr marL="0" marR="0" marB="21328">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000" b="1">
                          <a:solidFill>
                            <a:srgbClr val="000000"/>
                          </a:solidFill>
                          <a:latin typeface="Fund Light" pitchFamily="2" charset="-78"/>
                          <a:cs typeface="Fund Light" pitchFamily="2" charset="-78"/>
                        </a:rPr>
                        <a:t>*</a:t>
                      </a:r>
                    </a:p>
                  </a:txBody>
                  <a:tcPr marL="0" marR="0" marB="21328">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algn="ctr" rtl="0"/>
                      <a:r>
                        <a:rPr lang="en-GB" sz="1000" b="1">
                          <a:solidFill>
                            <a:srgbClr val="000000"/>
                          </a:solidFill>
                          <a:latin typeface="Fund Light" pitchFamily="2" charset="-78"/>
                          <a:cs typeface="Fund Light" pitchFamily="2" charset="-78"/>
                        </a:rPr>
                        <a:t>PSA</a:t>
                      </a:r>
                    </a:p>
                  </a:txBody>
                  <a:tcPr marL="0" marR="0" marB="21328">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358492975"/>
                  </a:ext>
                </a:extLst>
              </a:tr>
              <a:tr h="1043680">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&gt; 200 Mn</a:t>
                      </a:r>
                    </a:p>
                  </a:txBody>
                  <a:tcPr marL="0" marR="0" marT="28437" marB="28437" anchor="ctr">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100-200 Mn</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&lt; 100 Mn</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2434825908"/>
                  </a:ext>
                </a:extLst>
              </a:tr>
              <a:tr h="1043680">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&lt; 9%</a:t>
                      </a:r>
                    </a:p>
                  </a:txBody>
                  <a:tcPr marL="0" marR="0" marT="28437" marB="28437" anchor="ctr">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9-15%</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000" b="0" kern="1200">
                          <a:solidFill>
                            <a:srgbClr val="000000"/>
                          </a:solidFill>
                          <a:latin typeface="Fund Light" pitchFamily="2" charset="-78"/>
                          <a:ea typeface="+mn-ea"/>
                          <a:cs typeface="Fund Light" pitchFamily="2" charset="-78"/>
                        </a:rPr>
                        <a:t>&gt; 15%</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2293767434"/>
                  </a:ext>
                </a:extLst>
              </a:tr>
              <a:tr h="1043680">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&gt; 1.0</a:t>
                      </a:r>
                    </a:p>
                  </a:txBody>
                  <a:tcPr marL="0" marR="0" marT="28437" marB="28437" anchor="ctr">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0.0-1.0</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algn="ctr" defTabSz="685800" rtl="0" eaLnBrk="1" latinLnBrk="0" hangingPunct="1"/>
                      <a:r>
                        <a:rPr lang="en-GB" sz="1000" b="0" kern="1200">
                          <a:solidFill>
                            <a:srgbClr val="000000"/>
                          </a:solidFill>
                          <a:latin typeface="Fund Light" pitchFamily="2" charset="-78"/>
                          <a:ea typeface="+mn-ea"/>
                          <a:cs typeface="Fund Light" pitchFamily="2" charset="-78"/>
                        </a:rPr>
                        <a:t>&lt; 0.0</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3724564222"/>
                  </a:ext>
                </a:extLst>
              </a:tr>
            </a:tbl>
          </a:graphicData>
        </a:graphic>
      </p:graphicFrame>
      <p:cxnSp>
        <p:nvCxnSpPr>
          <p:cNvPr id="19" name="Connector: Elbow 15">
            <a:extLst>
              <a:ext uri="{FF2B5EF4-FFF2-40B4-BE49-F238E27FC236}">
                <a16:creationId xmlns:a16="http://schemas.microsoft.com/office/drawing/2014/main" id="{F5631193-7D10-0166-A8F1-E01C4B91F130}"/>
              </a:ext>
            </a:extLst>
          </p:cNvPr>
          <p:cNvCxnSpPr>
            <a:cxnSpLocks/>
          </p:cNvCxnSpPr>
          <p:nvPr/>
        </p:nvCxnSpPr>
        <p:spPr>
          <a:xfrm>
            <a:off x="7122765" y="1367344"/>
            <a:ext cx="1509713"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B016FAD-ADD1-B082-A6D6-8214734F7842}"/>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r>
              <a:rPr kumimoji="0" lang="en-US" sz="788" b="1" i="0" u="none" strike="noStrike" kern="1200" cap="none" spc="0" normalizeH="0" baseline="0" noProof="0">
                <a:ln>
                  <a:noFill/>
                </a:ln>
                <a:solidFill>
                  <a:srgbClr val="FFFFFF"/>
                </a:solidFill>
                <a:effectLst/>
                <a:uLnTx/>
                <a:uFillTx/>
                <a:latin typeface="Arial" panose="020B0604020202020204"/>
                <a:ea typeface="+mn-ea"/>
                <a:cs typeface="Sakkal Majalla" panose="02000000000000000000" pitchFamily="2" charset="-78"/>
              </a:rPr>
              <a:t> </a:t>
            </a:r>
          </a:p>
        </p:txBody>
      </p:sp>
      <p:sp>
        <p:nvSpPr>
          <p:cNvPr id="70" name="Rectangle 69">
            <a:extLst>
              <a:ext uri="{FF2B5EF4-FFF2-40B4-BE49-F238E27FC236}">
                <a16:creationId xmlns:a16="http://schemas.microsoft.com/office/drawing/2014/main" id="{5EFCE591-7293-991C-80B6-002E2A4C4BF1}"/>
              </a:ext>
            </a:extLst>
          </p:cNvPr>
          <p:cNvSpPr>
            <a:spLocks/>
          </p:cNvSpPr>
          <p:nvPr/>
        </p:nvSpPr>
        <p:spPr>
          <a:xfrm>
            <a:off x="322707" y="1477372"/>
            <a:ext cx="932011" cy="3077364"/>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bIns="0" rtlCol="0" anchor="ctr"/>
          <a:lstStyle/>
          <a:p>
            <a:pPr defTabSz="609585">
              <a:spcBef>
                <a:spcPts val="400"/>
              </a:spcBef>
              <a:spcAft>
                <a:spcPts val="400"/>
              </a:spcAft>
            </a:pPr>
            <a:r>
              <a:rPr lang="en-US" sz="1000" b="1" spc="-20">
                <a:solidFill>
                  <a:schemeClr val="bg2"/>
                </a:solidFill>
                <a:latin typeface="Fund Light" pitchFamily="2" charset="-78"/>
                <a:cs typeface="Fund Light" pitchFamily="2" charset="-78"/>
              </a:rPr>
              <a:t>Is a PSA sufficient?</a:t>
            </a:r>
          </a:p>
        </p:txBody>
      </p:sp>
      <p:cxnSp>
        <p:nvCxnSpPr>
          <p:cNvPr id="41" name="Straight Connector 40">
            <a:extLst>
              <a:ext uri="{FF2B5EF4-FFF2-40B4-BE49-F238E27FC236}">
                <a16:creationId xmlns:a16="http://schemas.microsoft.com/office/drawing/2014/main" id="{5D76427F-3557-4ADE-32D2-3ECB8DD38FE5}"/>
              </a:ext>
            </a:extLst>
          </p:cNvPr>
          <p:cNvCxnSpPr>
            <a:cxnSpLocks/>
          </p:cNvCxnSpPr>
          <p:nvPr/>
        </p:nvCxnSpPr>
        <p:spPr>
          <a:xfrm>
            <a:off x="3098397" y="1477372"/>
            <a:ext cx="0" cy="965527"/>
          </a:xfrm>
          <a:prstGeom prst="line">
            <a:avLst/>
          </a:prstGeom>
          <a:noFill/>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CFC9FD0-0652-F321-D5AB-D2405524D2E3}"/>
              </a:ext>
            </a:extLst>
          </p:cNvPr>
          <p:cNvCxnSpPr>
            <a:cxnSpLocks/>
          </p:cNvCxnSpPr>
          <p:nvPr/>
        </p:nvCxnSpPr>
        <p:spPr>
          <a:xfrm>
            <a:off x="3098397" y="2520588"/>
            <a:ext cx="0" cy="965527"/>
          </a:xfrm>
          <a:prstGeom prst="line">
            <a:avLst/>
          </a:prstGeom>
          <a:noFill/>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D51D8FC-184B-8C79-8793-4F1198EB4FAE}"/>
              </a:ext>
            </a:extLst>
          </p:cNvPr>
          <p:cNvCxnSpPr>
            <a:cxnSpLocks/>
          </p:cNvCxnSpPr>
          <p:nvPr/>
        </p:nvCxnSpPr>
        <p:spPr>
          <a:xfrm>
            <a:off x="3098397" y="3589211"/>
            <a:ext cx="0" cy="965527"/>
          </a:xfrm>
          <a:prstGeom prst="line">
            <a:avLst/>
          </a:prstGeom>
          <a:noFill/>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7DDBAB24-B25E-58A0-F5A4-585DB18E22F5}"/>
              </a:ext>
            </a:extLst>
          </p:cNvPr>
          <p:cNvSpPr txBox="1">
            <a:spLocks/>
          </p:cNvSpPr>
          <p:nvPr/>
        </p:nvSpPr>
        <p:spPr>
          <a:xfrm>
            <a:off x="3176208" y="1038216"/>
            <a:ext cx="2427263" cy="354765"/>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Metric</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78" name="Straight Connector 77">
            <a:extLst>
              <a:ext uri="{FF2B5EF4-FFF2-40B4-BE49-F238E27FC236}">
                <a16:creationId xmlns:a16="http://schemas.microsoft.com/office/drawing/2014/main" id="{71339074-42EB-AAC2-564A-CC9F7908A6FC}"/>
              </a:ext>
            </a:extLst>
          </p:cNvPr>
          <p:cNvCxnSpPr>
            <a:cxnSpLocks/>
          </p:cNvCxnSpPr>
          <p:nvPr/>
        </p:nvCxnSpPr>
        <p:spPr>
          <a:xfrm>
            <a:off x="3176208" y="1432679"/>
            <a:ext cx="2427263"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065A296E-0170-8AD9-82FD-3A38EA9EC20F}"/>
              </a:ext>
            </a:extLst>
          </p:cNvPr>
          <p:cNvSpPr>
            <a:spLocks/>
          </p:cNvSpPr>
          <p:nvPr/>
        </p:nvSpPr>
        <p:spPr>
          <a:xfrm>
            <a:off x="3176208" y="1477372"/>
            <a:ext cx="2427263"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Cumulative capex (in SAR) to set-up manufacturing facility and related infrastructure</a:t>
            </a:r>
          </a:p>
        </p:txBody>
      </p:sp>
      <p:sp>
        <p:nvSpPr>
          <p:cNvPr id="55" name="Rectangle 54">
            <a:extLst>
              <a:ext uri="{FF2B5EF4-FFF2-40B4-BE49-F238E27FC236}">
                <a16:creationId xmlns:a16="http://schemas.microsoft.com/office/drawing/2014/main" id="{37FE3D75-21A3-6676-1EC1-E564C8881C1E}"/>
              </a:ext>
            </a:extLst>
          </p:cNvPr>
          <p:cNvSpPr>
            <a:spLocks/>
          </p:cNvSpPr>
          <p:nvPr/>
        </p:nvSpPr>
        <p:spPr>
          <a:xfrm>
            <a:off x="3174396" y="2520588"/>
            <a:ext cx="2450039"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10-year IRR for the investment</a:t>
            </a:r>
          </a:p>
        </p:txBody>
      </p:sp>
      <p:sp>
        <p:nvSpPr>
          <p:cNvPr id="61" name="Rectangle 60">
            <a:extLst>
              <a:ext uri="{FF2B5EF4-FFF2-40B4-BE49-F238E27FC236}">
                <a16:creationId xmlns:a16="http://schemas.microsoft.com/office/drawing/2014/main" id="{28D937EC-5754-E2F1-DF2C-D2FBBC87BC50}"/>
              </a:ext>
            </a:extLst>
          </p:cNvPr>
          <p:cNvSpPr>
            <a:spLocks/>
          </p:cNvSpPr>
          <p:nvPr/>
        </p:nvSpPr>
        <p:spPr>
          <a:xfrm>
            <a:off x="3174397" y="3589211"/>
            <a:ext cx="2450039"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Measure of a product’s complexity and requirement of technical know-how</a:t>
            </a:r>
          </a:p>
        </p:txBody>
      </p:sp>
      <p:sp>
        <p:nvSpPr>
          <p:cNvPr id="84" name="TextBox 83">
            <a:extLst>
              <a:ext uri="{FF2B5EF4-FFF2-40B4-BE49-F238E27FC236}">
                <a16:creationId xmlns:a16="http://schemas.microsoft.com/office/drawing/2014/main" id="{7ED72A6F-F4B8-019E-0999-E5EF1370487A}"/>
              </a:ext>
            </a:extLst>
          </p:cNvPr>
          <p:cNvSpPr txBox="1">
            <a:spLocks/>
          </p:cNvSpPr>
          <p:nvPr/>
        </p:nvSpPr>
        <p:spPr>
          <a:xfrm>
            <a:off x="5699212" y="1038216"/>
            <a:ext cx="1144776" cy="356616"/>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Sources</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83" name="Straight Connector 82">
            <a:extLst>
              <a:ext uri="{FF2B5EF4-FFF2-40B4-BE49-F238E27FC236}">
                <a16:creationId xmlns:a16="http://schemas.microsoft.com/office/drawing/2014/main" id="{899FC931-069B-95A2-E50B-47093C5F9846}"/>
              </a:ext>
            </a:extLst>
          </p:cNvPr>
          <p:cNvCxnSpPr>
            <a:cxnSpLocks/>
          </p:cNvCxnSpPr>
          <p:nvPr/>
        </p:nvCxnSpPr>
        <p:spPr>
          <a:xfrm>
            <a:off x="5699212" y="1432679"/>
            <a:ext cx="114477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F103EE8C-7C01-7B42-FC12-1A9D2F72C624}"/>
              </a:ext>
            </a:extLst>
          </p:cNvPr>
          <p:cNvSpPr>
            <a:spLocks/>
          </p:cNvSpPr>
          <p:nvPr/>
        </p:nvSpPr>
        <p:spPr>
          <a:xfrm>
            <a:off x="5699212" y="1519003"/>
            <a:ext cx="1144776" cy="19638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R="0" lvl="0" algn="l" defTabSz="457200" rtl="0" eaLnBrk="1" fontAlgn="auto" latinLnBrk="0" hangingPunct="1">
              <a:lnSpc>
                <a:spcPct val="100000"/>
              </a:lnSpc>
              <a:spcBef>
                <a:spcPts val="225"/>
              </a:spcBef>
              <a:spcAft>
                <a:spcPts val="225"/>
              </a:spcAft>
              <a:buClrTx/>
              <a:buSzTx/>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Business model, informed by:</a:t>
            </a:r>
          </a:p>
          <a:p>
            <a:pPr marL="228600" marR="0" lvl="0" indent="-228600" algn="l" defTabSz="457200" rtl="0" eaLnBrk="1" fontAlgn="auto" latinLnBrk="0" hangingPunct="1">
              <a:lnSpc>
                <a:spcPct val="100000"/>
              </a:lnSpc>
              <a:spcBef>
                <a:spcPts val="225"/>
              </a:spcBef>
              <a:spcAft>
                <a:spcPts val="225"/>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Business teams</a:t>
            </a:r>
          </a:p>
          <a:p>
            <a:pPr marL="228600" marR="0" lvl="0" indent="-228600" algn="l" defTabSz="457200" rtl="0" eaLnBrk="1" fontAlgn="auto" latinLnBrk="0" hangingPunct="1">
              <a:lnSpc>
                <a:spcPct val="100000"/>
              </a:lnSpc>
              <a:spcBef>
                <a:spcPts val="225"/>
              </a:spcBef>
              <a:spcAft>
                <a:spcPts val="225"/>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feedback</a:t>
            </a:r>
          </a:p>
          <a:p>
            <a:pPr marL="228600" marR="0" lvl="0" indent="-228600" algn="l" defTabSz="457200" rtl="0" eaLnBrk="1" fontAlgn="auto" latinLnBrk="0" hangingPunct="1">
              <a:lnSpc>
                <a:spcPct val="100000"/>
              </a:lnSpc>
              <a:spcBef>
                <a:spcPts val="225"/>
              </a:spcBef>
              <a:spcAft>
                <a:spcPts val="225"/>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External benchmarks</a:t>
            </a:r>
          </a:p>
          <a:p>
            <a:pPr marL="228600" marR="0" lvl="0" indent="-228600" algn="l" defTabSz="457200" rtl="0" eaLnBrk="1" fontAlgn="auto" latinLnBrk="0" hangingPunct="1">
              <a:lnSpc>
                <a:spcPct val="100000"/>
              </a:lnSpc>
              <a:spcBef>
                <a:spcPts val="225"/>
              </a:spcBef>
              <a:spcAft>
                <a:spcPts val="225"/>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PIF NDD</a:t>
            </a:r>
          </a:p>
        </p:txBody>
      </p:sp>
      <p:sp>
        <p:nvSpPr>
          <p:cNvPr id="91" name="Rectangle 90">
            <a:extLst>
              <a:ext uri="{FF2B5EF4-FFF2-40B4-BE49-F238E27FC236}">
                <a16:creationId xmlns:a16="http://schemas.microsoft.com/office/drawing/2014/main" id="{BF32D31A-C406-D8E8-AFEC-7DF694B53A08}"/>
              </a:ext>
            </a:extLst>
          </p:cNvPr>
          <p:cNvSpPr>
            <a:spLocks/>
          </p:cNvSpPr>
          <p:nvPr/>
        </p:nvSpPr>
        <p:spPr>
          <a:xfrm>
            <a:off x="5699212" y="3589211"/>
            <a:ext cx="1144776"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R="0" lvl="0" algn="l" defTabSz="457200" rtl="0" eaLnBrk="1" fontAlgn="auto" latinLnBrk="0" hangingPunct="1">
              <a:lnSpc>
                <a:spcPct val="100000"/>
              </a:lnSpc>
              <a:spcBef>
                <a:spcPts val="225"/>
              </a:spcBef>
              <a:spcAft>
                <a:spcPts val="225"/>
              </a:spcAft>
              <a:buClrTx/>
              <a:buSzTx/>
              <a:tabLst/>
              <a:defRPr/>
            </a:pPr>
            <a:r>
              <a:rPr lang="en-US" sz="1000">
                <a:solidFill>
                  <a:srgbClr val="000000"/>
                </a:solidFill>
                <a:latin typeface="Fund Light" pitchFamily="2" charset="-78"/>
                <a:cs typeface="Fund Light" pitchFamily="2" charset="-78"/>
                <a:hlinkClick r:id="rId5"/>
              </a:rPr>
              <a:t>The Atlas of Economic Activity</a:t>
            </a:r>
            <a:endParaRPr kumimoji="0" lang="en-US" sz="1000" b="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73" name="TextBox 72">
            <a:extLst>
              <a:ext uri="{FF2B5EF4-FFF2-40B4-BE49-F238E27FC236}">
                <a16:creationId xmlns:a16="http://schemas.microsoft.com/office/drawing/2014/main" id="{A3200E7B-DD4D-325C-035B-309D99EFF17A}"/>
              </a:ext>
            </a:extLst>
          </p:cNvPr>
          <p:cNvSpPr txBox="1">
            <a:spLocks/>
          </p:cNvSpPr>
          <p:nvPr/>
        </p:nvSpPr>
        <p:spPr>
          <a:xfrm>
            <a:off x="1329494" y="1038216"/>
            <a:ext cx="1685933" cy="354765"/>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Assessment dimension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72" name="Straight Connector 71">
            <a:extLst>
              <a:ext uri="{FF2B5EF4-FFF2-40B4-BE49-F238E27FC236}">
                <a16:creationId xmlns:a16="http://schemas.microsoft.com/office/drawing/2014/main" id="{D04F8107-1B00-AA49-7436-E1D16A563624}"/>
              </a:ext>
            </a:extLst>
          </p:cNvPr>
          <p:cNvCxnSpPr>
            <a:cxnSpLocks/>
          </p:cNvCxnSpPr>
          <p:nvPr/>
        </p:nvCxnSpPr>
        <p:spPr>
          <a:xfrm>
            <a:off x="1329494" y="1432679"/>
            <a:ext cx="1685933"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C5634BE-9FD7-49F2-05FE-19156D9019AD}"/>
              </a:ext>
            </a:extLst>
          </p:cNvPr>
          <p:cNvSpPr>
            <a:spLocks/>
          </p:cNvSpPr>
          <p:nvPr/>
        </p:nvSpPr>
        <p:spPr>
          <a:xfrm>
            <a:off x="1610879" y="1477372"/>
            <a:ext cx="1404548"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lvl="0">
              <a:spcBef>
                <a:spcPts val="225"/>
              </a:spcBef>
              <a:spcAft>
                <a:spcPts val="225"/>
              </a:spcAf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Capex</a:t>
            </a:r>
          </a:p>
        </p:txBody>
      </p:sp>
      <p:sp>
        <p:nvSpPr>
          <p:cNvPr id="53" name="Rectangle 52">
            <a:extLst>
              <a:ext uri="{FF2B5EF4-FFF2-40B4-BE49-F238E27FC236}">
                <a16:creationId xmlns:a16="http://schemas.microsoft.com/office/drawing/2014/main" id="{6DD0D7AD-43C6-A1BD-5394-75ECA31C8CAD}"/>
              </a:ext>
            </a:extLst>
          </p:cNvPr>
          <p:cNvSpPr>
            <a:spLocks/>
          </p:cNvSpPr>
          <p:nvPr/>
        </p:nvSpPr>
        <p:spPr>
          <a:xfrm>
            <a:off x="1617851" y="2520588"/>
            <a:ext cx="1404548"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Returns (IRR)</a:t>
            </a:r>
          </a:p>
        </p:txBody>
      </p:sp>
      <p:sp>
        <p:nvSpPr>
          <p:cNvPr id="59" name="Rectangle 58">
            <a:extLst>
              <a:ext uri="{FF2B5EF4-FFF2-40B4-BE49-F238E27FC236}">
                <a16:creationId xmlns:a16="http://schemas.microsoft.com/office/drawing/2014/main" id="{DED45022-DF2C-4CA3-740A-B7704D94D706}"/>
              </a:ext>
            </a:extLst>
          </p:cNvPr>
          <p:cNvSpPr>
            <a:spLocks/>
          </p:cNvSpPr>
          <p:nvPr/>
        </p:nvSpPr>
        <p:spPr>
          <a:xfrm>
            <a:off x="1611512" y="3589211"/>
            <a:ext cx="1404548" cy="965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Product complexity</a:t>
            </a:r>
          </a:p>
        </p:txBody>
      </p:sp>
      <p:sp>
        <p:nvSpPr>
          <p:cNvPr id="64" name="Oval 63">
            <a:extLst>
              <a:ext uri="{FF2B5EF4-FFF2-40B4-BE49-F238E27FC236}">
                <a16:creationId xmlns:a16="http://schemas.microsoft.com/office/drawing/2014/main" id="{FB58949A-295C-4029-A766-EF99BF4676DD}"/>
              </a:ext>
            </a:extLst>
          </p:cNvPr>
          <p:cNvSpPr/>
          <p:nvPr/>
        </p:nvSpPr>
        <p:spPr>
          <a:xfrm>
            <a:off x="1329494" y="2866191"/>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2</a:t>
            </a:r>
          </a:p>
        </p:txBody>
      </p:sp>
      <p:sp>
        <p:nvSpPr>
          <p:cNvPr id="66" name="Oval 65">
            <a:extLst>
              <a:ext uri="{FF2B5EF4-FFF2-40B4-BE49-F238E27FC236}">
                <a16:creationId xmlns:a16="http://schemas.microsoft.com/office/drawing/2014/main" id="{B58F2132-80BE-495F-ACB6-B27EEA75C83B}"/>
              </a:ext>
            </a:extLst>
          </p:cNvPr>
          <p:cNvSpPr/>
          <p:nvPr/>
        </p:nvSpPr>
        <p:spPr>
          <a:xfrm>
            <a:off x="1329494" y="3934814"/>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3</a:t>
            </a:r>
          </a:p>
        </p:txBody>
      </p:sp>
      <p:sp>
        <p:nvSpPr>
          <p:cNvPr id="67" name="Oval 66">
            <a:extLst>
              <a:ext uri="{FF2B5EF4-FFF2-40B4-BE49-F238E27FC236}">
                <a16:creationId xmlns:a16="http://schemas.microsoft.com/office/drawing/2014/main" id="{A8018241-A34C-4ACA-A2DE-56C7CF0FD385}"/>
              </a:ext>
            </a:extLst>
          </p:cNvPr>
          <p:cNvSpPr/>
          <p:nvPr/>
        </p:nvSpPr>
        <p:spPr>
          <a:xfrm>
            <a:off x="1329494" y="1786667"/>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00">
                <a:solidFill>
                  <a:schemeClr val="bg1"/>
                </a:solidFill>
                <a:latin typeface="Fund Light" pitchFamily="2" charset="-78"/>
                <a:cs typeface="Fund Light" pitchFamily="2" charset="-78"/>
              </a:rPr>
              <a:t>1</a:t>
            </a:r>
          </a:p>
        </p:txBody>
      </p:sp>
      <p:cxnSp>
        <p:nvCxnSpPr>
          <p:cNvPr id="88" name="Straight Connector 87">
            <a:extLst>
              <a:ext uri="{FF2B5EF4-FFF2-40B4-BE49-F238E27FC236}">
                <a16:creationId xmlns:a16="http://schemas.microsoft.com/office/drawing/2014/main" id="{634429FF-03D9-C132-B5E8-6F28BD2485A9}"/>
              </a:ext>
            </a:extLst>
          </p:cNvPr>
          <p:cNvCxnSpPr>
            <a:cxnSpLocks/>
          </p:cNvCxnSpPr>
          <p:nvPr/>
        </p:nvCxnSpPr>
        <p:spPr>
          <a:xfrm>
            <a:off x="1302611" y="2474035"/>
            <a:ext cx="4319653"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501F136-5905-F5B7-99E8-DA320E64AE0F}"/>
              </a:ext>
            </a:extLst>
          </p:cNvPr>
          <p:cNvCxnSpPr>
            <a:cxnSpLocks/>
          </p:cNvCxnSpPr>
          <p:nvPr/>
        </p:nvCxnSpPr>
        <p:spPr>
          <a:xfrm>
            <a:off x="1302611" y="3520733"/>
            <a:ext cx="5561391"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9847B71-D912-E3E6-FFBB-A0CA72E653E1}"/>
              </a:ext>
            </a:extLst>
          </p:cNvPr>
          <p:cNvSpPr txBox="1"/>
          <p:nvPr/>
        </p:nvSpPr>
        <p:spPr>
          <a:xfrm>
            <a:off x="1239499" y="4564595"/>
            <a:ext cx="6267283" cy="230832"/>
          </a:xfrm>
          <a:prstGeom prst="rect">
            <a:avLst/>
          </a:prstGeom>
          <a:noFill/>
        </p:spPr>
        <p:txBody>
          <a:bodyPr wrap="square" rtlCol="0">
            <a:spAutoFit/>
          </a:bodyPr>
          <a:lstStyle/>
          <a:p>
            <a:pPr lvl="0" defTabSz="914400">
              <a:buClr>
                <a:srgbClr val="00332A"/>
              </a:buClr>
            </a:pPr>
            <a:r>
              <a:rPr lang="en-US" sz="900">
                <a:solidFill>
                  <a:srgbClr val="000000"/>
                </a:solidFill>
                <a:latin typeface="Fund Light" pitchFamily="2" charset="-78"/>
                <a:cs typeface="Fund Light" pitchFamily="2" charset="-78"/>
              </a:rPr>
              <a:t>* Depends on subjective assessment of the buyer, based on industry context and / or supplier inputs</a:t>
            </a:r>
            <a:endParaRPr kumimoji="0" lang="en-US" sz="9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sp>
        <p:nvSpPr>
          <p:cNvPr id="27" name="TextBox 26">
            <a:extLst>
              <a:ext uri="{FF2B5EF4-FFF2-40B4-BE49-F238E27FC236}">
                <a16:creationId xmlns:a16="http://schemas.microsoft.com/office/drawing/2014/main" id="{538614D5-F977-6747-E71E-58B65B6C91D0}"/>
              </a:ext>
            </a:extLst>
          </p:cNvPr>
          <p:cNvSpPr txBox="1"/>
          <p:nvPr/>
        </p:nvSpPr>
        <p:spPr>
          <a:xfrm>
            <a:off x="328612" y="597717"/>
            <a:ext cx="8486774" cy="246221"/>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Once the business model is created, use the following framework to assess whether a PSA is sufficient</a:t>
            </a:r>
            <a:endParaRPr lang="en-US" sz="1000" i="1"/>
          </a:p>
        </p:txBody>
      </p:sp>
      <p:grpSp>
        <p:nvGrpSpPr>
          <p:cNvPr id="15" name="Group 14">
            <a:extLst>
              <a:ext uri="{FF2B5EF4-FFF2-40B4-BE49-F238E27FC236}">
                <a16:creationId xmlns:a16="http://schemas.microsoft.com/office/drawing/2014/main" id="{E3464726-0CEC-CB37-0D71-FD3A74D7F3BB}"/>
              </a:ext>
            </a:extLst>
          </p:cNvPr>
          <p:cNvGrpSpPr/>
          <p:nvPr/>
        </p:nvGrpSpPr>
        <p:grpSpPr>
          <a:xfrm>
            <a:off x="6323701" y="4213398"/>
            <a:ext cx="168686" cy="161455"/>
            <a:chOff x="6633301" y="4213398"/>
            <a:chExt cx="168686" cy="161455"/>
          </a:xfrm>
        </p:grpSpPr>
        <p:sp>
          <p:nvSpPr>
            <p:cNvPr id="9" name="Freeform 289">
              <a:extLst>
                <a:ext uri="{FF2B5EF4-FFF2-40B4-BE49-F238E27FC236}">
                  <a16:creationId xmlns:a16="http://schemas.microsoft.com/office/drawing/2014/main" id="{DCF9D203-475B-F390-BC17-8343D9594AB7}"/>
                </a:ext>
              </a:extLst>
            </p:cNvPr>
            <p:cNvSpPr>
              <a:spLocks/>
            </p:cNvSpPr>
            <p:nvPr/>
          </p:nvSpPr>
          <p:spPr bwMode="auto">
            <a:xfrm>
              <a:off x="6697952" y="4278926"/>
              <a:ext cx="104035" cy="95927"/>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290">
              <a:extLst>
                <a:ext uri="{FF2B5EF4-FFF2-40B4-BE49-F238E27FC236}">
                  <a16:creationId xmlns:a16="http://schemas.microsoft.com/office/drawing/2014/main" id="{72EA254E-54F5-6F8C-AFD1-8ECDAB3A5BA7}"/>
                </a:ext>
              </a:extLst>
            </p:cNvPr>
            <p:cNvSpPr>
              <a:spLocks/>
            </p:cNvSpPr>
            <p:nvPr/>
          </p:nvSpPr>
          <p:spPr bwMode="auto">
            <a:xfrm>
              <a:off x="6633301" y="4213398"/>
              <a:ext cx="126329" cy="112140"/>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291">
              <a:extLst>
                <a:ext uri="{FF2B5EF4-FFF2-40B4-BE49-F238E27FC236}">
                  <a16:creationId xmlns:a16="http://schemas.microsoft.com/office/drawing/2014/main" id="{403B1E7D-D7FF-5754-E642-48AA78E6FE24}"/>
                </a:ext>
              </a:extLst>
            </p:cNvPr>
            <p:cNvSpPr>
              <a:spLocks/>
            </p:cNvSpPr>
            <p:nvPr/>
          </p:nvSpPr>
          <p:spPr bwMode="auto">
            <a:xfrm>
              <a:off x="6669714" y="4245824"/>
              <a:ext cx="56476" cy="49315"/>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 name="Text Placeholder 6">
            <a:extLst>
              <a:ext uri="{FF2B5EF4-FFF2-40B4-BE49-F238E27FC236}">
                <a16:creationId xmlns:a16="http://schemas.microsoft.com/office/drawing/2014/main" id="{4DDB76CD-6F4A-49BB-2857-4B2CA0B7A02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Is preferred supplier agreement sufficient?</a:t>
            </a:r>
          </a:p>
        </p:txBody>
      </p:sp>
      <p:sp>
        <p:nvSpPr>
          <p:cNvPr id="8" name="Oval 7">
            <a:extLst>
              <a:ext uri="{FF2B5EF4-FFF2-40B4-BE49-F238E27FC236}">
                <a16:creationId xmlns:a16="http://schemas.microsoft.com/office/drawing/2014/main" id="{8E8D2496-E3E9-4574-9A94-B72D3BE72893}"/>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4" name="Speech Bubble: Rectangle 3">
            <a:extLst>
              <a:ext uri="{FF2B5EF4-FFF2-40B4-BE49-F238E27FC236}">
                <a16:creationId xmlns:a16="http://schemas.microsoft.com/office/drawing/2014/main" id="{E10F7803-D9E5-A1BD-D273-40F147D8659E}"/>
              </a:ext>
            </a:extLst>
          </p:cNvPr>
          <p:cNvSpPr/>
          <p:nvPr/>
        </p:nvSpPr>
        <p:spPr>
          <a:xfrm>
            <a:off x="3941233" y="833278"/>
            <a:ext cx="2630395" cy="330266"/>
          </a:xfrm>
          <a:prstGeom prst="wedgeRectCallout">
            <a:avLst>
              <a:gd name="adj1" fmla="val 62389"/>
              <a:gd name="adj2" fmla="val 57731"/>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solidFill>
                  <a:srgbClr val="000000"/>
                </a:solidFill>
                <a:latin typeface="Fund Light" pitchFamily="2" charset="-78"/>
                <a:cs typeface="Fund Light" pitchFamily="2" charset="-78"/>
              </a:rPr>
              <a:t>Thresholds for each parameter are indicative and can vary by product category</a:t>
            </a:r>
          </a:p>
        </p:txBody>
      </p:sp>
    </p:spTree>
    <p:extLst>
      <p:ext uri="{BB962C8B-B14F-4D97-AF65-F5344CB8AC3E}">
        <p14:creationId xmlns:p14="http://schemas.microsoft.com/office/powerpoint/2010/main" val="2328155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430521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152322" cy="241824"/>
          </a:xfrm>
        </p:spPr>
        <p:txBody>
          <a:bodyPr vert="horz"/>
          <a:lstStyle/>
          <a:p>
            <a:r>
              <a:rPr lang="en-US"/>
              <a:t>LDC feasibility provides an in-depth assessment of the opportunity by answering four questions </a:t>
            </a:r>
          </a:p>
        </p:txBody>
      </p:sp>
      <p:grpSp>
        <p:nvGrpSpPr>
          <p:cNvPr id="3" name="Group 2">
            <a:extLst>
              <a:ext uri="{FF2B5EF4-FFF2-40B4-BE49-F238E27FC236}">
                <a16:creationId xmlns:a16="http://schemas.microsoft.com/office/drawing/2014/main" id="{DAC50DE7-C568-B65B-9929-BA037D3DE9A3}"/>
              </a:ext>
            </a:extLst>
          </p:cNvPr>
          <p:cNvGrpSpPr/>
          <p:nvPr/>
        </p:nvGrpSpPr>
        <p:grpSpPr>
          <a:xfrm>
            <a:off x="4831240" y="771525"/>
            <a:ext cx="3985386" cy="3744913"/>
            <a:chOff x="7145645" y="771525"/>
            <a:chExt cx="5481331" cy="3744913"/>
          </a:xfrm>
        </p:grpSpPr>
        <p:sp>
          <p:nvSpPr>
            <p:cNvPr id="39" name="TextBox 38">
              <a:extLst>
                <a:ext uri="{FF2B5EF4-FFF2-40B4-BE49-F238E27FC236}">
                  <a16:creationId xmlns:a16="http://schemas.microsoft.com/office/drawing/2014/main" id="{3895A889-C831-4A80-B7E2-2D79EC7354A0}"/>
                </a:ext>
              </a:extLst>
            </p:cNvPr>
            <p:cNvSpPr txBox="1">
              <a:spLocks/>
            </p:cNvSpPr>
            <p:nvPr/>
          </p:nvSpPr>
          <p:spPr>
            <a:xfrm>
              <a:off x="7145645" y="771525"/>
              <a:ext cx="5481331" cy="3744913"/>
            </a:xfrm>
            <a:prstGeom prst="rect">
              <a:avLst/>
            </a:prstGeom>
            <a:noFill/>
            <a:ln w="6350">
              <a:noFill/>
              <a:miter lim="800000"/>
            </a:ln>
          </p:spPr>
          <p:txBody>
            <a:bodyPr vert="horz" wrap="square" lIns="121920" tIns="121920" rIns="121920" bIns="121920" rtlCol="0" anchor="t" anchorCtr="0">
              <a:noAutofit/>
            </a:bodyPr>
            <a:lstStyle/>
            <a:p>
              <a:pPr defTabSz="1219170">
                <a:spcBef>
                  <a:spcPct val="50000"/>
                </a:spcBef>
                <a:defRPr/>
              </a:pPr>
              <a:r>
                <a:rPr lang="en-US" sz="1100" b="1">
                  <a:solidFill>
                    <a:schemeClr val="bg2"/>
                  </a:solidFill>
                  <a:latin typeface="Fund Light" pitchFamily="2" charset="-78"/>
                  <a:cs typeface="Fund Light" pitchFamily="2" charset="-78"/>
                </a:rPr>
                <a:t>Questions covered under the LDC feasibility assessment </a:t>
              </a:r>
              <a:endParaRPr lang="en-GB" sz="1100" b="1">
                <a:solidFill>
                  <a:schemeClr val="bg2"/>
                </a:solidFill>
                <a:latin typeface="Fund Light" pitchFamily="2" charset="-78"/>
                <a:cs typeface="Fund Light" pitchFamily="2" charset="-78"/>
              </a:endParaRPr>
            </a:p>
            <a:p>
              <a:pPr defTabSz="1219170">
                <a:spcBef>
                  <a:spcPts val="400"/>
                </a:spcBef>
                <a:spcAft>
                  <a:spcPts val="400"/>
                </a:spcAft>
                <a:defRPr/>
              </a:pPr>
              <a:endParaRPr lang="en-GB" sz="1100" b="1">
                <a:solidFill>
                  <a:schemeClr val="tx2"/>
                </a:solidFill>
                <a:latin typeface="Fund Light" pitchFamily="2" charset="-78"/>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7629525" y="1292320"/>
              <a:ext cx="4997451" cy="3224118"/>
            </a:xfrm>
            <a:prstGeom prst="rect">
              <a:avLst/>
            </a:prstGeom>
            <a:noFill/>
            <a:ln w="6350">
              <a:noFill/>
              <a:miter lim="800000"/>
            </a:ln>
          </p:spPr>
          <p:txBody>
            <a:bodyPr wrap="square" lIns="91440" tIns="91440" rIns="91440" bIns="91440">
              <a:noAutofit/>
            </a:bodyPr>
            <a:lstStyle/>
            <a:p>
              <a:pPr defTabSz="1219170">
                <a:spcBef>
                  <a:spcPts val="600"/>
                </a:spcBef>
                <a:spcAft>
                  <a:spcPts val="800"/>
                </a:spcAft>
                <a:defRPr/>
              </a:pPr>
              <a:r>
                <a:rPr lang="en-US" sz="1100">
                  <a:solidFill>
                    <a:srgbClr val="000000"/>
                  </a:solidFill>
                  <a:latin typeface="Fund Light" pitchFamily="2" charset="-78"/>
                  <a:cs typeface="Fund Light" pitchFamily="2" charset="-78"/>
                </a:rPr>
                <a:t>What is the </a:t>
              </a:r>
              <a:r>
                <a:rPr lang="en-US" sz="1100" b="1">
                  <a:solidFill>
                    <a:srgbClr val="000000"/>
                  </a:solidFill>
                  <a:latin typeface="Fund Light" pitchFamily="2" charset="-78"/>
                  <a:cs typeface="Fund Light" pitchFamily="2" charset="-78"/>
                </a:rPr>
                <a:t>localization opportunity </a:t>
              </a:r>
              <a:r>
                <a:rPr lang="en-US" sz="1100">
                  <a:solidFill>
                    <a:srgbClr val="000000"/>
                  </a:solidFill>
                  <a:latin typeface="Fund Light" pitchFamily="2" charset="-78"/>
                  <a:cs typeface="Fund Light" pitchFamily="2" charset="-78"/>
                </a:rPr>
                <a:t>and its expected impact?</a:t>
              </a:r>
            </a:p>
            <a:p>
              <a:pPr defTabSz="1219170">
                <a:spcBef>
                  <a:spcPts val="600"/>
                </a:spcBef>
                <a:spcAft>
                  <a:spcPts val="800"/>
                </a:spcAft>
                <a:defRPr/>
              </a:pPr>
              <a:r>
                <a:rPr lang="en-US" sz="1100">
                  <a:solidFill>
                    <a:srgbClr val="000000"/>
                  </a:solidFill>
                  <a:latin typeface="Fund Light" pitchFamily="2" charset="-78"/>
                  <a:cs typeface="Fund Light" pitchFamily="2" charset="-78"/>
                </a:rPr>
                <a:t>Is the </a:t>
              </a:r>
              <a:r>
                <a:rPr lang="en-US" sz="1100" b="1">
                  <a:solidFill>
                    <a:srgbClr val="000000"/>
                  </a:solidFill>
                  <a:latin typeface="Fund Light" pitchFamily="2" charset="-78"/>
                  <a:cs typeface="Fund Light" pitchFamily="2" charset="-78"/>
                </a:rPr>
                <a:t>addressable demand sufficient </a:t>
              </a:r>
              <a:r>
                <a:rPr lang="en-US" sz="1100">
                  <a:solidFill>
                    <a:srgbClr val="000000"/>
                  </a:solidFill>
                  <a:latin typeface="Fund Light" pitchFamily="2" charset="-78"/>
                  <a:cs typeface="Fund Light" pitchFamily="2" charset="-78"/>
                </a:rPr>
                <a:t>for localization? </a:t>
              </a:r>
            </a:p>
            <a:p>
              <a:pPr defTabSz="1219170">
                <a:spcBef>
                  <a:spcPts val="600"/>
                </a:spcBef>
                <a:spcAft>
                  <a:spcPts val="800"/>
                </a:spcAft>
                <a:defRPr/>
              </a:pPr>
              <a:r>
                <a:rPr lang="en-US" sz="1100">
                  <a:solidFill>
                    <a:srgbClr val="000000"/>
                  </a:solidFill>
                  <a:latin typeface="Fund Light" pitchFamily="2" charset="-78"/>
                  <a:cs typeface="Fund Light" pitchFamily="2" charset="-78"/>
                </a:rPr>
                <a:t>Is a </a:t>
              </a:r>
              <a:r>
                <a:rPr lang="en-US" sz="1100" b="1">
                  <a:solidFill>
                    <a:srgbClr val="000000"/>
                  </a:solidFill>
                  <a:latin typeface="Fund Light" pitchFamily="2" charset="-78"/>
                  <a:cs typeface="Fund Light" pitchFamily="2" charset="-78"/>
                </a:rPr>
                <a:t>preferred supplier agreement </a:t>
              </a:r>
              <a:r>
                <a:rPr lang="en-US" sz="1100">
                  <a:solidFill>
                    <a:srgbClr val="000000"/>
                  </a:solidFill>
                  <a:latin typeface="Fund Light" pitchFamily="2" charset="-78"/>
                  <a:cs typeface="Fund Light" pitchFamily="2" charset="-78"/>
                </a:rPr>
                <a:t>sufficient or is a </a:t>
              </a:r>
              <a:r>
                <a:rPr lang="en-US" sz="1100" b="1">
                  <a:solidFill>
                    <a:srgbClr val="000000"/>
                  </a:solidFill>
                  <a:latin typeface="Fund Light" pitchFamily="2" charset="-78"/>
                  <a:cs typeface="Fund Light" pitchFamily="2" charset="-78"/>
                </a:rPr>
                <a:t>take-or-pay </a:t>
              </a:r>
              <a:r>
                <a:rPr lang="en-US" sz="1100">
                  <a:solidFill>
                    <a:srgbClr val="000000"/>
                  </a:solidFill>
                  <a:latin typeface="Fund Light" pitchFamily="2" charset="-78"/>
                  <a:cs typeface="Fund Light" pitchFamily="2" charset="-78"/>
                </a:rPr>
                <a:t>required?</a:t>
              </a:r>
            </a:p>
            <a:p>
              <a:pPr defTabSz="1219170">
                <a:spcBef>
                  <a:spcPts val="600"/>
                </a:spcBef>
                <a:spcAft>
                  <a:spcPts val="800"/>
                </a:spcAft>
                <a:defRPr/>
              </a:pPr>
              <a:r>
                <a:rPr lang="en-US" sz="1100">
                  <a:solidFill>
                    <a:srgbClr val="000000"/>
                  </a:solidFill>
                  <a:latin typeface="Fund Light" pitchFamily="2" charset="-78"/>
                  <a:cs typeface="Fund Light" pitchFamily="2" charset="-78"/>
                </a:rPr>
                <a:t>Are the </a:t>
              </a:r>
              <a:r>
                <a:rPr lang="en-US" sz="1100" b="1">
                  <a:solidFill>
                    <a:srgbClr val="000000"/>
                  </a:solidFill>
                  <a:latin typeface="Fund Light" pitchFamily="2" charset="-78"/>
                  <a:cs typeface="Fund Light" pitchFamily="2" charset="-78"/>
                </a:rPr>
                <a:t>associated risks </a:t>
              </a:r>
              <a:r>
                <a:rPr lang="en-US" sz="1100">
                  <a:solidFill>
                    <a:srgbClr val="000000"/>
                  </a:solidFill>
                  <a:latin typeface="Fund Light" pitchFamily="2" charset="-78"/>
                  <a:cs typeface="Fund Light" pitchFamily="2" charset="-78"/>
                </a:rPr>
                <a:t>manageable?</a:t>
              </a:r>
            </a:p>
          </p:txBody>
        </p:sp>
      </p:grpSp>
      <p:sp>
        <p:nvSpPr>
          <p:cNvPr id="41" name="Oval 40">
            <a:extLst>
              <a:ext uri="{FF2B5EF4-FFF2-40B4-BE49-F238E27FC236}">
                <a16:creationId xmlns:a16="http://schemas.microsoft.com/office/drawing/2014/main" id="{C0722AEB-78F6-4253-9E2C-EED187ED408F}"/>
              </a:ext>
            </a:extLst>
          </p:cNvPr>
          <p:cNvSpPr/>
          <p:nvPr/>
        </p:nvSpPr>
        <p:spPr>
          <a:xfrm>
            <a:off x="4908741" y="141174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1</a:t>
            </a:r>
          </a:p>
        </p:txBody>
      </p:sp>
      <p:sp>
        <p:nvSpPr>
          <p:cNvPr id="7" name="Oval 6">
            <a:extLst>
              <a:ext uri="{FF2B5EF4-FFF2-40B4-BE49-F238E27FC236}">
                <a16:creationId xmlns:a16="http://schemas.microsoft.com/office/drawing/2014/main" id="{3EB334F8-F229-4DBC-8944-1F59DB4F3529}"/>
              </a:ext>
            </a:extLst>
          </p:cNvPr>
          <p:cNvSpPr/>
          <p:nvPr/>
        </p:nvSpPr>
        <p:spPr>
          <a:xfrm>
            <a:off x="4908741" y="1901738"/>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2</a:t>
            </a:r>
          </a:p>
        </p:txBody>
      </p:sp>
      <p:sp>
        <p:nvSpPr>
          <p:cNvPr id="8" name="Oval 7">
            <a:extLst>
              <a:ext uri="{FF2B5EF4-FFF2-40B4-BE49-F238E27FC236}">
                <a16:creationId xmlns:a16="http://schemas.microsoft.com/office/drawing/2014/main" id="{000719F4-36C7-E2BE-5FDE-1A6DC030946E}"/>
              </a:ext>
            </a:extLst>
          </p:cNvPr>
          <p:cNvSpPr/>
          <p:nvPr/>
        </p:nvSpPr>
        <p:spPr>
          <a:xfrm>
            <a:off x="4908741" y="2391735"/>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3</a:t>
            </a:r>
          </a:p>
        </p:txBody>
      </p:sp>
      <p:sp>
        <p:nvSpPr>
          <p:cNvPr id="9" name="Oval 8">
            <a:extLst>
              <a:ext uri="{FF2B5EF4-FFF2-40B4-BE49-F238E27FC236}">
                <a16:creationId xmlns:a16="http://schemas.microsoft.com/office/drawing/2014/main" id="{9E46D201-6EF1-C5A6-6363-813F2254F603}"/>
              </a:ext>
            </a:extLst>
          </p:cNvPr>
          <p:cNvSpPr/>
          <p:nvPr/>
        </p:nvSpPr>
        <p:spPr>
          <a:xfrm>
            <a:off x="4908741" y="2881733"/>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100">
                <a:solidFill>
                  <a:schemeClr val="bg1"/>
                </a:solidFill>
                <a:latin typeface="Fund Light" pitchFamily="2" charset="-78"/>
                <a:cs typeface="Fund Light" pitchFamily="2" charset="-78"/>
              </a:rPr>
              <a:t>4</a:t>
            </a:r>
          </a:p>
        </p:txBody>
      </p:sp>
      <p:sp>
        <p:nvSpPr>
          <p:cNvPr id="10" name="Rectangle 9">
            <a:extLst>
              <a:ext uri="{FF2B5EF4-FFF2-40B4-BE49-F238E27FC236}">
                <a16:creationId xmlns:a16="http://schemas.microsoft.com/office/drawing/2014/main" id="{3DA6EAF9-4FA0-B496-8770-1BD55C477A42}"/>
              </a:ext>
            </a:extLst>
          </p:cNvPr>
          <p:cNvSpPr/>
          <p:nvPr/>
        </p:nvSpPr>
        <p:spPr>
          <a:xfrm>
            <a:off x="4831240" y="1114851"/>
            <a:ext cx="4160360" cy="170454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6">
            <a:extLst>
              <a:ext uri="{FF2B5EF4-FFF2-40B4-BE49-F238E27FC236}">
                <a16:creationId xmlns:a16="http://schemas.microsoft.com/office/drawing/2014/main" id="{B8ADF5C4-7CFD-D2C6-B10C-DF3435BA34A1}"/>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Are the risks manageable?</a:t>
            </a:r>
          </a:p>
        </p:txBody>
      </p:sp>
      <p:sp>
        <p:nvSpPr>
          <p:cNvPr id="12" name="Oval 11">
            <a:extLst>
              <a:ext uri="{FF2B5EF4-FFF2-40B4-BE49-F238E27FC236}">
                <a16:creationId xmlns:a16="http://schemas.microsoft.com/office/drawing/2014/main" id="{9AAE6FA9-9D65-56ED-53F7-14B0F6B11C8E}"/>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sp>
        <p:nvSpPr>
          <p:cNvPr id="13" name="TextBox 12">
            <a:extLst>
              <a:ext uri="{FF2B5EF4-FFF2-40B4-BE49-F238E27FC236}">
                <a16:creationId xmlns:a16="http://schemas.microsoft.com/office/drawing/2014/main" id="{01225AF9-F812-513E-D6B3-A068792845F3}"/>
              </a:ext>
            </a:extLst>
          </p:cNvPr>
          <p:cNvSpPr txBox="1">
            <a:spLocks/>
          </p:cNvSpPr>
          <p:nvPr/>
        </p:nvSpPr>
        <p:spPr>
          <a:xfrm>
            <a:off x="327025" y="771525"/>
            <a:ext cx="4346576"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marL="0" marR="0" lvl="0" indent="0" algn="l" defTabSz="1219170" rtl="0" eaLnBrk="1" fontAlgn="auto" latinLnBrk="0" hangingPunct="1">
              <a:lnSpc>
                <a:spcPct val="100000"/>
              </a:lnSpc>
              <a:spcBef>
                <a:spcPts val="600"/>
              </a:spcBef>
              <a:spcAft>
                <a:spcPts val="800"/>
              </a:spcAft>
              <a:buClrTx/>
              <a:buSzTx/>
              <a:buFontTx/>
              <a:buNone/>
              <a:tabLst/>
              <a:defRPr/>
            </a:pPr>
            <a:r>
              <a:rPr kumimoji="0" lang="en-GB" sz="11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Objective</a:t>
            </a:r>
          </a:p>
          <a:p>
            <a:pPr marL="231642" marR="0" lvl="0" indent="-231642" algn="l" defTabSz="121917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Evaluate whether demand is sufficient to localize the opportunity, based on:</a:t>
            </a:r>
          </a:p>
          <a:p>
            <a:pPr marL="514350" marR="0" lvl="1" indent="-28575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KSA demand / supply gap</a:t>
            </a:r>
          </a:p>
          <a:p>
            <a:pPr marL="457200" marR="0" lvl="1" indent="-228600" algn="l" defTabSz="121917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Regional export potential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2"/>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Develop detailed business case to:</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Select optimal type of LDC agreement (PSA or take-or-pay agreement) based on the financial risk of the investor </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Assess the potential liability risks based on required LDC demand commitments and durations</a:t>
            </a:r>
          </a:p>
          <a:p>
            <a:pPr marL="457200" marR="0" lvl="0" indent="-228600" algn="l" defTabSz="457200" rtl="0" eaLnBrk="1" fontAlgn="auto" latinLnBrk="0" hangingPunct="1">
              <a:lnSpc>
                <a:spcPct val="100000"/>
              </a:lnSpc>
              <a:spcBef>
                <a:spcPts val="600"/>
              </a:spcBef>
              <a:spcAft>
                <a:spcPts val="0"/>
              </a:spcAft>
              <a:buClrTx/>
              <a:buSzTx/>
              <a:buFont typeface="+mj-lt"/>
              <a:buAutoNum type="alphaL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Estimate of company-level LC impact as a result of the product localization </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startAt="3"/>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Ultimately, the LDC feasibility assessment aims to develop a thorough understanding of the opportunity and acts as the basis to obtain approval to commence the LDC journey </a:t>
            </a:r>
          </a:p>
        </p:txBody>
      </p:sp>
    </p:spTree>
    <p:extLst>
      <p:ext uri="{BB962C8B-B14F-4D97-AF65-F5344CB8AC3E}">
        <p14:creationId xmlns:p14="http://schemas.microsoft.com/office/powerpoint/2010/main" val="11892345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9580E8-CF1D-D4F4-BD93-0A025E264D3C}"/>
              </a:ext>
            </a:extLst>
          </p:cNvPr>
          <p:cNvGraphicFramePr>
            <a:graphicFrameLocks noChangeAspect="1"/>
          </p:cNvGraphicFramePr>
          <p:nvPr>
            <p:custDataLst>
              <p:tags r:id="rId1"/>
            </p:custDataLst>
            <p:extLst>
              <p:ext uri="{D42A27DB-BD31-4B8C-83A1-F6EECF244321}">
                <p14:modId xmlns:p14="http://schemas.microsoft.com/office/powerpoint/2010/main" val="3286388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A9580E8-CF1D-D4F4-BD93-0A025E264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5543F5-AEFF-F0E3-7EC4-41ADC749C269}"/>
              </a:ext>
            </a:extLst>
          </p:cNvPr>
          <p:cNvSpPr>
            <a:spLocks noGrp="1"/>
          </p:cNvSpPr>
          <p:nvPr>
            <p:ph type="title"/>
          </p:nvPr>
        </p:nvSpPr>
        <p:spPr>
          <a:xfrm>
            <a:off x="1255078" y="255973"/>
            <a:ext cx="8032922" cy="241824"/>
          </a:xfrm>
        </p:spPr>
        <p:txBody>
          <a:bodyPr vert="horz"/>
          <a:lstStyle/>
          <a:p>
            <a:r>
              <a:rPr lang="en-US" spc="-30"/>
              <a:t>Two parameters (estimated as part of the business model) can inform investors whether the risks are manageable</a:t>
            </a:r>
          </a:p>
        </p:txBody>
      </p:sp>
      <p:sp>
        <p:nvSpPr>
          <p:cNvPr id="12" name="Rectangle 11">
            <a:extLst>
              <a:ext uri="{FF2B5EF4-FFF2-40B4-BE49-F238E27FC236}">
                <a16:creationId xmlns:a16="http://schemas.microsoft.com/office/drawing/2014/main" id="{116BE2D3-005D-10FC-2A03-260A6A81188A}"/>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sp>
        <p:nvSpPr>
          <p:cNvPr id="28" name="TextBox 27">
            <a:extLst>
              <a:ext uri="{FF2B5EF4-FFF2-40B4-BE49-F238E27FC236}">
                <a16:creationId xmlns:a16="http://schemas.microsoft.com/office/drawing/2014/main" id="{80A0B168-2145-1FDF-2F41-EF5FE44627FE}"/>
              </a:ext>
            </a:extLst>
          </p:cNvPr>
          <p:cNvSpPr txBox="1">
            <a:spLocks/>
          </p:cNvSpPr>
          <p:nvPr/>
        </p:nvSpPr>
        <p:spPr>
          <a:xfrm>
            <a:off x="4703479" y="976532"/>
            <a:ext cx="2072338"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How to calculate</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9" name="Straight Connector 28">
            <a:extLst>
              <a:ext uri="{FF2B5EF4-FFF2-40B4-BE49-F238E27FC236}">
                <a16:creationId xmlns:a16="http://schemas.microsoft.com/office/drawing/2014/main" id="{1CD52802-90FE-9AAF-17F1-CEF8464DB117}"/>
              </a:ext>
            </a:extLst>
          </p:cNvPr>
          <p:cNvCxnSpPr>
            <a:cxnSpLocks/>
          </p:cNvCxnSpPr>
          <p:nvPr/>
        </p:nvCxnSpPr>
        <p:spPr>
          <a:xfrm>
            <a:off x="4765851" y="1258542"/>
            <a:ext cx="19202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5E2F300-3502-06E6-8E59-288A6022D773}"/>
              </a:ext>
            </a:extLst>
          </p:cNvPr>
          <p:cNvSpPr txBox="1">
            <a:spLocks/>
          </p:cNvSpPr>
          <p:nvPr/>
        </p:nvSpPr>
        <p:spPr>
          <a:xfrm>
            <a:off x="6769101" y="976532"/>
            <a:ext cx="2059940"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Implications for risk</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31" name="Straight Connector 30">
            <a:extLst>
              <a:ext uri="{FF2B5EF4-FFF2-40B4-BE49-F238E27FC236}">
                <a16:creationId xmlns:a16="http://schemas.microsoft.com/office/drawing/2014/main" id="{F7D45E48-A432-78AC-317C-3E95DD4BA104}"/>
              </a:ext>
            </a:extLst>
          </p:cNvPr>
          <p:cNvCxnSpPr>
            <a:cxnSpLocks/>
          </p:cNvCxnSpPr>
          <p:nvPr/>
        </p:nvCxnSpPr>
        <p:spPr>
          <a:xfrm>
            <a:off x="6769100" y="1258542"/>
            <a:ext cx="20599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4EF6EEB2-E4C0-3C97-7DDB-1D9905C6B6B1}"/>
              </a:ext>
            </a:extLst>
          </p:cNvPr>
          <p:cNvSpPr>
            <a:spLocks/>
          </p:cNvSpPr>
          <p:nvPr/>
        </p:nvSpPr>
        <p:spPr>
          <a:xfrm>
            <a:off x="4743621" y="1308422"/>
            <a:ext cx="2012780" cy="880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Ratio of total yearly fixed costs (in SAR) and per-unit contribution margin (in SAR)</a:t>
            </a:r>
            <a:r>
              <a:rPr lang="en-US" sz="1000" baseline="30000">
                <a:solidFill>
                  <a:srgbClr val="000000"/>
                </a:solidFill>
                <a:latin typeface="Fund Light" pitchFamily="2" charset="-78"/>
                <a:cs typeface="Fund Light" pitchFamily="2" charset="-78"/>
              </a:rPr>
              <a:t>1</a:t>
            </a:r>
            <a:r>
              <a:rPr lang="en-US" sz="1000">
                <a:solidFill>
                  <a:srgbClr val="000000"/>
                </a:solidFill>
                <a:latin typeface="Fund Light" pitchFamily="2" charset="-78"/>
                <a:cs typeface="Fund Light" pitchFamily="2" charset="-78"/>
              </a:rPr>
              <a:t>, in steady state</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63" name="Rectangle 62">
            <a:extLst>
              <a:ext uri="{FF2B5EF4-FFF2-40B4-BE49-F238E27FC236}">
                <a16:creationId xmlns:a16="http://schemas.microsoft.com/office/drawing/2014/main" id="{0307EDB9-C99D-AD75-D21A-6E41E2BD0CA9}"/>
              </a:ext>
            </a:extLst>
          </p:cNvPr>
          <p:cNvSpPr>
            <a:spLocks/>
          </p:cNvSpPr>
          <p:nvPr/>
        </p:nvSpPr>
        <p:spPr>
          <a:xfrm>
            <a:off x="6769100" y="1308422"/>
            <a:ext cx="2058853" cy="8809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As the break-even value increases, the demand </a:t>
            </a:r>
            <a:r>
              <a:rPr lang="en-US" sz="1000">
                <a:solidFill>
                  <a:srgbClr val="000000"/>
                </a:solidFill>
                <a:latin typeface="Fund Light" pitchFamily="2" charset="-78"/>
                <a:cs typeface="Fund Light" pitchFamily="2" charset="-78"/>
              </a:rPr>
              <a:t>commitment needs to increase</a:t>
            </a: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leading to a higher buyer risk</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68" name="Rectangle 67">
            <a:extLst>
              <a:ext uri="{FF2B5EF4-FFF2-40B4-BE49-F238E27FC236}">
                <a16:creationId xmlns:a16="http://schemas.microsoft.com/office/drawing/2014/main" id="{BCE15E6E-9E78-D7EE-C980-AF44E28114F6}"/>
              </a:ext>
            </a:extLst>
          </p:cNvPr>
          <p:cNvSpPr>
            <a:spLocks/>
          </p:cNvSpPr>
          <p:nvPr/>
        </p:nvSpPr>
        <p:spPr>
          <a:xfrm>
            <a:off x="4743619" y="2455964"/>
            <a:ext cx="1982090" cy="7113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Ratio of initial investment and annual cash inflow</a:t>
            </a:r>
            <a:r>
              <a:rPr lang="en-US" sz="1000" baseline="30000">
                <a:solidFill>
                  <a:srgbClr val="000000"/>
                </a:solidFill>
                <a:latin typeface="Fund Light" pitchFamily="2" charset="-78"/>
                <a:cs typeface="Fund Light" pitchFamily="2" charset="-78"/>
              </a:rPr>
              <a:t>2</a:t>
            </a:r>
            <a:endParaRPr kumimoji="0" lang="en-US" sz="1000" i="0" u="none" strike="noStrike" kern="1200" cap="none" spc="0" normalizeH="0" baseline="30000" noProof="0">
              <a:ln>
                <a:noFill/>
              </a:ln>
              <a:solidFill>
                <a:srgbClr val="000000"/>
              </a:solidFill>
              <a:effectLst/>
              <a:uLnTx/>
              <a:uFillTx/>
              <a:latin typeface="Fund Light" pitchFamily="2" charset="-78"/>
              <a:ea typeface="+mn-ea"/>
              <a:cs typeface="Fund Light" pitchFamily="2" charset="-78"/>
            </a:endParaRPr>
          </a:p>
        </p:txBody>
      </p:sp>
      <p:sp>
        <p:nvSpPr>
          <p:cNvPr id="69" name="Rectangle 68">
            <a:extLst>
              <a:ext uri="{FF2B5EF4-FFF2-40B4-BE49-F238E27FC236}">
                <a16:creationId xmlns:a16="http://schemas.microsoft.com/office/drawing/2014/main" id="{516AF5F9-4CAE-07B1-7C7B-5547DEC06A1A}"/>
              </a:ext>
            </a:extLst>
          </p:cNvPr>
          <p:cNvSpPr>
            <a:spLocks/>
          </p:cNvSpPr>
          <p:nvPr/>
        </p:nvSpPr>
        <p:spPr>
          <a:xfrm>
            <a:off x="6744469" y="2455964"/>
            <a:ext cx="2083484" cy="7113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225"/>
              </a:spcBef>
              <a:spcAft>
                <a:spcPts val="225"/>
              </a:spcAft>
              <a:buClrTx/>
              <a:buSzTx/>
              <a:buFontTx/>
              <a:buNone/>
              <a:tabLst/>
              <a:defRPr/>
            </a:pPr>
            <a:r>
              <a:rPr lang="en-US" sz="1000">
                <a:solidFill>
                  <a:srgbClr val="000000"/>
                </a:solidFill>
                <a:latin typeface="Fund Light" pitchFamily="2" charset="-78"/>
                <a:cs typeface="Fund Light" pitchFamily="2" charset="-78"/>
              </a:rPr>
              <a:t>The longer the payback period, the longer will the time for which demand commitment is needed, increasing buyer risk</a:t>
            </a:r>
            <a:endPar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cxnSp>
        <p:nvCxnSpPr>
          <p:cNvPr id="75" name="Straight Connector 74">
            <a:extLst>
              <a:ext uri="{FF2B5EF4-FFF2-40B4-BE49-F238E27FC236}">
                <a16:creationId xmlns:a16="http://schemas.microsoft.com/office/drawing/2014/main" id="{B83A3A5D-639D-0646-D54B-9526F7B3DA22}"/>
              </a:ext>
            </a:extLst>
          </p:cNvPr>
          <p:cNvCxnSpPr>
            <a:cxnSpLocks/>
          </p:cNvCxnSpPr>
          <p:nvPr/>
        </p:nvCxnSpPr>
        <p:spPr>
          <a:xfrm>
            <a:off x="442059" y="2323037"/>
            <a:ext cx="849391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 Placeholder 6">
            <a:extLst>
              <a:ext uri="{FF2B5EF4-FFF2-40B4-BE49-F238E27FC236}">
                <a16:creationId xmlns:a16="http://schemas.microsoft.com/office/drawing/2014/main" id="{F293CE18-1B00-C9CB-BD5D-28B5269265DA}"/>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Are the risks manageable?</a:t>
            </a:r>
          </a:p>
        </p:txBody>
      </p:sp>
      <p:sp>
        <p:nvSpPr>
          <p:cNvPr id="18" name="Oval 17">
            <a:extLst>
              <a:ext uri="{FF2B5EF4-FFF2-40B4-BE49-F238E27FC236}">
                <a16:creationId xmlns:a16="http://schemas.microsoft.com/office/drawing/2014/main" id="{42325170-5812-7F36-0883-FF02FB58E969}"/>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sp>
        <p:nvSpPr>
          <p:cNvPr id="32" name="TextBox 31">
            <a:extLst>
              <a:ext uri="{FF2B5EF4-FFF2-40B4-BE49-F238E27FC236}">
                <a16:creationId xmlns:a16="http://schemas.microsoft.com/office/drawing/2014/main" id="{E7487A01-8036-4D4C-A0A8-38B65C9C5732}"/>
              </a:ext>
            </a:extLst>
          </p:cNvPr>
          <p:cNvSpPr txBox="1">
            <a:spLocks/>
          </p:cNvSpPr>
          <p:nvPr/>
        </p:nvSpPr>
        <p:spPr>
          <a:xfrm>
            <a:off x="347461" y="818734"/>
            <a:ext cx="1235075"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Risk assessment dimension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33" name="Straight Connector 32">
            <a:extLst>
              <a:ext uri="{FF2B5EF4-FFF2-40B4-BE49-F238E27FC236}">
                <a16:creationId xmlns:a16="http://schemas.microsoft.com/office/drawing/2014/main" id="{092FB1D6-576E-17CE-954E-D17DD32C716A}"/>
              </a:ext>
            </a:extLst>
          </p:cNvPr>
          <p:cNvCxnSpPr>
            <a:cxnSpLocks/>
          </p:cNvCxnSpPr>
          <p:nvPr/>
        </p:nvCxnSpPr>
        <p:spPr>
          <a:xfrm>
            <a:off x="347460" y="1258542"/>
            <a:ext cx="123507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CA9734AF-6C86-44D3-9C8B-D8B2EB9A7161}"/>
              </a:ext>
            </a:extLst>
          </p:cNvPr>
          <p:cNvSpPr>
            <a:spLocks/>
          </p:cNvSpPr>
          <p:nvPr/>
        </p:nvSpPr>
        <p:spPr>
          <a:xfrm>
            <a:off x="660994" y="2625908"/>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duration</a:t>
            </a:r>
          </a:p>
        </p:txBody>
      </p:sp>
      <p:sp>
        <p:nvSpPr>
          <p:cNvPr id="35" name="Rectangle 34">
            <a:extLst>
              <a:ext uri="{FF2B5EF4-FFF2-40B4-BE49-F238E27FC236}">
                <a16:creationId xmlns:a16="http://schemas.microsoft.com/office/drawing/2014/main" id="{44F39D32-96E3-5EFF-DC81-8710AD6451C1}"/>
              </a:ext>
            </a:extLst>
          </p:cNvPr>
          <p:cNvSpPr>
            <a:spLocks/>
          </p:cNvSpPr>
          <p:nvPr/>
        </p:nvSpPr>
        <p:spPr>
          <a:xfrm>
            <a:off x="646488" y="1524226"/>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volume</a:t>
            </a:r>
          </a:p>
        </p:txBody>
      </p:sp>
      <p:sp>
        <p:nvSpPr>
          <p:cNvPr id="36" name="Oval 35">
            <a:extLst>
              <a:ext uri="{FF2B5EF4-FFF2-40B4-BE49-F238E27FC236}">
                <a16:creationId xmlns:a16="http://schemas.microsoft.com/office/drawing/2014/main" id="{5D96725B-AD4D-B4EE-0BD3-B84E29AE6147}"/>
              </a:ext>
            </a:extLst>
          </p:cNvPr>
          <p:cNvSpPr/>
          <p:nvPr/>
        </p:nvSpPr>
        <p:spPr>
          <a:xfrm>
            <a:off x="417888" y="2783600"/>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
        <p:nvSpPr>
          <p:cNvPr id="39" name="Oval 38">
            <a:extLst>
              <a:ext uri="{FF2B5EF4-FFF2-40B4-BE49-F238E27FC236}">
                <a16:creationId xmlns:a16="http://schemas.microsoft.com/office/drawing/2014/main" id="{5AD31E90-5BAD-7C53-16BE-E28B6E7D30C1}"/>
              </a:ext>
            </a:extLst>
          </p:cNvPr>
          <p:cNvSpPr/>
          <p:nvPr/>
        </p:nvSpPr>
        <p:spPr>
          <a:xfrm>
            <a:off x="417888" y="1681918"/>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40" name="TextBox 39">
            <a:extLst>
              <a:ext uri="{FF2B5EF4-FFF2-40B4-BE49-F238E27FC236}">
                <a16:creationId xmlns:a16="http://schemas.microsoft.com/office/drawing/2014/main" id="{828291F0-6759-7066-5746-2DBFDEACE28E}"/>
              </a:ext>
            </a:extLst>
          </p:cNvPr>
          <p:cNvSpPr txBox="1">
            <a:spLocks/>
          </p:cNvSpPr>
          <p:nvPr/>
        </p:nvSpPr>
        <p:spPr>
          <a:xfrm>
            <a:off x="3215697" y="820037"/>
            <a:ext cx="1467146"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Business model output</a:t>
            </a:r>
          </a:p>
        </p:txBody>
      </p:sp>
      <p:cxnSp>
        <p:nvCxnSpPr>
          <p:cNvPr id="41" name="Straight Connector 40">
            <a:extLst>
              <a:ext uri="{FF2B5EF4-FFF2-40B4-BE49-F238E27FC236}">
                <a16:creationId xmlns:a16="http://schemas.microsoft.com/office/drawing/2014/main" id="{FDF5C0EC-A56B-E0F8-AEA2-468382CB2DFE}"/>
              </a:ext>
            </a:extLst>
          </p:cNvPr>
          <p:cNvCxnSpPr>
            <a:cxnSpLocks/>
          </p:cNvCxnSpPr>
          <p:nvPr/>
        </p:nvCxnSpPr>
        <p:spPr>
          <a:xfrm>
            <a:off x="3215697" y="1258542"/>
            <a:ext cx="146714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EE76A414-4A41-073C-D6F2-796018784CAF}"/>
              </a:ext>
            </a:extLst>
          </p:cNvPr>
          <p:cNvSpPr>
            <a:spLocks/>
          </p:cNvSpPr>
          <p:nvPr/>
        </p:nvSpPr>
        <p:spPr>
          <a:xfrm>
            <a:off x="3215697" y="1526832"/>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Break-even volume</a:t>
            </a:r>
          </a:p>
        </p:txBody>
      </p:sp>
      <p:sp>
        <p:nvSpPr>
          <p:cNvPr id="43" name="Rectangle 42">
            <a:extLst>
              <a:ext uri="{FF2B5EF4-FFF2-40B4-BE49-F238E27FC236}">
                <a16:creationId xmlns:a16="http://schemas.microsoft.com/office/drawing/2014/main" id="{DB5D6FFF-418E-D725-B2B6-1778D0345538}"/>
              </a:ext>
            </a:extLst>
          </p:cNvPr>
          <p:cNvSpPr>
            <a:spLocks/>
          </p:cNvSpPr>
          <p:nvPr/>
        </p:nvSpPr>
        <p:spPr>
          <a:xfrm>
            <a:off x="3215697" y="2628514"/>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Payback period</a:t>
            </a:r>
          </a:p>
        </p:txBody>
      </p:sp>
      <p:sp>
        <p:nvSpPr>
          <p:cNvPr id="44" name="TextBox 43">
            <a:extLst>
              <a:ext uri="{FF2B5EF4-FFF2-40B4-BE49-F238E27FC236}">
                <a16:creationId xmlns:a16="http://schemas.microsoft.com/office/drawing/2014/main" id="{1B503169-E127-E6FA-CF5B-17C627B00984}"/>
              </a:ext>
            </a:extLst>
          </p:cNvPr>
          <p:cNvSpPr txBox="1">
            <a:spLocks/>
          </p:cNvSpPr>
          <p:nvPr/>
        </p:nvSpPr>
        <p:spPr>
          <a:xfrm>
            <a:off x="1665543" y="973926"/>
            <a:ext cx="1467146"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Description</a:t>
            </a:r>
          </a:p>
        </p:txBody>
      </p:sp>
      <p:cxnSp>
        <p:nvCxnSpPr>
          <p:cNvPr id="45" name="Straight Connector 44">
            <a:extLst>
              <a:ext uri="{FF2B5EF4-FFF2-40B4-BE49-F238E27FC236}">
                <a16:creationId xmlns:a16="http://schemas.microsoft.com/office/drawing/2014/main" id="{9ACDBBFA-594D-34DD-E2EC-4A3A5039C527}"/>
              </a:ext>
            </a:extLst>
          </p:cNvPr>
          <p:cNvCxnSpPr>
            <a:cxnSpLocks/>
          </p:cNvCxnSpPr>
          <p:nvPr/>
        </p:nvCxnSpPr>
        <p:spPr>
          <a:xfrm>
            <a:off x="1665543" y="1258542"/>
            <a:ext cx="146714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52CC8EE9-7F66-0175-9360-53231043715B}"/>
              </a:ext>
            </a:extLst>
          </p:cNvPr>
          <p:cNvSpPr>
            <a:spLocks/>
          </p:cNvSpPr>
          <p:nvPr/>
        </p:nvSpPr>
        <p:spPr>
          <a:xfrm>
            <a:off x="1665543" y="1526832"/>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lang="en-US" sz="1000">
                <a:solidFill>
                  <a:srgbClr val="000000"/>
                </a:solidFill>
                <a:latin typeface="Fund Light" pitchFamily="2" charset="-78"/>
                <a:cs typeface="Fund Light" pitchFamily="2" charset="-78"/>
              </a:rPr>
              <a:t>Procurement volume for which demand commitment is given</a:t>
            </a:r>
          </a:p>
        </p:txBody>
      </p:sp>
      <p:sp>
        <p:nvSpPr>
          <p:cNvPr id="47" name="Rectangle 46">
            <a:extLst>
              <a:ext uri="{FF2B5EF4-FFF2-40B4-BE49-F238E27FC236}">
                <a16:creationId xmlns:a16="http://schemas.microsoft.com/office/drawing/2014/main" id="{336C48D4-6201-D11F-F5BB-36C05F23310D}"/>
              </a:ext>
            </a:extLst>
          </p:cNvPr>
          <p:cNvSpPr>
            <a:spLocks/>
          </p:cNvSpPr>
          <p:nvPr/>
        </p:nvSpPr>
        <p:spPr>
          <a:xfrm>
            <a:off x="1665543" y="2628514"/>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lang="en-US" sz="1000">
                <a:solidFill>
                  <a:srgbClr val="000000"/>
                </a:solidFill>
                <a:latin typeface="Fund Light" pitchFamily="2" charset="-78"/>
                <a:cs typeface="Fund Light" pitchFamily="2" charset="-78"/>
              </a:rPr>
              <a:t>Time period over which LDC is planned or obligated to be fulfilled</a:t>
            </a:r>
          </a:p>
        </p:txBody>
      </p:sp>
    </p:spTree>
    <p:extLst>
      <p:ext uri="{BB962C8B-B14F-4D97-AF65-F5344CB8AC3E}">
        <p14:creationId xmlns:p14="http://schemas.microsoft.com/office/powerpoint/2010/main" val="865876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think-cell data - do not delete" hidden="1">
            <a:extLst>
              <a:ext uri="{FF2B5EF4-FFF2-40B4-BE49-F238E27FC236}">
                <a16:creationId xmlns:a16="http://schemas.microsoft.com/office/drawing/2014/main" id="{02ECCB0C-C862-5921-7FD4-A64DDA9ECB22}"/>
              </a:ext>
            </a:extLst>
          </p:cNvPr>
          <p:cNvGraphicFramePr>
            <a:graphicFrameLocks noChangeAspect="1"/>
          </p:cNvGraphicFramePr>
          <p:nvPr>
            <p:custDataLst>
              <p:tags r:id="rId1"/>
            </p:custDataLst>
            <p:extLst>
              <p:ext uri="{D42A27DB-BD31-4B8C-83A1-F6EECF244321}">
                <p14:modId xmlns:p14="http://schemas.microsoft.com/office/powerpoint/2010/main" val="61948403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29" imgW="484" imgH="486" progId="TCLayout.ActiveDocument.1">
                  <p:embed/>
                </p:oleObj>
              </mc:Choice>
              <mc:Fallback>
                <p:oleObj name="think-cell Slide" r:id="rId29" imgW="484" imgH="486" progId="TCLayout.ActiveDocument.1">
                  <p:embed/>
                  <p:pic>
                    <p:nvPicPr>
                      <p:cNvPr id="87" name="think-cell data - do not delete" hidden="1">
                        <a:extLst>
                          <a:ext uri="{FF2B5EF4-FFF2-40B4-BE49-F238E27FC236}">
                            <a16:creationId xmlns:a16="http://schemas.microsoft.com/office/drawing/2014/main" id="{02ECCB0C-C862-5921-7FD4-A64DDA9ECB22}"/>
                          </a:ext>
                        </a:extLst>
                      </p:cNvPr>
                      <p:cNvPicPr/>
                      <p:nvPr/>
                    </p:nvPicPr>
                    <p:blipFill>
                      <a:blip r:embed="rId30"/>
                      <a:stretch>
                        <a:fillRect/>
                      </a:stretch>
                    </p:blipFill>
                    <p:spPr>
                      <a:xfrm>
                        <a:off x="1589" y="1589"/>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D8BB23CB-C720-4469-838D-9B8CDB7231DA}"/>
              </a:ext>
            </a:extLst>
          </p:cNvPr>
          <p:cNvSpPr>
            <a:spLocks noGrp="1"/>
          </p:cNvSpPr>
          <p:nvPr>
            <p:ph type="title"/>
          </p:nvPr>
        </p:nvSpPr>
        <p:spPr/>
        <p:txBody>
          <a:bodyPr vert="horz"/>
          <a:lstStyle/>
          <a:p>
            <a:r>
              <a:rPr lang="en-US"/>
              <a:t>Example output of a business case to inform level of risk – telecom product </a:t>
            </a:r>
          </a:p>
        </p:txBody>
      </p:sp>
      <p:graphicFrame>
        <p:nvGraphicFramePr>
          <p:cNvPr id="12" name="Chart 11">
            <a:extLst>
              <a:ext uri="{FF2B5EF4-FFF2-40B4-BE49-F238E27FC236}">
                <a16:creationId xmlns:a16="http://schemas.microsoft.com/office/drawing/2014/main" id="{B2C320BE-D586-8D82-BB06-926C0D6FDEB4}"/>
              </a:ext>
            </a:extLst>
          </p:cNvPr>
          <p:cNvGraphicFramePr/>
          <p:nvPr>
            <p:custDataLst>
              <p:tags r:id="rId2"/>
            </p:custDataLst>
            <p:extLst>
              <p:ext uri="{D42A27DB-BD31-4B8C-83A1-F6EECF244321}">
                <p14:modId xmlns:p14="http://schemas.microsoft.com/office/powerpoint/2010/main" val="3541242792"/>
              </p:ext>
            </p:extLst>
          </p:nvPr>
        </p:nvGraphicFramePr>
        <p:xfrm>
          <a:off x="974725" y="773113"/>
          <a:ext cx="5430838" cy="2617787"/>
        </p:xfrm>
        <a:graphic>
          <a:graphicData uri="http://schemas.openxmlformats.org/drawingml/2006/chart">
            <c:chart xmlns:c="http://schemas.openxmlformats.org/drawingml/2006/chart" xmlns:r="http://schemas.openxmlformats.org/officeDocument/2006/relationships" r:id="rId31"/>
          </a:graphicData>
        </a:graphic>
      </p:graphicFrame>
      <p:sp>
        <p:nvSpPr>
          <p:cNvPr id="481" name="Text Placeholder 2">
            <a:extLst>
              <a:ext uri="{FF2B5EF4-FFF2-40B4-BE49-F238E27FC236}">
                <a16:creationId xmlns:a16="http://schemas.microsoft.com/office/drawing/2014/main" id="{4D875A80-D0C6-53EA-AB61-81F1DCEDC98C}"/>
              </a:ext>
            </a:extLst>
          </p:cNvPr>
          <p:cNvSpPr>
            <a:spLocks noGrp="1"/>
          </p:cNvSpPr>
          <p:nvPr>
            <p:custDataLst>
              <p:tags r:id="rId3"/>
            </p:custDataLst>
          </p:nvPr>
        </p:nvSpPr>
        <p:spPr bwMode="gray">
          <a:xfrm>
            <a:off x="666750" y="3127375"/>
            <a:ext cx="2762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53B92E42-657F-4E5A-A1D3-5317EC614790}" type="datetime'''''''''''''-''''''''''''''''''''''''8''''0''''''''''''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-800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490" name="Text Placeholder 2">
            <a:extLst>
              <a:ext uri="{FF2B5EF4-FFF2-40B4-BE49-F238E27FC236}">
                <a16:creationId xmlns:a16="http://schemas.microsoft.com/office/drawing/2014/main" id="{E9AC16D8-0BA4-E61C-105C-E5517A17A05C}"/>
              </a:ext>
            </a:extLst>
          </p:cNvPr>
          <p:cNvSpPr>
            <a:spLocks noGrp="1"/>
          </p:cNvSpPr>
          <p:nvPr>
            <p:custDataLst>
              <p:tags r:id="rId4"/>
            </p:custDataLst>
          </p:nvPr>
        </p:nvSpPr>
        <p:spPr bwMode="gray">
          <a:xfrm>
            <a:off x="862013" y="2144713"/>
            <a:ext cx="8096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fld id="{943FFA52-726C-4AA5-B1B3-AF96811B5114}" type="datetime'''''''''''''''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r" defTabSz="914377" rtl="0" eaLnBrk="1" fontAlgn="auto" latinLnBrk="0" hangingPunct="1">
                <a:lnSpc>
                  <a:spcPct val="90000"/>
                </a:lnSpc>
                <a:spcBef>
                  <a:spcPct val="0"/>
                </a:spcBef>
                <a:spcAft>
                  <a:spcPct val="0"/>
                </a:spcAft>
                <a:buClrTx/>
                <a:buSzTx/>
                <a:buFont typeface="Arial" panose="020B0604020202020204" pitchFamily="34" charset="0"/>
                <a:buNone/>
                <a:tabLst/>
                <a:defRPr/>
              </a:pPr>
              <a:t>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5" name="Text Placeholder 3">
            <a:extLst>
              <a:ext uri="{FF2B5EF4-FFF2-40B4-BE49-F238E27FC236}">
                <a16:creationId xmlns:a16="http://schemas.microsoft.com/office/drawing/2014/main" id="{38C105A4-D9ED-AB7A-1812-A3D4127631C0}"/>
              </a:ext>
            </a:extLst>
          </p:cNvPr>
          <p:cNvSpPr>
            <a:spLocks noGrp="1"/>
          </p:cNvSpPr>
          <p:nvPr>
            <p:custDataLst>
              <p:tags r:id="rId5"/>
            </p:custDataLst>
          </p:nvPr>
        </p:nvSpPr>
        <p:spPr bwMode="gray">
          <a:xfrm>
            <a:off x="636588" y="857250"/>
            <a:ext cx="306388" cy="2063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fld id="{274B6E48-327F-4BC4-9312-6D3F0AF4C7FE}" type="datetime'''''1'''''''',''''''''''''00''''''''''''''''0'''''''">
              <a:rPr kumimoji="0" lang="en-US" altLang="en-US" sz="900" b="0" i="0" u="none" strike="noStrike" kern="1200" cap="none" spc="0" normalizeH="0" baseline="0" noProof="0" smtClean="0">
                <a:ln>
                  <a:noFill/>
                </a:ln>
                <a:solidFill>
                  <a:srgbClr val="FFFFFF">
                    <a:lumMod val="50000"/>
                  </a:srgbClr>
                </a:solidFill>
                <a:effectLst/>
                <a:uLnTx/>
                <a:uFillTx/>
                <a:latin typeface="Fund Light" pitchFamily="2" charset="-78"/>
                <a:ea typeface="+mn-ea"/>
                <a:cs typeface="Fund Light" pitchFamily="2" charset="-78"/>
              </a:rPr>
              <a:pPr marL="0" marR="0" lvl="0" indent="0" algn="r" defTabSz="685800" rtl="0" eaLnBrk="1" fontAlgn="auto" latinLnBrk="0" hangingPunct="1">
                <a:lnSpc>
                  <a:spcPct val="150000"/>
                </a:lnSpc>
                <a:spcBef>
                  <a:spcPct val="0"/>
                </a:spcBef>
                <a:spcAft>
                  <a:spcPct val="0"/>
                </a:spcAft>
                <a:buClr>
                  <a:srgbClr val="C3984D"/>
                </a:buClr>
                <a:buSzTx/>
                <a:buFont typeface="Arial" panose="020B0604020202020204" pitchFamily="34" charset="0"/>
                <a:buNone/>
                <a:tabLst/>
                <a:defRPr/>
              </a:pPr>
              <a:t>1,000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17" name="Text Placeholder 2">
            <a:extLst>
              <a:ext uri="{FF2B5EF4-FFF2-40B4-BE49-F238E27FC236}">
                <a16:creationId xmlns:a16="http://schemas.microsoft.com/office/drawing/2014/main" id="{3CC6DB02-F5DA-470F-F805-B469533AB9E4}"/>
              </a:ext>
            </a:extLst>
          </p:cNvPr>
          <p:cNvSpPr>
            <a:spLocks noGrp="1"/>
          </p:cNvSpPr>
          <p:nvPr>
            <p:custDataLst>
              <p:tags r:id="rId6"/>
            </p:custDataLst>
          </p:nvPr>
        </p:nvSpPr>
        <p:spPr bwMode="auto">
          <a:xfrm>
            <a:off x="835025" y="641350"/>
            <a:ext cx="4460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SAR Mn</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2" name="Text Placeholder 2">
            <a:extLst>
              <a:ext uri="{FF2B5EF4-FFF2-40B4-BE49-F238E27FC236}">
                <a16:creationId xmlns:a16="http://schemas.microsoft.com/office/drawing/2014/main" id="{65741619-CE17-E45D-AAC3-C65EDA375F29}"/>
              </a:ext>
            </a:extLst>
          </p:cNvPr>
          <p:cNvSpPr>
            <a:spLocks noGrp="1"/>
          </p:cNvSpPr>
          <p:nvPr>
            <p:custDataLst>
              <p:tags r:id="rId7"/>
            </p:custDataLst>
          </p:nvPr>
        </p:nvSpPr>
        <p:spPr bwMode="auto">
          <a:xfrm>
            <a:off x="1135063" y="3262313"/>
            <a:ext cx="36988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36A5F14F-DA15-40EA-9333-5E0837CC670A}" type="datetime'Y''e''''''''a''''r'' ''''0'''''''''''''''''''''''''''''''''''">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0</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3" name="Text Placeholder 2">
            <a:extLst>
              <a:ext uri="{FF2B5EF4-FFF2-40B4-BE49-F238E27FC236}">
                <a16:creationId xmlns:a16="http://schemas.microsoft.com/office/drawing/2014/main" id="{40D1B20C-FB1F-89BB-157F-62F48C6B852D}"/>
              </a:ext>
            </a:extLst>
          </p:cNvPr>
          <p:cNvSpPr>
            <a:spLocks noGrp="1"/>
          </p:cNvSpPr>
          <p:nvPr>
            <p:custDataLst>
              <p:tags r:id="rId8"/>
            </p:custDataLst>
          </p:nvPr>
        </p:nvSpPr>
        <p:spPr bwMode="auto">
          <a:xfrm>
            <a:off x="1681163" y="3262313"/>
            <a:ext cx="3302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13059ED-6BF6-477A-A5AB-AD4C5A9A0F26}" type="datetime'''Y''''''''''''''''''''ea''''r'' ''''''1'''''">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1</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4" name="Text Placeholder 2">
            <a:extLst>
              <a:ext uri="{FF2B5EF4-FFF2-40B4-BE49-F238E27FC236}">
                <a16:creationId xmlns:a16="http://schemas.microsoft.com/office/drawing/2014/main" id="{1F87E448-7DC2-F5A6-DDA5-2E8485AB1AE3}"/>
              </a:ext>
            </a:extLst>
          </p:cNvPr>
          <p:cNvSpPr>
            <a:spLocks noGrp="1"/>
          </p:cNvSpPr>
          <p:nvPr>
            <p:custDataLst>
              <p:tags r:id="rId9"/>
            </p:custDataLst>
          </p:nvPr>
        </p:nvSpPr>
        <p:spPr bwMode="auto">
          <a:xfrm>
            <a:off x="2195513"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703DE821-FC6D-4BD5-9E0A-06D3DC4618F8}" type="datetime'Y''ea''''''''''''''''''''r'''''''''''''''''' 2'''''''''''">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2</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5" name="Text Placeholder 2">
            <a:extLst>
              <a:ext uri="{FF2B5EF4-FFF2-40B4-BE49-F238E27FC236}">
                <a16:creationId xmlns:a16="http://schemas.microsoft.com/office/drawing/2014/main" id="{3BF31A5B-C692-4018-E9DB-1BFDAFBAD6BA}"/>
              </a:ext>
            </a:extLst>
          </p:cNvPr>
          <p:cNvSpPr>
            <a:spLocks noGrp="1"/>
          </p:cNvSpPr>
          <p:nvPr>
            <p:custDataLst>
              <p:tags r:id="rId10"/>
            </p:custDataLst>
          </p:nvPr>
        </p:nvSpPr>
        <p:spPr bwMode="auto">
          <a:xfrm>
            <a:off x="272097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C2F58B6-3468-4B65-B517-DF0E95A3C729}" type="datetime'''Ye''''ar'''''''''''''''' ''''''''3'''''''''''''''''''''''">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3</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6" name="Text Placeholder 2">
            <a:extLst>
              <a:ext uri="{FF2B5EF4-FFF2-40B4-BE49-F238E27FC236}">
                <a16:creationId xmlns:a16="http://schemas.microsoft.com/office/drawing/2014/main" id="{507C9939-FB85-D63C-90BC-89119C6D828E}"/>
              </a:ext>
            </a:extLst>
          </p:cNvPr>
          <p:cNvSpPr>
            <a:spLocks noGrp="1"/>
          </p:cNvSpPr>
          <p:nvPr>
            <p:custDataLst>
              <p:tags r:id="rId11"/>
            </p:custDataLst>
          </p:nvPr>
        </p:nvSpPr>
        <p:spPr bwMode="auto">
          <a:xfrm>
            <a:off x="3248025" y="3262313"/>
            <a:ext cx="35560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07B75FEB-4CC1-4CDD-B30B-B07BF20F5439}" type="datetime'''''''''''Y''e''''''''a''''''''''''''r'''''''''''' ''4'''''''">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4</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7" name="Text Placeholder 2">
            <a:extLst>
              <a:ext uri="{FF2B5EF4-FFF2-40B4-BE49-F238E27FC236}">
                <a16:creationId xmlns:a16="http://schemas.microsoft.com/office/drawing/2014/main" id="{8EAA287E-5D61-DF8C-D536-D078F060DF62}"/>
              </a:ext>
            </a:extLst>
          </p:cNvPr>
          <p:cNvSpPr>
            <a:spLocks noGrp="1"/>
          </p:cNvSpPr>
          <p:nvPr>
            <p:custDataLst>
              <p:tags r:id="rId12"/>
            </p:custDataLst>
          </p:nvPr>
        </p:nvSpPr>
        <p:spPr bwMode="auto">
          <a:xfrm>
            <a:off x="3773488" y="3262313"/>
            <a:ext cx="35877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858922A-C4EE-4F6C-B261-B8EC25F80947}" type="datetime'''Y''ea''''''''''''r'''''''''''''''' ''''''5'''''''''">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5</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8" name="Text Placeholder 2">
            <a:extLst>
              <a:ext uri="{FF2B5EF4-FFF2-40B4-BE49-F238E27FC236}">
                <a16:creationId xmlns:a16="http://schemas.microsoft.com/office/drawing/2014/main" id="{2F27AB08-CDD0-0A30-B43D-58AE11EC3ED8}"/>
              </a:ext>
            </a:extLst>
          </p:cNvPr>
          <p:cNvSpPr>
            <a:spLocks noGrp="1"/>
          </p:cNvSpPr>
          <p:nvPr>
            <p:custDataLst>
              <p:tags r:id="rId13"/>
            </p:custDataLst>
          </p:nvPr>
        </p:nvSpPr>
        <p:spPr bwMode="auto">
          <a:xfrm>
            <a:off x="42973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EF3E43C8-9459-4F7E-A42F-A8E4C39CEF55}" type="datetime'''''''''''Y''e''ar'' ''''''''''''''''6'''''''''''''''''''''''">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6</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69" name="Text Placeholder 2">
            <a:extLst>
              <a:ext uri="{FF2B5EF4-FFF2-40B4-BE49-F238E27FC236}">
                <a16:creationId xmlns:a16="http://schemas.microsoft.com/office/drawing/2014/main" id="{4C3F33A2-3F3D-E6C3-2BED-1C888388B3A9}"/>
              </a:ext>
            </a:extLst>
          </p:cNvPr>
          <p:cNvSpPr>
            <a:spLocks noGrp="1"/>
          </p:cNvSpPr>
          <p:nvPr>
            <p:custDataLst>
              <p:tags r:id="rId14"/>
            </p:custDataLst>
          </p:nvPr>
        </p:nvSpPr>
        <p:spPr bwMode="auto">
          <a:xfrm>
            <a:off x="4829175" y="3262313"/>
            <a:ext cx="354013"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5779142E-36BB-487C-98FF-7A88F944F3E5}" type="datetime'''Y''''''''ear'' ''7'''''''''''''''''''''''''''''">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7</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0" name="Text Placeholder 2">
            <a:extLst>
              <a:ext uri="{FF2B5EF4-FFF2-40B4-BE49-F238E27FC236}">
                <a16:creationId xmlns:a16="http://schemas.microsoft.com/office/drawing/2014/main" id="{0820717A-A34F-48A5-D046-2B47FD84FE6D}"/>
              </a:ext>
            </a:extLst>
          </p:cNvPr>
          <p:cNvSpPr>
            <a:spLocks noGrp="1"/>
          </p:cNvSpPr>
          <p:nvPr>
            <p:custDataLst>
              <p:tags r:id="rId15"/>
            </p:custDataLst>
          </p:nvPr>
        </p:nvSpPr>
        <p:spPr bwMode="auto">
          <a:xfrm>
            <a:off x="5351463"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DB9F473F-DC2D-46D4-A910-7FF45B69B8A3}" type="datetime'''''''''''''Y''''''''''''''''''''e''a''''''''''''''''r'' ''8'">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8</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71" name="Text Placeholder 2">
            <a:extLst>
              <a:ext uri="{FF2B5EF4-FFF2-40B4-BE49-F238E27FC236}">
                <a16:creationId xmlns:a16="http://schemas.microsoft.com/office/drawing/2014/main" id="{96D0CD1B-56F3-C81B-6948-3BE048C1FCDB}"/>
              </a:ext>
            </a:extLst>
          </p:cNvPr>
          <p:cNvSpPr>
            <a:spLocks noGrp="1"/>
          </p:cNvSpPr>
          <p:nvPr>
            <p:custDataLst>
              <p:tags r:id="rId16"/>
            </p:custDataLst>
          </p:nvPr>
        </p:nvSpPr>
        <p:spPr bwMode="auto">
          <a:xfrm>
            <a:off x="5876925" y="3262313"/>
            <a:ext cx="361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ACF2B46C-5BAD-4359-A478-F79D5217639E}" type="datetime'''''Y''''''''''''''''''''''''''e''''a''''''''r ''''9'''''''">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ctr" defTabSz="685800" rtl="0" eaLnBrk="1" fontAlgn="auto" latinLnBrk="0" hangingPunct="1">
                <a:lnSpc>
                  <a:spcPct val="90000"/>
                </a:lnSpc>
                <a:spcBef>
                  <a:spcPct val="0"/>
                </a:spcBef>
                <a:spcAft>
                  <a:spcPct val="0"/>
                </a:spcAft>
                <a:buClrTx/>
                <a:buSzTx/>
                <a:buFont typeface="Arial" panose="020B0604020202020204" pitchFamily="34" charset="0"/>
                <a:buNone/>
                <a:tabLst/>
                <a:defRPr/>
              </a:pPr>
              <a:t>Year 9</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graphicFrame>
        <p:nvGraphicFramePr>
          <p:cNvPr id="456" name="Table 141">
            <a:extLst>
              <a:ext uri="{FF2B5EF4-FFF2-40B4-BE49-F238E27FC236}">
                <a16:creationId xmlns:a16="http://schemas.microsoft.com/office/drawing/2014/main" id="{5682F1F0-D0D6-AD87-C36B-FE26E7F7026D}"/>
              </a:ext>
            </a:extLst>
          </p:cNvPr>
          <p:cNvGraphicFramePr>
            <a:graphicFrameLocks noGrp="1"/>
          </p:cNvGraphicFramePr>
          <p:nvPr>
            <p:extLst>
              <p:ext uri="{D42A27DB-BD31-4B8C-83A1-F6EECF244321}">
                <p14:modId xmlns:p14="http://schemas.microsoft.com/office/powerpoint/2010/main" val="2645304228"/>
              </p:ext>
            </p:extLst>
          </p:nvPr>
        </p:nvGraphicFramePr>
        <p:xfrm>
          <a:off x="6551756" y="1171575"/>
          <a:ext cx="2255146" cy="1075556"/>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7778">
                <a:tc>
                  <a:txBody>
                    <a:bodyPr/>
                    <a:lstStyle/>
                    <a:p>
                      <a:pPr algn="l" rtl="0"/>
                      <a:r>
                        <a:rPr lang="en-GB" sz="1000" b="1">
                          <a:solidFill>
                            <a:schemeClr val="bg1">
                              <a:lumMod val="95000"/>
                            </a:schemeClr>
                          </a:solidFill>
                          <a:latin typeface="Fund Light" pitchFamily="2" charset="-78"/>
                          <a:cs typeface="Fund Light" pitchFamily="2" charset="-78"/>
                        </a:rPr>
                        <a:t>Capex </a:t>
                      </a:r>
                      <a:r>
                        <a:rPr lang="en-GB" sz="1000" b="0">
                          <a:solidFill>
                            <a:schemeClr val="bg1">
                              <a:lumMod val="95000"/>
                            </a:schemeClr>
                          </a:solidFill>
                          <a:latin typeface="Fund Light" pitchFamily="2" charset="-78"/>
                          <a:cs typeface="Fund Light" pitchFamily="2" charset="-78"/>
                        </a:rPr>
                        <a:t>(SAR Mn)</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algn="ctr" rtl="0"/>
                      <a:r>
                        <a:rPr lang="en-GB" sz="1000" b="0">
                          <a:solidFill>
                            <a:schemeClr val="bg1">
                              <a:lumMod val="95000"/>
                            </a:schemeClr>
                          </a:solidFill>
                          <a:latin typeface="Fund Light" pitchFamily="2" charset="-78"/>
                          <a:cs typeface="Fund Light" pitchFamily="2" charset="-78"/>
                        </a:rPr>
                        <a:t>175-200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674150051"/>
                  </a:ext>
                </a:extLst>
              </a:tr>
              <a:tr h="537778">
                <a:tc>
                  <a:txBody>
                    <a:bodyPr/>
                    <a:lstStyle/>
                    <a:p>
                      <a:pPr algn="l" rtl="0"/>
                      <a:r>
                        <a:rPr lang="en-GB" sz="1000" b="1">
                          <a:solidFill>
                            <a:schemeClr val="bg1">
                              <a:lumMod val="95000"/>
                            </a:schemeClr>
                          </a:solidFill>
                          <a:latin typeface="Fund Light" pitchFamily="2" charset="-78"/>
                          <a:cs typeface="Fund Light" pitchFamily="2" charset="-78"/>
                        </a:rPr>
                        <a:t>IRR</a:t>
                      </a:r>
                      <a:endParaRPr lang="en-GB" sz="1000" b="0">
                        <a:solidFill>
                          <a:schemeClr val="bg1">
                            <a:lumMod val="95000"/>
                          </a:schemeClr>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13-15%</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3569938270"/>
                  </a:ext>
                </a:extLst>
              </a:tr>
            </a:tbl>
          </a:graphicData>
        </a:graphic>
      </p:graphicFrame>
      <p:sp>
        <p:nvSpPr>
          <p:cNvPr id="94" name="Rectangle 93">
            <a:extLst>
              <a:ext uri="{FF2B5EF4-FFF2-40B4-BE49-F238E27FC236}">
                <a16:creationId xmlns:a16="http://schemas.microsoft.com/office/drawing/2014/main" id="{5EEB76D3-C839-AE95-8A00-A2FFD30C2F43}"/>
              </a:ext>
            </a:extLst>
          </p:cNvPr>
          <p:cNvSpPr/>
          <p:nvPr>
            <p:custDataLst>
              <p:tags r:id="rId17"/>
            </p:custDataLst>
          </p:nvPr>
        </p:nvSpPr>
        <p:spPr bwMode="auto">
          <a:xfrm>
            <a:off x="1403350" y="922338"/>
            <a:ext cx="160338" cy="120650"/>
          </a:xfrm>
          <a:prstGeom prst="rect">
            <a:avLst/>
          </a:prstGeom>
          <a:solidFill>
            <a:srgbClr val="C39A5C"/>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6" name="Rectangle 25">
            <a:extLst>
              <a:ext uri="{FF2B5EF4-FFF2-40B4-BE49-F238E27FC236}">
                <a16:creationId xmlns:a16="http://schemas.microsoft.com/office/drawing/2014/main" id="{B964AB21-C1C2-E02C-6CCB-73D4CCACB771}"/>
              </a:ext>
            </a:extLst>
          </p:cNvPr>
          <p:cNvSpPr/>
          <p:nvPr>
            <p:custDataLst>
              <p:tags r:id="rId18"/>
            </p:custDataLst>
          </p:nvPr>
        </p:nvSpPr>
        <p:spPr bwMode="auto">
          <a:xfrm>
            <a:off x="1403350" y="1103313"/>
            <a:ext cx="160338" cy="120650"/>
          </a:xfrm>
          <a:prstGeom prst="rect">
            <a:avLst/>
          </a:prstGeom>
          <a:solidFill>
            <a:schemeClr val="tx2"/>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27" name="Rectangle 26">
            <a:extLst>
              <a:ext uri="{FF2B5EF4-FFF2-40B4-BE49-F238E27FC236}">
                <a16:creationId xmlns:a16="http://schemas.microsoft.com/office/drawing/2014/main" id="{B2C51150-AA48-6C41-171B-AF1195A77A00}"/>
              </a:ext>
            </a:extLst>
          </p:cNvPr>
          <p:cNvSpPr/>
          <p:nvPr>
            <p:custDataLst>
              <p:tags r:id="rId19"/>
            </p:custDataLst>
          </p:nvPr>
        </p:nvSpPr>
        <p:spPr bwMode="auto">
          <a:xfrm>
            <a:off x="2265363" y="922338"/>
            <a:ext cx="160338" cy="120650"/>
          </a:xfrm>
          <a:prstGeom prst="rect">
            <a:avLst/>
          </a:prstGeom>
          <a:solidFill>
            <a:srgbClr val="B9B9B9"/>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495" name="Rectangle 494">
            <a:extLst>
              <a:ext uri="{FF2B5EF4-FFF2-40B4-BE49-F238E27FC236}">
                <a16:creationId xmlns:a16="http://schemas.microsoft.com/office/drawing/2014/main" id="{875EFDA7-2477-7CCD-CBA9-ED1F1F372CEB}"/>
              </a:ext>
            </a:extLst>
          </p:cNvPr>
          <p:cNvSpPr/>
          <p:nvPr>
            <p:custDataLst>
              <p:tags r:id="rId20"/>
            </p:custDataLst>
          </p:nvPr>
        </p:nvSpPr>
        <p:spPr bwMode="auto">
          <a:xfrm>
            <a:off x="2265363" y="1103313"/>
            <a:ext cx="160338" cy="120650"/>
          </a:xfrm>
          <a:prstGeom prst="rect">
            <a:avLst/>
          </a:prstGeom>
          <a:solidFill>
            <a:srgbClr val="5A5A5A"/>
          </a:solidFill>
          <a:ln w="9525" cmpd="sng" algn="ctr">
            <a:solidFill>
              <a:srgbClr val="FFFFFF"/>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cxnSp>
        <p:nvCxnSpPr>
          <p:cNvPr id="91" name="Straight Connector 90">
            <a:extLst>
              <a:ext uri="{FF2B5EF4-FFF2-40B4-BE49-F238E27FC236}">
                <a16:creationId xmlns:a16="http://schemas.microsoft.com/office/drawing/2014/main" id="{C44BAC23-A02E-F20C-66FB-0A6A3B5A237B}"/>
              </a:ext>
            </a:extLst>
          </p:cNvPr>
          <p:cNvCxnSpPr/>
          <p:nvPr>
            <p:custDataLst>
              <p:tags r:id="rId21"/>
            </p:custDataLst>
          </p:nvPr>
        </p:nvCxnSpPr>
        <p:spPr bwMode="gray">
          <a:xfrm>
            <a:off x="4210050" y="982663"/>
            <a:ext cx="201613" cy="0"/>
          </a:xfrm>
          <a:prstGeom prst="line">
            <a:avLst/>
          </a:prstGeom>
          <a:ln w="19050" cap="rnd" cmpd="sng" algn="ctr">
            <a:solidFill>
              <a:srgbClr val="00000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1" name="Oval 110">
            <a:extLst>
              <a:ext uri="{FF2B5EF4-FFF2-40B4-BE49-F238E27FC236}">
                <a16:creationId xmlns:a16="http://schemas.microsoft.com/office/drawing/2014/main" id="{C61B211A-F3BA-416C-1FF2-31EF534522B5}"/>
              </a:ext>
            </a:extLst>
          </p:cNvPr>
          <p:cNvSpPr/>
          <p:nvPr>
            <p:custDataLst>
              <p:tags r:id="rId22"/>
            </p:custDataLst>
          </p:nvPr>
        </p:nvSpPr>
        <p:spPr bwMode="auto">
          <a:xfrm>
            <a:off x="4284663" y="957263"/>
            <a:ext cx="50800" cy="50800"/>
          </a:xfrm>
          <a:prstGeom prst="ellipse">
            <a:avLst/>
          </a:prstGeom>
          <a:solidFill>
            <a:schemeClr val="accent1"/>
          </a:solidFill>
          <a:ln w="9525" cmpd="sng" algn="ctr">
            <a:solidFill>
              <a:schemeClr val="accent1"/>
            </a:solidFill>
          </a:ln>
          <a:effectLst/>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00332A">
                  <a:lumMod val="65000"/>
                  <a:lumOff val="35000"/>
                </a:srgbClr>
              </a:solidFill>
              <a:effectLst/>
              <a:uLnTx/>
              <a:uFillTx/>
              <a:latin typeface="Arial" panose="020B0604020202020204"/>
              <a:ea typeface="+mn-ea"/>
              <a:cs typeface="Fund Regular" pitchFamily="2" charset="-78"/>
            </a:endParaRPr>
          </a:p>
        </p:txBody>
      </p:sp>
      <p:sp>
        <p:nvSpPr>
          <p:cNvPr id="6" name="Text Placeholder 2">
            <a:extLst>
              <a:ext uri="{FF2B5EF4-FFF2-40B4-BE49-F238E27FC236}">
                <a16:creationId xmlns:a16="http://schemas.microsoft.com/office/drawing/2014/main" id="{457A6E2C-88E2-DD20-6AB3-C0F92F52679E}"/>
              </a:ext>
            </a:extLst>
          </p:cNvPr>
          <p:cNvSpPr>
            <a:spLocks noGrp="1"/>
          </p:cNvSpPr>
          <p:nvPr>
            <p:custDataLst>
              <p:tags r:id="rId23"/>
            </p:custDataLst>
          </p:nvPr>
        </p:nvSpPr>
        <p:spPr bwMode="auto">
          <a:xfrm>
            <a:off x="1614488" y="928688"/>
            <a:ext cx="488950"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B7621481-A5AB-4D6E-8C90-E2933302223E}" type="datetime'''''''''''''R''''''ev''''''''e''''''''n''ue'''''''">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Revenue</a:t>
            </a:fld>
            <a:endParaRPr kumimoji="0" lang="en-US" sz="900" b="0" i="0" u="none" strike="noStrike" kern="1200" cap="none" spc="0" normalizeH="0" baseline="3000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7" name="Text Placeholder 2">
            <a:extLst>
              <a:ext uri="{FF2B5EF4-FFF2-40B4-BE49-F238E27FC236}">
                <a16:creationId xmlns:a16="http://schemas.microsoft.com/office/drawing/2014/main" id="{1528EFD7-B1C4-E0EC-F4BB-C14B0C1C6473}"/>
              </a:ext>
            </a:extLst>
          </p:cNvPr>
          <p:cNvSpPr>
            <a:spLocks noGrp="1"/>
          </p:cNvSpPr>
          <p:nvPr>
            <p:custDataLst>
              <p:tags r:id="rId24"/>
            </p:custDataLst>
          </p:nvPr>
        </p:nvSpPr>
        <p:spPr bwMode="auto">
          <a:xfrm>
            <a:off x="1614488" y="1109663"/>
            <a:ext cx="3508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Capex</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8" name="Text Placeholder 2">
            <a:extLst>
              <a:ext uri="{FF2B5EF4-FFF2-40B4-BE49-F238E27FC236}">
                <a16:creationId xmlns:a16="http://schemas.microsoft.com/office/drawing/2014/main" id="{BE63498C-A687-5E67-BF91-E829C4B320CB}"/>
              </a:ext>
            </a:extLst>
          </p:cNvPr>
          <p:cNvSpPr>
            <a:spLocks noGrp="1"/>
          </p:cNvSpPr>
          <p:nvPr>
            <p:custDataLst>
              <p:tags r:id="rId25"/>
            </p:custDataLst>
          </p:nvPr>
        </p:nvSpPr>
        <p:spPr bwMode="auto">
          <a:xfrm>
            <a:off x="2476500" y="928688"/>
            <a:ext cx="935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fld id="{4138F85B-45B0-4CA9-9544-F8C9CC9C0046}" type="datetime'''''''''Cost'' ''''o''''''''f'' ''''''''mate''r''''''ials'">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t>Cost of materials</a:t>
            </a:fld>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5" name="Text Placeholder 2">
            <a:extLst>
              <a:ext uri="{FF2B5EF4-FFF2-40B4-BE49-F238E27FC236}">
                <a16:creationId xmlns:a16="http://schemas.microsoft.com/office/drawing/2014/main" id="{F5F325E4-0C1E-C683-EA07-2B7C2C449736}"/>
              </a:ext>
            </a:extLst>
          </p:cNvPr>
          <p:cNvSpPr>
            <a:spLocks noGrp="1"/>
          </p:cNvSpPr>
          <p:nvPr>
            <p:custDataLst>
              <p:tags r:id="rId26"/>
            </p:custDataLst>
          </p:nvPr>
        </p:nvSpPr>
        <p:spPr bwMode="auto">
          <a:xfrm>
            <a:off x="2476500" y="1109663"/>
            <a:ext cx="1622425"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ct val="0"/>
              </a:spcBef>
              <a:spcAft>
                <a:spcPct val="0"/>
              </a:spcAft>
              <a:buClrTx/>
              <a:buSzTx/>
              <a:buFont typeface="Arial" panose="020B0604020202020204" pitchFamily="34" charset="0"/>
              <a:buNone/>
              <a:tabLst/>
              <a:defRPr/>
            </a:pPr>
            <a:r>
              <a:rPr kumimoji="0" lang="en-US" alt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Fixed and variable overheads</a:t>
            </a:r>
            <a:endParaRPr kumimoji="0" lang="en-US" sz="9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sp>
        <p:nvSpPr>
          <p:cNvPr id="36" name="Text Placeholder 2">
            <a:extLst>
              <a:ext uri="{FF2B5EF4-FFF2-40B4-BE49-F238E27FC236}">
                <a16:creationId xmlns:a16="http://schemas.microsoft.com/office/drawing/2014/main" id="{4CD1A44B-6DEE-7480-4782-D950415C77AA}"/>
              </a:ext>
            </a:extLst>
          </p:cNvPr>
          <p:cNvSpPr>
            <a:spLocks noGrp="1"/>
          </p:cNvSpPr>
          <p:nvPr>
            <p:custDataLst>
              <p:tags r:id="rId27"/>
            </p:custDataLst>
          </p:nvPr>
        </p:nvSpPr>
        <p:spPr bwMode="auto">
          <a:xfrm>
            <a:off x="4471988" y="928688"/>
            <a:ext cx="1443038" cy="123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spcBef>
                <a:spcPct val="0"/>
              </a:spcBef>
              <a:spcAft>
                <a:spcPct val="0"/>
              </a:spcAft>
              <a:buNone/>
              <a:defRPr/>
            </a:pPr>
            <a:fld id="{4565F68C-477D-49B0-98AB-39E924C9225C}" type="datetime'''C''''um''ula''ti''v''''e'''' f''re''''''e ''''''''cash flow'">
              <a:rPr lang="en-US" altLang="en-US" sz="900" smtClean="0">
                <a:solidFill>
                  <a:srgbClr val="FFFFFF">
                    <a:lumMod val="50000"/>
                  </a:srgbClr>
                </a:solidFill>
                <a:latin typeface="Fund Light" pitchFamily="2" charset="-78"/>
                <a:cs typeface="Fund Light" pitchFamily="2" charset="-78"/>
              </a:rPr>
              <a:pPr marL="0" lvl="0" indent="0">
                <a:spcBef>
                  <a:spcPct val="0"/>
                </a:spcBef>
                <a:spcAft>
                  <a:spcPct val="0"/>
                </a:spcAft>
                <a:buNone/>
                <a:defRPr/>
              </a:pPr>
              <a:t>Cumulative free cash flow</a:t>
            </a:fld>
            <a:endParaRPr kumimoji="0" lang="en-US" sz="900" b="0" i="0" strike="noStrike" kern="1200" cap="none" spc="0" normalizeH="0" baseline="0" noProof="0">
              <a:ln>
                <a:noFill/>
              </a:ln>
              <a:solidFill>
                <a:srgbClr val="FFFFFF">
                  <a:lumMod val="50000"/>
                </a:srgbClr>
              </a:solidFill>
              <a:effectLst/>
              <a:uLnTx/>
              <a:uFillTx/>
              <a:latin typeface="Fund Light" pitchFamily="2" charset="-78"/>
              <a:cs typeface="Fund Light" pitchFamily="2" charset="-78"/>
            </a:endParaRPr>
          </a:p>
        </p:txBody>
      </p:sp>
      <p:sp>
        <p:nvSpPr>
          <p:cNvPr id="808" name="Rectangle 807">
            <a:extLst>
              <a:ext uri="{FF2B5EF4-FFF2-40B4-BE49-F238E27FC236}">
                <a16:creationId xmlns:a16="http://schemas.microsoft.com/office/drawing/2014/main" id="{0C4C266E-7CCE-A990-95B9-758A9EAAE34A}"/>
              </a:ext>
            </a:extLst>
          </p:cNvPr>
          <p:cNvSpPr/>
          <p:nvPr/>
        </p:nvSpPr>
        <p:spPr>
          <a:xfrm rot="16200000" flipH="1">
            <a:off x="-6012" y="1622759"/>
            <a:ext cx="932442"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Revenues</a:t>
            </a:r>
          </a:p>
        </p:txBody>
      </p:sp>
      <p:sp>
        <p:nvSpPr>
          <p:cNvPr id="809" name="Rectangle 808">
            <a:extLst>
              <a:ext uri="{FF2B5EF4-FFF2-40B4-BE49-F238E27FC236}">
                <a16:creationId xmlns:a16="http://schemas.microsoft.com/office/drawing/2014/main" id="{D6C7BA57-9AB7-60F2-CEA3-0B22B5414B6F}"/>
              </a:ext>
            </a:extLst>
          </p:cNvPr>
          <p:cNvSpPr/>
          <p:nvPr/>
        </p:nvSpPr>
        <p:spPr>
          <a:xfrm rot="16200000" flipH="1">
            <a:off x="145715" y="2383238"/>
            <a:ext cx="628985" cy="246221"/>
          </a:xfrm>
          <a:prstGeom prst="rect">
            <a:avLst/>
          </a:prstGeom>
          <a:noFill/>
        </p:spPr>
        <p:txBody>
          <a:bodyPr wrap="square" rtlCol="0" anchor="t">
            <a:sp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Costs</a:t>
            </a:r>
          </a:p>
        </p:txBody>
      </p:sp>
      <p:sp>
        <p:nvSpPr>
          <p:cNvPr id="11" name="Rectangle 10">
            <a:extLst>
              <a:ext uri="{FF2B5EF4-FFF2-40B4-BE49-F238E27FC236}">
                <a16:creationId xmlns:a16="http://schemas.microsoft.com/office/drawing/2014/main" id="{7C1E9AF4-CCB6-E998-FCF0-872333D25B14}"/>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Output example </a:t>
            </a:r>
          </a:p>
        </p:txBody>
      </p:sp>
      <p:sp>
        <p:nvSpPr>
          <p:cNvPr id="33" name="Rectangle 32">
            <a:extLst>
              <a:ext uri="{FF2B5EF4-FFF2-40B4-BE49-F238E27FC236}">
                <a16:creationId xmlns:a16="http://schemas.microsoft.com/office/drawing/2014/main" id="{07ED1F55-CE19-1D14-DBD1-0C493DCFF551}"/>
              </a:ext>
            </a:extLst>
          </p:cNvPr>
          <p:cNvSpPr/>
          <p:nvPr/>
        </p:nvSpPr>
        <p:spPr>
          <a:xfrm flipH="1">
            <a:off x="117200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34" name="Rectangle 33">
            <a:extLst>
              <a:ext uri="{FF2B5EF4-FFF2-40B4-BE49-F238E27FC236}">
                <a16:creationId xmlns:a16="http://schemas.microsoft.com/office/drawing/2014/main" id="{4BB122E7-8EFE-40B2-8D95-A742C7DC371F}"/>
              </a:ext>
            </a:extLst>
          </p:cNvPr>
          <p:cNvSpPr/>
          <p:nvPr/>
        </p:nvSpPr>
        <p:spPr>
          <a:xfrm flipH="1">
            <a:off x="169757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50%</a:t>
            </a:r>
          </a:p>
        </p:txBody>
      </p:sp>
      <p:sp>
        <p:nvSpPr>
          <p:cNvPr id="31" name="Rectangle 30">
            <a:extLst>
              <a:ext uri="{FF2B5EF4-FFF2-40B4-BE49-F238E27FC236}">
                <a16:creationId xmlns:a16="http://schemas.microsoft.com/office/drawing/2014/main" id="{9AA5F930-A16C-5056-BA53-8DBC22549923}"/>
              </a:ext>
            </a:extLst>
          </p:cNvPr>
          <p:cNvSpPr/>
          <p:nvPr/>
        </p:nvSpPr>
        <p:spPr>
          <a:xfrm>
            <a:off x="326230" y="35161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ramp-up</a:t>
            </a:r>
          </a:p>
        </p:txBody>
      </p:sp>
      <p:sp>
        <p:nvSpPr>
          <p:cNvPr id="38" name="Rectangle 37">
            <a:extLst>
              <a:ext uri="{FF2B5EF4-FFF2-40B4-BE49-F238E27FC236}">
                <a16:creationId xmlns:a16="http://schemas.microsoft.com/office/drawing/2014/main" id="{BA6E6B77-656C-3F70-3C4E-6634C530D8CA}"/>
              </a:ext>
            </a:extLst>
          </p:cNvPr>
          <p:cNvSpPr/>
          <p:nvPr/>
        </p:nvSpPr>
        <p:spPr>
          <a:xfrm flipH="1">
            <a:off x="2216003"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39" name="Rectangle 38">
            <a:extLst>
              <a:ext uri="{FF2B5EF4-FFF2-40B4-BE49-F238E27FC236}">
                <a16:creationId xmlns:a16="http://schemas.microsoft.com/office/drawing/2014/main" id="{B84B2F15-F02B-11BF-A141-5275B5C64114}"/>
              </a:ext>
            </a:extLst>
          </p:cNvPr>
          <p:cNvSpPr/>
          <p:nvPr/>
        </p:nvSpPr>
        <p:spPr>
          <a:xfrm flipH="1">
            <a:off x="274573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40" name="Rectangle 39">
            <a:extLst>
              <a:ext uri="{FF2B5EF4-FFF2-40B4-BE49-F238E27FC236}">
                <a16:creationId xmlns:a16="http://schemas.microsoft.com/office/drawing/2014/main" id="{86B5BFAE-8C73-EB7E-2D1A-CCF5FA235F26}"/>
              </a:ext>
            </a:extLst>
          </p:cNvPr>
          <p:cNvSpPr/>
          <p:nvPr/>
        </p:nvSpPr>
        <p:spPr>
          <a:xfrm flipH="1">
            <a:off x="3276070"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3" name="Rectangle 52">
            <a:extLst>
              <a:ext uri="{FF2B5EF4-FFF2-40B4-BE49-F238E27FC236}">
                <a16:creationId xmlns:a16="http://schemas.microsoft.com/office/drawing/2014/main" id="{4493D941-5B05-F37A-98D8-A738BECED5C6}"/>
              </a:ext>
            </a:extLst>
          </p:cNvPr>
          <p:cNvSpPr/>
          <p:nvPr/>
        </p:nvSpPr>
        <p:spPr>
          <a:xfrm flipH="1">
            <a:off x="3807592"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4" name="Rectangle 53">
            <a:extLst>
              <a:ext uri="{FF2B5EF4-FFF2-40B4-BE49-F238E27FC236}">
                <a16:creationId xmlns:a16="http://schemas.microsoft.com/office/drawing/2014/main" id="{51FB2B5B-B607-6BF8-6D50-23A8F376BC43}"/>
              </a:ext>
            </a:extLst>
          </p:cNvPr>
          <p:cNvSpPr/>
          <p:nvPr/>
        </p:nvSpPr>
        <p:spPr>
          <a:xfrm flipH="1">
            <a:off x="4341494"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5" name="Rectangle 54">
            <a:extLst>
              <a:ext uri="{FF2B5EF4-FFF2-40B4-BE49-F238E27FC236}">
                <a16:creationId xmlns:a16="http://schemas.microsoft.com/office/drawing/2014/main" id="{E55BE001-3AE2-AF18-94F8-CA141CFE0822}"/>
              </a:ext>
            </a:extLst>
          </p:cNvPr>
          <p:cNvSpPr/>
          <p:nvPr/>
        </p:nvSpPr>
        <p:spPr>
          <a:xfrm flipH="1">
            <a:off x="4873016"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6" name="Rectangle 55">
            <a:extLst>
              <a:ext uri="{FF2B5EF4-FFF2-40B4-BE49-F238E27FC236}">
                <a16:creationId xmlns:a16="http://schemas.microsoft.com/office/drawing/2014/main" id="{A0969727-A1B6-73E4-0EA7-9A084C63D9C4}"/>
              </a:ext>
            </a:extLst>
          </p:cNvPr>
          <p:cNvSpPr/>
          <p:nvPr/>
        </p:nvSpPr>
        <p:spPr>
          <a:xfrm flipH="1">
            <a:off x="5939629"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57" name="Rectangle 56">
            <a:extLst>
              <a:ext uri="{FF2B5EF4-FFF2-40B4-BE49-F238E27FC236}">
                <a16:creationId xmlns:a16="http://schemas.microsoft.com/office/drawing/2014/main" id="{02EE3297-C954-18D6-618F-99B797B631EE}"/>
              </a:ext>
            </a:extLst>
          </p:cNvPr>
          <p:cNvSpPr/>
          <p:nvPr/>
        </p:nvSpPr>
        <p:spPr>
          <a:xfrm flipH="1">
            <a:off x="5404538" y="3566474"/>
            <a:ext cx="383591" cy="193428"/>
          </a:xfrm>
          <a:prstGeom prst="rect">
            <a:avLst/>
          </a:prstGeom>
          <a:solidFill>
            <a:schemeClr val="bg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100%</a:t>
            </a:r>
          </a:p>
        </p:txBody>
      </p:sp>
      <p:sp>
        <p:nvSpPr>
          <p:cNvPr id="21" name="Rectangle 20">
            <a:extLst>
              <a:ext uri="{FF2B5EF4-FFF2-40B4-BE49-F238E27FC236}">
                <a16:creationId xmlns:a16="http://schemas.microsoft.com/office/drawing/2014/main" id="{213475C6-BC4F-46B3-EAB5-5799B36034D4}"/>
              </a:ext>
            </a:extLst>
          </p:cNvPr>
          <p:cNvSpPr/>
          <p:nvPr/>
        </p:nvSpPr>
        <p:spPr>
          <a:xfrm>
            <a:off x="237600" y="4260737"/>
            <a:ext cx="793864" cy="20005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Sales (Mn units)</a:t>
            </a:r>
          </a:p>
        </p:txBody>
      </p:sp>
      <p:sp>
        <p:nvSpPr>
          <p:cNvPr id="19" name="Oval 18">
            <a:extLst>
              <a:ext uri="{FF2B5EF4-FFF2-40B4-BE49-F238E27FC236}">
                <a16:creationId xmlns:a16="http://schemas.microsoft.com/office/drawing/2014/main" id="{40583CBE-8618-6A8C-3738-ECA2BE93742E}"/>
              </a:ext>
            </a:extLst>
          </p:cNvPr>
          <p:cNvSpPr/>
          <p:nvPr/>
        </p:nvSpPr>
        <p:spPr>
          <a:xfrm flipH="1">
            <a:off x="1678398"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1.0</a:t>
            </a:r>
          </a:p>
        </p:txBody>
      </p:sp>
      <p:sp>
        <p:nvSpPr>
          <p:cNvPr id="20" name="Oval 19">
            <a:extLst>
              <a:ext uri="{FF2B5EF4-FFF2-40B4-BE49-F238E27FC236}">
                <a16:creationId xmlns:a16="http://schemas.microsoft.com/office/drawing/2014/main" id="{049FAAF2-A398-E553-4024-FC452443A507}"/>
              </a:ext>
            </a:extLst>
          </p:cNvPr>
          <p:cNvSpPr/>
          <p:nvPr/>
        </p:nvSpPr>
        <p:spPr>
          <a:xfrm flipH="1">
            <a:off x="2196824"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2.0</a:t>
            </a:r>
          </a:p>
        </p:txBody>
      </p:sp>
      <p:sp>
        <p:nvSpPr>
          <p:cNvPr id="22" name="Oval 21">
            <a:extLst>
              <a:ext uri="{FF2B5EF4-FFF2-40B4-BE49-F238E27FC236}">
                <a16:creationId xmlns:a16="http://schemas.microsoft.com/office/drawing/2014/main" id="{26F8DB8A-C20B-38B0-83F3-54CF092DCFAE}"/>
              </a:ext>
            </a:extLst>
          </p:cNvPr>
          <p:cNvSpPr/>
          <p:nvPr/>
        </p:nvSpPr>
        <p:spPr>
          <a:xfrm flipH="1">
            <a:off x="272656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2.1</a:t>
            </a:r>
          </a:p>
        </p:txBody>
      </p:sp>
      <p:sp>
        <p:nvSpPr>
          <p:cNvPr id="23" name="Oval 22">
            <a:extLst>
              <a:ext uri="{FF2B5EF4-FFF2-40B4-BE49-F238E27FC236}">
                <a16:creationId xmlns:a16="http://schemas.microsoft.com/office/drawing/2014/main" id="{85AF727D-9D31-5255-8834-90E27D03F159}"/>
              </a:ext>
            </a:extLst>
          </p:cNvPr>
          <p:cNvSpPr/>
          <p:nvPr/>
        </p:nvSpPr>
        <p:spPr>
          <a:xfrm flipH="1">
            <a:off x="3256890"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2.2</a:t>
            </a:r>
          </a:p>
        </p:txBody>
      </p:sp>
      <p:sp>
        <p:nvSpPr>
          <p:cNvPr id="24" name="Oval 23">
            <a:extLst>
              <a:ext uri="{FF2B5EF4-FFF2-40B4-BE49-F238E27FC236}">
                <a16:creationId xmlns:a16="http://schemas.microsoft.com/office/drawing/2014/main" id="{FA967205-EB04-A858-9167-0529D91F8345}"/>
              </a:ext>
            </a:extLst>
          </p:cNvPr>
          <p:cNvSpPr/>
          <p:nvPr/>
        </p:nvSpPr>
        <p:spPr>
          <a:xfrm flipH="1">
            <a:off x="3788412"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2.3</a:t>
            </a:r>
          </a:p>
        </p:txBody>
      </p:sp>
      <p:sp>
        <p:nvSpPr>
          <p:cNvPr id="25" name="Oval 24">
            <a:extLst>
              <a:ext uri="{FF2B5EF4-FFF2-40B4-BE49-F238E27FC236}">
                <a16:creationId xmlns:a16="http://schemas.microsoft.com/office/drawing/2014/main" id="{2241A994-8A0D-D798-106F-1CCEFB34505F}"/>
              </a:ext>
            </a:extLst>
          </p:cNvPr>
          <p:cNvSpPr/>
          <p:nvPr/>
        </p:nvSpPr>
        <p:spPr>
          <a:xfrm flipH="1">
            <a:off x="4322315"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2.4</a:t>
            </a:r>
          </a:p>
        </p:txBody>
      </p:sp>
      <p:sp>
        <p:nvSpPr>
          <p:cNvPr id="29" name="Oval 28">
            <a:extLst>
              <a:ext uri="{FF2B5EF4-FFF2-40B4-BE49-F238E27FC236}">
                <a16:creationId xmlns:a16="http://schemas.microsoft.com/office/drawing/2014/main" id="{D900F326-A419-5DD8-33F2-71C81C238439}"/>
              </a:ext>
            </a:extLst>
          </p:cNvPr>
          <p:cNvSpPr/>
          <p:nvPr/>
        </p:nvSpPr>
        <p:spPr>
          <a:xfrm flipH="1">
            <a:off x="4853837"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2.6</a:t>
            </a:r>
          </a:p>
        </p:txBody>
      </p:sp>
      <p:sp>
        <p:nvSpPr>
          <p:cNvPr id="30" name="Oval 29">
            <a:extLst>
              <a:ext uri="{FF2B5EF4-FFF2-40B4-BE49-F238E27FC236}">
                <a16:creationId xmlns:a16="http://schemas.microsoft.com/office/drawing/2014/main" id="{82FE7657-FF7F-2326-BB21-A28429FFDF39}"/>
              </a:ext>
            </a:extLst>
          </p:cNvPr>
          <p:cNvSpPr/>
          <p:nvPr/>
        </p:nvSpPr>
        <p:spPr>
          <a:xfrm flipH="1">
            <a:off x="538535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2.7</a:t>
            </a:r>
          </a:p>
        </p:txBody>
      </p:sp>
      <p:sp>
        <p:nvSpPr>
          <p:cNvPr id="37" name="Oval 36">
            <a:extLst>
              <a:ext uri="{FF2B5EF4-FFF2-40B4-BE49-F238E27FC236}">
                <a16:creationId xmlns:a16="http://schemas.microsoft.com/office/drawing/2014/main" id="{8807D88F-50AC-E34B-4BC0-F7492AA2BE7A}"/>
              </a:ext>
            </a:extLst>
          </p:cNvPr>
          <p:cNvSpPr/>
          <p:nvPr/>
        </p:nvSpPr>
        <p:spPr>
          <a:xfrm flipH="1">
            <a:off x="592044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2.8</a:t>
            </a:r>
          </a:p>
        </p:txBody>
      </p:sp>
      <p:sp>
        <p:nvSpPr>
          <p:cNvPr id="62" name="Oval 61">
            <a:extLst>
              <a:ext uri="{FF2B5EF4-FFF2-40B4-BE49-F238E27FC236}">
                <a16:creationId xmlns:a16="http://schemas.microsoft.com/office/drawing/2014/main" id="{2139DC56-63A0-4722-A6A3-58F5B9E51409}"/>
              </a:ext>
            </a:extLst>
          </p:cNvPr>
          <p:cNvSpPr/>
          <p:nvPr/>
        </p:nvSpPr>
        <p:spPr>
          <a:xfrm flipH="1">
            <a:off x="1152829" y="4247486"/>
            <a:ext cx="421950" cy="212771"/>
          </a:xfrm>
          <a:prstGeom prst="ellipse">
            <a:avLst/>
          </a:prstGeom>
          <a:solidFill>
            <a:schemeClr val="bg1">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378"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4" name="Rectangle 773">
            <a:extLst>
              <a:ext uri="{FF2B5EF4-FFF2-40B4-BE49-F238E27FC236}">
                <a16:creationId xmlns:a16="http://schemas.microsoft.com/office/drawing/2014/main" id="{9D6FD138-AF31-A28A-55BB-6C692DD6AA35}"/>
              </a:ext>
            </a:extLst>
          </p:cNvPr>
          <p:cNvSpPr/>
          <p:nvPr/>
        </p:nvSpPr>
        <p:spPr>
          <a:xfrm flipH="1">
            <a:off x="117200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t>
            </a:r>
          </a:p>
        </p:txBody>
      </p:sp>
      <p:sp>
        <p:nvSpPr>
          <p:cNvPr id="775" name="Rectangle 774">
            <a:extLst>
              <a:ext uri="{FF2B5EF4-FFF2-40B4-BE49-F238E27FC236}">
                <a16:creationId xmlns:a16="http://schemas.microsoft.com/office/drawing/2014/main" id="{ADC149B9-0BEF-1B5D-5F4F-E53436805EC2}"/>
              </a:ext>
            </a:extLst>
          </p:cNvPr>
          <p:cNvSpPr/>
          <p:nvPr/>
        </p:nvSpPr>
        <p:spPr>
          <a:xfrm flipH="1">
            <a:off x="169757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33%</a:t>
            </a:r>
          </a:p>
        </p:txBody>
      </p:sp>
      <p:sp>
        <p:nvSpPr>
          <p:cNvPr id="776" name="Rectangle 775">
            <a:extLst>
              <a:ext uri="{FF2B5EF4-FFF2-40B4-BE49-F238E27FC236}">
                <a16:creationId xmlns:a16="http://schemas.microsoft.com/office/drawing/2014/main" id="{73D9DDA8-EFE2-190D-9E74-47B50344CC23}"/>
              </a:ext>
            </a:extLst>
          </p:cNvPr>
          <p:cNvSpPr/>
          <p:nvPr/>
        </p:nvSpPr>
        <p:spPr>
          <a:xfrm>
            <a:off x="326230" y="3863593"/>
            <a:ext cx="705234" cy="30777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45720" bIns="45720" numCol="1" spcCol="0" rtlCol="0" fromWordArt="0" anchor="ctr" anchorCtr="0" forceAA="0" compatLnSpc="1">
            <a:prstTxWarp prst="textNoShape">
              <a:avLst/>
            </a:prstTxWarp>
            <a:spAutoFit/>
          </a:bodyPr>
          <a:lstStyle/>
          <a:p>
            <a:pPr marL="0" marR="0" lvl="0" indent="0" algn="r" defTabSz="914378" rtl="0" eaLnBrk="1" fontAlgn="auto" latinLnBrk="0" hangingPunct="1">
              <a:lnSpc>
                <a:spcPct val="10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Plant capacity utilization</a:t>
            </a:r>
          </a:p>
        </p:txBody>
      </p:sp>
      <p:sp>
        <p:nvSpPr>
          <p:cNvPr id="777" name="Rectangle 776">
            <a:extLst>
              <a:ext uri="{FF2B5EF4-FFF2-40B4-BE49-F238E27FC236}">
                <a16:creationId xmlns:a16="http://schemas.microsoft.com/office/drawing/2014/main" id="{F1B98950-65A9-3689-C91A-5068EF2D3E1A}"/>
              </a:ext>
            </a:extLst>
          </p:cNvPr>
          <p:cNvSpPr/>
          <p:nvPr/>
        </p:nvSpPr>
        <p:spPr>
          <a:xfrm flipH="1">
            <a:off x="2216003"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67%</a:t>
            </a:r>
          </a:p>
        </p:txBody>
      </p:sp>
      <p:sp>
        <p:nvSpPr>
          <p:cNvPr id="778" name="Rectangle 777">
            <a:extLst>
              <a:ext uri="{FF2B5EF4-FFF2-40B4-BE49-F238E27FC236}">
                <a16:creationId xmlns:a16="http://schemas.microsoft.com/office/drawing/2014/main" id="{5498C892-DE76-2DC1-DC34-85DAAD329426}"/>
              </a:ext>
            </a:extLst>
          </p:cNvPr>
          <p:cNvSpPr/>
          <p:nvPr/>
        </p:nvSpPr>
        <p:spPr>
          <a:xfrm flipH="1">
            <a:off x="274573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70%</a:t>
            </a:r>
          </a:p>
        </p:txBody>
      </p:sp>
      <p:sp>
        <p:nvSpPr>
          <p:cNvPr id="779" name="Rectangle 778">
            <a:extLst>
              <a:ext uri="{FF2B5EF4-FFF2-40B4-BE49-F238E27FC236}">
                <a16:creationId xmlns:a16="http://schemas.microsoft.com/office/drawing/2014/main" id="{6B1F6566-DE9B-A97B-89F6-CC511F120909}"/>
              </a:ext>
            </a:extLst>
          </p:cNvPr>
          <p:cNvSpPr/>
          <p:nvPr/>
        </p:nvSpPr>
        <p:spPr>
          <a:xfrm flipH="1">
            <a:off x="3276070"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74%</a:t>
            </a:r>
          </a:p>
        </p:txBody>
      </p:sp>
      <p:sp>
        <p:nvSpPr>
          <p:cNvPr id="780" name="Rectangle 779">
            <a:extLst>
              <a:ext uri="{FF2B5EF4-FFF2-40B4-BE49-F238E27FC236}">
                <a16:creationId xmlns:a16="http://schemas.microsoft.com/office/drawing/2014/main" id="{715FFBDD-772A-6823-E091-63B77BA22B86}"/>
              </a:ext>
            </a:extLst>
          </p:cNvPr>
          <p:cNvSpPr/>
          <p:nvPr/>
        </p:nvSpPr>
        <p:spPr>
          <a:xfrm flipH="1">
            <a:off x="3807592"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77%</a:t>
            </a:r>
          </a:p>
        </p:txBody>
      </p:sp>
      <p:sp>
        <p:nvSpPr>
          <p:cNvPr id="781" name="Rectangle 780">
            <a:extLst>
              <a:ext uri="{FF2B5EF4-FFF2-40B4-BE49-F238E27FC236}">
                <a16:creationId xmlns:a16="http://schemas.microsoft.com/office/drawing/2014/main" id="{FEBC73E7-91B4-33E8-F8C3-A3B3A170B337}"/>
              </a:ext>
            </a:extLst>
          </p:cNvPr>
          <p:cNvSpPr/>
          <p:nvPr/>
        </p:nvSpPr>
        <p:spPr>
          <a:xfrm flipH="1">
            <a:off x="4341494"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81%</a:t>
            </a:r>
          </a:p>
        </p:txBody>
      </p:sp>
      <p:sp>
        <p:nvSpPr>
          <p:cNvPr id="782" name="Rectangle 781">
            <a:extLst>
              <a:ext uri="{FF2B5EF4-FFF2-40B4-BE49-F238E27FC236}">
                <a16:creationId xmlns:a16="http://schemas.microsoft.com/office/drawing/2014/main" id="{3DC7CE60-BCAC-FC3A-C472-01498588DC9A}"/>
              </a:ext>
            </a:extLst>
          </p:cNvPr>
          <p:cNvSpPr/>
          <p:nvPr/>
        </p:nvSpPr>
        <p:spPr>
          <a:xfrm flipH="1">
            <a:off x="4873016"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85%</a:t>
            </a:r>
          </a:p>
        </p:txBody>
      </p:sp>
      <p:sp>
        <p:nvSpPr>
          <p:cNvPr id="783" name="Rectangle 782">
            <a:extLst>
              <a:ext uri="{FF2B5EF4-FFF2-40B4-BE49-F238E27FC236}">
                <a16:creationId xmlns:a16="http://schemas.microsoft.com/office/drawing/2014/main" id="{D40A698F-4074-91F3-9C0F-536F872C6DAF}"/>
              </a:ext>
            </a:extLst>
          </p:cNvPr>
          <p:cNvSpPr/>
          <p:nvPr/>
        </p:nvSpPr>
        <p:spPr>
          <a:xfrm flipH="1">
            <a:off x="5939629"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94%</a:t>
            </a:r>
          </a:p>
        </p:txBody>
      </p:sp>
      <p:sp>
        <p:nvSpPr>
          <p:cNvPr id="784" name="Rectangle 783">
            <a:extLst>
              <a:ext uri="{FF2B5EF4-FFF2-40B4-BE49-F238E27FC236}">
                <a16:creationId xmlns:a16="http://schemas.microsoft.com/office/drawing/2014/main" id="{3A77C160-83E2-2B13-64A1-8FC7B37669BC}"/>
              </a:ext>
            </a:extLst>
          </p:cNvPr>
          <p:cNvSpPr/>
          <p:nvPr/>
        </p:nvSpPr>
        <p:spPr>
          <a:xfrm flipH="1">
            <a:off x="5404538" y="3913874"/>
            <a:ext cx="383591" cy="193428"/>
          </a:xfrm>
          <a:prstGeom prst="rect">
            <a:avLst/>
          </a:prstGeom>
          <a:solidFill>
            <a:schemeClr val="tx2"/>
          </a:solidFill>
        </p:spPr>
        <p:txBody>
          <a:bodyPr wrap="square" lIns="0" rIns="0" rtlCol="0" anchor="t">
            <a:noAutofit/>
          </a:bodyPr>
          <a:lstStyle/>
          <a:p>
            <a:pPr marL="0" marR="0" lvl="0" indent="0" algn="ctr" defTabSz="457200" rtl="0" eaLnBrk="1" fontAlgn="auto" latinLnBrk="0" hangingPunct="1">
              <a:lnSpc>
                <a:spcPct val="100000"/>
              </a:lnSpc>
              <a:spcBef>
                <a:spcPts val="300"/>
              </a:spcBef>
              <a:spcAft>
                <a:spcPts val="300"/>
              </a:spcAft>
              <a:buClrTx/>
              <a:buSzTx/>
              <a:buFontTx/>
              <a:buNone/>
              <a:tabLst/>
              <a:defRPr/>
            </a:pPr>
            <a:r>
              <a:rPr kumimoji="0" lang="en-US" sz="700" b="0"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89%</a:t>
            </a:r>
          </a:p>
        </p:txBody>
      </p:sp>
      <p:graphicFrame>
        <p:nvGraphicFramePr>
          <p:cNvPr id="41" name="Table 141">
            <a:extLst>
              <a:ext uri="{FF2B5EF4-FFF2-40B4-BE49-F238E27FC236}">
                <a16:creationId xmlns:a16="http://schemas.microsoft.com/office/drawing/2014/main" id="{6AA348EE-56C7-9475-D466-70EDF945BB6C}"/>
              </a:ext>
            </a:extLst>
          </p:cNvPr>
          <p:cNvGraphicFramePr>
            <a:graphicFrameLocks noGrp="1"/>
          </p:cNvGraphicFramePr>
          <p:nvPr>
            <p:extLst>
              <p:ext uri="{D42A27DB-BD31-4B8C-83A1-F6EECF244321}">
                <p14:modId xmlns:p14="http://schemas.microsoft.com/office/powerpoint/2010/main" val="1982610363"/>
              </p:ext>
            </p:extLst>
          </p:nvPr>
        </p:nvGraphicFramePr>
        <p:xfrm>
          <a:off x="6565901" y="2268538"/>
          <a:ext cx="2255146" cy="1618488"/>
        </p:xfrm>
        <a:graphic>
          <a:graphicData uri="http://schemas.openxmlformats.org/drawingml/2006/table">
            <a:tbl>
              <a:tblPr firstRow="1" bandRow="1">
                <a:tableStyleId>{5C22544A-7EE6-4342-B048-85BDC9FD1C3A}</a:tableStyleId>
              </a:tblPr>
              <a:tblGrid>
                <a:gridCol w="1383319">
                  <a:extLst>
                    <a:ext uri="{9D8B030D-6E8A-4147-A177-3AD203B41FA5}">
                      <a16:colId xmlns:a16="http://schemas.microsoft.com/office/drawing/2014/main" val="1585286637"/>
                    </a:ext>
                  </a:extLst>
                </a:gridCol>
                <a:gridCol w="871827">
                  <a:extLst>
                    <a:ext uri="{9D8B030D-6E8A-4147-A177-3AD203B41FA5}">
                      <a16:colId xmlns:a16="http://schemas.microsoft.com/office/drawing/2014/main" val="980421812"/>
                    </a:ext>
                  </a:extLst>
                </a:gridCol>
              </a:tblGrid>
              <a:tr h="539496">
                <a:tc>
                  <a:txBody>
                    <a:bodyPr/>
                    <a:lstStyle/>
                    <a:p>
                      <a:pPr algn="l" rtl="0"/>
                      <a:r>
                        <a:rPr lang="en-GB" sz="1000" b="1">
                          <a:solidFill>
                            <a:schemeClr val="bg1">
                              <a:lumMod val="95000"/>
                            </a:schemeClr>
                          </a:solidFill>
                          <a:latin typeface="Fund Light" pitchFamily="2" charset="-78"/>
                          <a:cs typeface="Fund Light" pitchFamily="2" charset="-78"/>
                        </a:rPr>
                        <a:t>NPV</a:t>
                      </a:r>
                      <a:r>
                        <a:rPr lang="en-GB" sz="1000" b="0">
                          <a:solidFill>
                            <a:schemeClr val="bg1">
                              <a:lumMod val="95000"/>
                            </a:schemeClr>
                          </a:solidFill>
                          <a:latin typeface="Fund Light" pitchFamily="2" charset="-78"/>
                          <a:cs typeface="Fund Light" pitchFamily="2" charset="-78"/>
                        </a:rPr>
                        <a:t> </a:t>
                      </a:r>
                      <a:r>
                        <a:rPr lang="en-GB" sz="1000" b="0" i="0">
                          <a:solidFill>
                            <a:schemeClr val="bg1">
                              <a:lumMod val="95000"/>
                            </a:schemeClr>
                          </a:solidFill>
                          <a:latin typeface="Fund Light" pitchFamily="2" charset="-78"/>
                          <a:cs typeface="Fund Light" pitchFamily="2" charset="-78"/>
                        </a:rPr>
                        <a:t>(SAR Mn)</a:t>
                      </a:r>
                      <a:endParaRPr lang="en-GB" sz="1000" b="0" i="0" baseline="30000">
                        <a:solidFill>
                          <a:schemeClr val="bg1">
                            <a:lumMod val="95000"/>
                          </a:schemeClr>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50+</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1349318006"/>
                  </a:ext>
                </a:extLst>
              </a:tr>
              <a:tr h="539496">
                <a:tc>
                  <a:txBody>
                    <a:bodyPr/>
                    <a:lstStyle/>
                    <a:p>
                      <a:pPr algn="l" rtl="0"/>
                      <a:r>
                        <a:rPr lang="en-GB" sz="1000" b="1">
                          <a:solidFill>
                            <a:srgbClr val="000000"/>
                          </a:solidFill>
                          <a:latin typeface="Fund Light" pitchFamily="2" charset="-78"/>
                          <a:cs typeface="Fund Light" pitchFamily="2" charset="-78"/>
                        </a:rPr>
                        <a:t>Break-even</a:t>
                      </a:r>
                      <a:br>
                        <a:rPr lang="en-GB" sz="1000" b="1">
                          <a:solidFill>
                            <a:srgbClr val="000000"/>
                          </a:solidFill>
                          <a:latin typeface="Fund Light" pitchFamily="2" charset="-78"/>
                          <a:cs typeface="Fund Light" pitchFamily="2" charset="-78"/>
                        </a:rPr>
                      </a:br>
                      <a:r>
                        <a:rPr lang="en-GB" sz="1000" b="1">
                          <a:solidFill>
                            <a:srgbClr val="000000"/>
                          </a:solidFill>
                          <a:latin typeface="Fund Light" pitchFamily="2" charset="-78"/>
                          <a:cs typeface="Fund Light" pitchFamily="2" charset="-78"/>
                        </a:rPr>
                        <a:t>volume </a:t>
                      </a:r>
                      <a:r>
                        <a:rPr lang="en-GB" sz="1000" b="0" i="1">
                          <a:solidFill>
                            <a:srgbClr val="000000"/>
                          </a:solidFill>
                          <a:latin typeface="Fund Light" pitchFamily="2" charset="-78"/>
                          <a:cs typeface="Fund Light" pitchFamily="2" charset="-78"/>
                        </a:rPr>
                        <a:t>(yearly)</a:t>
                      </a:r>
                      <a:endParaRPr lang="en-GB" sz="1000" b="0" i="1" baseline="3000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~1 Mn units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887367567"/>
                  </a:ext>
                </a:extLst>
              </a:tr>
              <a:tr h="5394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rgbClr val="000000"/>
                          </a:solidFill>
                          <a:latin typeface="Fund Light" pitchFamily="2" charset="-78"/>
                          <a:cs typeface="Fund Light" pitchFamily="2" charset="-78"/>
                        </a:rPr>
                        <a:t>Payback period</a:t>
                      </a:r>
                      <a:endParaRPr lang="en-GB" sz="1000" b="0">
                        <a:solidFill>
                          <a:srgbClr val="000000"/>
                        </a:solidFill>
                        <a:latin typeface="Fund Light" pitchFamily="2" charset="-78"/>
                        <a:cs typeface="Fund Light" pitchFamily="2" charset="-78"/>
                      </a:endParaRP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rgbClr val="000000"/>
                          </a:solidFill>
                          <a:latin typeface="Fund Light" pitchFamily="2" charset="-78"/>
                          <a:cs typeface="Fund Light" pitchFamily="2" charset="-78"/>
                        </a:rPr>
                        <a:t>6 - 8 yrs.</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20000"/>
                      </a:schemeClr>
                    </a:solidFill>
                  </a:tcPr>
                </a:tc>
                <a:extLst>
                  <a:ext uri="{0D108BD9-81ED-4DB2-BD59-A6C34878D82A}">
                    <a16:rowId xmlns:a16="http://schemas.microsoft.com/office/drawing/2014/main" val="2434825908"/>
                  </a:ext>
                </a:extLst>
              </a:tr>
            </a:tbl>
          </a:graphicData>
        </a:graphic>
      </p:graphicFrame>
      <p:sp>
        <p:nvSpPr>
          <p:cNvPr id="43" name="Speech Bubble: Rectangle 42">
            <a:extLst>
              <a:ext uri="{FF2B5EF4-FFF2-40B4-BE49-F238E27FC236}">
                <a16:creationId xmlns:a16="http://schemas.microsoft.com/office/drawing/2014/main" id="{D8CC8476-A1C0-A243-F979-E2DB2E69113A}"/>
              </a:ext>
            </a:extLst>
          </p:cNvPr>
          <p:cNvSpPr/>
          <p:nvPr/>
        </p:nvSpPr>
        <p:spPr>
          <a:xfrm>
            <a:off x="6632376" y="4237341"/>
            <a:ext cx="2435578" cy="483542"/>
          </a:xfrm>
          <a:prstGeom prst="wedgeRectCallout">
            <a:avLst>
              <a:gd name="adj1" fmla="val -18337"/>
              <a:gd name="adj2" fmla="val -145699"/>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KPIs to inform whether the risks are manageable</a:t>
            </a:r>
            <a:br>
              <a:rPr lang="en-US" sz="900">
                <a:solidFill>
                  <a:srgbClr val="000000"/>
                </a:solidFill>
                <a:latin typeface="Fund Light" pitchFamily="2" charset="-78"/>
                <a:cs typeface="Fund Light" pitchFamily="2" charset="-78"/>
              </a:rPr>
            </a:br>
            <a:r>
              <a:rPr lang="en-US" sz="900">
                <a:solidFill>
                  <a:srgbClr val="000000"/>
                </a:solidFill>
                <a:latin typeface="Fund Light" pitchFamily="2" charset="-78"/>
                <a:cs typeface="Fund Light" pitchFamily="2" charset="-78"/>
              </a:rPr>
              <a:t>(framework on the next page)</a:t>
            </a:r>
          </a:p>
        </p:txBody>
      </p:sp>
      <p:sp>
        <p:nvSpPr>
          <p:cNvPr id="4" name="Text Placeholder 6">
            <a:extLst>
              <a:ext uri="{FF2B5EF4-FFF2-40B4-BE49-F238E27FC236}">
                <a16:creationId xmlns:a16="http://schemas.microsoft.com/office/drawing/2014/main" id="{1DC9499A-CA0F-9A68-B82A-C96165396141}"/>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Are the risks manageable?</a:t>
            </a:r>
          </a:p>
        </p:txBody>
      </p:sp>
      <p:sp>
        <p:nvSpPr>
          <p:cNvPr id="9" name="Oval 8">
            <a:extLst>
              <a:ext uri="{FF2B5EF4-FFF2-40B4-BE49-F238E27FC236}">
                <a16:creationId xmlns:a16="http://schemas.microsoft.com/office/drawing/2014/main" id="{B5CD7860-858F-7CE5-DCEC-3F35A93B3838}"/>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spTree>
    <p:extLst>
      <p:ext uri="{BB962C8B-B14F-4D97-AF65-F5344CB8AC3E}">
        <p14:creationId xmlns:p14="http://schemas.microsoft.com/office/powerpoint/2010/main" val="4200144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hink-cell data - do not delete" hidden="1">
            <a:extLst>
              <a:ext uri="{FF2B5EF4-FFF2-40B4-BE49-F238E27FC236}">
                <a16:creationId xmlns:a16="http://schemas.microsoft.com/office/drawing/2014/main" id="{22586AA1-9F78-6F2E-3CB6-8B92F4760BC7}"/>
              </a:ext>
            </a:extLst>
          </p:cNvPr>
          <p:cNvGraphicFramePr>
            <a:graphicFrameLocks noChangeAspect="1"/>
          </p:cNvGraphicFramePr>
          <p:nvPr>
            <p:custDataLst>
              <p:tags r:id="rId1"/>
            </p:custDataLst>
            <p:extLst>
              <p:ext uri="{D42A27DB-BD31-4B8C-83A1-F6EECF244321}">
                <p14:modId xmlns:p14="http://schemas.microsoft.com/office/powerpoint/2010/main" val="1563391987"/>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76" name="think-cell data - do not delete" hidden="1">
                        <a:extLst>
                          <a:ext uri="{FF2B5EF4-FFF2-40B4-BE49-F238E27FC236}">
                            <a16:creationId xmlns:a16="http://schemas.microsoft.com/office/drawing/2014/main" id="{22586AA1-9F78-6F2E-3CB6-8B92F4760BC7}"/>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62CAFD1-2A03-405F-A7BE-16BA01DF511B}"/>
              </a:ext>
            </a:extLst>
          </p:cNvPr>
          <p:cNvSpPr>
            <a:spLocks noGrp="1"/>
          </p:cNvSpPr>
          <p:nvPr>
            <p:ph type="title"/>
          </p:nvPr>
        </p:nvSpPr>
        <p:spPr>
          <a:xfrm>
            <a:off x="1255077" y="255973"/>
            <a:ext cx="6400800" cy="241824"/>
          </a:xfrm>
        </p:spPr>
        <p:txBody>
          <a:bodyPr vert="horz"/>
          <a:lstStyle/>
          <a:p>
            <a:r>
              <a:rPr lang="en-US"/>
              <a:t>The associated risks can be analyzed using two parameters</a:t>
            </a:r>
          </a:p>
        </p:txBody>
      </p:sp>
      <p:sp>
        <p:nvSpPr>
          <p:cNvPr id="22" name="Rectangle 21">
            <a:extLst>
              <a:ext uri="{FF2B5EF4-FFF2-40B4-BE49-F238E27FC236}">
                <a16:creationId xmlns:a16="http://schemas.microsoft.com/office/drawing/2014/main" id="{8C64E78A-AD85-5066-045B-56ADC7DCA16E}"/>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r>
              <a:rPr kumimoji="0" lang="en-US" sz="788" b="1" i="0" u="none" strike="noStrike" kern="1200" cap="none" spc="0" normalizeH="0" baseline="0" noProof="0">
                <a:ln>
                  <a:noFill/>
                </a:ln>
                <a:solidFill>
                  <a:srgbClr val="FFFFFF"/>
                </a:solidFill>
                <a:effectLst/>
                <a:uLnTx/>
                <a:uFillTx/>
                <a:latin typeface="Arial" panose="020B0604020202020204"/>
                <a:ea typeface="+mn-ea"/>
                <a:cs typeface="Sakkal Majalla" panose="02000000000000000000" pitchFamily="2" charset="-78"/>
              </a:rPr>
              <a:t> </a:t>
            </a:r>
          </a:p>
        </p:txBody>
      </p:sp>
      <p:graphicFrame>
        <p:nvGraphicFramePr>
          <p:cNvPr id="52" name="Table 141">
            <a:extLst>
              <a:ext uri="{FF2B5EF4-FFF2-40B4-BE49-F238E27FC236}">
                <a16:creationId xmlns:a16="http://schemas.microsoft.com/office/drawing/2014/main" id="{05C15CA3-5A70-4A27-A135-6A7A9B4331AE}"/>
              </a:ext>
            </a:extLst>
          </p:cNvPr>
          <p:cNvGraphicFramePr>
            <a:graphicFrameLocks noGrp="1"/>
          </p:cNvGraphicFramePr>
          <p:nvPr>
            <p:extLst>
              <p:ext uri="{D42A27DB-BD31-4B8C-83A1-F6EECF244321}">
                <p14:modId xmlns:p14="http://schemas.microsoft.com/office/powerpoint/2010/main" val="767398590"/>
              </p:ext>
            </p:extLst>
          </p:nvPr>
        </p:nvGraphicFramePr>
        <p:xfrm>
          <a:off x="6918759" y="1530197"/>
          <a:ext cx="1897866" cy="2496047"/>
        </p:xfrm>
        <a:graphic>
          <a:graphicData uri="http://schemas.openxmlformats.org/drawingml/2006/table">
            <a:tbl>
              <a:tblPr firstRow="1" bandRow="1">
                <a:tableStyleId>{5C22544A-7EE6-4342-B048-85BDC9FD1C3A}</a:tableStyleId>
              </a:tblPr>
              <a:tblGrid>
                <a:gridCol w="632622">
                  <a:extLst>
                    <a:ext uri="{9D8B030D-6E8A-4147-A177-3AD203B41FA5}">
                      <a16:colId xmlns:a16="http://schemas.microsoft.com/office/drawing/2014/main" val="273455641"/>
                    </a:ext>
                  </a:extLst>
                </a:gridCol>
                <a:gridCol w="632622">
                  <a:extLst>
                    <a:ext uri="{9D8B030D-6E8A-4147-A177-3AD203B41FA5}">
                      <a16:colId xmlns:a16="http://schemas.microsoft.com/office/drawing/2014/main" val="2924351273"/>
                    </a:ext>
                  </a:extLst>
                </a:gridCol>
                <a:gridCol w="632622">
                  <a:extLst>
                    <a:ext uri="{9D8B030D-6E8A-4147-A177-3AD203B41FA5}">
                      <a16:colId xmlns:a16="http://schemas.microsoft.com/office/drawing/2014/main" val="251915459"/>
                    </a:ext>
                  </a:extLst>
                </a:gridCol>
              </a:tblGrid>
              <a:tr h="447673">
                <a:tc>
                  <a:txBody>
                    <a:bodyPr/>
                    <a:lstStyle/>
                    <a:p>
                      <a:pPr algn="ctr" rtl="0"/>
                      <a:r>
                        <a:rPr lang="en-GB" sz="1000" b="1">
                          <a:solidFill>
                            <a:schemeClr val="bg1">
                              <a:lumMod val="50000"/>
                            </a:schemeClr>
                          </a:solidFill>
                          <a:latin typeface="Fund Light" pitchFamily="2" charset="-78"/>
                          <a:cs typeface="Fund Light" pitchFamily="2" charset="-78"/>
                        </a:rPr>
                        <a:t>No</a:t>
                      </a:r>
                    </a:p>
                  </a:txBody>
                  <a:tcPr marL="0" marR="0" marB="21328">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endParaRPr lang="en-GB" sz="1000" b="1">
                        <a:solidFill>
                          <a:schemeClr val="bg1">
                            <a:lumMod val="50000"/>
                          </a:schemeClr>
                        </a:solidFill>
                        <a:latin typeface="Fund Light" pitchFamily="2" charset="-78"/>
                        <a:cs typeface="Fund Light" pitchFamily="2" charset="-78"/>
                      </a:endParaRPr>
                    </a:p>
                  </a:txBody>
                  <a:tcPr marL="0" marR="0" marB="21328">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algn="ctr" rtl="0"/>
                      <a:r>
                        <a:rPr lang="en-GB" sz="1000" b="1">
                          <a:solidFill>
                            <a:schemeClr val="bg1">
                              <a:lumMod val="50000"/>
                            </a:schemeClr>
                          </a:solidFill>
                          <a:latin typeface="Fund Light" pitchFamily="2" charset="-78"/>
                          <a:cs typeface="Fund Light" pitchFamily="2" charset="-78"/>
                        </a:rPr>
                        <a:t>Yes</a:t>
                      </a:r>
                    </a:p>
                  </a:txBody>
                  <a:tcPr marL="0" marR="0" marB="21328">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358492975"/>
                  </a:ext>
                </a:extLst>
              </a:tr>
              <a:tr h="10241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rgbClr val="000000"/>
                          </a:solidFill>
                          <a:latin typeface="Fund Light" pitchFamily="2" charset="-78"/>
                          <a:cs typeface="Fund Light" pitchFamily="2" charset="-78"/>
                        </a:rPr>
                        <a:t>&gt; 40%</a:t>
                      </a:r>
                    </a:p>
                  </a:txBody>
                  <a:tcPr marL="0" marR="0" marT="21328" marB="21328" anchor="ctr">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000" b="0">
                          <a:solidFill>
                            <a:srgbClr val="000000"/>
                          </a:solidFill>
                          <a:latin typeface="Fund Light" pitchFamily="2" charset="-78"/>
                          <a:cs typeface="Fund Light" pitchFamily="2" charset="-78"/>
                        </a:rPr>
                        <a:t>30-40%</a:t>
                      </a:r>
                    </a:p>
                  </a:txBody>
                  <a:tcPr marL="0" marR="0" marT="2132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rgbClr val="000000"/>
                          </a:solidFill>
                          <a:latin typeface="Fund Light" pitchFamily="2" charset="-78"/>
                          <a:cs typeface="Fund Light" pitchFamily="2" charset="-78"/>
                        </a:rPr>
                        <a:t>&lt; 30%</a:t>
                      </a:r>
                    </a:p>
                  </a:txBody>
                  <a:tcPr marL="0" marR="0" marT="2132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2434825908"/>
                  </a:ext>
                </a:extLst>
              </a:tr>
              <a:tr h="1024187">
                <a:tc>
                  <a:txBody>
                    <a:bodyPr/>
                    <a:lstStyle/>
                    <a:p>
                      <a:pPr algn="ctr" rtl="0"/>
                      <a:r>
                        <a:rPr lang="en-GB" sz="1000" b="0">
                          <a:solidFill>
                            <a:srgbClr val="000000"/>
                          </a:solidFill>
                          <a:latin typeface="Fund Light" pitchFamily="2" charset="-78"/>
                          <a:cs typeface="Fund Light" pitchFamily="2" charset="-78"/>
                        </a:rPr>
                        <a:t>8+</a:t>
                      </a:r>
                    </a:p>
                  </a:txBody>
                  <a:tcPr marL="0" marR="0" marT="28437" marB="28437" anchor="ctr">
                    <a:lnL w="5715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algn="ctr" rtl="0"/>
                      <a:r>
                        <a:rPr lang="en-GB" sz="1000" b="0">
                          <a:solidFill>
                            <a:srgbClr val="000000"/>
                          </a:solidFill>
                          <a:latin typeface="Fund Light" pitchFamily="2" charset="-78"/>
                          <a:cs typeface="Fund Light" pitchFamily="2" charset="-78"/>
                        </a:rPr>
                        <a:t>5-8</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algn="ctr" rtl="0"/>
                      <a:r>
                        <a:rPr lang="en-GB" sz="1000" b="0">
                          <a:solidFill>
                            <a:srgbClr val="000000"/>
                          </a:solidFill>
                          <a:latin typeface="Fund Light" pitchFamily="2" charset="-78"/>
                          <a:cs typeface="Fund Light" pitchFamily="2" charset="-78"/>
                        </a:rPr>
                        <a:t>Up to 4</a:t>
                      </a:r>
                    </a:p>
                  </a:txBody>
                  <a:tcPr marL="0" marR="0" marT="28437" marB="28437"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2293767434"/>
                  </a:ext>
                </a:extLst>
              </a:tr>
            </a:tbl>
          </a:graphicData>
        </a:graphic>
      </p:graphicFrame>
      <p:cxnSp>
        <p:nvCxnSpPr>
          <p:cNvPr id="61" name="Connector: Elbow 15">
            <a:extLst>
              <a:ext uri="{FF2B5EF4-FFF2-40B4-BE49-F238E27FC236}">
                <a16:creationId xmlns:a16="http://schemas.microsoft.com/office/drawing/2014/main" id="{5460A7F9-5845-401F-A2EF-3A93850B047C}"/>
              </a:ext>
            </a:extLst>
          </p:cNvPr>
          <p:cNvCxnSpPr>
            <a:cxnSpLocks/>
          </p:cNvCxnSpPr>
          <p:nvPr/>
        </p:nvCxnSpPr>
        <p:spPr>
          <a:xfrm>
            <a:off x="7122762" y="1882094"/>
            <a:ext cx="1509713"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D13950EE-6B4B-45AB-950C-81088DF8A948}"/>
              </a:ext>
            </a:extLst>
          </p:cNvPr>
          <p:cNvSpPr txBox="1">
            <a:spLocks/>
          </p:cNvSpPr>
          <p:nvPr/>
        </p:nvSpPr>
        <p:spPr>
          <a:xfrm>
            <a:off x="3490383" y="1685096"/>
            <a:ext cx="2007307"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Metric</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79" name="Straight Connector 78">
            <a:extLst>
              <a:ext uri="{FF2B5EF4-FFF2-40B4-BE49-F238E27FC236}">
                <a16:creationId xmlns:a16="http://schemas.microsoft.com/office/drawing/2014/main" id="{18C0AB64-978A-4A87-BE4B-8DD9805CEF22}"/>
              </a:ext>
            </a:extLst>
          </p:cNvPr>
          <p:cNvCxnSpPr>
            <a:cxnSpLocks/>
          </p:cNvCxnSpPr>
          <p:nvPr/>
        </p:nvCxnSpPr>
        <p:spPr>
          <a:xfrm>
            <a:off x="3490383" y="1971015"/>
            <a:ext cx="200730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6E735103-260A-4ABB-BE71-2DEBF46DF51C}"/>
              </a:ext>
            </a:extLst>
          </p:cNvPr>
          <p:cNvSpPr txBox="1">
            <a:spLocks/>
          </p:cNvSpPr>
          <p:nvPr/>
        </p:nvSpPr>
        <p:spPr>
          <a:xfrm>
            <a:off x="5700769" y="1685096"/>
            <a:ext cx="1069011" cy="246221"/>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Sources</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85" name="Straight Connector 84">
            <a:extLst>
              <a:ext uri="{FF2B5EF4-FFF2-40B4-BE49-F238E27FC236}">
                <a16:creationId xmlns:a16="http://schemas.microsoft.com/office/drawing/2014/main" id="{2EC06C3C-A756-4D78-9CA6-00E5D7F4CF14}"/>
              </a:ext>
            </a:extLst>
          </p:cNvPr>
          <p:cNvCxnSpPr>
            <a:cxnSpLocks/>
          </p:cNvCxnSpPr>
          <p:nvPr/>
        </p:nvCxnSpPr>
        <p:spPr>
          <a:xfrm>
            <a:off x="5700769" y="1971015"/>
            <a:ext cx="1069011"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DB36C8C8-61E2-476D-959F-1F984099ABD0}"/>
              </a:ext>
            </a:extLst>
          </p:cNvPr>
          <p:cNvSpPr>
            <a:spLocks/>
          </p:cNvSpPr>
          <p:nvPr/>
        </p:nvSpPr>
        <p:spPr>
          <a:xfrm>
            <a:off x="5688348" y="2057723"/>
            <a:ext cx="1069011" cy="1981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171450" marR="0" lvl="0" indent="-171450" algn="l" defTabSz="457200" rtl="0" eaLnBrk="1" fontAlgn="auto" latinLnBrk="0" hangingPunct="1">
              <a:lnSpc>
                <a:spcPct val="100000"/>
              </a:lnSpc>
              <a:spcBef>
                <a:spcPts val="300"/>
              </a:spcBef>
              <a:spcAft>
                <a:spcPts val="30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Business teams</a:t>
            </a:r>
          </a:p>
          <a:p>
            <a:pPr marL="171450" marR="0" lvl="0" indent="-171450" algn="l" defTabSz="457200" rtl="0" eaLnBrk="1" fontAlgn="auto" latinLnBrk="0" hangingPunct="1">
              <a:lnSpc>
                <a:spcPct val="100000"/>
              </a:lnSpc>
              <a:spcBef>
                <a:spcPts val="300"/>
              </a:spcBef>
              <a:spcAft>
                <a:spcPts val="30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feedback</a:t>
            </a:r>
          </a:p>
          <a:p>
            <a:pPr marL="171450" marR="0" lvl="0" indent="-171450" algn="l" defTabSz="457200" rtl="0" eaLnBrk="1" fontAlgn="auto" latinLnBrk="0" hangingPunct="1">
              <a:lnSpc>
                <a:spcPct val="100000"/>
              </a:lnSpc>
              <a:spcBef>
                <a:spcPts val="300"/>
              </a:spcBef>
              <a:spcAft>
                <a:spcPts val="30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External benchmarks</a:t>
            </a:r>
          </a:p>
          <a:p>
            <a:pPr marL="171450" marR="0" lvl="0" indent="-171450" algn="l" defTabSz="457200" rtl="0" eaLnBrk="1" fontAlgn="auto" latinLnBrk="0" hangingPunct="1">
              <a:lnSpc>
                <a:spcPct val="100000"/>
              </a:lnSpc>
              <a:spcBef>
                <a:spcPts val="300"/>
              </a:spcBef>
              <a:spcAft>
                <a:spcPts val="300"/>
              </a:spcAft>
              <a:buClrTx/>
              <a:buSzTx/>
              <a:buFont typeface="+mj-lt"/>
              <a:buAutoNum type="arabi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PIF NDD</a:t>
            </a:r>
          </a:p>
        </p:txBody>
      </p:sp>
      <p:sp>
        <p:nvSpPr>
          <p:cNvPr id="128" name="Rectangle 127">
            <a:extLst>
              <a:ext uri="{FF2B5EF4-FFF2-40B4-BE49-F238E27FC236}">
                <a16:creationId xmlns:a16="http://schemas.microsoft.com/office/drawing/2014/main" id="{6CBA77F3-55CF-43F0-BA2E-1C5D412E07D3}"/>
              </a:ext>
            </a:extLst>
          </p:cNvPr>
          <p:cNvSpPr>
            <a:spLocks/>
          </p:cNvSpPr>
          <p:nvPr/>
        </p:nvSpPr>
        <p:spPr>
          <a:xfrm>
            <a:off x="3475877" y="3217731"/>
            <a:ext cx="2011285" cy="53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Minimum between # years for payback and # years with buyer demand at high confidence</a:t>
            </a:r>
          </a:p>
        </p:txBody>
      </p:sp>
      <p:sp>
        <p:nvSpPr>
          <p:cNvPr id="89" name="TextBox 88">
            <a:extLst>
              <a:ext uri="{FF2B5EF4-FFF2-40B4-BE49-F238E27FC236}">
                <a16:creationId xmlns:a16="http://schemas.microsoft.com/office/drawing/2014/main" id="{22DB7770-FB10-461F-8F22-373CEA40C7C5}"/>
              </a:ext>
            </a:extLst>
          </p:cNvPr>
          <p:cNvSpPr txBox="1">
            <a:spLocks/>
          </p:cNvSpPr>
          <p:nvPr/>
        </p:nvSpPr>
        <p:spPr>
          <a:xfrm>
            <a:off x="554257" y="1529904"/>
            <a:ext cx="1235075"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Risk assessment dimension</a:t>
            </a:r>
            <a:endPar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90" name="Straight Connector 89">
            <a:extLst>
              <a:ext uri="{FF2B5EF4-FFF2-40B4-BE49-F238E27FC236}">
                <a16:creationId xmlns:a16="http://schemas.microsoft.com/office/drawing/2014/main" id="{9EF767CF-9C0F-4236-9802-3BF891D4654B}"/>
              </a:ext>
            </a:extLst>
          </p:cNvPr>
          <p:cNvCxnSpPr>
            <a:cxnSpLocks/>
          </p:cNvCxnSpPr>
          <p:nvPr/>
        </p:nvCxnSpPr>
        <p:spPr>
          <a:xfrm>
            <a:off x="554256" y="1969712"/>
            <a:ext cx="123507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3477F041-1811-4F48-A1D0-16CB8A9DCFA7}"/>
              </a:ext>
            </a:extLst>
          </p:cNvPr>
          <p:cNvSpPr>
            <a:spLocks/>
          </p:cNvSpPr>
          <p:nvPr/>
        </p:nvSpPr>
        <p:spPr>
          <a:xfrm>
            <a:off x="867790" y="3216428"/>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duration</a:t>
            </a:r>
          </a:p>
        </p:txBody>
      </p:sp>
      <p:sp>
        <p:nvSpPr>
          <p:cNvPr id="101" name="Rectangle 100">
            <a:extLst>
              <a:ext uri="{FF2B5EF4-FFF2-40B4-BE49-F238E27FC236}">
                <a16:creationId xmlns:a16="http://schemas.microsoft.com/office/drawing/2014/main" id="{1771C2A2-2F74-4623-A396-DBE44209F7FE}"/>
              </a:ext>
            </a:extLst>
          </p:cNvPr>
          <p:cNvSpPr>
            <a:spLocks/>
          </p:cNvSpPr>
          <p:nvPr/>
        </p:nvSpPr>
        <p:spPr>
          <a:xfrm>
            <a:off x="853284" y="2235396"/>
            <a:ext cx="1087647"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LDC volume</a:t>
            </a:r>
          </a:p>
        </p:txBody>
      </p:sp>
      <p:sp>
        <p:nvSpPr>
          <p:cNvPr id="127" name="Rectangle 126">
            <a:extLst>
              <a:ext uri="{FF2B5EF4-FFF2-40B4-BE49-F238E27FC236}">
                <a16:creationId xmlns:a16="http://schemas.microsoft.com/office/drawing/2014/main" id="{A7C2E1D6-98A8-4E3B-AF21-938D2AA088AE}"/>
              </a:ext>
            </a:extLst>
          </p:cNvPr>
          <p:cNvSpPr>
            <a:spLocks/>
          </p:cNvSpPr>
          <p:nvPr/>
        </p:nvSpPr>
        <p:spPr>
          <a:xfrm>
            <a:off x="3475877" y="2236699"/>
            <a:ext cx="2011285" cy="53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GB"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of LDC volume over total average annual buyer demand</a:t>
            </a:r>
          </a:p>
        </p:txBody>
      </p:sp>
      <p:cxnSp>
        <p:nvCxnSpPr>
          <p:cNvPr id="125" name="Straight Connector 124">
            <a:extLst>
              <a:ext uri="{FF2B5EF4-FFF2-40B4-BE49-F238E27FC236}">
                <a16:creationId xmlns:a16="http://schemas.microsoft.com/office/drawing/2014/main" id="{26A528B9-0751-4DB2-A2FE-AD2611906C54}"/>
              </a:ext>
            </a:extLst>
          </p:cNvPr>
          <p:cNvCxnSpPr>
            <a:cxnSpLocks/>
          </p:cNvCxnSpPr>
          <p:nvPr/>
        </p:nvCxnSpPr>
        <p:spPr>
          <a:xfrm>
            <a:off x="322704" y="3015666"/>
            <a:ext cx="5261063"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CD4E176-429E-8F75-BFA5-802ED5B5D254}"/>
              </a:ext>
            </a:extLst>
          </p:cNvPr>
          <p:cNvSpPr txBox="1"/>
          <p:nvPr/>
        </p:nvSpPr>
        <p:spPr>
          <a:xfrm>
            <a:off x="332714" y="621506"/>
            <a:ext cx="8519188" cy="400110"/>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Demand commitment can imply risks for the buyer, and it is important to estimate the extent of the risk. This can be assessed across two dimensions (which are primarily informed by the business model as well as supplier feedback, as available)</a:t>
            </a:r>
            <a:endParaRPr lang="en-US" sz="1000" i="1"/>
          </a:p>
        </p:txBody>
      </p:sp>
      <p:sp>
        <p:nvSpPr>
          <p:cNvPr id="106" name="Oval 105">
            <a:extLst>
              <a:ext uri="{FF2B5EF4-FFF2-40B4-BE49-F238E27FC236}">
                <a16:creationId xmlns:a16="http://schemas.microsoft.com/office/drawing/2014/main" id="{EB0B285D-6420-4642-83D8-11D8CF35A734}"/>
              </a:ext>
            </a:extLst>
          </p:cNvPr>
          <p:cNvSpPr/>
          <p:nvPr/>
        </p:nvSpPr>
        <p:spPr>
          <a:xfrm>
            <a:off x="624684" y="3374120"/>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
        <p:nvSpPr>
          <p:cNvPr id="103" name="Oval 102">
            <a:extLst>
              <a:ext uri="{FF2B5EF4-FFF2-40B4-BE49-F238E27FC236}">
                <a16:creationId xmlns:a16="http://schemas.microsoft.com/office/drawing/2014/main" id="{21F312CA-AB2D-47FB-88BF-123C5D513F4C}"/>
              </a:ext>
            </a:extLst>
          </p:cNvPr>
          <p:cNvSpPr/>
          <p:nvPr/>
        </p:nvSpPr>
        <p:spPr>
          <a:xfrm>
            <a:off x="624684" y="2393088"/>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4" name="TextBox 3">
            <a:extLst>
              <a:ext uri="{FF2B5EF4-FFF2-40B4-BE49-F238E27FC236}">
                <a16:creationId xmlns:a16="http://schemas.microsoft.com/office/drawing/2014/main" id="{9BE51B98-D695-909B-1AA9-FB3345C62F1B}"/>
              </a:ext>
            </a:extLst>
          </p:cNvPr>
          <p:cNvSpPr txBox="1">
            <a:spLocks/>
          </p:cNvSpPr>
          <p:nvPr/>
        </p:nvSpPr>
        <p:spPr>
          <a:xfrm>
            <a:off x="1914479" y="1531207"/>
            <a:ext cx="1467146" cy="400110"/>
          </a:xfrm>
          <a:prstGeom prst="rect">
            <a:avLst/>
          </a:prstGeom>
          <a:noFill/>
        </p:spPr>
        <p:txBody>
          <a:bodyPr wrap="square" rtlCol="0" anchor="b">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Business model output</a:t>
            </a:r>
          </a:p>
        </p:txBody>
      </p:sp>
      <p:cxnSp>
        <p:nvCxnSpPr>
          <p:cNvPr id="6" name="Straight Connector 5">
            <a:extLst>
              <a:ext uri="{FF2B5EF4-FFF2-40B4-BE49-F238E27FC236}">
                <a16:creationId xmlns:a16="http://schemas.microsoft.com/office/drawing/2014/main" id="{69A4D8B3-760E-6839-9F1A-2B166EFA09C2}"/>
              </a:ext>
            </a:extLst>
          </p:cNvPr>
          <p:cNvCxnSpPr>
            <a:cxnSpLocks/>
          </p:cNvCxnSpPr>
          <p:nvPr/>
        </p:nvCxnSpPr>
        <p:spPr>
          <a:xfrm>
            <a:off x="1914478" y="1972318"/>
            <a:ext cx="146714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EF91F13-59AC-9B30-9C33-D87C1C4C31FF}"/>
              </a:ext>
            </a:extLst>
          </p:cNvPr>
          <p:cNvSpPr>
            <a:spLocks/>
          </p:cNvSpPr>
          <p:nvPr/>
        </p:nvSpPr>
        <p:spPr>
          <a:xfrm>
            <a:off x="1940932" y="2238002"/>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Break-even volume</a:t>
            </a:r>
          </a:p>
        </p:txBody>
      </p:sp>
      <p:sp>
        <p:nvSpPr>
          <p:cNvPr id="20" name="Rectangle 19">
            <a:extLst>
              <a:ext uri="{FF2B5EF4-FFF2-40B4-BE49-F238E27FC236}">
                <a16:creationId xmlns:a16="http://schemas.microsoft.com/office/drawing/2014/main" id="{F2B3CF19-8004-C776-74FE-309708B42366}"/>
              </a:ext>
            </a:extLst>
          </p:cNvPr>
          <p:cNvSpPr>
            <a:spLocks/>
          </p:cNvSpPr>
          <p:nvPr/>
        </p:nvSpPr>
        <p:spPr>
          <a:xfrm>
            <a:off x="1940932" y="3219034"/>
            <a:ext cx="1440694" cy="538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Payback period</a:t>
            </a:r>
          </a:p>
        </p:txBody>
      </p:sp>
      <p:sp>
        <p:nvSpPr>
          <p:cNvPr id="23" name="TextBox 22">
            <a:extLst>
              <a:ext uri="{FF2B5EF4-FFF2-40B4-BE49-F238E27FC236}">
                <a16:creationId xmlns:a16="http://schemas.microsoft.com/office/drawing/2014/main" id="{04C81960-9765-10FF-C5C0-2099B2189EA7}"/>
              </a:ext>
            </a:extLst>
          </p:cNvPr>
          <p:cNvSpPr txBox="1">
            <a:spLocks/>
          </p:cNvSpPr>
          <p:nvPr/>
        </p:nvSpPr>
        <p:spPr>
          <a:xfrm>
            <a:off x="6922303" y="1123670"/>
            <a:ext cx="1857629" cy="400110"/>
          </a:xfrm>
          <a:prstGeom prst="rect">
            <a:avLst/>
          </a:prstGeom>
          <a:noFill/>
        </p:spPr>
        <p:txBody>
          <a:bodyPr wrap="square" rtlCol="0" anchor="b">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Are the associated risks manageable?</a:t>
            </a:r>
          </a:p>
        </p:txBody>
      </p:sp>
      <p:sp>
        <p:nvSpPr>
          <p:cNvPr id="7" name="Text Placeholder 6">
            <a:extLst>
              <a:ext uri="{FF2B5EF4-FFF2-40B4-BE49-F238E27FC236}">
                <a16:creationId xmlns:a16="http://schemas.microsoft.com/office/drawing/2014/main" id="{3258FD87-5137-5708-2828-E28E638BEB88}"/>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Are the risks manageable?</a:t>
            </a:r>
          </a:p>
        </p:txBody>
      </p:sp>
      <p:sp>
        <p:nvSpPr>
          <p:cNvPr id="8" name="Oval 7">
            <a:extLst>
              <a:ext uri="{FF2B5EF4-FFF2-40B4-BE49-F238E27FC236}">
                <a16:creationId xmlns:a16="http://schemas.microsoft.com/office/drawing/2014/main" id="{1F127D7B-2CC3-09C8-A34A-CF582B6AFC48}"/>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sp>
        <p:nvSpPr>
          <p:cNvPr id="12" name="Speech Bubble: Rectangle 11">
            <a:extLst>
              <a:ext uri="{FF2B5EF4-FFF2-40B4-BE49-F238E27FC236}">
                <a16:creationId xmlns:a16="http://schemas.microsoft.com/office/drawing/2014/main" id="{4AB60006-A004-2AE1-196A-2CBED0EA8FE1}"/>
              </a:ext>
            </a:extLst>
          </p:cNvPr>
          <p:cNvSpPr/>
          <p:nvPr/>
        </p:nvSpPr>
        <p:spPr>
          <a:xfrm>
            <a:off x="5130647" y="1050343"/>
            <a:ext cx="1673661" cy="626262"/>
          </a:xfrm>
          <a:prstGeom prst="wedgeRectCallout">
            <a:avLst>
              <a:gd name="adj1" fmla="val 52019"/>
              <a:gd name="adj2" fmla="val 69898"/>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Thresholds for each parameter are indicative and can vary by product category</a:t>
            </a:r>
          </a:p>
        </p:txBody>
      </p:sp>
    </p:spTree>
    <p:extLst>
      <p:ext uri="{BB962C8B-B14F-4D97-AF65-F5344CB8AC3E}">
        <p14:creationId xmlns:p14="http://schemas.microsoft.com/office/powerpoint/2010/main" val="641812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 name="think-cell data - do not delete" hidden="1">
            <a:extLst>
              <a:ext uri="{FF2B5EF4-FFF2-40B4-BE49-F238E27FC236}">
                <a16:creationId xmlns:a16="http://schemas.microsoft.com/office/drawing/2014/main" id="{987C498E-5B5D-14C7-5C7C-8FD19BAE66B0}"/>
              </a:ext>
            </a:extLst>
          </p:cNvPr>
          <p:cNvGraphicFramePr>
            <a:graphicFrameLocks noChangeAspect="1"/>
          </p:cNvGraphicFramePr>
          <p:nvPr>
            <p:custDataLst>
              <p:tags r:id="rId1"/>
            </p:custDataLst>
            <p:extLst>
              <p:ext uri="{D42A27DB-BD31-4B8C-83A1-F6EECF244321}">
                <p14:modId xmlns:p14="http://schemas.microsoft.com/office/powerpoint/2010/main" val="50286855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72" name="think-cell data - do not delete" hidden="1">
                        <a:extLst>
                          <a:ext uri="{FF2B5EF4-FFF2-40B4-BE49-F238E27FC236}">
                            <a16:creationId xmlns:a16="http://schemas.microsoft.com/office/drawing/2014/main" id="{987C498E-5B5D-14C7-5C7C-8FD19BAE66B0}"/>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65F09348-B37B-463A-A07A-F9F289C15965}"/>
              </a:ext>
            </a:extLst>
          </p:cNvPr>
          <p:cNvSpPr>
            <a:spLocks noGrp="1"/>
          </p:cNvSpPr>
          <p:nvPr>
            <p:ph type="title"/>
          </p:nvPr>
        </p:nvSpPr>
        <p:spPr>
          <a:xfrm>
            <a:off x="1255077" y="255973"/>
            <a:ext cx="7680960" cy="241824"/>
          </a:xfrm>
        </p:spPr>
        <p:txBody>
          <a:bodyPr vert="horz"/>
          <a:lstStyle/>
          <a:p>
            <a:r>
              <a:rPr lang="en-US"/>
              <a:t>Once all four questions are answered, the product’s LDC feasibility is known – output example</a:t>
            </a:r>
          </a:p>
        </p:txBody>
      </p:sp>
      <p:sp>
        <p:nvSpPr>
          <p:cNvPr id="19" name="Rectangle 18">
            <a:extLst>
              <a:ext uri="{FF2B5EF4-FFF2-40B4-BE49-F238E27FC236}">
                <a16:creationId xmlns:a16="http://schemas.microsoft.com/office/drawing/2014/main" id="{B1604CAC-2F70-43EC-E23E-F576E3D4A475}"/>
              </a:ext>
            </a:extLst>
          </p:cNvPr>
          <p:cNvSpPr/>
          <p:nvPr/>
        </p:nvSpPr>
        <p:spPr>
          <a:xfrm>
            <a:off x="3677463"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Output example</a:t>
            </a:r>
          </a:p>
        </p:txBody>
      </p:sp>
      <p:sp>
        <p:nvSpPr>
          <p:cNvPr id="24" name="Text Placeholder 6">
            <a:extLst>
              <a:ext uri="{FF2B5EF4-FFF2-40B4-BE49-F238E27FC236}">
                <a16:creationId xmlns:a16="http://schemas.microsoft.com/office/drawing/2014/main" id="{87C6DACB-6043-BE9E-1182-B32083B2FF23}"/>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Feasibility assessment</a:t>
            </a:r>
          </a:p>
        </p:txBody>
      </p:sp>
      <p:sp>
        <p:nvSpPr>
          <p:cNvPr id="27" name="TextBox 26">
            <a:extLst>
              <a:ext uri="{FF2B5EF4-FFF2-40B4-BE49-F238E27FC236}">
                <a16:creationId xmlns:a16="http://schemas.microsoft.com/office/drawing/2014/main" id="{9CF0C493-C8E5-93A4-57C7-520F9442048A}"/>
              </a:ext>
            </a:extLst>
          </p:cNvPr>
          <p:cNvSpPr txBox="1"/>
          <p:nvPr/>
        </p:nvSpPr>
        <p:spPr>
          <a:xfrm>
            <a:off x="4361622" y="1094955"/>
            <a:ext cx="4491074" cy="1030490"/>
          </a:xfrm>
          <a:prstGeom prst="rect">
            <a:avLst/>
          </a:prstGeom>
          <a:noFill/>
        </p:spPr>
        <p:txBody>
          <a:bodyPr wrap="square" rtlCol="0" anchor="ctr">
            <a:noAutofit/>
          </a:bodyPr>
          <a:lstStyle/>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Opportunity to localize &lt;telecom product&gt; by setting up assembly and testing facility</a:t>
            </a:r>
          </a:p>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Currently, 100% reliance on imports with large procurement spend (SAR +500 Mn)</a:t>
            </a:r>
          </a:p>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Localizing the assembly and testing can increase the localization score by up to 2%</a:t>
            </a:r>
          </a:p>
        </p:txBody>
      </p:sp>
      <p:grpSp>
        <p:nvGrpSpPr>
          <p:cNvPr id="29" name="Group 28">
            <a:extLst>
              <a:ext uri="{FF2B5EF4-FFF2-40B4-BE49-F238E27FC236}">
                <a16:creationId xmlns:a16="http://schemas.microsoft.com/office/drawing/2014/main" id="{172A4AF5-BEB4-9605-5672-73B3C154951C}"/>
              </a:ext>
            </a:extLst>
          </p:cNvPr>
          <p:cNvGrpSpPr/>
          <p:nvPr/>
        </p:nvGrpSpPr>
        <p:grpSpPr>
          <a:xfrm>
            <a:off x="4361623" y="756627"/>
            <a:ext cx="4491073" cy="252977"/>
            <a:chOff x="280895" y="1285311"/>
            <a:chExt cx="2637669" cy="252977"/>
          </a:xfrm>
        </p:grpSpPr>
        <p:cxnSp>
          <p:nvCxnSpPr>
            <p:cNvPr id="30" name="Straight Connector 29">
              <a:extLst>
                <a:ext uri="{FF2B5EF4-FFF2-40B4-BE49-F238E27FC236}">
                  <a16:creationId xmlns:a16="http://schemas.microsoft.com/office/drawing/2014/main" id="{D93C8251-9BBF-4499-E057-65AF1CE9101E}"/>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AC80888-D971-D553-B1A1-B028DD9929B9}"/>
                </a:ext>
              </a:extLst>
            </p:cNvPr>
            <p:cNvSpPr txBox="1"/>
            <p:nvPr/>
          </p:nvSpPr>
          <p:spPr>
            <a:xfrm>
              <a:off x="280895" y="1285311"/>
              <a:ext cx="2637669" cy="246221"/>
            </a:xfrm>
            <a:prstGeom prst="rect">
              <a:avLst/>
            </a:prstGeom>
            <a:noFill/>
          </p:spPr>
          <p:txBody>
            <a:bodyPr wrap="square" rtlCol="0" anchor="b">
              <a:spAutoFit/>
            </a:bodyPr>
            <a:lstStyle/>
            <a:p>
              <a:r>
                <a:rPr lang="en-US" sz="1000" b="1">
                  <a:solidFill>
                    <a:srgbClr val="C4984F"/>
                  </a:solidFill>
                  <a:latin typeface="Fund Light" pitchFamily="2" charset="-78"/>
                  <a:cs typeface="Fund Light" pitchFamily="2" charset="-78"/>
                </a:rPr>
                <a:t>Rationale</a:t>
              </a:r>
            </a:p>
          </p:txBody>
        </p:sp>
      </p:grpSp>
      <p:sp>
        <p:nvSpPr>
          <p:cNvPr id="32" name="Text Placeholder 4">
            <a:extLst>
              <a:ext uri="{FF2B5EF4-FFF2-40B4-BE49-F238E27FC236}">
                <a16:creationId xmlns:a16="http://schemas.microsoft.com/office/drawing/2014/main" id="{B199B8B1-4A1A-6C58-826C-D5D718048BDA}"/>
              </a:ext>
            </a:extLst>
          </p:cNvPr>
          <p:cNvSpPr txBox="1">
            <a:spLocks/>
          </p:cNvSpPr>
          <p:nvPr/>
        </p:nvSpPr>
        <p:spPr>
          <a:xfrm>
            <a:off x="261662" y="742384"/>
            <a:ext cx="8674375" cy="186727"/>
          </a:xfrm>
          <a:prstGeom prst="rect">
            <a:avLst/>
          </a:prstGeom>
        </p:spPr>
        <p:txBody>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 </a:t>
            </a:r>
          </a:p>
        </p:txBody>
      </p:sp>
      <p:grpSp>
        <p:nvGrpSpPr>
          <p:cNvPr id="33" name="Group 32">
            <a:extLst>
              <a:ext uri="{FF2B5EF4-FFF2-40B4-BE49-F238E27FC236}">
                <a16:creationId xmlns:a16="http://schemas.microsoft.com/office/drawing/2014/main" id="{F64F1987-AD21-4523-F204-6322FBD0629A}"/>
              </a:ext>
            </a:extLst>
          </p:cNvPr>
          <p:cNvGrpSpPr/>
          <p:nvPr/>
        </p:nvGrpSpPr>
        <p:grpSpPr>
          <a:xfrm>
            <a:off x="369132" y="756627"/>
            <a:ext cx="1815829" cy="252977"/>
            <a:chOff x="280895" y="1285311"/>
            <a:chExt cx="2637669" cy="252977"/>
          </a:xfrm>
        </p:grpSpPr>
        <p:cxnSp>
          <p:nvCxnSpPr>
            <p:cNvPr id="36" name="Straight Connector 35">
              <a:extLst>
                <a:ext uri="{FF2B5EF4-FFF2-40B4-BE49-F238E27FC236}">
                  <a16:creationId xmlns:a16="http://schemas.microsoft.com/office/drawing/2014/main" id="{1D513D18-1898-B9F0-DE6E-5FD9CF812D1D}"/>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5E5DAF1-BADF-8F3D-1C61-71AC7318AC4D}"/>
                </a:ext>
              </a:extLst>
            </p:cNvPr>
            <p:cNvSpPr txBox="1"/>
            <p:nvPr/>
          </p:nvSpPr>
          <p:spPr>
            <a:xfrm>
              <a:off x="280895" y="1285311"/>
              <a:ext cx="2637669" cy="246221"/>
            </a:xfrm>
            <a:prstGeom prst="rect">
              <a:avLst/>
            </a:prstGeom>
            <a:noFill/>
          </p:spPr>
          <p:txBody>
            <a:bodyPr wrap="square" rtlCol="0" anchor="b">
              <a:spAutoFit/>
            </a:bodyPr>
            <a:lstStyle/>
            <a:p>
              <a:r>
                <a:rPr lang="en-US" sz="1000" b="1">
                  <a:solidFill>
                    <a:srgbClr val="C4984F"/>
                  </a:solidFill>
                  <a:latin typeface="Fund Light" pitchFamily="2" charset="-78"/>
                  <a:cs typeface="Fund Light" pitchFamily="2" charset="-78"/>
                </a:rPr>
                <a:t>Feasibility assessment </a:t>
              </a:r>
            </a:p>
          </p:txBody>
        </p:sp>
      </p:grpSp>
      <p:cxnSp>
        <p:nvCxnSpPr>
          <p:cNvPr id="38" name="Straight Connector 37">
            <a:extLst>
              <a:ext uri="{FF2B5EF4-FFF2-40B4-BE49-F238E27FC236}">
                <a16:creationId xmlns:a16="http://schemas.microsoft.com/office/drawing/2014/main" id="{C9AC965E-06DA-35ED-0403-7B5FBCB4319F}"/>
              </a:ext>
            </a:extLst>
          </p:cNvPr>
          <p:cNvCxnSpPr>
            <a:cxnSpLocks/>
          </p:cNvCxnSpPr>
          <p:nvPr/>
        </p:nvCxnSpPr>
        <p:spPr>
          <a:xfrm flipV="1">
            <a:off x="360070" y="2884751"/>
            <a:ext cx="8482515" cy="25"/>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68FE1243-23AF-AA91-2BA5-B086DE3E2E3B}"/>
              </a:ext>
            </a:extLst>
          </p:cNvPr>
          <p:cNvGrpSpPr/>
          <p:nvPr/>
        </p:nvGrpSpPr>
        <p:grpSpPr>
          <a:xfrm>
            <a:off x="2256232" y="756627"/>
            <a:ext cx="2034118" cy="252977"/>
            <a:chOff x="280895" y="1285311"/>
            <a:chExt cx="2637669" cy="252977"/>
          </a:xfrm>
        </p:grpSpPr>
        <p:cxnSp>
          <p:nvCxnSpPr>
            <p:cNvPr id="40" name="Straight Connector 39">
              <a:extLst>
                <a:ext uri="{FF2B5EF4-FFF2-40B4-BE49-F238E27FC236}">
                  <a16:creationId xmlns:a16="http://schemas.microsoft.com/office/drawing/2014/main" id="{530AB699-589F-7948-179B-2269FC9E2CDB}"/>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FE12E66-C05C-3AB4-3FE6-A8B5EFE34858}"/>
                </a:ext>
              </a:extLst>
            </p:cNvPr>
            <p:cNvSpPr txBox="1"/>
            <p:nvPr/>
          </p:nvSpPr>
          <p:spPr>
            <a:xfrm>
              <a:off x="280895" y="1285311"/>
              <a:ext cx="2637669" cy="246221"/>
            </a:xfrm>
            <a:prstGeom prst="rect">
              <a:avLst/>
            </a:prstGeom>
            <a:noFill/>
          </p:spPr>
          <p:txBody>
            <a:bodyPr wrap="square" rtlCol="0" anchor="b">
              <a:spAutoFit/>
            </a:bodyPr>
            <a:lstStyle/>
            <a:p>
              <a:r>
                <a:rPr lang="en-US" sz="1000" b="1">
                  <a:solidFill>
                    <a:srgbClr val="C4984F"/>
                  </a:solidFill>
                  <a:latin typeface="Fund Light" pitchFamily="2" charset="-78"/>
                  <a:cs typeface="Fund Light" pitchFamily="2" charset="-78"/>
                </a:rPr>
                <a:t>Outcome</a:t>
              </a:r>
            </a:p>
          </p:txBody>
        </p:sp>
      </p:grpSp>
      <p:sp>
        <p:nvSpPr>
          <p:cNvPr id="45" name="Rectangle 44">
            <a:extLst>
              <a:ext uri="{FF2B5EF4-FFF2-40B4-BE49-F238E27FC236}">
                <a16:creationId xmlns:a16="http://schemas.microsoft.com/office/drawing/2014/main" id="{2EB03330-E8E5-0DDB-02A3-5490972C8BAB}"/>
              </a:ext>
            </a:extLst>
          </p:cNvPr>
          <p:cNvSpPr/>
          <p:nvPr/>
        </p:nvSpPr>
        <p:spPr>
          <a:xfrm>
            <a:off x="2256233" y="1094955"/>
            <a:ext cx="651986" cy="543028"/>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spcBef>
                <a:spcPts val="300"/>
              </a:spcBef>
              <a:spcAft>
                <a:spcPts val="300"/>
              </a:spcAft>
            </a:pPr>
            <a:r>
              <a:rPr lang="en-US" sz="800">
                <a:solidFill>
                  <a:srgbClr val="FF0000"/>
                </a:solidFill>
                <a:latin typeface="Fund Light" pitchFamily="2" charset="-78"/>
                <a:cs typeface="Fund Light" pitchFamily="2" charset="-78"/>
              </a:rPr>
              <a:t>No</a:t>
            </a:r>
          </a:p>
        </p:txBody>
      </p:sp>
      <p:sp>
        <p:nvSpPr>
          <p:cNvPr id="47" name="Rectangle 46">
            <a:extLst>
              <a:ext uri="{FF2B5EF4-FFF2-40B4-BE49-F238E27FC236}">
                <a16:creationId xmlns:a16="http://schemas.microsoft.com/office/drawing/2014/main" id="{B10D4892-90BF-FC13-8308-3DD602B7C8DE}"/>
              </a:ext>
            </a:extLst>
          </p:cNvPr>
          <p:cNvSpPr/>
          <p:nvPr/>
        </p:nvSpPr>
        <p:spPr>
          <a:xfrm>
            <a:off x="2947300" y="1094955"/>
            <a:ext cx="651986" cy="543028"/>
          </a:xfrm>
          <a:prstGeom prst="rect">
            <a:avLst/>
          </a:prstGeom>
          <a:solidFill>
            <a:srgbClr val="FFFC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spcBef>
                <a:spcPts val="300"/>
              </a:spcBef>
              <a:spcAft>
                <a:spcPts val="300"/>
              </a:spcAft>
            </a:pPr>
            <a:endParaRPr lang="en-US" sz="800" b="1">
              <a:solidFill>
                <a:schemeClr val="tx1">
                  <a:lumMod val="65000"/>
                  <a:lumOff val="35000"/>
                </a:schemeClr>
              </a:solidFill>
              <a:latin typeface="Fund Light" pitchFamily="2" charset="-78"/>
              <a:cs typeface="Fund Light" pitchFamily="2" charset="-78"/>
            </a:endParaRPr>
          </a:p>
        </p:txBody>
      </p:sp>
      <p:sp>
        <p:nvSpPr>
          <p:cNvPr id="48" name="Rectangle 47">
            <a:extLst>
              <a:ext uri="{FF2B5EF4-FFF2-40B4-BE49-F238E27FC236}">
                <a16:creationId xmlns:a16="http://schemas.microsoft.com/office/drawing/2014/main" id="{511AA6FD-54AA-AE94-6641-4D54AD42C0AF}"/>
              </a:ext>
            </a:extLst>
          </p:cNvPr>
          <p:cNvSpPr/>
          <p:nvPr/>
        </p:nvSpPr>
        <p:spPr>
          <a:xfrm>
            <a:off x="2947300" y="1094954"/>
            <a:ext cx="651986" cy="1014118"/>
          </a:xfrm>
          <a:prstGeom prst="rect">
            <a:avLst/>
          </a:prstGeom>
          <a:solidFill>
            <a:srgbClr val="F6F3E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Limited impact</a:t>
            </a:r>
          </a:p>
        </p:txBody>
      </p:sp>
      <p:sp>
        <p:nvSpPr>
          <p:cNvPr id="49" name="Rectangle 48">
            <a:extLst>
              <a:ext uri="{FF2B5EF4-FFF2-40B4-BE49-F238E27FC236}">
                <a16:creationId xmlns:a16="http://schemas.microsoft.com/office/drawing/2014/main" id="{D5D24893-BBD4-6811-9803-955519436282}"/>
              </a:ext>
            </a:extLst>
          </p:cNvPr>
          <p:cNvSpPr/>
          <p:nvPr/>
        </p:nvSpPr>
        <p:spPr>
          <a:xfrm>
            <a:off x="3631007" y="1094954"/>
            <a:ext cx="640080" cy="1023858"/>
          </a:xfrm>
          <a:prstGeom prst="rect">
            <a:avLst/>
          </a:prstGeom>
          <a:solidFill>
            <a:srgbClr val="EDF6F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Large impact</a:t>
            </a:r>
          </a:p>
        </p:txBody>
      </p:sp>
      <p:sp>
        <p:nvSpPr>
          <p:cNvPr id="50" name="Rectangle 49">
            <a:extLst>
              <a:ext uri="{FF2B5EF4-FFF2-40B4-BE49-F238E27FC236}">
                <a16:creationId xmlns:a16="http://schemas.microsoft.com/office/drawing/2014/main" id="{E1D57567-B3B1-95B5-BEEF-9F4607488135}"/>
              </a:ext>
            </a:extLst>
          </p:cNvPr>
          <p:cNvSpPr/>
          <p:nvPr/>
        </p:nvSpPr>
        <p:spPr>
          <a:xfrm>
            <a:off x="2256233" y="1094954"/>
            <a:ext cx="651986" cy="1014118"/>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No impact</a:t>
            </a:r>
          </a:p>
        </p:txBody>
      </p:sp>
      <p:sp>
        <p:nvSpPr>
          <p:cNvPr id="51" name="Rectangle 50">
            <a:extLst>
              <a:ext uri="{FF2B5EF4-FFF2-40B4-BE49-F238E27FC236}">
                <a16:creationId xmlns:a16="http://schemas.microsoft.com/office/drawing/2014/main" id="{71F3427B-061C-275D-32F2-C7A1222A5189}"/>
              </a:ext>
            </a:extLst>
          </p:cNvPr>
          <p:cNvSpPr/>
          <p:nvPr/>
        </p:nvSpPr>
        <p:spPr>
          <a:xfrm>
            <a:off x="369132" y="1099730"/>
            <a:ext cx="1815829" cy="1012524"/>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bIns="0" rtlCol="0" anchor="ctr"/>
          <a:lstStyle/>
          <a:p>
            <a:pPr marL="228600" defTabSz="609585">
              <a:spcBef>
                <a:spcPts val="400"/>
              </a:spcBef>
              <a:spcAft>
                <a:spcPts val="400"/>
              </a:spcAft>
            </a:pPr>
            <a:r>
              <a:rPr lang="en-US" sz="1000" b="1" spc="-20">
                <a:solidFill>
                  <a:schemeClr val="bg2"/>
                </a:solidFill>
                <a:latin typeface="Fund Light" pitchFamily="2" charset="-78"/>
                <a:cs typeface="Fund Light" pitchFamily="2" charset="-78"/>
              </a:rPr>
              <a:t>What is the localization opportunity and its impact</a:t>
            </a:r>
          </a:p>
        </p:txBody>
      </p:sp>
      <p:sp>
        <p:nvSpPr>
          <p:cNvPr id="52" name="Oval 51">
            <a:extLst>
              <a:ext uri="{FF2B5EF4-FFF2-40B4-BE49-F238E27FC236}">
                <a16:creationId xmlns:a16="http://schemas.microsoft.com/office/drawing/2014/main" id="{DCD5C671-A571-073E-8323-681AC3ADA23B}"/>
              </a:ext>
            </a:extLst>
          </p:cNvPr>
          <p:cNvSpPr/>
          <p:nvPr/>
        </p:nvSpPr>
        <p:spPr>
          <a:xfrm>
            <a:off x="221079" y="1480158"/>
            <a:ext cx="232272" cy="232272"/>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225"/>
              </a:spcBef>
              <a:spcAft>
                <a:spcPts val="225"/>
              </a:spcAft>
              <a:buClrTx/>
              <a:buSzTx/>
              <a:buFontTx/>
              <a:buNone/>
              <a:tabLst/>
              <a:defRPr/>
            </a:pPr>
            <a:r>
              <a:rPr lang="en-GB" sz="1000">
                <a:solidFill>
                  <a:srgbClr val="FFFFFF"/>
                </a:solidFill>
                <a:latin typeface="Fund Light" pitchFamily="2" charset="-78"/>
                <a:cs typeface="Fund Light" pitchFamily="2" charset="-78"/>
              </a:rPr>
              <a:t>1</a:t>
            </a:r>
            <a:endParaRPr kumimoji="0" lang="en-GB" sz="1000" b="0" i="0" u="none" strike="noStrike" kern="1200" cap="none" spc="0" normalizeH="0" baseline="0" noProof="0">
              <a:ln>
                <a:noFill/>
              </a:ln>
              <a:solidFill>
                <a:srgbClr val="FFFFFF"/>
              </a:solidFill>
              <a:effectLst/>
              <a:uLnTx/>
              <a:uFillTx/>
              <a:latin typeface="Fund Light" pitchFamily="2" charset="-78"/>
              <a:cs typeface="Fund Light" pitchFamily="2" charset="-78"/>
            </a:endParaRPr>
          </a:p>
        </p:txBody>
      </p:sp>
      <p:sp>
        <p:nvSpPr>
          <p:cNvPr id="56" name="Rectangle 55">
            <a:extLst>
              <a:ext uri="{FF2B5EF4-FFF2-40B4-BE49-F238E27FC236}">
                <a16:creationId xmlns:a16="http://schemas.microsoft.com/office/drawing/2014/main" id="{C3DBB9CC-B774-3765-DCD8-4C36E00192C3}"/>
              </a:ext>
            </a:extLst>
          </p:cNvPr>
          <p:cNvSpPr>
            <a:spLocks/>
          </p:cNvSpPr>
          <p:nvPr/>
        </p:nvSpPr>
        <p:spPr>
          <a:xfrm>
            <a:off x="3631007" y="1101711"/>
            <a:ext cx="640080" cy="989166"/>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57" name="TextBox 56">
            <a:extLst>
              <a:ext uri="{FF2B5EF4-FFF2-40B4-BE49-F238E27FC236}">
                <a16:creationId xmlns:a16="http://schemas.microsoft.com/office/drawing/2014/main" id="{B8AC2516-EB07-58FB-1724-10C4724B35E7}"/>
              </a:ext>
            </a:extLst>
          </p:cNvPr>
          <p:cNvSpPr txBox="1"/>
          <p:nvPr/>
        </p:nvSpPr>
        <p:spPr>
          <a:xfrm>
            <a:off x="1500793" y="4631404"/>
            <a:ext cx="6957407" cy="400110"/>
          </a:xfrm>
          <a:prstGeom prst="rect">
            <a:avLst/>
          </a:prstGeom>
          <a:noFill/>
        </p:spPr>
        <p:txBody>
          <a:bodyPr wrap="square">
            <a:spAutoFit/>
          </a:bodyPr>
          <a:lstStyle/>
          <a:p>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In this illustrative example, the telecom product passes the LDC feasibility assessment and should be </a:t>
            </a:r>
            <a:r>
              <a:rPr kumimoji="0" lang="en-US" sz="1000" b="0" i="0" u="none" strike="noStrike" kern="0" cap="none" spc="0" normalizeH="0" baseline="0" noProof="0" err="1">
                <a:ln>
                  <a:noFill/>
                </a:ln>
                <a:solidFill>
                  <a:srgbClr val="000000"/>
                </a:solidFill>
                <a:effectLst/>
                <a:uLnTx/>
                <a:uFillTx/>
                <a:latin typeface="Fund Light" pitchFamily="2" charset="-78"/>
                <a:cs typeface="Fund Light" pitchFamily="2" charset="-78"/>
                <a:sym typeface="Arial"/>
              </a:rPr>
              <a:t>selecte</a:t>
            </a:r>
            <a:r>
              <a:rPr lang="en-US" sz="1000" kern="0">
                <a:solidFill>
                  <a:srgbClr val="000000"/>
                </a:solidFill>
                <a:latin typeface="Fund Light" pitchFamily="2" charset="-78"/>
                <a:cs typeface="Fund Light" pitchFamily="2" charset="-78"/>
                <a:sym typeface="Arial"/>
              </a:rPr>
              <a:t>d for localization</a:t>
            </a:r>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 The framework (e.g., threshold</a:t>
            </a:r>
            <a:r>
              <a:rPr lang="en-US" sz="1000" kern="0">
                <a:solidFill>
                  <a:srgbClr val="000000"/>
                </a:solidFill>
                <a:latin typeface="Fund Light" pitchFamily="2" charset="-78"/>
                <a:cs typeface="Fund Light" pitchFamily="2" charset="-78"/>
                <a:sym typeface="Arial"/>
              </a:rPr>
              <a:t>s) </a:t>
            </a:r>
            <a:r>
              <a:rPr lang="en-US" sz="1000" kern="0" err="1">
                <a:solidFill>
                  <a:srgbClr val="000000"/>
                </a:solidFill>
                <a:latin typeface="Fund Light" pitchFamily="2" charset="-78"/>
                <a:cs typeface="Fund Light" pitchFamily="2" charset="-78"/>
                <a:sym typeface="Arial"/>
              </a:rPr>
              <a:t>sh</a:t>
            </a:r>
            <a:r>
              <a:rPr kumimoji="0" lang="en-US" sz="10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ould be tailored for specific needs / context</a:t>
            </a:r>
            <a:endParaRPr lang="en-US" sz="1000" i="1"/>
          </a:p>
        </p:txBody>
      </p:sp>
      <p:sp>
        <p:nvSpPr>
          <p:cNvPr id="58" name="TextBox 57">
            <a:extLst>
              <a:ext uri="{FF2B5EF4-FFF2-40B4-BE49-F238E27FC236}">
                <a16:creationId xmlns:a16="http://schemas.microsoft.com/office/drawing/2014/main" id="{371F4887-2652-D245-7642-0673790E0EAB}"/>
              </a:ext>
            </a:extLst>
          </p:cNvPr>
          <p:cNvSpPr txBox="1"/>
          <p:nvPr/>
        </p:nvSpPr>
        <p:spPr>
          <a:xfrm>
            <a:off x="4368980" y="2929793"/>
            <a:ext cx="4491074" cy="938109"/>
          </a:xfrm>
          <a:prstGeom prst="rect">
            <a:avLst/>
          </a:prstGeom>
          <a:noFill/>
        </p:spPr>
        <p:txBody>
          <a:bodyPr wrap="square" rtlCol="0" anchor="ctr">
            <a:noAutofit/>
          </a:bodyPr>
          <a:lstStyle/>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Low risk for investors, given</a:t>
            </a:r>
            <a:endParaRPr lang="en-US" sz="1000">
              <a:solidFill>
                <a:srgbClr val="FF0000"/>
              </a:solidFill>
              <a:latin typeface="Fund Light" pitchFamily="2" charset="-78"/>
              <a:cs typeface="Fund Light" pitchFamily="2" charset="-78"/>
            </a:endParaRPr>
          </a:p>
          <a:p>
            <a:pPr marL="685800" lvl="1"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IRR: 13+%</a:t>
            </a:r>
          </a:p>
          <a:p>
            <a:pPr marL="685800" lvl="1"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PCI: While high (1.2), the product is commoditized internationally, and foreign players will not face challenges in setting up new plants</a:t>
            </a:r>
          </a:p>
        </p:txBody>
      </p:sp>
      <p:sp>
        <p:nvSpPr>
          <p:cNvPr id="59" name="Rectangle 58">
            <a:extLst>
              <a:ext uri="{FF2B5EF4-FFF2-40B4-BE49-F238E27FC236}">
                <a16:creationId xmlns:a16="http://schemas.microsoft.com/office/drawing/2014/main" id="{90B1F764-333D-82A2-BB8D-9B045A95C7FB}"/>
              </a:ext>
            </a:extLst>
          </p:cNvPr>
          <p:cNvSpPr/>
          <p:nvPr/>
        </p:nvSpPr>
        <p:spPr>
          <a:xfrm>
            <a:off x="2263591" y="2925498"/>
            <a:ext cx="651986" cy="543028"/>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spcBef>
                <a:spcPts val="300"/>
              </a:spcBef>
              <a:spcAft>
                <a:spcPts val="300"/>
              </a:spcAft>
            </a:pPr>
            <a:r>
              <a:rPr lang="en-US" sz="800">
                <a:solidFill>
                  <a:srgbClr val="FF0000"/>
                </a:solidFill>
                <a:latin typeface="Fund Light" pitchFamily="2" charset="-78"/>
                <a:cs typeface="Fund Light" pitchFamily="2" charset="-78"/>
              </a:rPr>
              <a:t>No</a:t>
            </a:r>
          </a:p>
        </p:txBody>
      </p:sp>
      <p:sp>
        <p:nvSpPr>
          <p:cNvPr id="65" name="Rectangle 64">
            <a:extLst>
              <a:ext uri="{FF2B5EF4-FFF2-40B4-BE49-F238E27FC236}">
                <a16:creationId xmlns:a16="http://schemas.microsoft.com/office/drawing/2014/main" id="{C2DA301A-1368-0E07-F8D2-7DCDF9A9CABA}"/>
              </a:ext>
            </a:extLst>
          </p:cNvPr>
          <p:cNvSpPr/>
          <p:nvPr/>
        </p:nvSpPr>
        <p:spPr>
          <a:xfrm>
            <a:off x="3272338" y="2925496"/>
            <a:ext cx="1006107" cy="935797"/>
          </a:xfrm>
          <a:prstGeom prst="rect">
            <a:avLst/>
          </a:prstGeom>
          <a:solidFill>
            <a:srgbClr val="EDF6F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Yes</a:t>
            </a:r>
          </a:p>
        </p:txBody>
      </p:sp>
      <p:sp>
        <p:nvSpPr>
          <p:cNvPr id="66" name="Rectangle 65">
            <a:extLst>
              <a:ext uri="{FF2B5EF4-FFF2-40B4-BE49-F238E27FC236}">
                <a16:creationId xmlns:a16="http://schemas.microsoft.com/office/drawing/2014/main" id="{F197BAE8-E864-AE67-D149-E9625E4DF1E9}"/>
              </a:ext>
            </a:extLst>
          </p:cNvPr>
          <p:cNvSpPr/>
          <p:nvPr/>
        </p:nvSpPr>
        <p:spPr>
          <a:xfrm>
            <a:off x="2263590" y="2925497"/>
            <a:ext cx="944835" cy="943586"/>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No. Take-or-pay is needed</a:t>
            </a:r>
          </a:p>
        </p:txBody>
      </p:sp>
      <p:sp>
        <p:nvSpPr>
          <p:cNvPr id="67" name="Rectangle 66">
            <a:extLst>
              <a:ext uri="{FF2B5EF4-FFF2-40B4-BE49-F238E27FC236}">
                <a16:creationId xmlns:a16="http://schemas.microsoft.com/office/drawing/2014/main" id="{EDDE89C3-C9C2-08F9-1B52-6BBC8B847FFA}"/>
              </a:ext>
            </a:extLst>
          </p:cNvPr>
          <p:cNvSpPr/>
          <p:nvPr/>
        </p:nvSpPr>
        <p:spPr>
          <a:xfrm>
            <a:off x="376490" y="2930273"/>
            <a:ext cx="1815829" cy="945126"/>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bIns="0" rtlCol="0" anchor="ctr"/>
          <a:lstStyle/>
          <a:p>
            <a:pPr marL="228600" defTabSz="609585">
              <a:spcBef>
                <a:spcPts val="400"/>
              </a:spcBef>
              <a:spcAft>
                <a:spcPts val="400"/>
              </a:spcAft>
            </a:pPr>
            <a:r>
              <a:rPr lang="en-US" sz="1000" b="1" spc="-20">
                <a:solidFill>
                  <a:schemeClr val="bg2"/>
                </a:solidFill>
                <a:latin typeface="Fund Light" pitchFamily="2" charset="-78"/>
                <a:cs typeface="Fund Light" pitchFamily="2" charset="-78"/>
              </a:rPr>
              <a:t>Is a PSA Sufficient?</a:t>
            </a:r>
          </a:p>
        </p:txBody>
      </p:sp>
      <p:sp>
        <p:nvSpPr>
          <p:cNvPr id="68" name="Oval 67">
            <a:extLst>
              <a:ext uri="{FF2B5EF4-FFF2-40B4-BE49-F238E27FC236}">
                <a16:creationId xmlns:a16="http://schemas.microsoft.com/office/drawing/2014/main" id="{35AAC7C4-0D4F-18AB-A766-8D07D7EF6948}"/>
              </a:ext>
            </a:extLst>
          </p:cNvPr>
          <p:cNvSpPr/>
          <p:nvPr/>
        </p:nvSpPr>
        <p:spPr>
          <a:xfrm>
            <a:off x="221079" y="3398049"/>
            <a:ext cx="232272" cy="228600"/>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225"/>
              </a:spcBef>
              <a:spcAft>
                <a:spcPts val="225"/>
              </a:spcAft>
              <a:buClrTx/>
              <a:buSzTx/>
              <a:buFontTx/>
              <a:buNone/>
              <a:tabLst/>
              <a:defRPr/>
            </a:pPr>
            <a:r>
              <a:rPr lang="en-GB" sz="1000">
                <a:solidFill>
                  <a:srgbClr val="FFFFFF"/>
                </a:solidFill>
                <a:latin typeface="Fund Light" pitchFamily="2" charset="-78"/>
                <a:cs typeface="Fund Light" pitchFamily="2" charset="-78"/>
              </a:rPr>
              <a:t>3</a:t>
            </a:r>
            <a:endParaRPr kumimoji="0" lang="en-GB" sz="1000" b="0" i="0" u="none" strike="noStrike" kern="1200" cap="none" spc="0" normalizeH="0" baseline="0" noProof="0">
              <a:ln>
                <a:noFill/>
              </a:ln>
              <a:solidFill>
                <a:srgbClr val="FFFFFF"/>
              </a:solidFill>
              <a:effectLst/>
              <a:uLnTx/>
              <a:uFillTx/>
              <a:latin typeface="Fund Light" pitchFamily="2" charset="-78"/>
              <a:cs typeface="Fund Light" pitchFamily="2" charset="-78"/>
            </a:endParaRPr>
          </a:p>
        </p:txBody>
      </p:sp>
      <p:sp>
        <p:nvSpPr>
          <p:cNvPr id="69" name="Rectangle 68">
            <a:extLst>
              <a:ext uri="{FF2B5EF4-FFF2-40B4-BE49-F238E27FC236}">
                <a16:creationId xmlns:a16="http://schemas.microsoft.com/office/drawing/2014/main" id="{52459D0C-C0A4-DCAB-D95A-D91B8119FF2B}"/>
              </a:ext>
            </a:extLst>
          </p:cNvPr>
          <p:cNvSpPr>
            <a:spLocks/>
          </p:cNvSpPr>
          <p:nvPr/>
        </p:nvSpPr>
        <p:spPr>
          <a:xfrm>
            <a:off x="3272338" y="2917740"/>
            <a:ext cx="1006107" cy="943553"/>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70" name="TextBox 69">
            <a:extLst>
              <a:ext uri="{FF2B5EF4-FFF2-40B4-BE49-F238E27FC236}">
                <a16:creationId xmlns:a16="http://schemas.microsoft.com/office/drawing/2014/main" id="{566DD67D-AEFD-D1AE-75AE-0DE093B4C9D4}"/>
              </a:ext>
            </a:extLst>
          </p:cNvPr>
          <p:cNvSpPr txBox="1"/>
          <p:nvPr/>
        </p:nvSpPr>
        <p:spPr>
          <a:xfrm>
            <a:off x="4354264" y="3924041"/>
            <a:ext cx="4491074" cy="745642"/>
          </a:xfrm>
          <a:prstGeom prst="rect">
            <a:avLst/>
          </a:prstGeom>
          <a:noFill/>
        </p:spPr>
        <p:txBody>
          <a:bodyPr wrap="square" rtlCol="0" anchor="ctr">
            <a:noAutofit/>
          </a:bodyPr>
          <a:lstStyle/>
          <a:p>
            <a:pPr marL="228600" indent="-228600">
              <a:spcBef>
                <a:spcPts val="150"/>
              </a:spcBef>
              <a:spcAft>
                <a:spcPts val="150"/>
              </a:spcAft>
              <a:buAutoNum type="alphaLcPeriod"/>
            </a:pPr>
            <a:endParaRPr lang="en-US" sz="1000">
              <a:solidFill>
                <a:srgbClr val="000000"/>
              </a:solidFill>
              <a:latin typeface="Fund Light" pitchFamily="2" charset="-78"/>
              <a:cs typeface="Fund Light" pitchFamily="2" charset="-78"/>
            </a:endParaRPr>
          </a:p>
        </p:txBody>
      </p:sp>
      <p:sp>
        <p:nvSpPr>
          <p:cNvPr id="71" name="Rectangle 70">
            <a:extLst>
              <a:ext uri="{FF2B5EF4-FFF2-40B4-BE49-F238E27FC236}">
                <a16:creationId xmlns:a16="http://schemas.microsoft.com/office/drawing/2014/main" id="{3376B44E-9C3D-B5C1-5A57-82F94FF0ED50}"/>
              </a:ext>
            </a:extLst>
          </p:cNvPr>
          <p:cNvSpPr/>
          <p:nvPr/>
        </p:nvSpPr>
        <p:spPr>
          <a:xfrm>
            <a:off x="2248875" y="3924041"/>
            <a:ext cx="651986" cy="543028"/>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spcBef>
                <a:spcPts val="300"/>
              </a:spcBef>
              <a:spcAft>
                <a:spcPts val="300"/>
              </a:spcAft>
            </a:pPr>
            <a:r>
              <a:rPr lang="en-US" sz="800">
                <a:solidFill>
                  <a:srgbClr val="FF0000"/>
                </a:solidFill>
                <a:latin typeface="Fund Light" pitchFamily="2" charset="-78"/>
                <a:cs typeface="Fund Light" pitchFamily="2" charset="-78"/>
              </a:rPr>
              <a:t>No</a:t>
            </a:r>
          </a:p>
        </p:txBody>
      </p:sp>
      <p:sp>
        <p:nvSpPr>
          <p:cNvPr id="75" name="Rectangle 74">
            <a:extLst>
              <a:ext uri="{FF2B5EF4-FFF2-40B4-BE49-F238E27FC236}">
                <a16:creationId xmlns:a16="http://schemas.microsoft.com/office/drawing/2014/main" id="{2077FAE4-23C6-96A6-3827-CBA7374B824A}"/>
              </a:ext>
            </a:extLst>
          </p:cNvPr>
          <p:cNvSpPr/>
          <p:nvPr/>
        </p:nvSpPr>
        <p:spPr>
          <a:xfrm>
            <a:off x="3264980" y="3958508"/>
            <a:ext cx="1006107" cy="671617"/>
          </a:xfrm>
          <a:prstGeom prst="rect">
            <a:avLst/>
          </a:prstGeom>
          <a:solidFill>
            <a:srgbClr val="EDF6F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Yes</a:t>
            </a:r>
          </a:p>
        </p:txBody>
      </p:sp>
      <p:sp>
        <p:nvSpPr>
          <p:cNvPr id="76" name="Rectangle 75">
            <a:extLst>
              <a:ext uri="{FF2B5EF4-FFF2-40B4-BE49-F238E27FC236}">
                <a16:creationId xmlns:a16="http://schemas.microsoft.com/office/drawing/2014/main" id="{5C299B96-8401-12E3-C516-49E9468E907A}"/>
              </a:ext>
            </a:extLst>
          </p:cNvPr>
          <p:cNvSpPr/>
          <p:nvPr/>
        </p:nvSpPr>
        <p:spPr>
          <a:xfrm>
            <a:off x="2248874" y="3924039"/>
            <a:ext cx="944835" cy="699369"/>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No</a:t>
            </a:r>
          </a:p>
        </p:txBody>
      </p:sp>
      <p:sp>
        <p:nvSpPr>
          <p:cNvPr id="77" name="Rectangle 76">
            <a:extLst>
              <a:ext uri="{FF2B5EF4-FFF2-40B4-BE49-F238E27FC236}">
                <a16:creationId xmlns:a16="http://schemas.microsoft.com/office/drawing/2014/main" id="{F03669F9-A3DF-568F-2AE3-92EB4784FB53}"/>
              </a:ext>
            </a:extLst>
          </p:cNvPr>
          <p:cNvSpPr/>
          <p:nvPr/>
        </p:nvSpPr>
        <p:spPr>
          <a:xfrm>
            <a:off x="361774" y="3928816"/>
            <a:ext cx="1815829" cy="69827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bIns="0" rtlCol="0" anchor="ctr"/>
          <a:lstStyle/>
          <a:p>
            <a:pPr marL="228600" defTabSz="609585">
              <a:spcBef>
                <a:spcPts val="400"/>
              </a:spcBef>
              <a:spcAft>
                <a:spcPts val="400"/>
              </a:spcAft>
            </a:pPr>
            <a:r>
              <a:rPr lang="en-US" sz="1000" b="1" spc="-20">
                <a:solidFill>
                  <a:schemeClr val="bg2"/>
                </a:solidFill>
                <a:latin typeface="Fund Light" pitchFamily="2" charset="-78"/>
                <a:cs typeface="Fund Light" pitchFamily="2" charset="-78"/>
              </a:rPr>
              <a:t>Are the associated risks manageable?</a:t>
            </a:r>
          </a:p>
        </p:txBody>
      </p:sp>
      <p:sp>
        <p:nvSpPr>
          <p:cNvPr id="78" name="Oval 77">
            <a:extLst>
              <a:ext uri="{FF2B5EF4-FFF2-40B4-BE49-F238E27FC236}">
                <a16:creationId xmlns:a16="http://schemas.microsoft.com/office/drawing/2014/main" id="{C3AF77FB-2530-5A3A-AE86-5BD1695AB756}"/>
              </a:ext>
            </a:extLst>
          </p:cNvPr>
          <p:cNvSpPr/>
          <p:nvPr/>
        </p:nvSpPr>
        <p:spPr>
          <a:xfrm>
            <a:off x="221079" y="4171759"/>
            <a:ext cx="232272" cy="228600"/>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225"/>
              </a:spcBef>
              <a:spcAft>
                <a:spcPts val="225"/>
              </a:spcAft>
              <a:buClrTx/>
              <a:buSzTx/>
              <a:buFontTx/>
              <a:buNone/>
              <a:tabLst/>
              <a:defRPr/>
            </a:pPr>
            <a:r>
              <a:rPr lang="en-GB" sz="1000">
                <a:solidFill>
                  <a:srgbClr val="FFFFFF"/>
                </a:solidFill>
                <a:latin typeface="Fund Light" pitchFamily="2" charset="-78"/>
                <a:cs typeface="Fund Light" pitchFamily="2" charset="-78"/>
              </a:rPr>
              <a:t>4</a:t>
            </a:r>
            <a:endParaRPr kumimoji="0" lang="en-GB" sz="1000" b="0" i="0" u="none" strike="noStrike" kern="1200" cap="none" spc="0" normalizeH="0" baseline="0" noProof="0">
              <a:ln>
                <a:noFill/>
              </a:ln>
              <a:solidFill>
                <a:srgbClr val="FFFFFF"/>
              </a:solidFill>
              <a:effectLst/>
              <a:uLnTx/>
              <a:uFillTx/>
              <a:latin typeface="Fund Light" pitchFamily="2" charset="-78"/>
              <a:cs typeface="Fund Light" pitchFamily="2" charset="-78"/>
            </a:endParaRPr>
          </a:p>
        </p:txBody>
      </p:sp>
      <p:sp>
        <p:nvSpPr>
          <p:cNvPr id="79" name="Rectangle 78">
            <a:extLst>
              <a:ext uri="{FF2B5EF4-FFF2-40B4-BE49-F238E27FC236}">
                <a16:creationId xmlns:a16="http://schemas.microsoft.com/office/drawing/2014/main" id="{A2C6E5BF-C4C3-422D-6EDA-308975A3901A}"/>
              </a:ext>
            </a:extLst>
          </p:cNvPr>
          <p:cNvSpPr>
            <a:spLocks/>
          </p:cNvSpPr>
          <p:nvPr/>
        </p:nvSpPr>
        <p:spPr>
          <a:xfrm>
            <a:off x="3264980" y="3930797"/>
            <a:ext cx="1006107" cy="692611"/>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cxnSp>
        <p:nvCxnSpPr>
          <p:cNvPr id="86" name="Straight Connector 85">
            <a:extLst>
              <a:ext uri="{FF2B5EF4-FFF2-40B4-BE49-F238E27FC236}">
                <a16:creationId xmlns:a16="http://schemas.microsoft.com/office/drawing/2014/main" id="{4FE255A7-F061-381E-AE37-8968ABCDECB4}"/>
              </a:ext>
            </a:extLst>
          </p:cNvPr>
          <p:cNvCxnSpPr>
            <a:cxnSpLocks/>
          </p:cNvCxnSpPr>
          <p:nvPr/>
        </p:nvCxnSpPr>
        <p:spPr>
          <a:xfrm flipV="1">
            <a:off x="369132" y="3906055"/>
            <a:ext cx="8482515" cy="25"/>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672228CD-4F8D-39E0-E1B8-67411A6544FE}"/>
              </a:ext>
            </a:extLst>
          </p:cNvPr>
          <p:cNvSpPr txBox="1"/>
          <p:nvPr/>
        </p:nvSpPr>
        <p:spPr>
          <a:xfrm>
            <a:off x="4361622" y="3944579"/>
            <a:ext cx="4491074" cy="704281"/>
          </a:xfrm>
          <a:prstGeom prst="rect">
            <a:avLst/>
          </a:prstGeom>
          <a:noFill/>
        </p:spPr>
        <p:txBody>
          <a:bodyPr wrap="square" rtlCol="0" anchor="ctr">
            <a:noAutofit/>
          </a:bodyPr>
          <a:lstStyle/>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Demand commitment is required for 4-5 years and 25% of the yearly demand, to de-risk the investment</a:t>
            </a:r>
          </a:p>
        </p:txBody>
      </p:sp>
      <p:cxnSp>
        <p:nvCxnSpPr>
          <p:cNvPr id="14" name="Straight Connector 13">
            <a:extLst>
              <a:ext uri="{FF2B5EF4-FFF2-40B4-BE49-F238E27FC236}">
                <a16:creationId xmlns:a16="http://schemas.microsoft.com/office/drawing/2014/main" id="{FBA7CB5E-25C8-C125-925A-E633BC8BF3E1}"/>
              </a:ext>
            </a:extLst>
          </p:cNvPr>
          <p:cNvCxnSpPr>
            <a:cxnSpLocks/>
          </p:cNvCxnSpPr>
          <p:nvPr/>
        </p:nvCxnSpPr>
        <p:spPr>
          <a:xfrm flipV="1">
            <a:off x="330742" y="2137791"/>
            <a:ext cx="8482515" cy="25"/>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13B094-1F16-7C85-EDC4-94F160FA846E}"/>
              </a:ext>
            </a:extLst>
          </p:cNvPr>
          <p:cNvSpPr txBox="1"/>
          <p:nvPr/>
        </p:nvSpPr>
        <p:spPr>
          <a:xfrm>
            <a:off x="4361622" y="2175431"/>
            <a:ext cx="4491074" cy="661148"/>
          </a:xfrm>
          <a:prstGeom prst="rect">
            <a:avLst/>
          </a:prstGeom>
          <a:noFill/>
        </p:spPr>
        <p:txBody>
          <a:bodyPr wrap="square" rtlCol="0" anchor="ctr">
            <a:noAutofit/>
          </a:bodyPr>
          <a:lstStyle/>
          <a:p>
            <a:pPr marL="228600" indent="-228600">
              <a:spcBef>
                <a:spcPts val="150"/>
              </a:spcBef>
              <a:spcAft>
                <a:spcPts val="150"/>
              </a:spcAft>
              <a:buFont typeface="+mj-lt"/>
              <a:buAutoNum type="arabicPeriod"/>
            </a:pPr>
            <a:r>
              <a:rPr lang="en-US" sz="1000">
                <a:solidFill>
                  <a:srgbClr val="000000"/>
                </a:solidFill>
                <a:latin typeface="Fund Light" pitchFamily="2" charset="-78"/>
                <a:cs typeface="Fund Light" pitchFamily="2" charset="-78"/>
              </a:rPr>
              <a:t>Local demand and regional exports are 150-200% of the minimum viable plant capacity</a:t>
            </a:r>
          </a:p>
        </p:txBody>
      </p:sp>
      <p:sp>
        <p:nvSpPr>
          <p:cNvPr id="16" name="Rectangle 15">
            <a:extLst>
              <a:ext uri="{FF2B5EF4-FFF2-40B4-BE49-F238E27FC236}">
                <a16:creationId xmlns:a16="http://schemas.microsoft.com/office/drawing/2014/main" id="{C33E2EAE-65F3-382A-AC62-59168C46EC52}"/>
              </a:ext>
            </a:extLst>
          </p:cNvPr>
          <p:cNvSpPr/>
          <p:nvPr/>
        </p:nvSpPr>
        <p:spPr>
          <a:xfrm>
            <a:off x="2256233" y="2175431"/>
            <a:ext cx="651986" cy="348399"/>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spcBef>
                <a:spcPts val="300"/>
              </a:spcBef>
              <a:spcAft>
                <a:spcPts val="300"/>
              </a:spcAft>
            </a:pPr>
            <a:r>
              <a:rPr lang="en-US" sz="800">
                <a:solidFill>
                  <a:srgbClr val="FF0000"/>
                </a:solidFill>
                <a:latin typeface="Fund Light" pitchFamily="2" charset="-78"/>
                <a:cs typeface="Fund Light" pitchFamily="2" charset="-78"/>
              </a:rPr>
              <a:t>No</a:t>
            </a:r>
          </a:p>
        </p:txBody>
      </p:sp>
      <p:sp>
        <p:nvSpPr>
          <p:cNvPr id="20" name="Rectangle 19">
            <a:extLst>
              <a:ext uri="{FF2B5EF4-FFF2-40B4-BE49-F238E27FC236}">
                <a16:creationId xmlns:a16="http://schemas.microsoft.com/office/drawing/2014/main" id="{4D6C4EC7-65C2-1A08-938A-16F1C58DE5DB}"/>
              </a:ext>
            </a:extLst>
          </p:cNvPr>
          <p:cNvSpPr/>
          <p:nvPr/>
        </p:nvSpPr>
        <p:spPr>
          <a:xfrm>
            <a:off x="3264980" y="2175430"/>
            <a:ext cx="1006107" cy="656893"/>
          </a:xfrm>
          <a:prstGeom prst="rect">
            <a:avLst/>
          </a:prstGeom>
          <a:solidFill>
            <a:srgbClr val="EDF6F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Yes</a:t>
            </a:r>
          </a:p>
        </p:txBody>
      </p:sp>
      <p:sp>
        <p:nvSpPr>
          <p:cNvPr id="21" name="Rectangle 20">
            <a:extLst>
              <a:ext uri="{FF2B5EF4-FFF2-40B4-BE49-F238E27FC236}">
                <a16:creationId xmlns:a16="http://schemas.microsoft.com/office/drawing/2014/main" id="{1492C430-B31E-FC96-CC62-296A78A615C0}"/>
              </a:ext>
            </a:extLst>
          </p:cNvPr>
          <p:cNvSpPr/>
          <p:nvPr/>
        </p:nvSpPr>
        <p:spPr>
          <a:xfrm>
            <a:off x="2256233" y="2175430"/>
            <a:ext cx="937476" cy="650644"/>
          </a:xfrm>
          <a:prstGeom prst="rect">
            <a:avLst/>
          </a:prstGeom>
          <a:solidFill>
            <a:srgbClr val="FFF2F2"/>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Bef>
                <a:spcPts val="300"/>
              </a:spcBef>
              <a:spcAft>
                <a:spcPts val="300"/>
              </a:spcAft>
            </a:pPr>
            <a:r>
              <a:rPr lang="en-US" sz="1000">
                <a:solidFill>
                  <a:srgbClr val="000000"/>
                </a:solidFill>
                <a:latin typeface="Fund Light" pitchFamily="2" charset="-78"/>
                <a:cs typeface="Fund Light" pitchFamily="2" charset="-78"/>
              </a:rPr>
              <a:t>No</a:t>
            </a:r>
          </a:p>
        </p:txBody>
      </p:sp>
      <p:sp>
        <p:nvSpPr>
          <p:cNvPr id="22" name="Rectangle 21">
            <a:extLst>
              <a:ext uri="{FF2B5EF4-FFF2-40B4-BE49-F238E27FC236}">
                <a16:creationId xmlns:a16="http://schemas.microsoft.com/office/drawing/2014/main" id="{A16B8742-1B2D-6647-4AA0-31413DE2C71B}"/>
              </a:ext>
            </a:extLst>
          </p:cNvPr>
          <p:cNvSpPr/>
          <p:nvPr/>
        </p:nvSpPr>
        <p:spPr>
          <a:xfrm>
            <a:off x="369132" y="2180206"/>
            <a:ext cx="1815829" cy="649621"/>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0" bIns="0" rtlCol="0" anchor="ctr"/>
          <a:lstStyle/>
          <a:p>
            <a:pPr marL="228600" defTabSz="609585">
              <a:spcBef>
                <a:spcPts val="400"/>
              </a:spcBef>
              <a:spcAft>
                <a:spcPts val="400"/>
              </a:spcAft>
            </a:pPr>
            <a:r>
              <a:rPr lang="en-US" sz="1000" b="1" spc="-20">
                <a:solidFill>
                  <a:schemeClr val="bg2"/>
                </a:solidFill>
                <a:latin typeface="Fund Light" pitchFamily="2" charset="-78"/>
                <a:cs typeface="Fund Light" pitchFamily="2" charset="-78"/>
              </a:rPr>
              <a:t>Is addressable demand sufficient for localization?</a:t>
            </a:r>
          </a:p>
        </p:txBody>
      </p:sp>
      <p:sp>
        <p:nvSpPr>
          <p:cNvPr id="25" name="Rectangle 24">
            <a:extLst>
              <a:ext uri="{FF2B5EF4-FFF2-40B4-BE49-F238E27FC236}">
                <a16:creationId xmlns:a16="http://schemas.microsoft.com/office/drawing/2014/main" id="{2F0B4B69-D9B3-791A-3978-6C684C163B61}"/>
              </a:ext>
            </a:extLst>
          </p:cNvPr>
          <p:cNvSpPr>
            <a:spLocks/>
          </p:cNvSpPr>
          <p:nvPr/>
        </p:nvSpPr>
        <p:spPr>
          <a:xfrm>
            <a:off x="3264980" y="2182187"/>
            <a:ext cx="1006107" cy="634635"/>
          </a:xfrm>
          <a:prstGeom prst="rect">
            <a:avLst/>
          </a:prstGeom>
          <a:noFill/>
          <a:ln>
            <a:solidFill>
              <a:schemeClr val="tx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Bef>
                <a:spcPts val="300"/>
              </a:spcBef>
              <a:spcAft>
                <a:spcPts val="300"/>
              </a:spcAft>
            </a:pPr>
            <a:endParaRPr lang="en-US" sz="1200" b="1">
              <a:solidFill>
                <a:schemeClr val="tx1"/>
              </a:solidFill>
              <a:latin typeface="Fund Light" pitchFamily="2" charset="-78"/>
              <a:cs typeface="Fund Light" pitchFamily="2" charset="-78"/>
            </a:endParaRPr>
          </a:p>
        </p:txBody>
      </p:sp>
      <p:sp>
        <p:nvSpPr>
          <p:cNvPr id="34" name="Oval 33">
            <a:extLst>
              <a:ext uri="{FF2B5EF4-FFF2-40B4-BE49-F238E27FC236}">
                <a16:creationId xmlns:a16="http://schemas.microsoft.com/office/drawing/2014/main" id="{4260EDE8-0D8C-FD12-09B1-C73ED525EBC1}"/>
              </a:ext>
            </a:extLst>
          </p:cNvPr>
          <p:cNvSpPr/>
          <p:nvPr/>
        </p:nvSpPr>
        <p:spPr>
          <a:xfrm>
            <a:off x="221079" y="2379790"/>
            <a:ext cx="232272" cy="232272"/>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225"/>
              </a:spcBef>
              <a:spcAft>
                <a:spcPts val="225"/>
              </a:spcAft>
              <a:buClrTx/>
              <a:buSzTx/>
              <a:buFontTx/>
              <a:buNone/>
              <a:tabLst/>
              <a:defRPr/>
            </a:pPr>
            <a:r>
              <a:rPr lang="en-GB" sz="1000">
                <a:solidFill>
                  <a:srgbClr val="FFFFFF"/>
                </a:solidFill>
                <a:latin typeface="Fund Light" pitchFamily="2" charset="-78"/>
                <a:cs typeface="Fund Light" pitchFamily="2" charset="-78"/>
              </a:rPr>
              <a:t>2</a:t>
            </a:r>
            <a:endParaRPr kumimoji="0" lang="en-GB" sz="1000" b="0" i="0" u="none" strike="noStrike" kern="1200" cap="none" spc="0" normalizeH="0" baseline="0" noProof="0">
              <a:ln>
                <a:noFill/>
              </a:ln>
              <a:solidFill>
                <a:srgbClr val="FFFFFF"/>
              </a:solidFill>
              <a:effectLst/>
              <a:uLnTx/>
              <a:uFillTx/>
              <a:latin typeface="Fund Light" pitchFamily="2" charset="-78"/>
              <a:cs typeface="Fund Light" pitchFamily="2" charset="-78"/>
            </a:endParaRPr>
          </a:p>
        </p:txBody>
      </p:sp>
      <p:sp>
        <p:nvSpPr>
          <p:cNvPr id="6" name="Rectangle 5">
            <a:extLst>
              <a:ext uri="{FF2B5EF4-FFF2-40B4-BE49-F238E27FC236}">
                <a16:creationId xmlns:a16="http://schemas.microsoft.com/office/drawing/2014/main" id="{684C8C01-8E8C-69BD-513C-292D22AE5EA4}"/>
              </a:ext>
            </a:extLst>
          </p:cNvPr>
          <p:cNvSpPr/>
          <p:nvPr/>
        </p:nvSpPr>
        <p:spPr>
          <a:xfrm>
            <a:off x="8166100" y="552128"/>
            <a:ext cx="703866" cy="1764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b="1" i="1" u="sng">
                <a:solidFill>
                  <a:srgbClr val="000000"/>
                </a:solidFill>
                <a:latin typeface="Fund Light" pitchFamily="2" charset="-78"/>
                <a:cs typeface="Fund Light" pitchFamily="2" charset="-78"/>
              </a:rPr>
              <a:t>Illustrative</a:t>
            </a:r>
          </a:p>
        </p:txBody>
      </p:sp>
    </p:spTree>
    <p:extLst>
      <p:ext uri="{BB962C8B-B14F-4D97-AF65-F5344CB8AC3E}">
        <p14:creationId xmlns:p14="http://schemas.microsoft.com/office/powerpoint/2010/main" val="36086073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59957"/>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
        <p:nvSpPr>
          <p:cNvPr id="2" name="Text Placeholder 5">
            <a:extLst>
              <a:ext uri="{FF2B5EF4-FFF2-40B4-BE49-F238E27FC236}">
                <a16:creationId xmlns:a16="http://schemas.microsoft.com/office/drawing/2014/main" id="{11B99F70-4E9B-FCF3-AACB-2497F26636A4}"/>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Tree>
    <p:extLst>
      <p:ext uri="{BB962C8B-B14F-4D97-AF65-F5344CB8AC3E}">
        <p14:creationId xmlns:p14="http://schemas.microsoft.com/office/powerpoint/2010/main" val="441886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866793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3 of 5 − Tendering and LDC award</a:t>
            </a:r>
            <a:r>
              <a:rPr lang="en-US"/>
              <a:t>: Section preface</a:t>
            </a:r>
          </a:p>
        </p:txBody>
      </p:sp>
      <p:sp>
        <p:nvSpPr>
          <p:cNvPr id="7" name="Rectangle 6">
            <a:extLst>
              <a:ext uri="{FF2B5EF4-FFF2-40B4-BE49-F238E27FC236}">
                <a16:creationId xmlns:a16="http://schemas.microsoft.com/office/drawing/2014/main" id="{5C6A77BB-7CC5-F0BC-823C-CFE0129451B8}"/>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8" name="Rectangle 7">
            <a:extLst>
              <a:ext uri="{FF2B5EF4-FFF2-40B4-BE49-F238E27FC236}">
                <a16:creationId xmlns:a16="http://schemas.microsoft.com/office/drawing/2014/main" id="{5594876C-391D-A345-B20D-6E975558FB63}"/>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9" name="Rectangle 8">
            <a:extLst>
              <a:ext uri="{FF2B5EF4-FFF2-40B4-BE49-F238E27FC236}">
                <a16:creationId xmlns:a16="http://schemas.microsoft.com/office/drawing/2014/main" id="{F5FF7A6E-27EC-0237-1F11-435000CD8CF9}"/>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0" name="Rectangle 9">
            <a:extLst>
              <a:ext uri="{FF2B5EF4-FFF2-40B4-BE49-F238E27FC236}">
                <a16:creationId xmlns:a16="http://schemas.microsoft.com/office/drawing/2014/main" id="{BBA7C6E6-05A7-DA6C-A38F-6A1D1D8B8BCB}"/>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2" name="Rectangle 11">
            <a:extLst>
              <a:ext uri="{FF2B5EF4-FFF2-40B4-BE49-F238E27FC236}">
                <a16:creationId xmlns:a16="http://schemas.microsoft.com/office/drawing/2014/main" id="{5B2641C8-11CF-D90F-05D2-101FE75C3B7E}"/>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Legal team [owner of the process]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Procurement team [supplier evaluation and liaison]</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Business teams / LC unit / LDC taskforce [recommendations and feedback]</a:t>
            </a:r>
          </a:p>
        </p:txBody>
      </p:sp>
      <p:sp>
        <p:nvSpPr>
          <p:cNvPr id="13" name="Rectangle 12">
            <a:extLst>
              <a:ext uri="{FF2B5EF4-FFF2-40B4-BE49-F238E27FC236}">
                <a16:creationId xmlns:a16="http://schemas.microsoft.com/office/drawing/2014/main" id="{0A89F3AA-EA57-27D0-E715-E934325F5207}"/>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Steps to identify and award LDC agreement to the most appropriate supplier to localize the proposed product</a:t>
            </a:r>
          </a:p>
        </p:txBody>
      </p:sp>
      <p:sp>
        <p:nvSpPr>
          <p:cNvPr id="14" name="Rectangle 13">
            <a:extLst>
              <a:ext uri="{FF2B5EF4-FFF2-40B4-BE49-F238E27FC236}">
                <a16:creationId xmlns:a16="http://schemas.microsoft.com/office/drawing/2014/main" id="{28A5AB9B-8717-3786-CEA4-6674060B01A2}"/>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How to launch an </a:t>
            </a:r>
            <a:r>
              <a:rPr lang="en-US" sz="1000" err="1">
                <a:solidFill>
                  <a:srgbClr val="000000"/>
                </a:solidFill>
                <a:latin typeface="Fund Light" pitchFamily="2" charset="-78"/>
                <a:cs typeface="Fund Light" pitchFamily="2" charset="-78"/>
              </a:rPr>
              <a:t>RfI</a:t>
            </a:r>
            <a:r>
              <a:rPr lang="en-US" sz="1000">
                <a:solidFill>
                  <a:srgbClr val="000000"/>
                </a:solidFill>
                <a:latin typeface="Fund Light" pitchFamily="2" charset="-78"/>
                <a:cs typeface="Fund Light" pitchFamily="2" charset="-78"/>
              </a:rPr>
              <a:t> and </a:t>
            </a:r>
            <a:r>
              <a:rPr lang="en-US" sz="1000" err="1">
                <a:solidFill>
                  <a:srgbClr val="000000"/>
                </a:solidFill>
                <a:latin typeface="Fund Light" pitchFamily="2" charset="-78"/>
                <a:cs typeface="Fund Light" pitchFamily="2" charset="-78"/>
              </a:rPr>
              <a:t>RfP</a:t>
            </a:r>
            <a:r>
              <a:rPr lang="en-US" sz="1000">
                <a:solidFill>
                  <a:srgbClr val="000000"/>
                </a:solidFill>
                <a:latin typeface="Fund Light" pitchFamily="2" charset="-78"/>
                <a:cs typeface="Fund Light" pitchFamily="2" charset="-78"/>
              </a:rPr>
              <a:t> to solicit supplier responses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How to evaluate supplier’s responses to </a:t>
            </a:r>
            <a:r>
              <a:rPr lang="en-US" sz="1000" err="1">
                <a:solidFill>
                  <a:srgbClr val="000000"/>
                </a:solidFill>
                <a:latin typeface="Fund Light" pitchFamily="2" charset="-78"/>
                <a:cs typeface="Fund Light" pitchFamily="2" charset="-78"/>
              </a:rPr>
              <a:t>RfI</a:t>
            </a:r>
            <a:r>
              <a:rPr lang="en-US" sz="1000">
                <a:solidFill>
                  <a:srgbClr val="000000"/>
                </a:solidFill>
                <a:latin typeface="Fund Light" pitchFamily="2" charset="-78"/>
                <a:cs typeface="Fund Light" pitchFamily="2" charset="-78"/>
              </a:rPr>
              <a:t> and </a:t>
            </a:r>
            <a:r>
              <a:rPr lang="en-US" sz="1000" err="1">
                <a:solidFill>
                  <a:srgbClr val="000000"/>
                </a:solidFill>
                <a:latin typeface="Fund Light" pitchFamily="2" charset="-78"/>
                <a:cs typeface="Fund Light" pitchFamily="2" charset="-78"/>
              </a:rPr>
              <a:t>RfP</a:t>
            </a:r>
            <a:endParaRPr lang="en-US" sz="1000">
              <a:solidFill>
                <a:srgbClr val="000000"/>
              </a:solidFill>
              <a:latin typeface="Fund Light" pitchFamily="2" charset="-78"/>
              <a:cs typeface="Fund Light" pitchFamily="2" charset="-78"/>
            </a:endParaRP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Tender and award</a:t>
            </a:r>
          </a:p>
        </p:txBody>
      </p:sp>
      <p:sp>
        <p:nvSpPr>
          <p:cNvPr id="23" name="Rectangle 22">
            <a:extLst>
              <a:ext uri="{FF2B5EF4-FFF2-40B4-BE49-F238E27FC236}">
                <a16:creationId xmlns:a16="http://schemas.microsoft.com/office/drawing/2014/main" id="{DB76E406-BF29-61AA-7C21-E2FDC5AEF09D}"/>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Given the nature and complexity of the template, this will be shared upon request. Please reach out to PIF NDD contacts shared</a:t>
            </a:r>
          </a:p>
        </p:txBody>
      </p:sp>
      <p:grpSp>
        <p:nvGrpSpPr>
          <p:cNvPr id="6" name="Group 5">
            <a:extLst>
              <a:ext uri="{FF2B5EF4-FFF2-40B4-BE49-F238E27FC236}">
                <a16:creationId xmlns:a16="http://schemas.microsoft.com/office/drawing/2014/main" id="{0C52233F-04F7-18C0-A5A2-A65AB149399F}"/>
              </a:ext>
            </a:extLst>
          </p:cNvPr>
          <p:cNvGrpSpPr/>
          <p:nvPr/>
        </p:nvGrpSpPr>
        <p:grpSpPr>
          <a:xfrm>
            <a:off x="2331794" y="2979027"/>
            <a:ext cx="2154417" cy="251745"/>
            <a:chOff x="4266739" y="2164768"/>
            <a:chExt cx="2154417" cy="251745"/>
          </a:xfrm>
        </p:grpSpPr>
        <p:sp>
          <p:nvSpPr>
            <p:cNvPr id="11" name="Rectangle 10">
              <a:extLst>
                <a:ext uri="{FF2B5EF4-FFF2-40B4-BE49-F238E27FC236}">
                  <a16:creationId xmlns:a16="http://schemas.microsoft.com/office/drawing/2014/main" id="{71D7C1E2-B9F0-5D9B-709C-F1ED644B7D75}"/>
                </a:ext>
              </a:extLst>
            </p:cNvPr>
            <p:cNvSpPr/>
            <p:nvPr/>
          </p:nvSpPr>
          <p:spPr>
            <a:xfrm>
              <a:off x="5595585" y="2254930"/>
              <a:ext cx="825571" cy="161583"/>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err="1">
                  <a:solidFill>
                    <a:schemeClr val="bg2"/>
                  </a:solidFill>
                  <a:latin typeface="Fund Light" pitchFamily="2" charset="-78"/>
                  <a:cs typeface="Fund Light" pitchFamily="2" charset="-78"/>
                </a:rPr>
                <a:t>RfI</a:t>
              </a:r>
              <a:r>
                <a:rPr lang="en-US" sz="1050" b="1">
                  <a:solidFill>
                    <a:schemeClr val="bg2"/>
                  </a:solidFill>
                  <a:latin typeface="Fund Light" pitchFamily="2" charset="-78"/>
                  <a:cs typeface="Fund Light" pitchFamily="2" charset="-78"/>
                </a:rPr>
                <a:t> </a:t>
              </a: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template</a:t>
              </a:r>
            </a:p>
          </p:txBody>
        </p:sp>
        <p:sp>
          <p:nvSpPr>
            <p:cNvPr id="15" name="Oval 14">
              <a:extLst>
                <a:ext uri="{FF2B5EF4-FFF2-40B4-BE49-F238E27FC236}">
                  <a16:creationId xmlns:a16="http://schemas.microsoft.com/office/drawing/2014/main" id="{582DBC31-01E9-7144-CF8C-B271E14539D0}"/>
                </a:ext>
              </a:extLst>
            </p:cNvPr>
            <p:cNvSpPr/>
            <p:nvPr/>
          </p:nvSpPr>
          <p:spPr>
            <a:xfrm>
              <a:off x="4266739" y="2164768"/>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D</a:t>
              </a:r>
            </a:p>
          </p:txBody>
        </p:sp>
      </p:grpSp>
      <p:pic>
        <p:nvPicPr>
          <p:cNvPr id="24" name="Picture 23">
            <a:extLst>
              <a:ext uri="{FF2B5EF4-FFF2-40B4-BE49-F238E27FC236}">
                <a16:creationId xmlns:a16="http://schemas.microsoft.com/office/drawing/2014/main" id="{E7F03F11-CCE9-0A47-E8D5-98DE9D0546BA}"/>
              </a:ext>
            </a:extLst>
          </p:cNvPr>
          <p:cNvPicPr>
            <a:picLocks noChangeAspect="1"/>
          </p:cNvPicPr>
          <p:nvPr/>
        </p:nvPicPr>
        <p:blipFill>
          <a:blip r:embed="rId6"/>
          <a:stretch>
            <a:fillRect/>
          </a:stretch>
        </p:blipFill>
        <p:spPr>
          <a:xfrm>
            <a:off x="2678678" y="2543879"/>
            <a:ext cx="724001" cy="1009399"/>
          </a:xfrm>
          <a:prstGeom prst="rect">
            <a:avLst/>
          </a:prstGeom>
          <a:solidFill>
            <a:srgbClr val="FFFFFF">
              <a:shade val="85000"/>
            </a:srgbClr>
          </a:solidFill>
          <a:ln w="6223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7" name="Picture 26">
            <a:extLst>
              <a:ext uri="{FF2B5EF4-FFF2-40B4-BE49-F238E27FC236}">
                <a16:creationId xmlns:a16="http://schemas.microsoft.com/office/drawing/2014/main" id="{06E86E3B-B0C1-1267-BDA3-670E98207EBB}"/>
              </a:ext>
            </a:extLst>
          </p:cNvPr>
          <p:cNvPicPr>
            <a:picLocks noChangeAspect="1"/>
          </p:cNvPicPr>
          <p:nvPr/>
        </p:nvPicPr>
        <p:blipFill>
          <a:blip r:embed="rId7"/>
          <a:stretch>
            <a:fillRect/>
          </a:stretch>
        </p:blipFill>
        <p:spPr>
          <a:xfrm>
            <a:off x="5511672" y="2529139"/>
            <a:ext cx="724001" cy="997687"/>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Oval 27">
            <a:extLst>
              <a:ext uri="{FF2B5EF4-FFF2-40B4-BE49-F238E27FC236}">
                <a16:creationId xmlns:a16="http://schemas.microsoft.com/office/drawing/2014/main" id="{8457CEB0-EFB6-FD01-3922-0BC3853C3505}"/>
              </a:ext>
            </a:extLst>
          </p:cNvPr>
          <p:cNvSpPr/>
          <p:nvPr/>
        </p:nvSpPr>
        <p:spPr>
          <a:xfrm>
            <a:off x="5145517" y="2979027"/>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D</a:t>
            </a:r>
          </a:p>
        </p:txBody>
      </p:sp>
      <p:sp>
        <p:nvSpPr>
          <p:cNvPr id="29" name="Rectangle 28">
            <a:extLst>
              <a:ext uri="{FF2B5EF4-FFF2-40B4-BE49-F238E27FC236}">
                <a16:creationId xmlns:a16="http://schemas.microsoft.com/office/drawing/2014/main" id="{88BB5050-6E29-46C2-F1B1-41653CB3CF0E}"/>
              </a:ext>
            </a:extLst>
          </p:cNvPr>
          <p:cNvSpPr/>
          <p:nvPr/>
        </p:nvSpPr>
        <p:spPr>
          <a:xfrm>
            <a:off x="6463977" y="2879427"/>
            <a:ext cx="825571"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a:solidFill>
                  <a:schemeClr val="bg2"/>
                </a:solidFill>
                <a:latin typeface="Fund Light" pitchFamily="2" charset="-78"/>
                <a:cs typeface="Fund Light" pitchFamily="2" charset="-78"/>
              </a:rPr>
              <a:t>RfP </a:t>
            </a: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template</a:t>
            </a:r>
          </a:p>
        </p:txBody>
      </p:sp>
    </p:spTree>
    <p:extLst>
      <p:ext uri="{BB962C8B-B14F-4D97-AF65-F5344CB8AC3E}">
        <p14:creationId xmlns:p14="http://schemas.microsoft.com/office/powerpoint/2010/main" val="23817233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F99657C5-27D5-EDDF-CCFC-7347CEEA639B}"/>
              </a:ext>
            </a:extLst>
          </p:cNvPr>
          <p:cNvGraphicFramePr>
            <a:graphicFrameLocks noChangeAspect="1"/>
          </p:cNvGraphicFramePr>
          <p:nvPr>
            <p:custDataLst>
              <p:tags r:id="rId1"/>
            </p:custDataLst>
            <p:extLst>
              <p:ext uri="{D42A27DB-BD31-4B8C-83A1-F6EECF244321}">
                <p14:modId xmlns:p14="http://schemas.microsoft.com/office/powerpoint/2010/main" val="393620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9" name="think-cell data - do not delete" hidden="1">
                        <a:extLst>
                          <a:ext uri="{FF2B5EF4-FFF2-40B4-BE49-F238E27FC236}">
                            <a16:creationId xmlns:a16="http://schemas.microsoft.com/office/drawing/2014/main" id="{F99657C5-27D5-EDDF-CCFC-7347CEEA639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F5A8A284-47D3-47C6-94A4-E53BE1149D2B}"/>
              </a:ext>
            </a:extLst>
          </p:cNvPr>
          <p:cNvSpPr>
            <a:spLocks noGrp="1"/>
          </p:cNvSpPr>
          <p:nvPr>
            <p:ph type="title"/>
          </p:nvPr>
        </p:nvSpPr>
        <p:spPr>
          <a:xfrm>
            <a:off x="1255076" y="255973"/>
            <a:ext cx="7752123" cy="241824"/>
          </a:xfrm>
        </p:spPr>
        <p:txBody>
          <a:bodyPr vert="horz"/>
          <a:lstStyle/>
          <a:p>
            <a:r>
              <a:rPr lang="en-US"/>
              <a:t>An </a:t>
            </a:r>
            <a:r>
              <a:rPr lang="en-US" err="1"/>
              <a:t>RfI</a:t>
            </a:r>
            <a:r>
              <a:rPr lang="en-US"/>
              <a:t> and </a:t>
            </a:r>
            <a:r>
              <a:rPr lang="en-US" err="1"/>
              <a:t>RfP</a:t>
            </a:r>
            <a:r>
              <a:rPr lang="en-US"/>
              <a:t> process helps select suppliers competitively and lower risks as much as possible</a:t>
            </a:r>
          </a:p>
        </p:txBody>
      </p:sp>
      <p:sp>
        <p:nvSpPr>
          <p:cNvPr id="2" name="Rectangle 1">
            <a:extLst>
              <a:ext uri="{FF2B5EF4-FFF2-40B4-BE49-F238E27FC236}">
                <a16:creationId xmlns:a16="http://schemas.microsoft.com/office/drawing/2014/main" id="{FC5BBE24-8AA3-1C91-682A-1037BCAC6DCB}"/>
              </a:ext>
            </a:extLst>
          </p:cNvPr>
          <p:cNvSpPr/>
          <p:nvPr/>
        </p:nvSpPr>
        <p:spPr>
          <a:xfrm>
            <a:off x="326230" y="1371528"/>
            <a:ext cx="962820" cy="1458929"/>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00" b="1" spc="-20">
                <a:solidFill>
                  <a:schemeClr val="bg2"/>
                </a:solidFill>
                <a:latin typeface="Fund Light" pitchFamily="2" charset="-78"/>
                <a:cs typeface="Fund Light" pitchFamily="2" charset="-78"/>
              </a:rPr>
              <a:t>Objectives</a:t>
            </a:r>
          </a:p>
        </p:txBody>
      </p:sp>
      <p:cxnSp>
        <p:nvCxnSpPr>
          <p:cNvPr id="17" name="Straight Connector 16">
            <a:extLst>
              <a:ext uri="{FF2B5EF4-FFF2-40B4-BE49-F238E27FC236}">
                <a16:creationId xmlns:a16="http://schemas.microsoft.com/office/drawing/2014/main" id="{C320CFBC-98B9-D09A-709D-59D9149B168A}"/>
              </a:ext>
            </a:extLst>
          </p:cNvPr>
          <p:cNvCxnSpPr>
            <a:cxnSpLocks/>
          </p:cNvCxnSpPr>
          <p:nvPr/>
        </p:nvCxnSpPr>
        <p:spPr>
          <a:xfrm>
            <a:off x="326230" y="2920917"/>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26D8B45-FB60-DC98-962F-505EC7EDADCE}"/>
              </a:ext>
            </a:extLst>
          </p:cNvPr>
          <p:cNvSpPr/>
          <p:nvPr/>
        </p:nvSpPr>
        <p:spPr>
          <a:xfrm>
            <a:off x="326230" y="3011378"/>
            <a:ext cx="962820" cy="150506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00" b="1" spc="-20">
                <a:solidFill>
                  <a:schemeClr val="bg2"/>
                </a:solidFill>
                <a:latin typeface="Fund Light" pitchFamily="2" charset="-78"/>
                <a:cs typeface="Fund Light" pitchFamily="2" charset="-78"/>
              </a:rPr>
              <a:t>Questions addressed in this document</a:t>
            </a:r>
          </a:p>
        </p:txBody>
      </p:sp>
      <p:sp>
        <p:nvSpPr>
          <p:cNvPr id="8" name="ee4pHeader1">
            <a:extLst>
              <a:ext uri="{FF2B5EF4-FFF2-40B4-BE49-F238E27FC236}">
                <a16:creationId xmlns:a16="http://schemas.microsoft.com/office/drawing/2014/main" id="{5FE7061E-E72B-3C01-4953-DB8D0997B30D}"/>
              </a:ext>
            </a:extLst>
          </p:cNvPr>
          <p:cNvSpPr/>
          <p:nvPr>
            <p:custDataLst>
              <p:tags r:id="rId2"/>
            </p:custDataLst>
          </p:nvPr>
        </p:nvSpPr>
        <p:spPr bwMode="auto">
          <a:xfrm>
            <a:off x="1520607" y="906892"/>
            <a:ext cx="3593873" cy="418504"/>
          </a:xfrm>
          <a:prstGeom prst="homePlate">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Request for information (</a:t>
            </a:r>
            <a:r>
              <a:rPr kumimoji="0" lang="en-GB" sz="1100" b="1" i="0" u="none" strike="noStrike" kern="1200" cap="none" spc="0" normalizeH="0" baseline="0" noProof="0" err="1">
                <a:ln>
                  <a:noFill/>
                </a:ln>
                <a:solidFill>
                  <a:schemeClr val="bg1"/>
                </a:solidFill>
                <a:effectLst/>
                <a:uLnTx/>
                <a:uFillTx/>
                <a:latin typeface="Fund Light" pitchFamily="2" charset="-78"/>
                <a:ea typeface="+mn-ea"/>
                <a:cs typeface="Fund Light" pitchFamily="2" charset="-78"/>
              </a:rPr>
              <a:t>RfI</a:t>
            </a:r>
            <a:r>
              <a:rPr kumimoji="0" lang="en-GB" sz="110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a:t>
            </a:r>
          </a:p>
        </p:txBody>
      </p:sp>
      <p:sp>
        <p:nvSpPr>
          <p:cNvPr id="9" name="ee4pHeader2">
            <a:extLst>
              <a:ext uri="{FF2B5EF4-FFF2-40B4-BE49-F238E27FC236}">
                <a16:creationId xmlns:a16="http://schemas.microsoft.com/office/drawing/2014/main" id="{11383490-BC95-5DED-45A2-D5B40B520D4C}"/>
              </a:ext>
            </a:extLst>
          </p:cNvPr>
          <p:cNvSpPr/>
          <p:nvPr>
            <p:custDataLst>
              <p:tags r:id="rId3"/>
            </p:custDataLst>
          </p:nvPr>
        </p:nvSpPr>
        <p:spPr bwMode="auto">
          <a:xfrm>
            <a:off x="5226276" y="906892"/>
            <a:ext cx="3593873" cy="418504"/>
          </a:xfrm>
          <a:prstGeom prst="chevron">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Request for proposal (RfP)</a:t>
            </a:r>
          </a:p>
        </p:txBody>
      </p:sp>
      <p:sp>
        <p:nvSpPr>
          <p:cNvPr id="15" name="Oval 14">
            <a:extLst>
              <a:ext uri="{FF2B5EF4-FFF2-40B4-BE49-F238E27FC236}">
                <a16:creationId xmlns:a16="http://schemas.microsoft.com/office/drawing/2014/main" id="{042EDB22-78A3-373F-F7FA-931D88BE10FD}"/>
              </a:ext>
            </a:extLst>
          </p:cNvPr>
          <p:cNvSpPr/>
          <p:nvPr/>
        </p:nvSpPr>
        <p:spPr>
          <a:xfrm>
            <a:off x="1397351"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A</a:t>
            </a:r>
          </a:p>
        </p:txBody>
      </p:sp>
      <p:sp>
        <p:nvSpPr>
          <p:cNvPr id="11" name="Oval 10">
            <a:extLst>
              <a:ext uri="{FF2B5EF4-FFF2-40B4-BE49-F238E27FC236}">
                <a16:creationId xmlns:a16="http://schemas.microsoft.com/office/drawing/2014/main" id="{FD56B3EF-A88E-2162-F182-E8BCBF6A593B}"/>
              </a:ext>
            </a:extLst>
          </p:cNvPr>
          <p:cNvSpPr/>
          <p:nvPr/>
        </p:nvSpPr>
        <p:spPr>
          <a:xfrm>
            <a:off x="5121173"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B</a:t>
            </a:r>
          </a:p>
        </p:txBody>
      </p:sp>
      <p:grpSp>
        <p:nvGrpSpPr>
          <p:cNvPr id="16" name="Group 15">
            <a:extLst>
              <a:ext uri="{FF2B5EF4-FFF2-40B4-BE49-F238E27FC236}">
                <a16:creationId xmlns:a16="http://schemas.microsoft.com/office/drawing/2014/main" id="{BA49AD57-63ED-43DE-B718-549C0BCF4901}"/>
              </a:ext>
            </a:extLst>
          </p:cNvPr>
          <p:cNvGrpSpPr/>
          <p:nvPr/>
        </p:nvGrpSpPr>
        <p:grpSpPr>
          <a:xfrm>
            <a:off x="1404829" y="1389051"/>
            <a:ext cx="0" cy="3127387"/>
            <a:chOff x="1414021" y="1389051"/>
            <a:chExt cx="0" cy="3127387"/>
          </a:xfrm>
        </p:grpSpPr>
        <p:cxnSp>
          <p:nvCxnSpPr>
            <p:cNvPr id="6" name="Straight Connector 5">
              <a:extLst>
                <a:ext uri="{FF2B5EF4-FFF2-40B4-BE49-F238E27FC236}">
                  <a16:creationId xmlns:a16="http://schemas.microsoft.com/office/drawing/2014/main" id="{584DBBCD-E5BA-8F86-F1A0-DF3747C29FBD}"/>
                </a:ext>
              </a:extLst>
            </p:cNvPr>
            <p:cNvCxnSpPr/>
            <p:nvPr/>
          </p:nvCxnSpPr>
          <p:spPr>
            <a:xfrm>
              <a:off x="1414021" y="1389051"/>
              <a:ext cx="0" cy="144140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22ECCBF-9F8B-FFDE-7BF8-22ACE40C8F33}"/>
                </a:ext>
              </a:extLst>
            </p:cNvPr>
            <p:cNvCxnSpPr/>
            <p:nvPr/>
          </p:nvCxnSpPr>
          <p:spPr>
            <a:xfrm>
              <a:off x="1414021" y="3011378"/>
              <a:ext cx="0" cy="15050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6B87DEE0-F720-7673-8414-BE082C3EBE35}"/>
              </a:ext>
            </a:extLst>
          </p:cNvPr>
          <p:cNvCxnSpPr>
            <a:cxnSpLocks/>
          </p:cNvCxnSpPr>
          <p:nvPr/>
        </p:nvCxnSpPr>
        <p:spPr>
          <a:xfrm>
            <a:off x="1484844" y="3772797"/>
            <a:ext cx="7286980"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EE29D3F-618A-1F03-1EBA-6BD2559CCB2C}"/>
              </a:ext>
            </a:extLst>
          </p:cNvPr>
          <p:cNvSpPr/>
          <p:nvPr/>
        </p:nvSpPr>
        <p:spPr>
          <a:xfrm>
            <a:off x="2963277" y="3292356"/>
            <a:ext cx="4330114" cy="943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461963" marR="0" lvl="0" indent="-288925" algn="l" defTabSz="457200" rtl="0" eaLnBrk="1" fontAlgn="auto" latinLnBrk="0" hangingPunct="1">
              <a:lnSpc>
                <a:spcPct val="100000"/>
              </a:lnSpc>
              <a:spcBef>
                <a:spcPct val="10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What is the structure and outline of the document?</a:t>
            </a:r>
          </a:p>
          <a:p>
            <a:pPr marL="461963" marR="0" lvl="0" indent="-288925" algn="l" defTabSz="457200" eaLnBrk="1" fontAlgn="auto" latinLnBrk="0" hangingPunct="1">
              <a:lnSpc>
                <a:spcPct val="100000"/>
              </a:lnSpc>
              <a:spcBef>
                <a:spcPct val="10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What is the information requested from suppliers?</a:t>
            </a:r>
          </a:p>
          <a:p>
            <a:pPr marL="461963" marR="0" lvl="0" indent="-288925" algn="l" defTabSz="457200" rtl="0" eaLnBrk="1" fontAlgn="auto" latinLnBrk="0" hangingPunct="1">
              <a:lnSpc>
                <a:spcPct val="100000"/>
              </a:lnSpc>
              <a:spcBef>
                <a:spcPct val="10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How are the responses evaluated?</a:t>
            </a:r>
          </a:p>
        </p:txBody>
      </p:sp>
      <p:sp>
        <p:nvSpPr>
          <p:cNvPr id="20" name="Text Placeholder 6">
            <a:extLst>
              <a:ext uri="{FF2B5EF4-FFF2-40B4-BE49-F238E27FC236}">
                <a16:creationId xmlns:a16="http://schemas.microsoft.com/office/drawing/2014/main" id="{ED87EE19-B549-1E08-E93B-CF6397A4BF92}"/>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Tender and award</a:t>
            </a:r>
          </a:p>
        </p:txBody>
      </p:sp>
      <p:sp>
        <p:nvSpPr>
          <p:cNvPr id="26" name="Oval 25">
            <a:extLst>
              <a:ext uri="{FF2B5EF4-FFF2-40B4-BE49-F238E27FC236}">
                <a16:creationId xmlns:a16="http://schemas.microsoft.com/office/drawing/2014/main" id="{3B38F019-E4FA-4766-F1F6-CF54F5742267}"/>
              </a:ext>
            </a:extLst>
          </p:cNvPr>
          <p:cNvSpPr/>
          <p:nvPr/>
        </p:nvSpPr>
        <p:spPr>
          <a:xfrm>
            <a:off x="3139636" y="3325338"/>
            <a:ext cx="228600" cy="228600"/>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27" name="Oval 26">
            <a:extLst>
              <a:ext uri="{FF2B5EF4-FFF2-40B4-BE49-F238E27FC236}">
                <a16:creationId xmlns:a16="http://schemas.microsoft.com/office/drawing/2014/main" id="{C2FDC866-5053-69AA-55FA-C5D1AB963D91}"/>
              </a:ext>
            </a:extLst>
          </p:cNvPr>
          <p:cNvSpPr/>
          <p:nvPr/>
        </p:nvSpPr>
        <p:spPr>
          <a:xfrm>
            <a:off x="3139636" y="3660085"/>
            <a:ext cx="228600" cy="228600"/>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
        <p:nvSpPr>
          <p:cNvPr id="30" name="Oval 29">
            <a:extLst>
              <a:ext uri="{FF2B5EF4-FFF2-40B4-BE49-F238E27FC236}">
                <a16:creationId xmlns:a16="http://schemas.microsoft.com/office/drawing/2014/main" id="{9708849C-86E7-526A-9F9D-F2412FC19A4B}"/>
              </a:ext>
            </a:extLst>
          </p:cNvPr>
          <p:cNvSpPr/>
          <p:nvPr/>
        </p:nvSpPr>
        <p:spPr>
          <a:xfrm>
            <a:off x="3139636" y="3991506"/>
            <a:ext cx="228600" cy="228600"/>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3</a:t>
            </a:r>
          </a:p>
        </p:txBody>
      </p:sp>
      <p:sp>
        <p:nvSpPr>
          <p:cNvPr id="3" name="Rectangle 2">
            <a:extLst>
              <a:ext uri="{FF2B5EF4-FFF2-40B4-BE49-F238E27FC236}">
                <a16:creationId xmlns:a16="http://schemas.microsoft.com/office/drawing/2014/main" id="{DCE60E91-D85A-8362-2EE3-8074E574D483}"/>
              </a:ext>
            </a:extLst>
          </p:cNvPr>
          <p:cNvSpPr/>
          <p:nvPr/>
        </p:nvSpPr>
        <p:spPr>
          <a:xfrm>
            <a:off x="1520607" y="1389051"/>
            <a:ext cx="3509785" cy="1441405"/>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Formally validate supplier interest to locally supply the product</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Shortlist suppliers for RfP participation </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Validate the need to provide demand guarantees</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Understand supplier needs</a:t>
            </a:r>
          </a:p>
        </p:txBody>
      </p:sp>
      <p:sp>
        <p:nvSpPr>
          <p:cNvPr id="4" name="Rectangle 3">
            <a:extLst>
              <a:ext uri="{FF2B5EF4-FFF2-40B4-BE49-F238E27FC236}">
                <a16:creationId xmlns:a16="http://schemas.microsoft.com/office/drawing/2014/main" id="{30E1599E-9ECE-CBEC-CE2D-31F8F81CDD76}"/>
              </a:ext>
            </a:extLst>
          </p:cNvPr>
          <p:cNvSpPr/>
          <p:nvPr/>
        </p:nvSpPr>
        <p:spPr>
          <a:xfrm>
            <a:off x="5226276" y="1389051"/>
            <a:ext cx="3509785" cy="1441405"/>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Identify and select the optimal supplier to minimize risk effectively</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Ensure the best cost while ensuring best product quality with required specifications including localization needs</a:t>
            </a:r>
          </a:p>
          <a:p>
            <a:pPr marL="182880" marR="0" lvl="0" indent="-182880" algn="l" defTabSz="685800" rtl="0" eaLnBrk="1" fontAlgn="auto" latinLnBrk="0" hangingPunct="1">
              <a:lnSpc>
                <a:spcPct val="100000"/>
              </a:lnSpc>
              <a:spcBef>
                <a:spcPct val="5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Ensure that the supplier delivers the product on schedule</a:t>
            </a:r>
          </a:p>
        </p:txBody>
      </p:sp>
    </p:spTree>
    <p:extLst>
      <p:ext uri="{BB962C8B-B14F-4D97-AF65-F5344CB8AC3E}">
        <p14:creationId xmlns:p14="http://schemas.microsoft.com/office/powerpoint/2010/main" val="3846955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2CA814-AB81-3D11-44CC-DE9F0CDC77D5}"/>
              </a:ext>
            </a:extLst>
          </p:cNvPr>
          <p:cNvGraphicFramePr>
            <a:graphicFrameLocks noChangeAspect="1"/>
          </p:cNvGraphicFramePr>
          <p:nvPr>
            <p:custDataLst>
              <p:tags r:id="rId1"/>
            </p:custDataLst>
            <p:extLst>
              <p:ext uri="{D42A27DB-BD31-4B8C-83A1-F6EECF244321}">
                <p14:modId xmlns:p14="http://schemas.microsoft.com/office/powerpoint/2010/main" val="36569636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 name="think-cell data - do not delete" hidden="1">
                        <a:extLst>
                          <a:ext uri="{FF2B5EF4-FFF2-40B4-BE49-F238E27FC236}">
                            <a16:creationId xmlns:a16="http://schemas.microsoft.com/office/drawing/2014/main" id="{DD2CA814-AB81-3D11-44CC-DE9F0CDC77D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0EDC586C-0F33-42A8-9AA7-906CCC97BD59}"/>
              </a:ext>
            </a:extLst>
          </p:cNvPr>
          <p:cNvSpPr>
            <a:spLocks noGrp="1"/>
          </p:cNvSpPr>
          <p:nvPr>
            <p:ph type="title"/>
          </p:nvPr>
        </p:nvSpPr>
        <p:spPr/>
        <p:txBody>
          <a:bodyPr vert="horz"/>
          <a:lstStyle/>
          <a:p>
            <a:r>
              <a:rPr lang="en-US" err="1"/>
              <a:t>RfI</a:t>
            </a:r>
            <a:r>
              <a:rPr lang="en-US"/>
              <a:t> typically includes three sections </a:t>
            </a:r>
          </a:p>
        </p:txBody>
      </p:sp>
      <p:sp>
        <p:nvSpPr>
          <p:cNvPr id="16" name="ee4pHeader1">
            <a:extLst>
              <a:ext uri="{FF2B5EF4-FFF2-40B4-BE49-F238E27FC236}">
                <a16:creationId xmlns:a16="http://schemas.microsoft.com/office/drawing/2014/main" id="{91263F0D-055E-11A4-41D7-F4139193C343}"/>
              </a:ext>
            </a:extLst>
          </p:cNvPr>
          <p:cNvSpPr/>
          <p:nvPr>
            <p:custDataLst>
              <p:tags r:id="rId2"/>
            </p:custDataLst>
          </p:nvPr>
        </p:nvSpPr>
        <p:spPr bwMode="auto">
          <a:xfrm>
            <a:off x="4917881" y="0"/>
            <a:ext cx="943814" cy="175146"/>
          </a:xfrm>
          <a:prstGeom prst="homePlate">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err="1">
                <a:ln>
                  <a:noFill/>
                </a:ln>
                <a:solidFill>
                  <a:srgbClr val="FFFFFF"/>
                </a:solidFill>
                <a:effectLst/>
                <a:uLnTx/>
                <a:uFillTx/>
                <a:latin typeface="Fund Light"/>
                <a:ea typeface="+mn-ea"/>
                <a:cs typeface="+mn-cs"/>
              </a:rPr>
              <a:t>RfI</a:t>
            </a:r>
            <a:endParaRPr kumimoji="0" lang="en-GB" sz="1050" b="1" i="0" u="none" strike="noStrike" kern="1200" cap="none" spc="0" normalizeH="0" baseline="0" noProof="0">
              <a:ln>
                <a:noFill/>
              </a:ln>
              <a:solidFill>
                <a:srgbClr val="FFFFFF"/>
              </a:solidFill>
              <a:effectLst/>
              <a:uLnTx/>
              <a:uFillTx/>
              <a:latin typeface="Fund Light"/>
              <a:ea typeface="+mn-ea"/>
              <a:cs typeface="+mn-cs"/>
            </a:endParaRPr>
          </a:p>
        </p:txBody>
      </p:sp>
      <p:sp>
        <p:nvSpPr>
          <p:cNvPr id="17" name="ee4pHeader2">
            <a:extLst>
              <a:ext uri="{FF2B5EF4-FFF2-40B4-BE49-F238E27FC236}">
                <a16:creationId xmlns:a16="http://schemas.microsoft.com/office/drawing/2014/main" id="{75EABC08-C89D-9608-1781-E289EBB5C11C}"/>
              </a:ext>
            </a:extLst>
          </p:cNvPr>
          <p:cNvSpPr/>
          <p:nvPr>
            <p:custDataLst>
              <p:tags r:id="rId3"/>
            </p:custDataLst>
          </p:nvPr>
        </p:nvSpPr>
        <p:spPr bwMode="auto">
          <a:xfrm>
            <a:off x="5891054" y="0"/>
            <a:ext cx="943814" cy="175146"/>
          </a:xfrm>
          <a:prstGeom prst="chevron">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RfP</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 and template</a:t>
            </a:r>
          </a:p>
        </p:txBody>
      </p:sp>
      <p:sp>
        <p:nvSpPr>
          <p:cNvPr id="48" name="Rectangle 47">
            <a:extLst>
              <a:ext uri="{FF2B5EF4-FFF2-40B4-BE49-F238E27FC236}">
                <a16:creationId xmlns:a16="http://schemas.microsoft.com/office/drawing/2014/main" id="{DCAFFD49-85C9-4E46-9DF4-507BEC986568}"/>
              </a:ext>
            </a:extLst>
          </p:cNvPr>
          <p:cNvSpPr/>
          <p:nvPr/>
        </p:nvSpPr>
        <p:spPr>
          <a:xfrm>
            <a:off x="304164" y="3924300"/>
            <a:ext cx="2173292" cy="512233"/>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err="1">
                <a:ln>
                  <a:noFill/>
                </a:ln>
                <a:solidFill>
                  <a:srgbClr val="00332A"/>
                </a:solidFill>
                <a:effectLst/>
                <a:uLnTx/>
                <a:uFillTx/>
                <a:latin typeface="Fund Light" pitchFamily="2" charset="-78"/>
                <a:ea typeface="+mn-ea"/>
                <a:cs typeface="Fund Light" pitchFamily="2" charset="-78"/>
              </a:rPr>
              <a:t>RfI</a:t>
            </a:r>
            <a: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 template provided as </a:t>
            </a:r>
            <a:b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separate document as part of this implementation guide</a:t>
            </a:r>
          </a:p>
        </p:txBody>
      </p:sp>
      <p:grpSp>
        <p:nvGrpSpPr>
          <p:cNvPr id="56" name="Group 55">
            <a:extLst>
              <a:ext uri="{FF2B5EF4-FFF2-40B4-BE49-F238E27FC236}">
                <a16:creationId xmlns:a16="http://schemas.microsoft.com/office/drawing/2014/main" id="{5DAF4BAD-3326-4E4B-83EB-8953661CDCB3}"/>
              </a:ext>
            </a:extLst>
          </p:cNvPr>
          <p:cNvGrpSpPr/>
          <p:nvPr/>
        </p:nvGrpSpPr>
        <p:grpSpPr>
          <a:xfrm>
            <a:off x="2850520" y="771528"/>
            <a:ext cx="125991" cy="3744910"/>
            <a:chOff x="4645689" y="2465890"/>
            <a:chExt cx="146070" cy="2408352"/>
          </a:xfrm>
        </p:grpSpPr>
        <p:cxnSp>
          <p:nvCxnSpPr>
            <p:cNvPr id="72" name="Straight Connector 71">
              <a:extLst>
                <a:ext uri="{FF2B5EF4-FFF2-40B4-BE49-F238E27FC236}">
                  <a16:creationId xmlns:a16="http://schemas.microsoft.com/office/drawing/2014/main" id="{A68E8895-EDE8-41B8-8224-901766AD73CB}"/>
                </a:ext>
              </a:extLst>
            </p:cNvPr>
            <p:cNvCxnSpPr>
              <a:cxnSpLocks/>
            </p:cNvCxnSpPr>
            <p:nvPr/>
          </p:nvCxnSpPr>
          <p:spPr>
            <a:xfrm>
              <a:off x="4718724" y="2465890"/>
              <a:ext cx="0" cy="2408352"/>
            </a:xfrm>
            <a:prstGeom prst="line">
              <a:avLst/>
            </a:prstGeom>
            <a:ln w="1905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1D56D4E4-CDD9-4C46-B660-E62901500421}"/>
                </a:ext>
              </a:extLst>
            </p:cNvPr>
            <p:cNvGrpSpPr/>
            <p:nvPr/>
          </p:nvGrpSpPr>
          <p:grpSpPr>
            <a:xfrm>
              <a:off x="4645689" y="3429000"/>
              <a:ext cx="146070" cy="377996"/>
              <a:chOff x="1572880" y="2384263"/>
              <a:chExt cx="146070" cy="377996"/>
            </a:xfrm>
          </p:grpSpPr>
          <p:sp>
            <p:nvSpPr>
              <p:cNvPr id="74" name="Isosceles Triangle 223">
                <a:extLst>
                  <a:ext uri="{FF2B5EF4-FFF2-40B4-BE49-F238E27FC236}">
                    <a16:creationId xmlns:a16="http://schemas.microsoft.com/office/drawing/2014/main" id="{C1E2128F-958F-44B5-8C11-8D951D5C3ABA}"/>
                  </a:ext>
                </a:extLst>
              </p:cNvPr>
              <p:cNvSpPr/>
              <p:nvPr/>
            </p:nvSpPr>
            <p:spPr>
              <a:xfrm rot="5400000">
                <a:off x="1471560" y="2514869"/>
                <a:ext cx="377996" cy="116784"/>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5F007F"/>
                  </a:solidFill>
                  <a:effectLst/>
                  <a:uLnTx/>
                  <a:uFillTx/>
                  <a:latin typeface="Fund Light" pitchFamily="2" charset="-78"/>
                  <a:ea typeface="+mn-ea"/>
                  <a:cs typeface="Fund Light" pitchFamily="2" charset="-78"/>
                </a:endParaRPr>
              </a:p>
            </p:txBody>
          </p:sp>
          <p:sp>
            <p:nvSpPr>
              <p:cNvPr id="75" name="Isosceles Triangle 223">
                <a:extLst>
                  <a:ext uri="{FF2B5EF4-FFF2-40B4-BE49-F238E27FC236}">
                    <a16:creationId xmlns:a16="http://schemas.microsoft.com/office/drawing/2014/main" id="{6B56FB3C-B40D-44A0-AA0C-6F163A960060}"/>
                  </a:ext>
                </a:extLst>
              </p:cNvPr>
              <p:cNvSpPr/>
              <p:nvPr/>
            </p:nvSpPr>
            <p:spPr>
              <a:xfrm rot="5400000">
                <a:off x="1471159" y="2527784"/>
                <a:ext cx="294397" cy="90955"/>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5F007F"/>
                  </a:solidFill>
                  <a:effectLst/>
                  <a:uLnTx/>
                  <a:uFillTx/>
                  <a:latin typeface="Fund Light" pitchFamily="2" charset="-78"/>
                  <a:ea typeface="+mn-ea"/>
                  <a:cs typeface="Fund Light" pitchFamily="2" charset="-78"/>
                </a:endParaRPr>
              </a:p>
            </p:txBody>
          </p:sp>
        </p:grpSp>
      </p:grpSp>
      <p:sp>
        <p:nvSpPr>
          <p:cNvPr id="57" name="Rectangle 56">
            <a:extLst>
              <a:ext uri="{FF2B5EF4-FFF2-40B4-BE49-F238E27FC236}">
                <a16:creationId xmlns:a16="http://schemas.microsoft.com/office/drawing/2014/main" id="{DE4DB7F2-D491-4194-AF7B-350550A452FA}"/>
              </a:ext>
            </a:extLst>
          </p:cNvPr>
          <p:cNvSpPr/>
          <p:nvPr/>
        </p:nvSpPr>
        <p:spPr>
          <a:xfrm>
            <a:off x="3207366" y="1077835"/>
            <a:ext cx="1136034" cy="1097423"/>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marL="119063" defTabSz="609585">
              <a:spcBef>
                <a:spcPts val="400"/>
              </a:spcBef>
              <a:spcAft>
                <a:spcPts val="400"/>
              </a:spcAft>
            </a:pPr>
            <a:r>
              <a:rPr lang="en-US" sz="1000" b="1" spc="-20">
                <a:solidFill>
                  <a:schemeClr val="bg2"/>
                </a:solidFill>
                <a:latin typeface="Fund Light" pitchFamily="2" charset="-78"/>
                <a:cs typeface="Fund Light" pitchFamily="2" charset="-78"/>
              </a:rPr>
              <a:t>Background and scope of the </a:t>
            </a:r>
            <a:r>
              <a:rPr lang="en-US" sz="1000" b="1" spc="-20" err="1">
                <a:solidFill>
                  <a:schemeClr val="bg2"/>
                </a:solidFill>
                <a:latin typeface="Fund Light" pitchFamily="2" charset="-78"/>
                <a:cs typeface="Fund Light" pitchFamily="2" charset="-78"/>
              </a:rPr>
              <a:t>RfI</a:t>
            </a:r>
            <a:endParaRPr lang="en-US" sz="1000" b="1" spc="-20">
              <a:solidFill>
                <a:schemeClr val="bg2"/>
              </a:solidFill>
              <a:latin typeface="Fund Light" pitchFamily="2" charset="-78"/>
              <a:cs typeface="Fund Light" pitchFamily="2" charset="-78"/>
            </a:endParaRPr>
          </a:p>
        </p:txBody>
      </p:sp>
      <p:sp>
        <p:nvSpPr>
          <p:cNvPr id="58" name="Rectangle 57">
            <a:extLst>
              <a:ext uri="{FF2B5EF4-FFF2-40B4-BE49-F238E27FC236}">
                <a16:creationId xmlns:a16="http://schemas.microsoft.com/office/drawing/2014/main" id="{B2991D49-1820-4035-838E-093233B9CBE8}"/>
              </a:ext>
            </a:extLst>
          </p:cNvPr>
          <p:cNvSpPr/>
          <p:nvPr/>
        </p:nvSpPr>
        <p:spPr>
          <a:xfrm>
            <a:off x="3207366" y="2250801"/>
            <a:ext cx="1136034" cy="1097423"/>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marL="119063" defTabSz="609585">
              <a:spcBef>
                <a:spcPts val="400"/>
              </a:spcBef>
              <a:spcAft>
                <a:spcPts val="400"/>
              </a:spcAft>
            </a:pPr>
            <a:r>
              <a:rPr lang="en-US" sz="1000" b="1" spc="-20">
                <a:solidFill>
                  <a:schemeClr val="bg2"/>
                </a:solidFill>
                <a:latin typeface="Fund Light" pitchFamily="2" charset="-78"/>
                <a:cs typeface="Fund Light" pitchFamily="2" charset="-78"/>
              </a:rPr>
              <a:t>Information required from the suppliers</a:t>
            </a:r>
          </a:p>
        </p:txBody>
      </p:sp>
      <p:sp>
        <p:nvSpPr>
          <p:cNvPr id="59" name="Rectangle 58">
            <a:extLst>
              <a:ext uri="{FF2B5EF4-FFF2-40B4-BE49-F238E27FC236}">
                <a16:creationId xmlns:a16="http://schemas.microsoft.com/office/drawing/2014/main" id="{6421543D-ADFD-43B0-A2A7-7D0566D3C170}"/>
              </a:ext>
            </a:extLst>
          </p:cNvPr>
          <p:cNvSpPr/>
          <p:nvPr/>
        </p:nvSpPr>
        <p:spPr>
          <a:xfrm>
            <a:off x="3207366" y="771525"/>
            <a:ext cx="1302400" cy="2545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Section</a:t>
            </a:r>
          </a:p>
        </p:txBody>
      </p:sp>
      <p:sp>
        <p:nvSpPr>
          <p:cNvPr id="60" name="Rectangle 59">
            <a:extLst>
              <a:ext uri="{FF2B5EF4-FFF2-40B4-BE49-F238E27FC236}">
                <a16:creationId xmlns:a16="http://schemas.microsoft.com/office/drawing/2014/main" id="{0DCEBEF4-DF17-42FC-A47B-9E2661E391B6}"/>
              </a:ext>
            </a:extLst>
          </p:cNvPr>
          <p:cNvSpPr>
            <a:spLocks/>
          </p:cNvSpPr>
          <p:nvPr/>
        </p:nvSpPr>
        <p:spPr>
          <a:xfrm>
            <a:off x="4462105" y="771525"/>
            <a:ext cx="4343663" cy="2545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What is included</a:t>
            </a:r>
          </a:p>
        </p:txBody>
      </p:sp>
      <p:sp>
        <p:nvSpPr>
          <p:cNvPr id="61" name="Rectangle 60">
            <a:extLst>
              <a:ext uri="{FF2B5EF4-FFF2-40B4-BE49-F238E27FC236}">
                <a16:creationId xmlns:a16="http://schemas.microsoft.com/office/drawing/2014/main" id="{3E6C7842-3113-4193-85BD-26C4D55E55EE}"/>
              </a:ext>
            </a:extLst>
          </p:cNvPr>
          <p:cNvSpPr/>
          <p:nvPr/>
        </p:nvSpPr>
        <p:spPr>
          <a:xfrm>
            <a:off x="3207366" y="3419013"/>
            <a:ext cx="1136034" cy="1097423"/>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marL="119063" defTabSz="609585">
              <a:spcBef>
                <a:spcPts val="400"/>
              </a:spcBef>
              <a:spcAft>
                <a:spcPts val="400"/>
              </a:spcAft>
            </a:pPr>
            <a:r>
              <a:rPr lang="en-US" sz="1000" b="1" spc="-20">
                <a:solidFill>
                  <a:schemeClr val="bg2"/>
                </a:solidFill>
                <a:latin typeface="Fund Light" pitchFamily="2" charset="-78"/>
                <a:cs typeface="Fund Light" pitchFamily="2" charset="-78"/>
              </a:rPr>
              <a:t>Submission deadline and information</a:t>
            </a:r>
          </a:p>
        </p:txBody>
      </p:sp>
      <p:sp>
        <p:nvSpPr>
          <p:cNvPr id="62" name="Rectangle 61">
            <a:extLst>
              <a:ext uri="{FF2B5EF4-FFF2-40B4-BE49-F238E27FC236}">
                <a16:creationId xmlns:a16="http://schemas.microsoft.com/office/drawing/2014/main" id="{482CADCD-E715-45EB-92C8-B785D38143C6}"/>
              </a:ext>
            </a:extLst>
          </p:cNvPr>
          <p:cNvSpPr>
            <a:spLocks/>
          </p:cNvSpPr>
          <p:nvPr/>
        </p:nvSpPr>
        <p:spPr>
          <a:xfrm>
            <a:off x="4470399" y="1080608"/>
            <a:ext cx="4343663" cy="1097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High-level KSA and </a:t>
            </a:r>
            <a:r>
              <a:rPr lang="en-US" sz="1000">
                <a:solidFill>
                  <a:srgbClr val="000000"/>
                </a:solidFill>
                <a:latin typeface="Fund Light" pitchFamily="2" charset="-78"/>
                <a:cs typeface="Fund Light" pitchFamily="2" charset="-78"/>
              </a:rPr>
              <a:t>buyer</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annual demand outlook</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Current local supply capacity</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Localization opportunity and product category description (including preliminary / secondary specifications)</a:t>
            </a:r>
          </a:p>
        </p:txBody>
      </p:sp>
      <p:sp>
        <p:nvSpPr>
          <p:cNvPr id="63" name="Rectangle 62">
            <a:extLst>
              <a:ext uri="{FF2B5EF4-FFF2-40B4-BE49-F238E27FC236}">
                <a16:creationId xmlns:a16="http://schemas.microsoft.com/office/drawing/2014/main" id="{AC6316B2-236D-4438-95EE-8DE0CA86FEC2}"/>
              </a:ext>
            </a:extLst>
          </p:cNvPr>
          <p:cNvSpPr>
            <a:spLocks/>
          </p:cNvSpPr>
          <p:nvPr/>
        </p:nvSpPr>
        <p:spPr>
          <a:xfrm>
            <a:off x="4470399" y="2250801"/>
            <a:ext cx="4343663" cy="1097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Interest of the supplier in participating in the tendering</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Supplier qualifications – minimum requirements for being shortlisted</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Proposed high-level manufacturing plan</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Main challenges and potential support </a:t>
            </a:r>
          </a:p>
        </p:txBody>
      </p:sp>
      <p:sp>
        <p:nvSpPr>
          <p:cNvPr id="64" name="Rectangle 63">
            <a:extLst>
              <a:ext uri="{FF2B5EF4-FFF2-40B4-BE49-F238E27FC236}">
                <a16:creationId xmlns:a16="http://schemas.microsoft.com/office/drawing/2014/main" id="{82D71695-96DE-42D5-99E6-33B6BA231526}"/>
              </a:ext>
            </a:extLst>
          </p:cNvPr>
          <p:cNvSpPr>
            <a:spLocks/>
          </p:cNvSpPr>
          <p:nvPr/>
        </p:nvSpPr>
        <p:spPr>
          <a:xfrm>
            <a:off x="4470399" y="3419013"/>
            <a:ext cx="4343663" cy="10974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err="1">
                <a:ln>
                  <a:noFill/>
                </a:ln>
                <a:solidFill>
                  <a:srgbClr val="000000"/>
                </a:solidFill>
                <a:effectLst/>
                <a:uLnTx/>
                <a:uFillTx/>
                <a:latin typeface="Fund Light" pitchFamily="2" charset="-78"/>
                <a:ea typeface="+mn-ea"/>
                <a:cs typeface="Fund Light" pitchFamily="2" charset="-78"/>
              </a:rPr>
              <a:t>RfI</a:t>
            </a: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process</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Submission timeline</a:t>
            </a:r>
          </a:p>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Details about the points-of-contacts</a:t>
            </a:r>
          </a:p>
        </p:txBody>
      </p:sp>
      <p:cxnSp>
        <p:nvCxnSpPr>
          <p:cNvPr id="65" name="Straight Connector 64">
            <a:extLst>
              <a:ext uri="{FF2B5EF4-FFF2-40B4-BE49-F238E27FC236}">
                <a16:creationId xmlns:a16="http://schemas.microsoft.com/office/drawing/2014/main" id="{DAE297C7-0810-4162-A5ED-E6C6996A0C56}"/>
              </a:ext>
            </a:extLst>
          </p:cNvPr>
          <p:cNvCxnSpPr>
            <a:cxnSpLocks/>
          </p:cNvCxnSpPr>
          <p:nvPr/>
        </p:nvCxnSpPr>
        <p:spPr>
          <a:xfrm>
            <a:off x="3207366" y="1026090"/>
            <a:ext cx="561278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2ABC7481-05C8-40D0-AE3F-2CDBDE63009C}"/>
              </a:ext>
            </a:extLst>
          </p:cNvPr>
          <p:cNvGrpSpPr/>
          <p:nvPr/>
        </p:nvGrpSpPr>
        <p:grpSpPr>
          <a:xfrm>
            <a:off x="3196849" y="2213029"/>
            <a:ext cx="5623301" cy="1170590"/>
            <a:chOff x="3196849" y="2213029"/>
            <a:chExt cx="5965885" cy="1170590"/>
          </a:xfrm>
        </p:grpSpPr>
        <p:cxnSp>
          <p:nvCxnSpPr>
            <p:cNvPr id="66" name="Straight Connector 65">
              <a:extLst>
                <a:ext uri="{FF2B5EF4-FFF2-40B4-BE49-F238E27FC236}">
                  <a16:creationId xmlns:a16="http://schemas.microsoft.com/office/drawing/2014/main" id="{5DDF9618-44E2-438E-85E5-D1EA067D3B1E}"/>
                </a:ext>
              </a:extLst>
            </p:cNvPr>
            <p:cNvCxnSpPr/>
            <p:nvPr/>
          </p:nvCxnSpPr>
          <p:spPr>
            <a:xfrm>
              <a:off x="3207366" y="2213029"/>
              <a:ext cx="5955368"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BA810C9-10A0-4DF1-9C89-9BEAD1CC4AC4}"/>
                </a:ext>
              </a:extLst>
            </p:cNvPr>
            <p:cNvCxnSpPr/>
            <p:nvPr/>
          </p:nvCxnSpPr>
          <p:spPr>
            <a:xfrm>
              <a:off x="3196849" y="3383619"/>
              <a:ext cx="5955368"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68" name="Oval 67">
            <a:extLst>
              <a:ext uri="{FF2B5EF4-FFF2-40B4-BE49-F238E27FC236}">
                <a16:creationId xmlns:a16="http://schemas.microsoft.com/office/drawing/2014/main" id="{E398773A-711E-4A04-83DC-A8847456C169}"/>
              </a:ext>
            </a:extLst>
          </p:cNvPr>
          <p:cNvSpPr/>
          <p:nvPr/>
        </p:nvSpPr>
        <p:spPr>
          <a:xfrm>
            <a:off x="3059154" y="1495317"/>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69" name="Oval 68">
            <a:extLst>
              <a:ext uri="{FF2B5EF4-FFF2-40B4-BE49-F238E27FC236}">
                <a16:creationId xmlns:a16="http://schemas.microsoft.com/office/drawing/2014/main" id="{6BC8AC03-A4BD-4F3B-B12F-F7F2F106AEC3}"/>
              </a:ext>
            </a:extLst>
          </p:cNvPr>
          <p:cNvSpPr/>
          <p:nvPr/>
        </p:nvSpPr>
        <p:spPr>
          <a:xfrm>
            <a:off x="3069671" y="2652918"/>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
        <p:nvSpPr>
          <p:cNvPr id="70" name="Oval 69">
            <a:extLst>
              <a:ext uri="{FF2B5EF4-FFF2-40B4-BE49-F238E27FC236}">
                <a16:creationId xmlns:a16="http://schemas.microsoft.com/office/drawing/2014/main" id="{F7D4B929-2EBC-4E5C-871C-18B7E258A777}"/>
              </a:ext>
            </a:extLst>
          </p:cNvPr>
          <p:cNvSpPr/>
          <p:nvPr/>
        </p:nvSpPr>
        <p:spPr>
          <a:xfrm>
            <a:off x="3056687" y="3827372"/>
            <a:ext cx="228600" cy="228600"/>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3</a:t>
            </a:r>
          </a:p>
        </p:txBody>
      </p:sp>
      <p:sp>
        <p:nvSpPr>
          <p:cNvPr id="71" name="Rectangle 70">
            <a:extLst>
              <a:ext uri="{FF2B5EF4-FFF2-40B4-BE49-F238E27FC236}">
                <a16:creationId xmlns:a16="http://schemas.microsoft.com/office/drawing/2014/main" id="{2DBEA458-D4D0-4349-8CDC-EEC68202B082}"/>
              </a:ext>
            </a:extLst>
          </p:cNvPr>
          <p:cNvSpPr/>
          <p:nvPr/>
        </p:nvSpPr>
        <p:spPr>
          <a:xfrm>
            <a:off x="7684306" y="3069045"/>
            <a:ext cx="1276610" cy="31457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133"/>
              </a:spcBef>
              <a:spcAft>
                <a:spcPts val="133"/>
              </a:spcAft>
              <a:buClrTx/>
              <a:buSzTx/>
              <a:buFontTx/>
              <a:buNone/>
              <a:tabLst/>
              <a:defRPr/>
            </a:pPr>
            <a:r>
              <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Details on the following page</a:t>
            </a:r>
          </a:p>
        </p:txBody>
      </p:sp>
      <p:grpSp>
        <p:nvGrpSpPr>
          <p:cNvPr id="24" name="Group 23">
            <a:extLst>
              <a:ext uri="{FF2B5EF4-FFF2-40B4-BE49-F238E27FC236}">
                <a16:creationId xmlns:a16="http://schemas.microsoft.com/office/drawing/2014/main" id="{B5772C2C-BF9C-424C-B057-C13B5BA96205}"/>
              </a:ext>
            </a:extLst>
          </p:cNvPr>
          <p:cNvGrpSpPr/>
          <p:nvPr/>
        </p:nvGrpSpPr>
        <p:grpSpPr>
          <a:xfrm>
            <a:off x="2372653" y="3840511"/>
            <a:ext cx="365760" cy="364795"/>
            <a:chOff x="2688384" y="3834733"/>
            <a:chExt cx="365760" cy="364795"/>
          </a:xfrm>
        </p:grpSpPr>
        <p:sp>
          <p:nvSpPr>
            <p:cNvPr id="76" name="Oval 75">
              <a:extLst>
                <a:ext uri="{FF2B5EF4-FFF2-40B4-BE49-F238E27FC236}">
                  <a16:creationId xmlns:a16="http://schemas.microsoft.com/office/drawing/2014/main" id="{D4A7CC69-EB1F-445C-AD4C-23C5AFC7FE47}"/>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23" name="Group 22">
              <a:extLst>
                <a:ext uri="{FF2B5EF4-FFF2-40B4-BE49-F238E27FC236}">
                  <a16:creationId xmlns:a16="http://schemas.microsoft.com/office/drawing/2014/main" id="{730B6EDA-560A-4CC3-A5F9-E2978B8FA9FD}"/>
                </a:ext>
              </a:extLst>
            </p:cNvPr>
            <p:cNvGrpSpPr/>
            <p:nvPr/>
          </p:nvGrpSpPr>
          <p:grpSpPr>
            <a:xfrm>
              <a:off x="2851400" y="3905407"/>
              <a:ext cx="39729" cy="223447"/>
              <a:chOff x="2836160" y="3903439"/>
              <a:chExt cx="39729" cy="223447"/>
            </a:xfrm>
          </p:grpSpPr>
          <p:sp>
            <p:nvSpPr>
              <p:cNvPr id="21" name="Freeform: Shape 20">
                <a:extLst>
                  <a:ext uri="{FF2B5EF4-FFF2-40B4-BE49-F238E27FC236}">
                    <a16:creationId xmlns:a16="http://schemas.microsoft.com/office/drawing/2014/main" id="{C03FA1C0-C90C-48A0-A87B-16CF66C1D2D1}"/>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22" name="Freeform: Shape 21">
                <a:extLst>
                  <a:ext uri="{FF2B5EF4-FFF2-40B4-BE49-F238E27FC236}">
                    <a16:creationId xmlns:a16="http://schemas.microsoft.com/office/drawing/2014/main" id="{7B3A836B-1DCD-4BB6-A4C2-6D22183240B9}"/>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sp>
        <p:nvSpPr>
          <p:cNvPr id="5" name="Text Placeholder 6">
            <a:extLst>
              <a:ext uri="{FF2B5EF4-FFF2-40B4-BE49-F238E27FC236}">
                <a16:creationId xmlns:a16="http://schemas.microsoft.com/office/drawing/2014/main" id="{17035027-7121-C6D4-1B96-0E298F28B09D}"/>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What is the structure of the document?</a:t>
            </a:r>
          </a:p>
        </p:txBody>
      </p:sp>
      <p:sp>
        <p:nvSpPr>
          <p:cNvPr id="6" name="Oval 5">
            <a:extLst>
              <a:ext uri="{FF2B5EF4-FFF2-40B4-BE49-F238E27FC236}">
                <a16:creationId xmlns:a16="http://schemas.microsoft.com/office/drawing/2014/main" id="{E097821B-44DD-BF38-850B-7F8E74ED5C87}"/>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pic>
        <p:nvPicPr>
          <p:cNvPr id="7" name="Picture 6">
            <a:extLst>
              <a:ext uri="{FF2B5EF4-FFF2-40B4-BE49-F238E27FC236}">
                <a16:creationId xmlns:a16="http://schemas.microsoft.com/office/drawing/2014/main" id="{2E4663D3-CE9D-4CF8-C2EA-DF6F729592BF}"/>
              </a:ext>
            </a:extLst>
          </p:cNvPr>
          <p:cNvPicPr>
            <a:picLocks noChangeAspect="1"/>
          </p:cNvPicPr>
          <p:nvPr/>
        </p:nvPicPr>
        <p:blipFill>
          <a:blip r:embed="rId7"/>
          <a:stretch>
            <a:fillRect/>
          </a:stretch>
        </p:blipFill>
        <p:spPr>
          <a:xfrm>
            <a:off x="304170" y="812128"/>
            <a:ext cx="2173291" cy="3015244"/>
          </a:xfrm>
          <a:prstGeom prst="rect">
            <a:avLst/>
          </a:prstGeom>
          <a:noFill/>
          <a:ln>
            <a:solidFill>
              <a:schemeClr val="accent3"/>
            </a:solidFill>
          </a:ln>
        </p:spPr>
      </p:pic>
      <p:sp>
        <p:nvSpPr>
          <p:cNvPr id="2" name="Rectangle: Rounded Corners 1">
            <a:extLst>
              <a:ext uri="{FF2B5EF4-FFF2-40B4-BE49-F238E27FC236}">
                <a16:creationId xmlns:a16="http://schemas.microsoft.com/office/drawing/2014/main" id="{63C4DDF6-ED9B-EA3B-B215-922FF6AD2177}"/>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8" action="ppaction://hlinksldjump"/>
              </a:rPr>
              <a:t>Contacts</a:t>
            </a:r>
            <a:r>
              <a:rPr lang="en-US" sz="1000">
                <a:solidFill>
                  <a:srgbClr val="000000"/>
                </a:solidFill>
                <a:latin typeface="Fund Light" pitchFamily="2" charset="-78"/>
                <a:cs typeface="Fund Light" pitchFamily="2" charset="-78"/>
              </a:rPr>
              <a:t>)</a:t>
            </a:r>
          </a:p>
        </p:txBody>
      </p:sp>
      <p:grpSp>
        <p:nvGrpSpPr>
          <p:cNvPr id="4" name="Group 3">
            <a:extLst>
              <a:ext uri="{FF2B5EF4-FFF2-40B4-BE49-F238E27FC236}">
                <a16:creationId xmlns:a16="http://schemas.microsoft.com/office/drawing/2014/main" id="{16B1BEBE-6905-2B25-47CC-7163FF1A64E5}"/>
              </a:ext>
            </a:extLst>
          </p:cNvPr>
          <p:cNvGrpSpPr/>
          <p:nvPr/>
        </p:nvGrpSpPr>
        <p:grpSpPr>
          <a:xfrm>
            <a:off x="3004029" y="4817276"/>
            <a:ext cx="303559" cy="303559"/>
            <a:chOff x="-577629" y="2311332"/>
            <a:chExt cx="404038" cy="404037"/>
          </a:xfrm>
        </p:grpSpPr>
        <p:sp>
          <p:nvSpPr>
            <p:cNvPr id="9" name="Oval 8">
              <a:extLst>
                <a:ext uri="{FF2B5EF4-FFF2-40B4-BE49-F238E27FC236}">
                  <a16:creationId xmlns:a16="http://schemas.microsoft.com/office/drawing/2014/main" id="{97D4554A-924A-5675-288E-71211D7CDD86}"/>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96EE26A-EF60-8DBF-9A85-4A51C69C7841}"/>
                </a:ext>
              </a:extLst>
            </p:cNvPr>
            <p:cNvPicPr>
              <a:picLocks noChangeAspect="1"/>
            </p:cNvPicPr>
            <p:nvPr/>
          </p:nvPicPr>
          <p:blipFill>
            <a:blip r:embed="rId9"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1" name="Group 10">
            <a:extLst>
              <a:ext uri="{FF2B5EF4-FFF2-40B4-BE49-F238E27FC236}">
                <a16:creationId xmlns:a16="http://schemas.microsoft.com/office/drawing/2014/main" id="{000D022E-9F3C-BAC2-0BF4-F5C3D9416F1E}"/>
              </a:ext>
            </a:extLst>
          </p:cNvPr>
          <p:cNvGrpSpPr/>
          <p:nvPr/>
        </p:nvGrpSpPr>
        <p:grpSpPr>
          <a:xfrm>
            <a:off x="6211995" y="4883810"/>
            <a:ext cx="168686" cy="161455"/>
            <a:chOff x="11260138" y="4194175"/>
            <a:chExt cx="360363" cy="379413"/>
          </a:xfrm>
        </p:grpSpPr>
        <p:sp>
          <p:nvSpPr>
            <p:cNvPr id="12" name="Freeform 289">
              <a:extLst>
                <a:ext uri="{FF2B5EF4-FFF2-40B4-BE49-F238E27FC236}">
                  <a16:creationId xmlns:a16="http://schemas.microsoft.com/office/drawing/2014/main" id="{E58416DB-3DFF-BFB8-48B6-F039BF673341}"/>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290">
              <a:extLst>
                <a:ext uri="{FF2B5EF4-FFF2-40B4-BE49-F238E27FC236}">
                  <a16:creationId xmlns:a16="http://schemas.microsoft.com/office/drawing/2014/main" id="{8694E146-808E-9576-D341-05E1EB80AFAB}"/>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291">
              <a:extLst>
                <a:ext uri="{FF2B5EF4-FFF2-40B4-BE49-F238E27FC236}">
                  <a16:creationId xmlns:a16="http://schemas.microsoft.com/office/drawing/2014/main" id="{A0BE70CF-E892-B03C-1E97-DB6AE9043E8C}"/>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84286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1968A2F-0040-BB53-BA88-A4DB6786FEB8}"/>
              </a:ext>
            </a:extLst>
          </p:cNvPr>
          <p:cNvGraphicFramePr>
            <a:graphicFrameLocks noChangeAspect="1"/>
          </p:cNvGraphicFramePr>
          <p:nvPr>
            <p:custDataLst>
              <p:tags r:id="rId1"/>
            </p:custDataLst>
            <p:extLst>
              <p:ext uri="{D42A27DB-BD31-4B8C-83A1-F6EECF244321}">
                <p14:modId xmlns:p14="http://schemas.microsoft.com/office/powerpoint/2010/main" val="2550925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9" name="think-cell data - do not delete" hidden="1">
                        <a:extLst>
                          <a:ext uri="{FF2B5EF4-FFF2-40B4-BE49-F238E27FC236}">
                            <a16:creationId xmlns:a16="http://schemas.microsoft.com/office/drawing/2014/main" id="{E1968A2F-0040-BB53-BA88-A4DB6786FEB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4EE33DE5-E659-4D59-9548-E86D685B73F4}"/>
              </a:ext>
            </a:extLst>
          </p:cNvPr>
          <p:cNvSpPr>
            <a:spLocks noGrp="1"/>
          </p:cNvSpPr>
          <p:nvPr>
            <p:ph type="title"/>
          </p:nvPr>
        </p:nvSpPr>
        <p:spPr/>
        <p:txBody>
          <a:bodyPr vert="horz"/>
          <a:lstStyle/>
          <a:p>
            <a:r>
              <a:rPr lang="en-US"/>
              <a:t>Information from suppliers is typically requested under four objectives </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 and template</a:t>
            </a:r>
          </a:p>
        </p:txBody>
      </p:sp>
      <p:grpSp>
        <p:nvGrpSpPr>
          <p:cNvPr id="11" name="Group 10">
            <a:extLst>
              <a:ext uri="{FF2B5EF4-FFF2-40B4-BE49-F238E27FC236}">
                <a16:creationId xmlns:a16="http://schemas.microsoft.com/office/drawing/2014/main" id="{D24189FD-F161-4EC7-A4E8-F4557C3F702D}"/>
              </a:ext>
            </a:extLst>
          </p:cNvPr>
          <p:cNvGrpSpPr/>
          <p:nvPr/>
        </p:nvGrpSpPr>
        <p:grpSpPr>
          <a:xfrm>
            <a:off x="323850" y="756136"/>
            <a:ext cx="1523999" cy="264155"/>
            <a:chOff x="405353" y="756136"/>
            <a:chExt cx="1296929" cy="264155"/>
          </a:xfrm>
        </p:grpSpPr>
        <p:cxnSp>
          <p:nvCxnSpPr>
            <p:cNvPr id="8" name="Straight Connector 7">
              <a:extLst>
                <a:ext uri="{FF2B5EF4-FFF2-40B4-BE49-F238E27FC236}">
                  <a16:creationId xmlns:a16="http://schemas.microsoft.com/office/drawing/2014/main" id="{00ACBE6F-CC62-D2C4-2AF0-C523896432CF}"/>
                </a:ext>
              </a:extLst>
            </p:cNvPr>
            <p:cNvCxnSpPr>
              <a:cxnSpLocks/>
            </p:cNvCxnSpPr>
            <p:nvPr/>
          </p:nvCxnSpPr>
          <p:spPr>
            <a:xfrm>
              <a:off x="405353" y="1020291"/>
              <a:ext cx="129692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27D265F-BCD2-EC05-586B-9E0F4963CBCC}"/>
                </a:ext>
              </a:extLst>
            </p:cNvPr>
            <p:cNvSpPr txBox="1"/>
            <p:nvPr/>
          </p:nvSpPr>
          <p:spPr>
            <a:xfrm>
              <a:off x="405353" y="756136"/>
              <a:ext cx="1296929"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C3984D"/>
                  </a:solidFill>
                  <a:effectLst/>
                  <a:uLnTx/>
                  <a:uFillTx/>
                  <a:latin typeface="Fund Light" pitchFamily="2" charset="-78"/>
                  <a:ea typeface="+mn-ea"/>
                  <a:cs typeface="Fund Light" pitchFamily="2" charset="-78"/>
                </a:rPr>
                <a:t>RfI</a:t>
              </a: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 objective</a:t>
              </a:r>
            </a:p>
          </p:txBody>
        </p:sp>
      </p:grpSp>
      <p:graphicFrame>
        <p:nvGraphicFramePr>
          <p:cNvPr id="20" name="Table 141">
            <a:extLst>
              <a:ext uri="{FF2B5EF4-FFF2-40B4-BE49-F238E27FC236}">
                <a16:creationId xmlns:a16="http://schemas.microsoft.com/office/drawing/2014/main" id="{32ECB52E-5486-12B8-B605-89D0F14E0024}"/>
              </a:ext>
            </a:extLst>
          </p:cNvPr>
          <p:cNvGraphicFramePr>
            <a:graphicFrameLocks noGrp="1"/>
          </p:cNvGraphicFramePr>
          <p:nvPr>
            <p:extLst>
              <p:ext uri="{D42A27DB-BD31-4B8C-83A1-F6EECF244321}">
                <p14:modId xmlns:p14="http://schemas.microsoft.com/office/powerpoint/2010/main" val="2680395331"/>
              </p:ext>
            </p:extLst>
          </p:nvPr>
        </p:nvGraphicFramePr>
        <p:xfrm>
          <a:off x="371485" y="1067850"/>
          <a:ext cx="8421148" cy="3566160"/>
        </p:xfrm>
        <a:graphic>
          <a:graphicData uri="http://schemas.openxmlformats.org/drawingml/2006/table">
            <a:tbl>
              <a:tblPr firstRow="1" bandRow="1">
                <a:tableStyleId>{5C22544A-7EE6-4342-B048-85BDC9FD1C3A}</a:tableStyleId>
              </a:tblPr>
              <a:tblGrid>
                <a:gridCol w="1492027">
                  <a:extLst>
                    <a:ext uri="{9D8B030D-6E8A-4147-A177-3AD203B41FA5}">
                      <a16:colId xmlns:a16="http://schemas.microsoft.com/office/drawing/2014/main" val="3633553993"/>
                    </a:ext>
                  </a:extLst>
                </a:gridCol>
                <a:gridCol w="6929121">
                  <a:extLst>
                    <a:ext uri="{9D8B030D-6E8A-4147-A177-3AD203B41FA5}">
                      <a16:colId xmlns:a16="http://schemas.microsoft.com/office/drawing/2014/main" val="1585286637"/>
                    </a:ext>
                  </a:extLst>
                </a:gridCol>
              </a:tblGrid>
              <a:tr h="127920">
                <a:tc>
                  <a:txBody>
                    <a:bodyPr/>
                    <a:lstStyle/>
                    <a:p>
                      <a:pPr rtl="0"/>
                      <a:r>
                        <a:rPr lang="en-US" sz="1000" b="1">
                          <a:solidFill>
                            <a:schemeClr val="bg2"/>
                          </a:solidFill>
                          <a:latin typeface="Fund Light" pitchFamily="2" charset="-78"/>
                          <a:cs typeface="Fund Light" pitchFamily="2" charset="-78"/>
                        </a:rPr>
                        <a:t>Formally validate supplier interest</a:t>
                      </a:r>
                      <a:endParaRPr lang="en-GB" sz="1000" b="1">
                        <a:solidFill>
                          <a:schemeClr val="bg2"/>
                        </a:solidFill>
                        <a:latin typeface="Fund Light" pitchFamily="2" charset="-78"/>
                        <a:cs typeface="Fund Light" pitchFamily="2" charset="-78"/>
                      </a:endParaRPr>
                    </a:p>
                  </a:txBody>
                  <a:tcPr marL="210312" anchor="ctr">
                    <a:lnL w="6350" cap="flat" cmpd="sng" algn="ctr">
                      <a:solidFill>
                        <a:schemeClr val="bg1">
                          <a:lumMod val="85000"/>
                        </a:schemeClr>
                      </a:solidFill>
                      <a:prstDash val="sysDash"/>
                      <a:round/>
                      <a:headEnd type="none" w="med" len="med"/>
                      <a:tailEnd type="none" w="med" len="med"/>
                    </a:lnL>
                    <a:lnR w="5715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a:solidFill>
                            <a:srgbClr val="000000"/>
                          </a:solidFill>
                          <a:latin typeface="Fund Light" pitchFamily="2" charset="-78"/>
                          <a:cs typeface="Fund Light" pitchFamily="2" charset="-78"/>
                        </a:rPr>
                        <a:t>Do you confirm your </a:t>
                      </a:r>
                      <a:r>
                        <a:rPr lang="en-US" sz="1000" b="1" i="0">
                          <a:solidFill>
                            <a:srgbClr val="000000"/>
                          </a:solidFill>
                          <a:latin typeface="Fund Light" pitchFamily="2" charset="-78"/>
                          <a:cs typeface="Fund Light" pitchFamily="2" charset="-78"/>
                        </a:rPr>
                        <a:t>interest</a:t>
                      </a:r>
                      <a:r>
                        <a:rPr lang="en-US" sz="1000" b="0" i="0">
                          <a:solidFill>
                            <a:srgbClr val="000000"/>
                          </a:solidFill>
                          <a:latin typeface="Fund Light" pitchFamily="2" charset="-78"/>
                          <a:cs typeface="Fund Light" pitchFamily="2" charset="-78"/>
                        </a:rPr>
                        <a:t> in participating in a future tendering process (through RfP)?</a:t>
                      </a:r>
                    </a:p>
                  </a:txBody>
                  <a:tcPr anchor="ctr">
                    <a:lnL w="5715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246559"/>
                  </a:ext>
                </a:extLst>
              </a:tr>
              <a:tr h="479162">
                <a:tc>
                  <a:txBody>
                    <a:bodyPr/>
                    <a:lstStyle/>
                    <a:p>
                      <a:pPr rtl="0"/>
                      <a:r>
                        <a:rPr lang="en-US" sz="1000" b="1">
                          <a:solidFill>
                            <a:schemeClr val="bg2"/>
                          </a:solidFill>
                          <a:latin typeface="Fund Light" pitchFamily="2" charset="-78"/>
                          <a:cs typeface="Fund Light" pitchFamily="2" charset="-78"/>
                        </a:rPr>
                        <a:t>Shortlist suppliers for participating in RfP </a:t>
                      </a:r>
                      <a:endParaRPr lang="en-GB" sz="1000" b="1">
                        <a:solidFill>
                          <a:schemeClr val="bg2"/>
                        </a:solidFill>
                        <a:latin typeface="Fund Light" pitchFamily="2" charset="-78"/>
                        <a:cs typeface="Fund Light" pitchFamily="2" charset="-78"/>
                      </a:endParaRPr>
                    </a:p>
                  </a:txBody>
                  <a:tcPr marL="210312" anchor="ctr">
                    <a:lnL w="6350" cap="flat" cmpd="sng" algn="ctr">
                      <a:solidFill>
                        <a:schemeClr val="bg1">
                          <a:lumMod val="85000"/>
                        </a:schemeClr>
                      </a:solidFill>
                      <a:prstDash val="sysDash"/>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are your current </a:t>
                      </a:r>
                      <a:r>
                        <a:rPr lang="en-GB" sz="1000" b="1" i="0" baseline="0">
                          <a:solidFill>
                            <a:srgbClr val="000000"/>
                          </a:solidFill>
                          <a:latin typeface="Fund Light" pitchFamily="2" charset="-78"/>
                          <a:cs typeface="Fund Light" pitchFamily="2" charset="-78"/>
                        </a:rPr>
                        <a:t>manufacturing capabilities</a:t>
                      </a:r>
                      <a:r>
                        <a:rPr lang="en-GB" sz="1000" b="0" i="0" baseline="0">
                          <a:solidFill>
                            <a:srgbClr val="000000"/>
                          </a:solidFill>
                          <a:latin typeface="Fund Light" pitchFamily="2" charset="-78"/>
                          <a:cs typeface="Fund Light" pitchFamily="2" charset="-78"/>
                        </a:rPr>
                        <a:t>? E.g., current manufacturing capacity, products portfolio and specification, value chain integration</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a:t>
                      </a:r>
                      <a:r>
                        <a:rPr lang="en-GB" sz="1000" b="1" i="0" baseline="0">
                          <a:solidFill>
                            <a:srgbClr val="000000"/>
                          </a:solidFill>
                          <a:latin typeface="Fund Light" pitchFamily="2" charset="-78"/>
                          <a:cs typeface="Fund Light" pitchFamily="2" charset="-78"/>
                        </a:rPr>
                        <a:t>products</a:t>
                      </a:r>
                      <a:r>
                        <a:rPr lang="en-GB" sz="1000" b="0" i="0" baseline="0">
                          <a:solidFill>
                            <a:srgbClr val="000000"/>
                          </a:solidFill>
                          <a:latin typeface="Fund Light" pitchFamily="2" charset="-78"/>
                          <a:cs typeface="Fund Light" pitchFamily="2" charset="-78"/>
                        </a:rPr>
                        <a:t> can you produce in addition to the current ones? E.g., different specs, different technology</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a:t>
                      </a:r>
                      <a:r>
                        <a:rPr lang="en-GB" sz="1000" b="1" i="0" baseline="0">
                          <a:solidFill>
                            <a:srgbClr val="000000"/>
                          </a:solidFill>
                          <a:latin typeface="Fund Light" pitchFamily="2" charset="-78"/>
                          <a:cs typeface="Fund Light" pitchFamily="2" charset="-78"/>
                        </a:rPr>
                        <a:t>technologies and intellectual property (IP)</a:t>
                      </a:r>
                      <a:r>
                        <a:rPr lang="en-GB" sz="1000" b="0" i="0" baseline="0">
                          <a:solidFill>
                            <a:srgbClr val="000000"/>
                          </a:solidFill>
                          <a:latin typeface="Fund Light" pitchFamily="2" charset="-78"/>
                          <a:cs typeface="Fund Light" pitchFamily="2" charset="-78"/>
                        </a:rPr>
                        <a:t> (incl. technical certifications) do you have access to (both in-house and via technical partners)?</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your current </a:t>
                      </a:r>
                      <a:r>
                        <a:rPr lang="en-GB" sz="1000" b="1" i="0" baseline="0">
                          <a:solidFill>
                            <a:srgbClr val="000000"/>
                          </a:solidFill>
                          <a:latin typeface="Fund Light" pitchFamily="2" charset="-78"/>
                          <a:cs typeface="Fund Light" pitchFamily="2" charset="-78"/>
                        </a:rPr>
                        <a:t>geographical footprint</a:t>
                      </a:r>
                      <a:r>
                        <a:rPr lang="en-GB" sz="1000" b="0" i="0" baseline="0">
                          <a:solidFill>
                            <a:srgbClr val="000000"/>
                          </a:solidFill>
                          <a:latin typeface="Fund Light" pitchFamily="2" charset="-78"/>
                          <a:cs typeface="Fund Light" pitchFamily="2" charset="-78"/>
                        </a:rPr>
                        <a:t>? </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your </a:t>
                      </a:r>
                      <a:r>
                        <a:rPr lang="en-GB" sz="1000" b="1" i="0" baseline="0">
                          <a:solidFill>
                            <a:srgbClr val="000000"/>
                          </a:solidFill>
                          <a:latin typeface="Fund Light" pitchFamily="2" charset="-78"/>
                          <a:cs typeface="Fund Light" pitchFamily="2" charset="-78"/>
                        </a:rPr>
                        <a:t>KSA</a:t>
                      </a:r>
                      <a:r>
                        <a:rPr lang="en-GB" sz="1000" b="0" i="0" baseline="0">
                          <a:solidFill>
                            <a:srgbClr val="000000"/>
                          </a:solidFill>
                          <a:latin typeface="Fund Light" pitchFamily="2" charset="-78"/>
                          <a:cs typeface="Fund Light" pitchFamily="2" charset="-78"/>
                        </a:rPr>
                        <a:t> and regional </a:t>
                      </a:r>
                      <a:r>
                        <a:rPr lang="en-GB" sz="1000" b="1" i="0" baseline="0">
                          <a:solidFill>
                            <a:srgbClr val="000000"/>
                          </a:solidFill>
                          <a:latin typeface="Fund Light" pitchFamily="2" charset="-78"/>
                          <a:cs typeface="Fund Light" pitchFamily="2" charset="-78"/>
                        </a:rPr>
                        <a:t>experience</a:t>
                      </a:r>
                      <a:r>
                        <a:rPr lang="en-GB" sz="1000" b="0" i="0" baseline="0">
                          <a:solidFill>
                            <a:srgbClr val="000000"/>
                          </a:solidFill>
                          <a:latin typeface="Fund Light" pitchFamily="2" charset="-78"/>
                          <a:cs typeface="Fund Light" pitchFamily="2" charset="-78"/>
                        </a:rPr>
                        <a:t>? E.g., team, key projects, client portfolio</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Who are your key </a:t>
                      </a:r>
                      <a:r>
                        <a:rPr lang="en-GB" sz="1000" b="1" i="0" baseline="0">
                          <a:solidFill>
                            <a:srgbClr val="000000"/>
                          </a:solidFill>
                          <a:latin typeface="Fund Light" pitchFamily="2" charset="-78"/>
                          <a:cs typeface="Fund Light" pitchFamily="2" charset="-78"/>
                        </a:rPr>
                        <a:t>partners</a:t>
                      </a:r>
                      <a:r>
                        <a:rPr lang="en-GB" sz="1000" b="0" i="0" baseline="0">
                          <a:solidFill>
                            <a:srgbClr val="000000"/>
                          </a:solidFill>
                          <a:latin typeface="Fund Light" pitchFamily="2" charset="-78"/>
                          <a:cs typeface="Fund Light" pitchFamily="2" charset="-78"/>
                        </a:rPr>
                        <a:t> along the value chain? E.g., main suppliers, manufacturing technology partner</a:t>
                      </a:r>
                    </a:p>
                  </a:txBody>
                  <a:tcPr anchor="ctr">
                    <a:lnL w="5715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1172433"/>
                  </a:ext>
                </a:extLst>
              </a:tr>
              <a:tr h="407609">
                <a:tc>
                  <a:txBody>
                    <a:bodyPr/>
                    <a:lstStyle/>
                    <a:p>
                      <a:pPr rtl="0"/>
                      <a:r>
                        <a:rPr lang="en-GB" sz="1000" b="1">
                          <a:solidFill>
                            <a:schemeClr val="bg2"/>
                          </a:solidFill>
                          <a:latin typeface="Fund Light" pitchFamily="2" charset="-78"/>
                          <a:cs typeface="Fund Light" pitchFamily="2" charset="-78"/>
                        </a:rPr>
                        <a:t>Validate current outside-in feasibility assessment </a:t>
                      </a:r>
                      <a:br>
                        <a:rPr lang="en-GB" sz="1000" b="1">
                          <a:solidFill>
                            <a:schemeClr val="bg2"/>
                          </a:solidFill>
                          <a:latin typeface="Fund Light" pitchFamily="2" charset="-78"/>
                          <a:cs typeface="Fund Light" pitchFamily="2" charset="-78"/>
                        </a:rPr>
                      </a:br>
                      <a:r>
                        <a:rPr lang="en-GB" sz="1000" b="1">
                          <a:solidFill>
                            <a:schemeClr val="bg2"/>
                          </a:solidFill>
                          <a:latin typeface="Fund Light" pitchFamily="2" charset="-78"/>
                          <a:cs typeface="Fund Light" pitchFamily="2" charset="-78"/>
                        </a:rPr>
                        <a:t>and tailor RfP evaluation criteria</a:t>
                      </a:r>
                    </a:p>
                  </a:txBody>
                  <a:tcPr marL="210312" anchor="ctr">
                    <a:lnL w="6350" cap="flat" cmpd="sng" algn="ctr">
                      <a:solidFill>
                        <a:schemeClr val="bg1">
                          <a:lumMod val="85000"/>
                        </a:schemeClr>
                      </a:solidFill>
                      <a:prstDash val="sysDash"/>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the proposed </a:t>
                      </a:r>
                      <a:r>
                        <a:rPr lang="en-GB" sz="1000" b="1" i="0" baseline="0">
                          <a:solidFill>
                            <a:srgbClr val="000000"/>
                          </a:solidFill>
                          <a:latin typeface="Fund Light" pitchFamily="2" charset="-78"/>
                          <a:cs typeface="Fund Light" pitchFamily="2" charset="-78"/>
                        </a:rPr>
                        <a:t>production capacity </a:t>
                      </a:r>
                      <a:r>
                        <a:rPr lang="en-GB" sz="1000" b="0" i="0" baseline="0">
                          <a:solidFill>
                            <a:srgbClr val="000000"/>
                          </a:solidFill>
                          <a:latin typeface="Fund Light" pitchFamily="2" charset="-78"/>
                          <a:cs typeface="Fund Light" pitchFamily="2" charset="-78"/>
                        </a:rPr>
                        <a:t>to localize? What is the required minimum viable plant size?</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the estimated </a:t>
                      </a:r>
                      <a:r>
                        <a:rPr lang="en-GB" sz="1000" b="1" i="0" baseline="0">
                          <a:solidFill>
                            <a:srgbClr val="000000"/>
                          </a:solidFill>
                          <a:latin typeface="Fund Light" pitchFamily="2" charset="-78"/>
                          <a:cs typeface="Fund Light" pitchFamily="2" charset="-78"/>
                        </a:rPr>
                        <a:t>timeline</a:t>
                      </a:r>
                      <a:r>
                        <a:rPr lang="en-GB" sz="1000" b="0" i="0" baseline="0">
                          <a:solidFill>
                            <a:srgbClr val="000000"/>
                          </a:solidFill>
                          <a:latin typeface="Fund Light" pitchFamily="2" charset="-78"/>
                          <a:cs typeface="Fund Light" pitchFamily="2" charset="-78"/>
                        </a:rPr>
                        <a:t> to build the manufacturing facility?</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baseline="0">
                          <a:solidFill>
                            <a:srgbClr val="000000"/>
                          </a:solidFill>
                          <a:latin typeface="Fund Light" pitchFamily="2" charset="-78"/>
                          <a:cs typeface="Fund Light" pitchFamily="2" charset="-78"/>
                        </a:rPr>
                        <a:t>What is the proposed level of </a:t>
                      </a:r>
                      <a:r>
                        <a:rPr lang="en-US" sz="1000" b="1" i="0" baseline="0">
                          <a:solidFill>
                            <a:srgbClr val="000000"/>
                          </a:solidFill>
                          <a:latin typeface="Fund Light" pitchFamily="2" charset="-78"/>
                          <a:cs typeface="Fund Light" pitchFamily="2" charset="-78"/>
                        </a:rPr>
                        <a:t>integration across the value chain</a:t>
                      </a:r>
                      <a:r>
                        <a:rPr lang="en-US" sz="1000" b="0" i="0" baseline="0">
                          <a:solidFill>
                            <a:srgbClr val="000000"/>
                          </a:solidFill>
                          <a:latin typeface="Fund Light" pitchFamily="2" charset="-78"/>
                          <a:cs typeface="Fund Light" pitchFamily="2" charset="-78"/>
                        </a:rPr>
                        <a:t>? E.g., assembly, component manufacturing</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the proposed </a:t>
                      </a:r>
                      <a:r>
                        <a:rPr lang="en-GB" sz="1000" b="1" i="0" baseline="0">
                          <a:solidFill>
                            <a:srgbClr val="000000"/>
                          </a:solidFill>
                          <a:latin typeface="Fund Light" pitchFamily="2" charset="-78"/>
                          <a:cs typeface="Fund Light" pitchFamily="2" charset="-78"/>
                        </a:rPr>
                        <a:t>production technology</a:t>
                      </a:r>
                      <a:r>
                        <a:rPr lang="en-GB" sz="1000" b="0" i="0" baseline="0">
                          <a:solidFill>
                            <a:srgbClr val="000000"/>
                          </a:solidFill>
                          <a:latin typeface="Fund Light" pitchFamily="2" charset="-78"/>
                          <a:cs typeface="Fund Light" pitchFamily="2" charset="-78"/>
                        </a:rPr>
                        <a:t>? E.g., semi-automated vs. automated line</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is the expected </a:t>
                      </a:r>
                      <a:r>
                        <a:rPr lang="en-GB" sz="1000" b="1" i="0" baseline="0">
                          <a:solidFill>
                            <a:srgbClr val="000000"/>
                          </a:solidFill>
                          <a:latin typeface="Fund Light" pitchFamily="2" charset="-78"/>
                          <a:cs typeface="Fund Light" pitchFamily="2" charset="-78"/>
                        </a:rPr>
                        <a:t>capex requirement </a:t>
                      </a:r>
                      <a:r>
                        <a:rPr lang="en-GB" sz="1000" b="0" i="0" baseline="0">
                          <a:solidFill>
                            <a:srgbClr val="000000"/>
                          </a:solidFill>
                          <a:latin typeface="Fund Light" pitchFamily="2" charset="-78"/>
                          <a:cs typeface="Fund Light" pitchFamily="2" charset="-78"/>
                        </a:rPr>
                        <a:t>to build the manufacturing facility?</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baseline="0">
                          <a:solidFill>
                            <a:srgbClr val="000000"/>
                          </a:solidFill>
                          <a:latin typeface="Fund Light" pitchFamily="2" charset="-78"/>
                          <a:cs typeface="Fund Light" pitchFamily="2" charset="-78"/>
                        </a:rPr>
                        <a:t>What is the estimated </a:t>
                      </a:r>
                      <a:r>
                        <a:rPr lang="en-US" sz="1000" b="1" i="0" baseline="0">
                          <a:solidFill>
                            <a:srgbClr val="000000"/>
                          </a:solidFill>
                          <a:latin typeface="Fund Light" pitchFamily="2" charset="-78"/>
                          <a:cs typeface="Fund Light" pitchFamily="2" charset="-78"/>
                        </a:rPr>
                        <a:t>selling price</a:t>
                      </a:r>
                      <a:r>
                        <a:rPr lang="en-US" sz="1000" b="0" i="0" baseline="0">
                          <a:solidFill>
                            <a:srgbClr val="000000"/>
                          </a:solidFill>
                          <a:latin typeface="Fund Light" pitchFamily="2" charset="-78"/>
                          <a:cs typeface="Fund Light" pitchFamily="2" charset="-78"/>
                        </a:rPr>
                        <a:t> of the localized product? (nice to have) </a:t>
                      </a:r>
                    </a:p>
                  </a:txBody>
                  <a:tcPr anchor="ctr">
                    <a:lnL w="5715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8636164"/>
                  </a:ext>
                </a:extLst>
              </a:tr>
              <a:tr h="226320">
                <a:tc>
                  <a:txBody>
                    <a:bodyPr/>
                    <a:lstStyle/>
                    <a:p>
                      <a:pPr rtl="0"/>
                      <a:r>
                        <a:rPr lang="en-GB" sz="1000" b="1">
                          <a:solidFill>
                            <a:schemeClr val="bg2"/>
                          </a:solidFill>
                          <a:latin typeface="Fund Light" pitchFamily="2" charset="-78"/>
                          <a:cs typeface="Fund Light" pitchFamily="2" charset="-78"/>
                        </a:rPr>
                        <a:t>Understand supplier needs</a:t>
                      </a:r>
                    </a:p>
                  </a:txBody>
                  <a:tcPr marL="210312" anchor="ctr">
                    <a:lnL w="6350" cap="flat" cmpd="sng" algn="ctr">
                      <a:solidFill>
                        <a:schemeClr val="bg1">
                          <a:lumMod val="85000"/>
                        </a:schemeClr>
                      </a:solidFill>
                      <a:prstDash val="sysDash"/>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potential </a:t>
                      </a:r>
                      <a:r>
                        <a:rPr lang="en-GB" sz="1000" b="1" i="0" baseline="0">
                          <a:solidFill>
                            <a:srgbClr val="000000"/>
                          </a:solidFill>
                          <a:latin typeface="Fund Light" pitchFamily="2" charset="-78"/>
                          <a:cs typeface="Fund Light" pitchFamily="2" charset="-78"/>
                        </a:rPr>
                        <a:t>challenges</a:t>
                      </a:r>
                      <a:r>
                        <a:rPr lang="en-GB" sz="1000" b="0" i="0" baseline="0">
                          <a:solidFill>
                            <a:srgbClr val="000000"/>
                          </a:solidFill>
                          <a:latin typeface="Fund Light" pitchFamily="2" charset="-78"/>
                          <a:cs typeface="Fund Light" pitchFamily="2" charset="-78"/>
                        </a:rPr>
                        <a:t> do you envisage to implement the project? E.g., technical, financial, commercial challenges</a:t>
                      </a:r>
                    </a:p>
                    <a:p>
                      <a:pPr marL="182880" marR="0" lvl="0" indent="-18288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What type of </a:t>
                      </a:r>
                      <a:r>
                        <a:rPr lang="en-GB" sz="1000" b="1" i="0" baseline="0">
                          <a:solidFill>
                            <a:srgbClr val="000000"/>
                          </a:solidFill>
                          <a:latin typeface="Fund Light" pitchFamily="2" charset="-78"/>
                          <a:cs typeface="Fund Light" pitchFamily="2" charset="-78"/>
                        </a:rPr>
                        <a:t>support</a:t>
                      </a:r>
                      <a:r>
                        <a:rPr lang="en-GB" sz="1000" b="0" i="0" baseline="0">
                          <a:solidFill>
                            <a:srgbClr val="000000"/>
                          </a:solidFill>
                          <a:latin typeface="Fund Light" pitchFamily="2" charset="-78"/>
                          <a:cs typeface="Fund Light" pitchFamily="2" charset="-78"/>
                        </a:rPr>
                        <a:t> do you require? E.g., financial, fiscal, operational incentives, access to infrastructure, regulatory enablement</a:t>
                      </a:r>
                    </a:p>
                  </a:txBody>
                  <a:tcPr anchor="ctr">
                    <a:lnL w="5715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73630"/>
                  </a:ext>
                </a:extLst>
              </a:tr>
            </a:tbl>
          </a:graphicData>
        </a:graphic>
      </p:graphicFrame>
      <p:grpSp>
        <p:nvGrpSpPr>
          <p:cNvPr id="12" name="Group 11">
            <a:extLst>
              <a:ext uri="{FF2B5EF4-FFF2-40B4-BE49-F238E27FC236}">
                <a16:creationId xmlns:a16="http://schemas.microsoft.com/office/drawing/2014/main" id="{1ED138C4-3E21-4B37-96BA-D1DB512E4AC1}"/>
              </a:ext>
            </a:extLst>
          </p:cNvPr>
          <p:cNvGrpSpPr/>
          <p:nvPr/>
        </p:nvGrpSpPr>
        <p:grpSpPr>
          <a:xfrm>
            <a:off x="1917700" y="756136"/>
            <a:ext cx="6905789" cy="264155"/>
            <a:chOff x="1797844" y="756136"/>
            <a:chExt cx="7107532" cy="264155"/>
          </a:xfrm>
        </p:grpSpPr>
        <p:cxnSp>
          <p:nvCxnSpPr>
            <p:cNvPr id="22" name="Straight Connector 21">
              <a:extLst>
                <a:ext uri="{FF2B5EF4-FFF2-40B4-BE49-F238E27FC236}">
                  <a16:creationId xmlns:a16="http://schemas.microsoft.com/office/drawing/2014/main" id="{F0BB15FC-192B-AC1A-6597-B6E2A0F8D178}"/>
                </a:ext>
              </a:extLst>
            </p:cNvPr>
            <p:cNvCxnSpPr>
              <a:cxnSpLocks/>
            </p:cNvCxnSpPr>
            <p:nvPr/>
          </p:nvCxnSpPr>
          <p:spPr>
            <a:xfrm>
              <a:off x="1797848" y="1020291"/>
              <a:ext cx="7107528"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D4DF6FD-14B8-3F31-D889-42C56E01AC4D}"/>
                </a:ext>
              </a:extLst>
            </p:cNvPr>
            <p:cNvSpPr txBox="1"/>
            <p:nvPr/>
          </p:nvSpPr>
          <p:spPr>
            <a:xfrm>
              <a:off x="1797844" y="756136"/>
              <a:ext cx="7107525"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Key information required to address the objectives</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sp>
        <p:nvSpPr>
          <p:cNvPr id="24" name="Oval 23">
            <a:extLst>
              <a:ext uri="{FF2B5EF4-FFF2-40B4-BE49-F238E27FC236}">
                <a16:creationId xmlns:a16="http://schemas.microsoft.com/office/drawing/2014/main" id="{3C08C68B-1659-1CEA-49F4-A7B24FB7BB88}"/>
              </a:ext>
            </a:extLst>
          </p:cNvPr>
          <p:cNvSpPr/>
          <p:nvPr/>
        </p:nvSpPr>
        <p:spPr>
          <a:xfrm>
            <a:off x="323850" y="1133915"/>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1</a:t>
            </a:r>
          </a:p>
        </p:txBody>
      </p:sp>
      <p:sp>
        <p:nvSpPr>
          <p:cNvPr id="25" name="Oval 24">
            <a:extLst>
              <a:ext uri="{FF2B5EF4-FFF2-40B4-BE49-F238E27FC236}">
                <a16:creationId xmlns:a16="http://schemas.microsoft.com/office/drawing/2014/main" id="{87AB2036-71C1-C404-24DD-14ED2BA93AD2}"/>
              </a:ext>
            </a:extLst>
          </p:cNvPr>
          <p:cNvSpPr/>
          <p:nvPr/>
        </p:nvSpPr>
        <p:spPr>
          <a:xfrm>
            <a:off x="323850" y="2045008"/>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2</a:t>
            </a:r>
          </a:p>
        </p:txBody>
      </p:sp>
      <p:sp>
        <p:nvSpPr>
          <p:cNvPr id="26" name="Oval 25">
            <a:extLst>
              <a:ext uri="{FF2B5EF4-FFF2-40B4-BE49-F238E27FC236}">
                <a16:creationId xmlns:a16="http://schemas.microsoft.com/office/drawing/2014/main" id="{C43074CB-32FE-D7BE-6FE0-B1B4DA7A6936}"/>
              </a:ext>
            </a:extLst>
          </p:cNvPr>
          <p:cNvSpPr/>
          <p:nvPr/>
        </p:nvSpPr>
        <p:spPr>
          <a:xfrm>
            <a:off x="323850" y="3417991"/>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3</a:t>
            </a:r>
          </a:p>
        </p:txBody>
      </p:sp>
      <p:sp>
        <p:nvSpPr>
          <p:cNvPr id="27" name="Oval 26">
            <a:extLst>
              <a:ext uri="{FF2B5EF4-FFF2-40B4-BE49-F238E27FC236}">
                <a16:creationId xmlns:a16="http://schemas.microsoft.com/office/drawing/2014/main" id="{CC8BEC8E-F01D-C5B3-69F0-434DE808115D}"/>
              </a:ext>
            </a:extLst>
          </p:cNvPr>
          <p:cNvSpPr/>
          <p:nvPr/>
        </p:nvSpPr>
        <p:spPr>
          <a:xfrm>
            <a:off x="323850" y="4337155"/>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4</a:t>
            </a:r>
          </a:p>
        </p:txBody>
      </p:sp>
      <p:sp>
        <p:nvSpPr>
          <p:cNvPr id="28" name="ee4pHeader1">
            <a:extLst>
              <a:ext uri="{FF2B5EF4-FFF2-40B4-BE49-F238E27FC236}">
                <a16:creationId xmlns:a16="http://schemas.microsoft.com/office/drawing/2014/main" id="{54795C46-0F18-4D1D-9C0A-E06CF6E84DFC}"/>
              </a:ext>
            </a:extLst>
          </p:cNvPr>
          <p:cNvSpPr/>
          <p:nvPr>
            <p:custDataLst>
              <p:tags r:id="rId2"/>
            </p:custDataLst>
          </p:nvPr>
        </p:nvSpPr>
        <p:spPr bwMode="auto">
          <a:xfrm>
            <a:off x="4917881" y="0"/>
            <a:ext cx="943814" cy="175146"/>
          </a:xfrm>
          <a:prstGeom prst="homePlate">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a:ea typeface="+mn-ea"/>
                <a:cs typeface="+mn-cs"/>
              </a:rPr>
              <a:t>RfI</a:t>
            </a:r>
          </a:p>
        </p:txBody>
      </p:sp>
      <p:sp>
        <p:nvSpPr>
          <p:cNvPr id="29" name="ee4pHeader2">
            <a:extLst>
              <a:ext uri="{FF2B5EF4-FFF2-40B4-BE49-F238E27FC236}">
                <a16:creationId xmlns:a16="http://schemas.microsoft.com/office/drawing/2014/main" id="{3F74C390-6FD7-4275-898F-896AB2CA47C7}"/>
              </a:ext>
            </a:extLst>
          </p:cNvPr>
          <p:cNvSpPr/>
          <p:nvPr>
            <p:custDataLst>
              <p:tags r:id="rId3"/>
            </p:custDataLst>
          </p:nvPr>
        </p:nvSpPr>
        <p:spPr bwMode="auto">
          <a:xfrm>
            <a:off x="5891054" y="0"/>
            <a:ext cx="943814" cy="175146"/>
          </a:xfrm>
          <a:prstGeom prst="chevron">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RfP</a:t>
            </a:r>
          </a:p>
        </p:txBody>
      </p:sp>
      <p:sp>
        <p:nvSpPr>
          <p:cNvPr id="10" name="Text Placeholder 6">
            <a:extLst>
              <a:ext uri="{FF2B5EF4-FFF2-40B4-BE49-F238E27FC236}">
                <a16:creationId xmlns:a16="http://schemas.microsoft.com/office/drawing/2014/main" id="{C2B248C9-A6AC-BEE1-CFA1-5A458E64372F}"/>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What is the information requested?</a:t>
            </a:r>
          </a:p>
        </p:txBody>
      </p:sp>
      <p:sp>
        <p:nvSpPr>
          <p:cNvPr id="15" name="Oval 14">
            <a:extLst>
              <a:ext uri="{FF2B5EF4-FFF2-40B4-BE49-F238E27FC236}">
                <a16:creationId xmlns:a16="http://schemas.microsoft.com/office/drawing/2014/main" id="{19890171-F168-0731-A70A-9016D226B329}"/>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2" name="Rectangle: Rounded Corners 1">
            <a:extLst>
              <a:ext uri="{FF2B5EF4-FFF2-40B4-BE49-F238E27FC236}">
                <a16:creationId xmlns:a16="http://schemas.microsoft.com/office/drawing/2014/main" id="{7720E883-D6F3-ACA3-8F0E-B131930B9858}"/>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21437825-7890-10D0-83A0-E3EE06CD332E}"/>
              </a:ext>
            </a:extLst>
          </p:cNvPr>
          <p:cNvGrpSpPr/>
          <p:nvPr/>
        </p:nvGrpSpPr>
        <p:grpSpPr>
          <a:xfrm>
            <a:off x="3004029" y="4817276"/>
            <a:ext cx="303559" cy="303559"/>
            <a:chOff x="-577629" y="2311332"/>
            <a:chExt cx="404038" cy="404037"/>
          </a:xfrm>
        </p:grpSpPr>
        <p:sp>
          <p:nvSpPr>
            <p:cNvPr id="4" name="Oval 3">
              <a:extLst>
                <a:ext uri="{FF2B5EF4-FFF2-40B4-BE49-F238E27FC236}">
                  <a16:creationId xmlns:a16="http://schemas.microsoft.com/office/drawing/2014/main" id="{C0678A67-F393-FCC3-A464-563F429DE83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BE97E3D-45D1-5E39-2D17-6D4C4F42E326}"/>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7" name="Group 6">
            <a:extLst>
              <a:ext uri="{FF2B5EF4-FFF2-40B4-BE49-F238E27FC236}">
                <a16:creationId xmlns:a16="http://schemas.microsoft.com/office/drawing/2014/main" id="{8084B5FC-DD21-15F4-A69C-979BB21DCDA1}"/>
              </a:ext>
            </a:extLst>
          </p:cNvPr>
          <p:cNvGrpSpPr/>
          <p:nvPr/>
        </p:nvGrpSpPr>
        <p:grpSpPr>
          <a:xfrm>
            <a:off x="6211995" y="4883810"/>
            <a:ext cx="168686" cy="161455"/>
            <a:chOff x="11260138" y="4194175"/>
            <a:chExt cx="360363" cy="379413"/>
          </a:xfrm>
        </p:grpSpPr>
        <p:sp>
          <p:nvSpPr>
            <p:cNvPr id="13" name="Freeform 289">
              <a:extLst>
                <a:ext uri="{FF2B5EF4-FFF2-40B4-BE49-F238E27FC236}">
                  <a16:creationId xmlns:a16="http://schemas.microsoft.com/office/drawing/2014/main" id="{F74F7AE9-763D-DFFA-E284-175152FAA0E5}"/>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290">
              <a:extLst>
                <a:ext uri="{FF2B5EF4-FFF2-40B4-BE49-F238E27FC236}">
                  <a16:creationId xmlns:a16="http://schemas.microsoft.com/office/drawing/2014/main" id="{DF8FB371-077F-9411-733E-6C366562F968}"/>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1">
              <a:extLst>
                <a:ext uri="{FF2B5EF4-FFF2-40B4-BE49-F238E27FC236}">
                  <a16:creationId xmlns:a16="http://schemas.microsoft.com/office/drawing/2014/main" id="{A866B6FB-EBE2-ED18-F9F7-F66675B5BF54}"/>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996235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516D39B-CB0A-DBA5-CBFA-E3A6E9AC2577}"/>
              </a:ext>
            </a:extLst>
          </p:cNvPr>
          <p:cNvGraphicFramePr>
            <a:graphicFrameLocks noChangeAspect="1"/>
          </p:cNvGraphicFramePr>
          <p:nvPr>
            <p:custDataLst>
              <p:tags r:id="rId1"/>
            </p:custDataLst>
            <p:extLst>
              <p:ext uri="{D42A27DB-BD31-4B8C-83A1-F6EECF244321}">
                <p14:modId xmlns:p14="http://schemas.microsoft.com/office/powerpoint/2010/main" val="3656250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1" name="think-cell data - do not delete" hidden="1">
                        <a:extLst>
                          <a:ext uri="{FF2B5EF4-FFF2-40B4-BE49-F238E27FC236}">
                            <a16:creationId xmlns:a16="http://schemas.microsoft.com/office/drawing/2014/main" id="{C516D39B-CB0A-DBA5-CBFA-E3A6E9AC257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B1ABDD0C-D562-4464-B0BB-524838427446}"/>
              </a:ext>
            </a:extLst>
          </p:cNvPr>
          <p:cNvSpPr>
            <a:spLocks noGrp="1"/>
          </p:cNvSpPr>
          <p:nvPr>
            <p:ph type="title"/>
          </p:nvPr>
        </p:nvSpPr>
        <p:spPr>
          <a:xfrm>
            <a:off x="1255077" y="255973"/>
            <a:ext cx="7589520" cy="241824"/>
          </a:xfrm>
        </p:spPr>
        <p:txBody>
          <a:bodyPr vert="horz"/>
          <a:lstStyle/>
          <a:p>
            <a:r>
              <a:rPr lang="en-US"/>
              <a:t>RfI responses should be evaluated and shortlisted based on supplier interest and qualifications</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graphicFrame>
        <p:nvGraphicFramePr>
          <p:cNvPr id="28" name="Table 141">
            <a:extLst>
              <a:ext uri="{FF2B5EF4-FFF2-40B4-BE49-F238E27FC236}">
                <a16:creationId xmlns:a16="http://schemas.microsoft.com/office/drawing/2014/main" id="{F3E41A9A-2702-6540-83F0-F66E605AA71C}"/>
              </a:ext>
            </a:extLst>
          </p:cNvPr>
          <p:cNvGraphicFramePr>
            <a:graphicFrameLocks noGrp="1"/>
          </p:cNvGraphicFramePr>
          <p:nvPr>
            <p:extLst>
              <p:ext uri="{D42A27DB-BD31-4B8C-83A1-F6EECF244321}">
                <p14:modId xmlns:p14="http://schemas.microsoft.com/office/powerpoint/2010/main" val="672906563"/>
              </p:ext>
            </p:extLst>
          </p:nvPr>
        </p:nvGraphicFramePr>
        <p:xfrm>
          <a:off x="326230" y="1118488"/>
          <a:ext cx="8493920" cy="3397950"/>
        </p:xfrm>
        <a:graphic>
          <a:graphicData uri="http://schemas.openxmlformats.org/drawingml/2006/table">
            <a:tbl>
              <a:tblPr firstRow="1" bandRow="1">
                <a:tableStyleId>{5C22544A-7EE6-4342-B048-85BDC9FD1C3A}</a:tableStyleId>
              </a:tblPr>
              <a:tblGrid>
                <a:gridCol w="1399279">
                  <a:extLst>
                    <a:ext uri="{9D8B030D-6E8A-4147-A177-3AD203B41FA5}">
                      <a16:colId xmlns:a16="http://schemas.microsoft.com/office/drawing/2014/main" val="3100141092"/>
                    </a:ext>
                  </a:extLst>
                </a:gridCol>
                <a:gridCol w="1399279">
                  <a:extLst>
                    <a:ext uri="{9D8B030D-6E8A-4147-A177-3AD203B41FA5}">
                      <a16:colId xmlns:a16="http://schemas.microsoft.com/office/drawing/2014/main" val="1585286637"/>
                    </a:ext>
                  </a:extLst>
                </a:gridCol>
                <a:gridCol w="2880086">
                  <a:extLst>
                    <a:ext uri="{9D8B030D-6E8A-4147-A177-3AD203B41FA5}">
                      <a16:colId xmlns:a16="http://schemas.microsoft.com/office/drawing/2014/main" val="2486330668"/>
                    </a:ext>
                  </a:extLst>
                </a:gridCol>
                <a:gridCol w="1407638">
                  <a:extLst>
                    <a:ext uri="{9D8B030D-6E8A-4147-A177-3AD203B41FA5}">
                      <a16:colId xmlns:a16="http://schemas.microsoft.com/office/drawing/2014/main" val="242731654"/>
                    </a:ext>
                  </a:extLst>
                </a:gridCol>
                <a:gridCol w="1407638">
                  <a:extLst>
                    <a:ext uri="{9D8B030D-6E8A-4147-A177-3AD203B41FA5}">
                      <a16:colId xmlns:a16="http://schemas.microsoft.com/office/drawing/2014/main" val="1010882653"/>
                    </a:ext>
                  </a:extLst>
                </a:gridCol>
              </a:tblGrid>
              <a:tr h="733568">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1" i="0" baseline="0">
                          <a:solidFill>
                            <a:schemeClr val="bg2"/>
                          </a:solidFill>
                          <a:latin typeface="Fund Light" pitchFamily="2" charset="-78"/>
                          <a:cs typeface="Fund Light" pitchFamily="2" charset="-78"/>
                        </a:rPr>
                        <a:t>Supplier interest</a:t>
                      </a: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gridSpan="2">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Has the supplier provided us with the right information by the submission deadline?</a:t>
                      </a:r>
                    </a:p>
                  </a:txBody>
                  <a:tcPr marT="18288" marB="21328"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6350" cap="flat" cmpd="sng" algn="ctr">
                      <a:noFill/>
                      <a:prstDash val="sysDash"/>
                      <a:round/>
                      <a:headEnd type="none" w="med" len="med"/>
                      <a:tailEnd type="none" w="med" len="med"/>
                    </a:lnL>
                    <a:lnR w="38100" cap="flat" cmpd="sng" algn="ctr">
                      <a:solidFill>
                        <a:schemeClr val="bg1"/>
                      </a:solidFill>
                      <a:prstDash val="solid"/>
                      <a:round/>
                      <a:headEnd type="none" w="med" len="med"/>
                      <a:tailEnd type="none" w="med" len="med"/>
                    </a:lnR>
                    <a:lnT w="6350" cap="flat" cmpd="sng" algn="ctr">
                      <a:solidFill>
                        <a:schemeClr val="bg1">
                          <a:lumMod val="85000"/>
                        </a:schemeClr>
                      </a:solidFill>
                      <a:prstDash val="sysDash"/>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926263137"/>
                  </a:ext>
                </a:extLst>
              </a:tr>
              <a:tr h="1100978">
                <a:tc rowSpan="3">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1" i="0" baseline="0">
                          <a:solidFill>
                            <a:schemeClr val="bg2"/>
                          </a:solidFill>
                          <a:latin typeface="Fund Light" pitchFamily="2" charset="-78"/>
                          <a:cs typeface="Fund Light" pitchFamily="2" charset="-78"/>
                        </a:rPr>
                        <a:t>Supplier</a:t>
                      </a:r>
                      <a:br>
                        <a:rPr lang="en-US" sz="1000" b="1" i="0" baseline="0">
                          <a:solidFill>
                            <a:schemeClr val="bg2"/>
                          </a:solidFill>
                          <a:latin typeface="Fund Light" pitchFamily="2" charset="-78"/>
                          <a:cs typeface="Fund Light" pitchFamily="2" charset="-78"/>
                        </a:rPr>
                      </a:br>
                      <a:r>
                        <a:rPr lang="en-US" sz="1000" b="1" i="0" baseline="0">
                          <a:solidFill>
                            <a:schemeClr val="bg2"/>
                          </a:solidFill>
                          <a:latin typeface="Fund Light" pitchFamily="2" charset="-78"/>
                          <a:cs typeface="Fund Light" pitchFamily="2" charset="-78"/>
                        </a:rPr>
                        <a:t>qualifications</a:t>
                      </a: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38100" cap="flat" cmpd="sng" algn="ctr">
                      <a:solidFill>
                        <a:schemeClr val="bg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182880" marR="0" lvl="0" indent="-182880" algn="l" defTabSz="685800" rtl="0" eaLnBrk="1" fontAlgn="auto" latinLnBrk="0" hangingPunct="1">
                        <a:lnSpc>
                          <a:spcPct val="150000"/>
                        </a:lnSpc>
                        <a:spcBef>
                          <a:spcPts val="0"/>
                        </a:spcBef>
                        <a:spcAft>
                          <a:spcPts val="0"/>
                        </a:spcAft>
                        <a:buClrTx/>
                        <a:buSzTx/>
                        <a:buFont typeface="+mj-lt"/>
                        <a:buAutoNum type="romanLcPeriod"/>
                        <a:tabLst/>
                        <a:defRPr/>
                      </a:pPr>
                      <a:r>
                        <a:rPr lang="en-US" sz="1000" b="1" i="0" baseline="0">
                          <a:solidFill>
                            <a:srgbClr val="000000"/>
                          </a:solidFill>
                          <a:latin typeface="Fund Light" pitchFamily="2" charset="-78"/>
                          <a:cs typeface="Fund Light" pitchFamily="2" charset="-78"/>
                        </a:rPr>
                        <a:t>Manufacturing capabilities</a:t>
                      </a:r>
                    </a:p>
                  </a:txBody>
                  <a:tcPr marT="18288" marB="21328" anchor="ctr">
                    <a:lnL w="6350" cap="flat" cmpd="sng" algn="ctr">
                      <a:no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Are the supplier’s current manufacturing capabilities in line with customer requirements? E.g., in terms of product portfolio, expertise, plant capacity</a:t>
                      </a: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6350" cap="flat" cmpd="sng" algn="ctr">
                      <a:noFill/>
                      <a:prstDash val="sysDash"/>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454980290"/>
                  </a:ext>
                </a:extLst>
              </a:tr>
              <a:tr h="733568">
                <a:tc vMerge="1">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endParaRPr lang="en-US" sz="800" b="1" i="0" baseline="0">
                        <a:solidFill>
                          <a:schemeClr val="tx1">
                            <a:lumMod val="65000"/>
                            <a:lumOff val="35000"/>
                          </a:schemeClr>
                        </a:solidFill>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marR="0" lvl="0" indent="-182880" algn="l" defTabSz="685800" rtl="0" eaLnBrk="1" fontAlgn="auto" latinLnBrk="0" hangingPunct="1">
                        <a:lnSpc>
                          <a:spcPct val="150000"/>
                        </a:lnSpc>
                        <a:spcBef>
                          <a:spcPts val="0"/>
                        </a:spcBef>
                        <a:spcAft>
                          <a:spcPts val="0"/>
                        </a:spcAft>
                        <a:buClrTx/>
                        <a:buSzTx/>
                        <a:buFont typeface="+mj-lt"/>
                        <a:buAutoNum type="romanLcPeriod" startAt="2"/>
                        <a:tabLst/>
                        <a:defRPr/>
                      </a:pPr>
                      <a:r>
                        <a:rPr lang="en-US" sz="1000" b="1" i="0" baseline="0">
                          <a:solidFill>
                            <a:srgbClr val="000000"/>
                          </a:solidFill>
                          <a:latin typeface="Fund Light" pitchFamily="2" charset="-78"/>
                          <a:cs typeface="Fund Light" pitchFamily="2" charset="-78"/>
                        </a:rPr>
                        <a:t>Products</a:t>
                      </a:r>
                    </a:p>
                  </a:txBody>
                  <a:tcPr marT="18288" marB="21328" anchor="ctr">
                    <a:lnL w="6350" cap="flat" cmpd="sng" algn="ctr">
                      <a:no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Can the supplier manufacture the required specifications?</a:t>
                      </a: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6350" cap="flat" cmpd="sng" algn="ctr">
                      <a:noFill/>
                      <a:prstDash val="sysDash"/>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495466058"/>
                  </a:ext>
                </a:extLst>
              </a:tr>
              <a:tr h="829836">
                <a:tc vMerge="1">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endParaRPr lang="en-US" sz="800" b="1" i="0" baseline="0">
                        <a:solidFill>
                          <a:schemeClr val="tx1">
                            <a:lumMod val="65000"/>
                            <a:lumOff val="35000"/>
                          </a:schemeClr>
                        </a:solidFill>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marR="0" lvl="0" indent="-182880" algn="l" defTabSz="685800" rtl="0" eaLnBrk="1" fontAlgn="auto" latinLnBrk="0" hangingPunct="1">
                        <a:lnSpc>
                          <a:spcPct val="150000"/>
                        </a:lnSpc>
                        <a:spcBef>
                          <a:spcPts val="0"/>
                        </a:spcBef>
                        <a:spcAft>
                          <a:spcPts val="0"/>
                        </a:spcAft>
                        <a:buClrTx/>
                        <a:buSzTx/>
                        <a:buFont typeface="+mj-lt"/>
                        <a:buAutoNum type="romanLcPeriod" startAt="3"/>
                        <a:tabLst/>
                        <a:defRPr/>
                      </a:pPr>
                      <a:r>
                        <a:rPr lang="en-US" sz="1000" b="1" i="0" baseline="0">
                          <a:solidFill>
                            <a:srgbClr val="000000"/>
                          </a:solidFill>
                          <a:latin typeface="Fund Light" pitchFamily="2" charset="-78"/>
                          <a:cs typeface="Fund Light" pitchFamily="2" charset="-78"/>
                        </a:rPr>
                        <a:t>Technologies and IP</a:t>
                      </a:r>
                    </a:p>
                  </a:txBody>
                  <a:tcPr marT="18288" marB="21328" anchor="ctr">
                    <a:lnL w="6350" cap="flat" cmpd="sng" algn="ctr">
                      <a:noFill/>
                      <a:prstDash val="sysDash"/>
                      <a:round/>
                      <a:headEnd type="none" w="med" len="med"/>
                      <a:tailEnd type="none" w="med" len="med"/>
                    </a:lnL>
                    <a:lnR w="6350" cap="flat" cmpd="sng" algn="ctr">
                      <a:solidFill>
                        <a:schemeClr val="bg1">
                          <a:lumMod val="85000"/>
                        </a:schemeClr>
                      </a:solid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Does the supplier (or its technological partner) have the required technologies and IP (including certifications)?</a:t>
                      </a:r>
                    </a:p>
                  </a:txBody>
                  <a:tcPr marT="18288" marB="21328" anchor="ctr">
                    <a:lnL w="6350" cap="flat" cmpd="sng" algn="ctr">
                      <a:solidFill>
                        <a:schemeClr val="bg1">
                          <a:lumMod val="85000"/>
                        </a:schemeClr>
                      </a:solidFill>
                      <a:prstDash val="sysDash"/>
                      <a:round/>
                      <a:headEnd type="none" w="med" len="med"/>
                      <a:tailEnd type="none" w="med" len="med"/>
                    </a:lnL>
                    <a:lnR w="6350" cap="flat" cmpd="sng" algn="ctr">
                      <a:noFill/>
                      <a:prstDash val="sysDash"/>
                      <a:round/>
                      <a:headEnd type="none" w="med" len="med"/>
                      <a:tailEnd type="none" w="med" len="med"/>
                    </a:lnR>
                    <a:lnT w="6350" cap="flat" cmpd="sng" algn="ctr">
                      <a:solidFill>
                        <a:schemeClr val="bg1">
                          <a:lumMod val="85000"/>
                        </a:schemeClr>
                      </a:solidFill>
                      <a:prstDash val="sysDash"/>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6350" cap="flat" cmpd="sng" algn="ctr">
                      <a:noFill/>
                      <a:prstDash val="sysDash"/>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FFF2F2"/>
                    </a:solid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6350" cap="flat" cmpd="sng" algn="ctr">
                      <a:solidFill>
                        <a:schemeClr val="bg1">
                          <a:lumMod val="85000"/>
                        </a:schemeClr>
                      </a:solidFill>
                      <a:prstDash val="sysDash"/>
                      <a:round/>
                      <a:headEnd type="none" w="med" len="med"/>
                      <a:tailEnd type="none" w="med" len="med"/>
                    </a:lnR>
                    <a:lnT w="38100" cap="flat" cmpd="sng" algn="ctr">
                      <a:solidFill>
                        <a:schemeClr val="bg1"/>
                      </a:solidFill>
                      <a:prstDash val="solid"/>
                      <a:round/>
                      <a:headEnd type="none" w="med" len="med"/>
                      <a:tailEnd type="none" w="med" len="med"/>
                    </a:lnT>
                    <a:lnB w="6350" cap="flat" cmpd="sng" algn="ctr">
                      <a:solidFill>
                        <a:schemeClr val="bg1">
                          <a:lumMod val="85000"/>
                        </a:schemeClr>
                      </a:solidFill>
                      <a:prstDash val="sysDash"/>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4223379494"/>
                  </a:ext>
                </a:extLst>
              </a:tr>
            </a:tbl>
          </a:graphicData>
        </a:graphic>
      </p:graphicFrame>
      <p:sp>
        <p:nvSpPr>
          <p:cNvPr id="6" name="Text Placeholder 4">
            <a:extLst>
              <a:ext uri="{FF2B5EF4-FFF2-40B4-BE49-F238E27FC236}">
                <a16:creationId xmlns:a16="http://schemas.microsoft.com/office/drawing/2014/main" id="{D645B740-C78D-DC0B-E64D-BA282E48ADE8}"/>
              </a:ext>
            </a:extLst>
          </p:cNvPr>
          <p:cNvSpPr txBox="1">
            <a:spLocks/>
          </p:cNvSpPr>
          <p:nvPr/>
        </p:nvSpPr>
        <p:spPr>
          <a:xfrm>
            <a:off x="326230" y="794840"/>
            <a:ext cx="8493919" cy="186727"/>
          </a:xfrm>
          <a:prstGeom prst="rect">
            <a:avLst/>
          </a:prstGeom>
        </p:spPr>
        <p:txBody>
          <a:bodyPr vert="horz" lIns="68580" tIns="34290" rIns="68580" bIns="3429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200" b="0" kern="1200">
                <a:solidFill>
                  <a:schemeClr val="tx1">
                    <a:lumMod val="65000"/>
                    <a:lumOff val="35000"/>
                  </a:schemeClr>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332A">
                    <a:lumMod val="65000"/>
                    <a:lumOff val="35000"/>
                  </a:srgbClr>
                </a:solidFill>
                <a:effectLst/>
                <a:uLnTx/>
                <a:uFillTx/>
                <a:latin typeface="Fund Regular" pitchFamily="2" charset="-78"/>
                <a:ea typeface="+mn-ea"/>
                <a:cs typeface="Fund Regular" pitchFamily="2" charset="-78"/>
              </a:rPr>
              <a:t> </a:t>
            </a:r>
          </a:p>
        </p:txBody>
      </p:sp>
      <p:cxnSp>
        <p:nvCxnSpPr>
          <p:cNvPr id="9" name="Straight Connector 8">
            <a:extLst>
              <a:ext uri="{FF2B5EF4-FFF2-40B4-BE49-F238E27FC236}">
                <a16:creationId xmlns:a16="http://schemas.microsoft.com/office/drawing/2014/main" id="{195AA0D2-6722-9B9F-29AB-4CD516F607E5}"/>
              </a:ext>
            </a:extLst>
          </p:cNvPr>
          <p:cNvCxnSpPr>
            <a:cxnSpLocks/>
          </p:cNvCxnSpPr>
          <p:nvPr/>
        </p:nvCxnSpPr>
        <p:spPr>
          <a:xfrm>
            <a:off x="1773443" y="1078568"/>
            <a:ext cx="416702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ECF62F-BE5A-DB76-9123-DAE14187BDBA}"/>
              </a:ext>
            </a:extLst>
          </p:cNvPr>
          <p:cNvSpPr txBox="1"/>
          <p:nvPr/>
        </p:nvSpPr>
        <p:spPr>
          <a:xfrm>
            <a:off x="1773441" y="771525"/>
            <a:ext cx="4167025"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Shortlisting criteria</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2" name="Straight Connector 11">
            <a:extLst>
              <a:ext uri="{FF2B5EF4-FFF2-40B4-BE49-F238E27FC236}">
                <a16:creationId xmlns:a16="http://schemas.microsoft.com/office/drawing/2014/main" id="{EBB80799-F3BA-58D9-3217-FF84BB85CD3C}"/>
              </a:ext>
            </a:extLst>
          </p:cNvPr>
          <p:cNvCxnSpPr>
            <a:cxnSpLocks/>
          </p:cNvCxnSpPr>
          <p:nvPr/>
        </p:nvCxnSpPr>
        <p:spPr>
          <a:xfrm>
            <a:off x="326230" y="1078568"/>
            <a:ext cx="138827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CB6637-54BC-630C-00B4-D29B42F10744}"/>
              </a:ext>
            </a:extLst>
          </p:cNvPr>
          <p:cNvSpPr txBox="1">
            <a:spLocks/>
          </p:cNvSpPr>
          <p:nvPr/>
        </p:nvSpPr>
        <p:spPr>
          <a:xfrm>
            <a:off x="326230" y="771525"/>
            <a:ext cx="138827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Dimension</a:t>
            </a:r>
          </a:p>
        </p:txBody>
      </p:sp>
      <p:cxnSp>
        <p:nvCxnSpPr>
          <p:cNvPr id="34" name="Straight Connector 33">
            <a:extLst>
              <a:ext uri="{FF2B5EF4-FFF2-40B4-BE49-F238E27FC236}">
                <a16:creationId xmlns:a16="http://schemas.microsoft.com/office/drawing/2014/main" id="{E14AA76E-2FD1-D44C-26CB-D5E0A8ECCB24}"/>
              </a:ext>
            </a:extLst>
          </p:cNvPr>
          <p:cNvCxnSpPr>
            <a:cxnSpLocks/>
          </p:cNvCxnSpPr>
          <p:nvPr/>
        </p:nvCxnSpPr>
        <p:spPr>
          <a:xfrm>
            <a:off x="6040153" y="1078568"/>
            <a:ext cx="132446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658B532-9C00-8F4E-A284-6742DB0B236B}"/>
              </a:ext>
            </a:extLst>
          </p:cNvPr>
          <p:cNvSpPr txBox="1"/>
          <p:nvPr/>
        </p:nvSpPr>
        <p:spPr>
          <a:xfrm>
            <a:off x="5999411" y="771525"/>
            <a:ext cx="1405947"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failed if</a:t>
            </a:r>
          </a:p>
        </p:txBody>
      </p:sp>
      <p:cxnSp>
        <p:nvCxnSpPr>
          <p:cNvPr id="32" name="Straight Connector 31">
            <a:extLst>
              <a:ext uri="{FF2B5EF4-FFF2-40B4-BE49-F238E27FC236}">
                <a16:creationId xmlns:a16="http://schemas.microsoft.com/office/drawing/2014/main" id="{01904B7D-C9A3-478D-8069-82E1EBD483C8}"/>
              </a:ext>
            </a:extLst>
          </p:cNvPr>
          <p:cNvCxnSpPr>
            <a:cxnSpLocks/>
          </p:cNvCxnSpPr>
          <p:nvPr/>
        </p:nvCxnSpPr>
        <p:spPr>
          <a:xfrm>
            <a:off x="7464299" y="1078568"/>
            <a:ext cx="1351088"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7B8D066-AF52-4EC6-5962-8232B511581F}"/>
              </a:ext>
            </a:extLst>
          </p:cNvPr>
          <p:cNvSpPr txBox="1"/>
          <p:nvPr/>
        </p:nvSpPr>
        <p:spPr>
          <a:xfrm>
            <a:off x="7405358" y="771525"/>
            <a:ext cx="1468968"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passed if</a:t>
            </a:r>
          </a:p>
        </p:txBody>
      </p:sp>
      <p:sp>
        <p:nvSpPr>
          <p:cNvPr id="24" name="ee4pHeader1">
            <a:extLst>
              <a:ext uri="{FF2B5EF4-FFF2-40B4-BE49-F238E27FC236}">
                <a16:creationId xmlns:a16="http://schemas.microsoft.com/office/drawing/2014/main" id="{1AAAA63A-39E7-4EA5-800F-9DFF92558B13}"/>
              </a:ext>
            </a:extLst>
          </p:cNvPr>
          <p:cNvSpPr/>
          <p:nvPr>
            <p:custDataLst>
              <p:tags r:id="rId2"/>
            </p:custDataLst>
          </p:nvPr>
        </p:nvSpPr>
        <p:spPr bwMode="auto">
          <a:xfrm>
            <a:off x="4917881" y="0"/>
            <a:ext cx="943814" cy="175146"/>
          </a:xfrm>
          <a:prstGeom prst="homePlate">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RfI</a:t>
            </a:r>
          </a:p>
        </p:txBody>
      </p:sp>
      <p:sp>
        <p:nvSpPr>
          <p:cNvPr id="25" name="ee4pHeader2">
            <a:extLst>
              <a:ext uri="{FF2B5EF4-FFF2-40B4-BE49-F238E27FC236}">
                <a16:creationId xmlns:a16="http://schemas.microsoft.com/office/drawing/2014/main" id="{25E314A1-A5B3-42CD-9987-8674C784E3B2}"/>
              </a:ext>
            </a:extLst>
          </p:cNvPr>
          <p:cNvSpPr/>
          <p:nvPr>
            <p:custDataLst>
              <p:tags r:id="rId3"/>
            </p:custDataLst>
          </p:nvPr>
        </p:nvSpPr>
        <p:spPr bwMode="auto">
          <a:xfrm>
            <a:off x="5891054" y="0"/>
            <a:ext cx="943814" cy="175146"/>
          </a:xfrm>
          <a:prstGeom prst="chevron">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RfP</a:t>
            </a:r>
          </a:p>
        </p:txBody>
      </p:sp>
      <p:sp>
        <p:nvSpPr>
          <p:cNvPr id="4" name="Oval 3">
            <a:extLst>
              <a:ext uri="{FF2B5EF4-FFF2-40B4-BE49-F238E27FC236}">
                <a16:creationId xmlns:a16="http://schemas.microsoft.com/office/drawing/2014/main" id="{E3D34606-14E4-3C80-8997-44263FCCB7A3}"/>
              </a:ext>
            </a:extLst>
          </p:cNvPr>
          <p:cNvSpPr/>
          <p:nvPr/>
        </p:nvSpPr>
        <p:spPr>
          <a:xfrm>
            <a:off x="173482" y="1416732"/>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1</a:t>
            </a:r>
          </a:p>
        </p:txBody>
      </p:sp>
      <p:sp>
        <p:nvSpPr>
          <p:cNvPr id="7" name="Oval 6">
            <a:extLst>
              <a:ext uri="{FF2B5EF4-FFF2-40B4-BE49-F238E27FC236}">
                <a16:creationId xmlns:a16="http://schemas.microsoft.com/office/drawing/2014/main" id="{C295ED78-65C7-D076-16E5-9AB25A28624B}"/>
              </a:ext>
            </a:extLst>
          </p:cNvPr>
          <p:cNvSpPr/>
          <p:nvPr/>
        </p:nvSpPr>
        <p:spPr>
          <a:xfrm>
            <a:off x="173482" y="3105832"/>
            <a:ext cx="228600" cy="2286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900" b="1" i="0" u="none" strike="noStrike" kern="1200" cap="none" spc="0" normalizeH="0" baseline="0" noProof="0">
                <a:ln>
                  <a:noFill/>
                </a:ln>
                <a:solidFill>
                  <a:srgbClr val="FFFFFF"/>
                </a:solidFill>
                <a:effectLst/>
                <a:uLnTx/>
                <a:uFillTx/>
                <a:latin typeface="Fund Light"/>
                <a:ea typeface="+mn-ea"/>
                <a:cs typeface="+mn-cs"/>
              </a:rPr>
              <a:t>2</a:t>
            </a:r>
          </a:p>
        </p:txBody>
      </p:sp>
      <p:sp>
        <p:nvSpPr>
          <p:cNvPr id="3" name="Text Placeholder 6">
            <a:extLst>
              <a:ext uri="{FF2B5EF4-FFF2-40B4-BE49-F238E27FC236}">
                <a16:creationId xmlns:a16="http://schemas.microsoft.com/office/drawing/2014/main" id="{3D68FABE-4DFB-1DA7-F193-8201A0F28201}"/>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p>
        </p:txBody>
      </p:sp>
      <p:sp>
        <p:nvSpPr>
          <p:cNvPr id="8" name="Oval 7">
            <a:extLst>
              <a:ext uri="{FF2B5EF4-FFF2-40B4-BE49-F238E27FC236}">
                <a16:creationId xmlns:a16="http://schemas.microsoft.com/office/drawing/2014/main" id="{1B3F1EE9-EE10-C2CF-AB08-97850D1CBA04}"/>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2" name="Rectangle: Rounded Corners 1">
            <a:extLst>
              <a:ext uri="{FF2B5EF4-FFF2-40B4-BE49-F238E27FC236}">
                <a16:creationId xmlns:a16="http://schemas.microsoft.com/office/drawing/2014/main" id="{4096936C-3811-865C-5270-63DB8568FE5E}"/>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13" name="Group 12">
            <a:extLst>
              <a:ext uri="{FF2B5EF4-FFF2-40B4-BE49-F238E27FC236}">
                <a16:creationId xmlns:a16="http://schemas.microsoft.com/office/drawing/2014/main" id="{404083FA-080E-F4A7-FB63-7F43274F7C0B}"/>
              </a:ext>
            </a:extLst>
          </p:cNvPr>
          <p:cNvGrpSpPr/>
          <p:nvPr/>
        </p:nvGrpSpPr>
        <p:grpSpPr>
          <a:xfrm>
            <a:off x="3004029" y="4817276"/>
            <a:ext cx="303559" cy="303559"/>
            <a:chOff x="-577629" y="2311332"/>
            <a:chExt cx="404038" cy="404037"/>
          </a:xfrm>
        </p:grpSpPr>
        <p:sp>
          <p:nvSpPr>
            <p:cNvPr id="14" name="Oval 13">
              <a:extLst>
                <a:ext uri="{FF2B5EF4-FFF2-40B4-BE49-F238E27FC236}">
                  <a16:creationId xmlns:a16="http://schemas.microsoft.com/office/drawing/2014/main" id="{9706A0D0-F9B5-53A5-4DB9-9C605843040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7F584050-20B0-18D7-772A-B39168794F6C}"/>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7" name="Group 16">
            <a:extLst>
              <a:ext uri="{FF2B5EF4-FFF2-40B4-BE49-F238E27FC236}">
                <a16:creationId xmlns:a16="http://schemas.microsoft.com/office/drawing/2014/main" id="{34EF58A1-89A9-5096-D776-6E1CAB206306}"/>
              </a:ext>
            </a:extLst>
          </p:cNvPr>
          <p:cNvGrpSpPr/>
          <p:nvPr/>
        </p:nvGrpSpPr>
        <p:grpSpPr>
          <a:xfrm>
            <a:off x="6211995" y="4883810"/>
            <a:ext cx="168686" cy="161455"/>
            <a:chOff x="11260138" y="4194175"/>
            <a:chExt cx="360363" cy="379413"/>
          </a:xfrm>
        </p:grpSpPr>
        <p:sp>
          <p:nvSpPr>
            <p:cNvPr id="19" name="Freeform 289">
              <a:extLst>
                <a:ext uri="{FF2B5EF4-FFF2-40B4-BE49-F238E27FC236}">
                  <a16:creationId xmlns:a16="http://schemas.microsoft.com/office/drawing/2014/main" id="{3D5B35E2-6B43-8CA3-B204-F69F3EE9E57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90">
              <a:extLst>
                <a:ext uri="{FF2B5EF4-FFF2-40B4-BE49-F238E27FC236}">
                  <a16:creationId xmlns:a16="http://schemas.microsoft.com/office/drawing/2014/main" id="{8CA538EA-A309-4698-00B8-60A8C8CED270}"/>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91">
              <a:extLst>
                <a:ext uri="{FF2B5EF4-FFF2-40B4-BE49-F238E27FC236}">
                  <a16:creationId xmlns:a16="http://schemas.microsoft.com/office/drawing/2014/main" id="{6F48FA50-DA75-160A-6819-F54BA930A3AE}"/>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000225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2CA814-AB81-3D11-44CC-DE9F0CDC77D5}"/>
              </a:ext>
            </a:extLst>
          </p:cNvPr>
          <p:cNvGraphicFramePr>
            <a:graphicFrameLocks noChangeAspect="1"/>
          </p:cNvGraphicFramePr>
          <p:nvPr>
            <p:custDataLst>
              <p:tags r:id="rId1"/>
            </p:custDataLst>
            <p:extLst>
              <p:ext uri="{D42A27DB-BD31-4B8C-83A1-F6EECF244321}">
                <p14:modId xmlns:p14="http://schemas.microsoft.com/office/powerpoint/2010/main" val="4000944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3" name="think-cell data - do not delete" hidden="1">
                        <a:extLst>
                          <a:ext uri="{FF2B5EF4-FFF2-40B4-BE49-F238E27FC236}">
                            <a16:creationId xmlns:a16="http://schemas.microsoft.com/office/drawing/2014/main" id="{DD2CA814-AB81-3D11-44CC-DE9F0CDC77D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EA59E295-8DBA-C1AC-36F9-DF4025A2496F}"/>
              </a:ext>
            </a:extLst>
          </p:cNvPr>
          <p:cNvPicPr>
            <a:picLocks noChangeAspect="1"/>
          </p:cNvPicPr>
          <p:nvPr/>
        </p:nvPicPr>
        <p:blipFill>
          <a:blip r:embed="rId8"/>
          <a:stretch>
            <a:fillRect/>
          </a:stretch>
        </p:blipFill>
        <p:spPr>
          <a:xfrm>
            <a:off x="338249" y="736080"/>
            <a:ext cx="2243682" cy="3103079"/>
          </a:xfrm>
          <a:prstGeom prst="rect">
            <a:avLst/>
          </a:prstGeom>
          <a:noFill/>
          <a:ln>
            <a:solidFill>
              <a:schemeClr val="accent3"/>
            </a:solidFill>
          </a:ln>
        </p:spPr>
      </p:pic>
      <p:sp>
        <p:nvSpPr>
          <p:cNvPr id="8" name="Title 7">
            <a:extLst>
              <a:ext uri="{FF2B5EF4-FFF2-40B4-BE49-F238E27FC236}">
                <a16:creationId xmlns:a16="http://schemas.microsoft.com/office/drawing/2014/main" id="{0EDC586C-0F33-42A8-9AA7-906CCC97BD59}"/>
              </a:ext>
            </a:extLst>
          </p:cNvPr>
          <p:cNvSpPr>
            <a:spLocks noGrp="1"/>
          </p:cNvSpPr>
          <p:nvPr>
            <p:ph type="title"/>
          </p:nvPr>
        </p:nvSpPr>
        <p:spPr/>
        <p:txBody>
          <a:bodyPr vert="horz"/>
          <a:lstStyle/>
          <a:p>
            <a:r>
              <a:rPr lang="en-US"/>
              <a:t>RfP typically includes eight sections </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 and template</a:t>
            </a:r>
          </a:p>
        </p:txBody>
      </p:sp>
      <p:sp>
        <p:nvSpPr>
          <p:cNvPr id="48" name="Rectangle 47">
            <a:extLst>
              <a:ext uri="{FF2B5EF4-FFF2-40B4-BE49-F238E27FC236}">
                <a16:creationId xmlns:a16="http://schemas.microsoft.com/office/drawing/2014/main" id="{DCAFFD49-85C9-4E46-9DF4-507BEC986568}"/>
              </a:ext>
            </a:extLst>
          </p:cNvPr>
          <p:cNvSpPr/>
          <p:nvPr/>
        </p:nvSpPr>
        <p:spPr>
          <a:xfrm>
            <a:off x="326230" y="3924300"/>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RfP template provided as </a:t>
            </a:r>
            <a:b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332A"/>
                </a:solidFill>
                <a:effectLst/>
                <a:uLnTx/>
                <a:uFillTx/>
                <a:latin typeface="Fund Light" pitchFamily="2" charset="-78"/>
                <a:ea typeface="+mn-ea"/>
                <a:cs typeface="Fund Light" pitchFamily="2" charset="-78"/>
              </a:rPr>
              <a:t>separate document as part of this implementation guide</a:t>
            </a:r>
          </a:p>
        </p:txBody>
      </p:sp>
      <p:grpSp>
        <p:nvGrpSpPr>
          <p:cNvPr id="56" name="Group 55">
            <a:extLst>
              <a:ext uri="{FF2B5EF4-FFF2-40B4-BE49-F238E27FC236}">
                <a16:creationId xmlns:a16="http://schemas.microsoft.com/office/drawing/2014/main" id="{5DAF4BAD-3326-4E4B-83EB-8953661CDCB3}"/>
              </a:ext>
            </a:extLst>
          </p:cNvPr>
          <p:cNvGrpSpPr/>
          <p:nvPr/>
        </p:nvGrpSpPr>
        <p:grpSpPr>
          <a:xfrm>
            <a:off x="2850520" y="771528"/>
            <a:ext cx="125991" cy="3744910"/>
            <a:chOff x="4645689" y="2465890"/>
            <a:chExt cx="146070" cy="2408352"/>
          </a:xfrm>
        </p:grpSpPr>
        <p:cxnSp>
          <p:nvCxnSpPr>
            <p:cNvPr id="72" name="Straight Connector 71">
              <a:extLst>
                <a:ext uri="{FF2B5EF4-FFF2-40B4-BE49-F238E27FC236}">
                  <a16:creationId xmlns:a16="http://schemas.microsoft.com/office/drawing/2014/main" id="{A68E8895-EDE8-41B8-8224-901766AD73CB}"/>
                </a:ext>
              </a:extLst>
            </p:cNvPr>
            <p:cNvCxnSpPr>
              <a:cxnSpLocks/>
            </p:cNvCxnSpPr>
            <p:nvPr/>
          </p:nvCxnSpPr>
          <p:spPr>
            <a:xfrm>
              <a:off x="4718724" y="2465890"/>
              <a:ext cx="0" cy="2408352"/>
            </a:xfrm>
            <a:prstGeom prst="line">
              <a:avLst/>
            </a:prstGeom>
            <a:ln w="1905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1D56D4E4-CDD9-4C46-B660-E62901500421}"/>
                </a:ext>
              </a:extLst>
            </p:cNvPr>
            <p:cNvGrpSpPr/>
            <p:nvPr/>
          </p:nvGrpSpPr>
          <p:grpSpPr>
            <a:xfrm>
              <a:off x="4645689" y="3429000"/>
              <a:ext cx="146070" cy="377996"/>
              <a:chOff x="1572880" y="2384263"/>
              <a:chExt cx="146070" cy="377996"/>
            </a:xfrm>
          </p:grpSpPr>
          <p:sp>
            <p:nvSpPr>
              <p:cNvPr id="74" name="Isosceles Triangle 223">
                <a:extLst>
                  <a:ext uri="{FF2B5EF4-FFF2-40B4-BE49-F238E27FC236}">
                    <a16:creationId xmlns:a16="http://schemas.microsoft.com/office/drawing/2014/main" id="{C1E2128F-958F-44B5-8C11-8D951D5C3ABA}"/>
                  </a:ext>
                </a:extLst>
              </p:cNvPr>
              <p:cNvSpPr/>
              <p:nvPr/>
            </p:nvSpPr>
            <p:spPr>
              <a:xfrm rot="5400000">
                <a:off x="1471560" y="2514869"/>
                <a:ext cx="377996" cy="116784"/>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5F007F"/>
                  </a:solidFill>
                  <a:effectLst/>
                  <a:uLnTx/>
                  <a:uFillTx/>
                  <a:latin typeface="Fund Light" pitchFamily="2" charset="-78"/>
                  <a:ea typeface="+mn-ea"/>
                  <a:cs typeface="Fund Light" pitchFamily="2" charset="-78"/>
                </a:endParaRPr>
              </a:p>
            </p:txBody>
          </p:sp>
          <p:sp>
            <p:nvSpPr>
              <p:cNvPr id="75" name="Isosceles Triangle 223">
                <a:extLst>
                  <a:ext uri="{FF2B5EF4-FFF2-40B4-BE49-F238E27FC236}">
                    <a16:creationId xmlns:a16="http://schemas.microsoft.com/office/drawing/2014/main" id="{6B56FB3C-B40D-44A0-AA0C-6F163A960060}"/>
                  </a:ext>
                </a:extLst>
              </p:cNvPr>
              <p:cNvSpPr/>
              <p:nvPr/>
            </p:nvSpPr>
            <p:spPr>
              <a:xfrm rot="5400000">
                <a:off x="1471159" y="2527784"/>
                <a:ext cx="294397" cy="90955"/>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5F007F"/>
                  </a:solidFill>
                  <a:effectLst/>
                  <a:uLnTx/>
                  <a:uFillTx/>
                  <a:latin typeface="Fund Light" pitchFamily="2" charset="-78"/>
                  <a:ea typeface="+mn-ea"/>
                  <a:cs typeface="Fund Light" pitchFamily="2" charset="-78"/>
                </a:endParaRPr>
              </a:p>
            </p:txBody>
          </p:sp>
        </p:grpSp>
      </p:grpSp>
      <p:sp>
        <p:nvSpPr>
          <p:cNvPr id="59" name="Rectangle 58">
            <a:extLst>
              <a:ext uri="{FF2B5EF4-FFF2-40B4-BE49-F238E27FC236}">
                <a16:creationId xmlns:a16="http://schemas.microsoft.com/office/drawing/2014/main" id="{6421543D-ADFD-43B0-A2A7-7D0566D3C170}"/>
              </a:ext>
            </a:extLst>
          </p:cNvPr>
          <p:cNvSpPr/>
          <p:nvPr/>
        </p:nvSpPr>
        <p:spPr>
          <a:xfrm>
            <a:off x="3207366" y="771525"/>
            <a:ext cx="1302400" cy="2545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Section</a:t>
            </a:r>
          </a:p>
        </p:txBody>
      </p:sp>
      <p:sp>
        <p:nvSpPr>
          <p:cNvPr id="62" name="Rectangle 61">
            <a:extLst>
              <a:ext uri="{FF2B5EF4-FFF2-40B4-BE49-F238E27FC236}">
                <a16:creationId xmlns:a16="http://schemas.microsoft.com/office/drawing/2014/main" id="{482CADCD-E715-45EB-92C8-B785D38143C6}"/>
              </a:ext>
            </a:extLst>
          </p:cNvPr>
          <p:cNvSpPr>
            <a:spLocks/>
          </p:cNvSpPr>
          <p:nvPr/>
        </p:nvSpPr>
        <p:spPr>
          <a:xfrm>
            <a:off x="4470399" y="1080608"/>
            <a:ext cx="4343663" cy="401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L="182880" marR="0" lvl="0" indent="-182880" algn="l" defTabSz="457200" rtl="0" eaLnBrk="1" fontAlgn="auto" latinLnBrk="0" hangingPunct="1">
              <a:lnSpc>
                <a:spcPct val="100000"/>
              </a:lnSpc>
              <a:spcBef>
                <a:spcPts val="300"/>
              </a:spcBef>
              <a:spcAft>
                <a:spcPts val="300"/>
              </a:spcAft>
              <a:buClrTx/>
              <a:buSzTx/>
              <a:buFont typeface="+mj-lt"/>
              <a:buAutoNum type="romanLcPeriod"/>
              <a:tabLst/>
              <a:defRPr/>
            </a:pPr>
            <a:endParaRPr kumimoji="0" lang="en-US" sz="1000" b="0" i="0"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endParaRPr>
          </a:p>
        </p:txBody>
      </p:sp>
      <p:cxnSp>
        <p:nvCxnSpPr>
          <p:cNvPr id="65" name="Straight Connector 64">
            <a:extLst>
              <a:ext uri="{FF2B5EF4-FFF2-40B4-BE49-F238E27FC236}">
                <a16:creationId xmlns:a16="http://schemas.microsoft.com/office/drawing/2014/main" id="{DAE297C7-0810-4162-A5ED-E6C6996A0C56}"/>
              </a:ext>
            </a:extLst>
          </p:cNvPr>
          <p:cNvCxnSpPr>
            <a:cxnSpLocks/>
          </p:cNvCxnSpPr>
          <p:nvPr/>
        </p:nvCxnSpPr>
        <p:spPr>
          <a:xfrm>
            <a:off x="3207366" y="1026090"/>
            <a:ext cx="539761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DDF9618-44E2-438E-85E5-D1EA067D3B1E}"/>
              </a:ext>
            </a:extLst>
          </p:cNvPr>
          <p:cNvCxnSpPr>
            <a:cxnSpLocks/>
          </p:cNvCxnSpPr>
          <p:nvPr/>
        </p:nvCxnSpPr>
        <p:spPr>
          <a:xfrm>
            <a:off x="3333538" y="149292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E398773A-711E-4A04-83DC-A8847456C169}"/>
              </a:ext>
            </a:extLst>
          </p:cNvPr>
          <p:cNvSpPr/>
          <p:nvPr/>
        </p:nvSpPr>
        <p:spPr>
          <a:xfrm>
            <a:off x="3207366" y="114347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1</a:t>
            </a:r>
          </a:p>
        </p:txBody>
      </p:sp>
      <p:grpSp>
        <p:nvGrpSpPr>
          <p:cNvPr id="24" name="Group 23">
            <a:extLst>
              <a:ext uri="{FF2B5EF4-FFF2-40B4-BE49-F238E27FC236}">
                <a16:creationId xmlns:a16="http://schemas.microsoft.com/office/drawing/2014/main" id="{B5772C2C-BF9C-424C-B057-C13B5BA96205}"/>
              </a:ext>
            </a:extLst>
          </p:cNvPr>
          <p:cNvGrpSpPr/>
          <p:nvPr/>
        </p:nvGrpSpPr>
        <p:grpSpPr>
          <a:xfrm>
            <a:off x="2402117" y="3741902"/>
            <a:ext cx="365760" cy="364795"/>
            <a:chOff x="2688384" y="3834733"/>
            <a:chExt cx="365760" cy="364795"/>
          </a:xfrm>
        </p:grpSpPr>
        <p:sp>
          <p:nvSpPr>
            <p:cNvPr id="76" name="Oval 75">
              <a:extLst>
                <a:ext uri="{FF2B5EF4-FFF2-40B4-BE49-F238E27FC236}">
                  <a16:creationId xmlns:a16="http://schemas.microsoft.com/office/drawing/2014/main" id="{D4A7CC69-EB1F-445C-AD4C-23C5AFC7FE47}"/>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23" name="Group 22">
              <a:extLst>
                <a:ext uri="{FF2B5EF4-FFF2-40B4-BE49-F238E27FC236}">
                  <a16:creationId xmlns:a16="http://schemas.microsoft.com/office/drawing/2014/main" id="{730B6EDA-560A-4CC3-A5F9-E2978B8FA9FD}"/>
                </a:ext>
              </a:extLst>
            </p:cNvPr>
            <p:cNvGrpSpPr/>
            <p:nvPr/>
          </p:nvGrpSpPr>
          <p:grpSpPr>
            <a:xfrm>
              <a:off x="2851400" y="3905407"/>
              <a:ext cx="39729" cy="223447"/>
              <a:chOff x="2836160" y="3903439"/>
              <a:chExt cx="39729" cy="223447"/>
            </a:xfrm>
          </p:grpSpPr>
          <p:sp>
            <p:nvSpPr>
              <p:cNvPr id="21" name="Freeform: Shape 20">
                <a:extLst>
                  <a:ext uri="{FF2B5EF4-FFF2-40B4-BE49-F238E27FC236}">
                    <a16:creationId xmlns:a16="http://schemas.microsoft.com/office/drawing/2014/main" id="{C03FA1C0-C90C-48A0-A87B-16CF66C1D2D1}"/>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22" name="Freeform: Shape 21">
                <a:extLst>
                  <a:ext uri="{FF2B5EF4-FFF2-40B4-BE49-F238E27FC236}">
                    <a16:creationId xmlns:a16="http://schemas.microsoft.com/office/drawing/2014/main" id="{7B3A836B-1DCD-4BB6-A4C2-6D22183240B9}"/>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sp>
        <p:nvSpPr>
          <p:cNvPr id="7" name="Rectangle 6">
            <a:extLst>
              <a:ext uri="{FF2B5EF4-FFF2-40B4-BE49-F238E27FC236}">
                <a16:creationId xmlns:a16="http://schemas.microsoft.com/office/drawing/2014/main" id="{14461210-388C-90B4-3FB6-B355E3254662}"/>
              </a:ext>
            </a:extLst>
          </p:cNvPr>
          <p:cNvSpPr>
            <a:spLocks/>
          </p:cNvSpPr>
          <p:nvPr/>
        </p:nvSpPr>
        <p:spPr>
          <a:xfrm>
            <a:off x="3606634" y="112830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Background and high-level scope of the RfP</a:t>
            </a:r>
          </a:p>
        </p:txBody>
      </p:sp>
      <p:cxnSp>
        <p:nvCxnSpPr>
          <p:cNvPr id="9" name="Straight Connector 8">
            <a:extLst>
              <a:ext uri="{FF2B5EF4-FFF2-40B4-BE49-F238E27FC236}">
                <a16:creationId xmlns:a16="http://schemas.microsoft.com/office/drawing/2014/main" id="{B725B537-5737-B677-19BA-C4455BAE0E1A}"/>
              </a:ext>
            </a:extLst>
          </p:cNvPr>
          <p:cNvCxnSpPr>
            <a:cxnSpLocks/>
          </p:cNvCxnSpPr>
          <p:nvPr/>
        </p:nvCxnSpPr>
        <p:spPr>
          <a:xfrm>
            <a:off x="3333538" y="193885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CE2DA7E5-10EC-0263-B8EE-ACFF9D0EBC9E}"/>
              </a:ext>
            </a:extLst>
          </p:cNvPr>
          <p:cNvSpPr/>
          <p:nvPr/>
        </p:nvSpPr>
        <p:spPr>
          <a:xfrm>
            <a:off x="3207366" y="158940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lang="en-GB" sz="1000" b="1">
                <a:solidFill>
                  <a:srgbClr val="FFFFFF"/>
                </a:solidFill>
                <a:latin typeface="Fund Light" pitchFamily="2" charset="-78"/>
                <a:cs typeface="Fund Light" pitchFamily="2" charset="-78"/>
              </a:rPr>
              <a:t>2</a:t>
            </a:r>
            <a:endPar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endParaRPr>
          </a:p>
        </p:txBody>
      </p:sp>
      <p:sp>
        <p:nvSpPr>
          <p:cNvPr id="11" name="Rectangle 10">
            <a:extLst>
              <a:ext uri="{FF2B5EF4-FFF2-40B4-BE49-F238E27FC236}">
                <a16:creationId xmlns:a16="http://schemas.microsoft.com/office/drawing/2014/main" id="{253C005B-FF68-238D-DE8F-E1F0470B6EC7}"/>
              </a:ext>
            </a:extLst>
          </p:cNvPr>
          <p:cNvSpPr>
            <a:spLocks/>
          </p:cNvSpPr>
          <p:nvPr/>
        </p:nvSpPr>
        <p:spPr>
          <a:xfrm>
            <a:off x="3606634" y="157423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Mandatory document</a:t>
            </a:r>
          </a:p>
        </p:txBody>
      </p:sp>
      <p:cxnSp>
        <p:nvCxnSpPr>
          <p:cNvPr id="12" name="Straight Connector 11">
            <a:extLst>
              <a:ext uri="{FF2B5EF4-FFF2-40B4-BE49-F238E27FC236}">
                <a16:creationId xmlns:a16="http://schemas.microsoft.com/office/drawing/2014/main" id="{775EFD7B-53C4-68FE-FC48-EE746E8603FB}"/>
              </a:ext>
            </a:extLst>
          </p:cNvPr>
          <p:cNvCxnSpPr>
            <a:cxnSpLocks/>
          </p:cNvCxnSpPr>
          <p:nvPr/>
        </p:nvCxnSpPr>
        <p:spPr>
          <a:xfrm>
            <a:off x="3333538" y="238478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7D7CFA8A-3C9E-1F0D-EC94-95B329A1BE33}"/>
              </a:ext>
            </a:extLst>
          </p:cNvPr>
          <p:cNvSpPr/>
          <p:nvPr/>
        </p:nvSpPr>
        <p:spPr>
          <a:xfrm>
            <a:off x="3207366" y="203533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3</a:t>
            </a:r>
          </a:p>
        </p:txBody>
      </p:sp>
      <p:sp>
        <p:nvSpPr>
          <p:cNvPr id="19" name="Rectangle 18">
            <a:extLst>
              <a:ext uri="{FF2B5EF4-FFF2-40B4-BE49-F238E27FC236}">
                <a16:creationId xmlns:a16="http://schemas.microsoft.com/office/drawing/2014/main" id="{4FC16C37-FB3E-ADC7-7FBE-A317AB2E4FF7}"/>
              </a:ext>
            </a:extLst>
          </p:cNvPr>
          <p:cNvSpPr>
            <a:spLocks/>
          </p:cNvSpPr>
          <p:nvPr/>
        </p:nvSpPr>
        <p:spPr>
          <a:xfrm>
            <a:off x="3606634" y="202016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Project scope and technical requirements</a:t>
            </a:r>
          </a:p>
        </p:txBody>
      </p:sp>
      <p:cxnSp>
        <p:nvCxnSpPr>
          <p:cNvPr id="20" name="Straight Connector 19">
            <a:extLst>
              <a:ext uri="{FF2B5EF4-FFF2-40B4-BE49-F238E27FC236}">
                <a16:creationId xmlns:a16="http://schemas.microsoft.com/office/drawing/2014/main" id="{D98F11F4-B93B-93B6-4914-52295FAC9B2E}"/>
              </a:ext>
            </a:extLst>
          </p:cNvPr>
          <p:cNvCxnSpPr>
            <a:cxnSpLocks/>
          </p:cNvCxnSpPr>
          <p:nvPr/>
        </p:nvCxnSpPr>
        <p:spPr>
          <a:xfrm>
            <a:off x="3333538" y="283071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79ED6246-BFE0-3F5B-6067-B240C0369B34}"/>
              </a:ext>
            </a:extLst>
          </p:cNvPr>
          <p:cNvSpPr/>
          <p:nvPr/>
        </p:nvSpPr>
        <p:spPr>
          <a:xfrm>
            <a:off x="3207366" y="248126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4</a:t>
            </a:r>
          </a:p>
        </p:txBody>
      </p:sp>
      <p:sp>
        <p:nvSpPr>
          <p:cNvPr id="26" name="Rectangle 25">
            <a:extLst>
              <a:ext uri="{FF2B5EF4-FFF2-40B4-BE49-F238E27FC236}">
                <a16:creationId xmlns:a16="http://schemas.microsoft.com/office/drawing/2014/main" id="{DBC587F4-7C3F-4C09-C33F-71C940D8A899}"/>
              </a:ext>
            </a:extLst>
          </p:cNvPr>
          <p:cNvSpPr>
            <a:spLocks/>
          </p:cNvSpPr>
          <p:nvPr/>
        </p:nvSpPr>
        <p:spPr>
          <a:xfrm>
            <a:off x="3606634" y="246609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Agreement </a:t>
            </a:r>
            <a:r>
              <a:rPr lang="en-US" sz="1000" b="1">
                <a:solidFill>
                  <a:srgbClr val="000000"/>
                </a:solidFill>
                <a:latin typeface="Fund Light" pitchFamily="2" charset="-78"/>
                <a:cs typeface="Fund Light" pitchFamily="2" charset="-78"/>
              </a:rPr>
              <a:t>t</a:t>
            </a: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erms </a:t>
            </a:r>
            <a:r>
              <a:rPr lang="en-US" sz="1000" b="1">
                <a:solidFill>
                  <a:srgbClr val="000000"/>
                </a:solidFill>
                <a:latin typeface="Fund Light" pitchFamily="2" charset="-78"/>
                <a:cs typeface="Fund Light" pitchFamily="2" charset="-78"/>
              </a:rPr>
              <a:t>and</a:t>
            </a: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a:t>
            </a:r>
            <a:r>
              <a:rPr lang="en-US" sz="1000" b="1">
                <a:solidFill>
                  <a:srgbClr val="000000"/>
                </a:solidFill>
                <a:latin typeface="Fund Light" pitchFamily="2" charset="-78"/>
                <a:cs typeface="Fund Light" pitchFamily="2" charset="-78"/>
              </a:rPr>
              <a:t>c</a:t>
            </a: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onditions (T&amp;Cs)</a:t>
            </a:r>
          </a:p>
        </p:txBody>
      </p:sp>
      <p:cxnSp>
        <p:nvCxnSpPr>
          <p:cNvPr id="28" name="Straight Connector 27">
            <a:extLst>
              <a:ext uri="{FF2B5EF4-FFF2-40B4-BE49-F238E27FC236}">
                <a16:creationId xmlns:a16="http://schemas.microsoft.com/office/drawing/2014/main" id="{A2EB2058-BCD6-27FC-107D-D6EFCD08EE0D}"/>
              </a:ext>
            </a:extLst>
          </p:cNvPr>
          <p:cNvCxnSpPr>
            <a:cxnSpLocks/>
          </p:cNvCxnSpPr>
          <p:nvPr/>
        </p:nvCxnSpPr>
        <p:spPr>
          <a:xfrm>
            <a:off x="3333538" y="327664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27CEEAF-2B3C-F8F8-1E8F-58484F302E9C}"/>
              </a:ext>
            </a:extLst>
          </p:cNvPr>
          <p:cNvSpPr/>
          <p:nvPr/>
        </p:nvSpPr>
        <p:spPr>
          <a:xfrm>
            <a:off x="3207366" y="292719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5</a:t>
            </a:r>
          </a:p>
        </p:txBody>
      </p:sp>
      <p:sp>
        <p:nvSpPr>
          <p:cNvPr id="30" name="Rectangle 29">
            <a:extLst>
              <a:ext uri="{FF2B5EF4-FFF2-40B4-BE49-F238E27FC236}">
                <a16:creationId xmlns:a16="http://schemas.microsoft.com/office/drawing/2014/main" id="{D6161ED9-1C25-F246-93A9-A1A3E690F0AD}"/>
              </a:ext>
            </a:extLst>
          </p:cNvPr>
          <p:cNvSpPr>
            <a:spLocks/>
          </p:cNvSpPr>
          <p:nvPr/>
        </p:nvSpPr>
        <p:spPr>
          <a:xfrm>
            <a:off x="3606634" y="291202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Technical proposal</a:t>
            </a:r>
          </a:p>
        </p:txBody>
      </p:sp>
      <p:cxnSp>
        <p:nvCxnSpPr>
          <p:cNvPr id="31" name="Straight Connector 30">
            <a:extLst>
              <a:ext uri="{FF2B5EF4-FFF2-40B4-BE49-F238E27FC236}">
                <a16:creationId xmlns:a16="http://schemas.microsoft.com/office/drawing/2014/main" id="{88333553-ED81-5E0B-9C6A-701F6B5832FF}"/>
              </a:ext>
            </a:extLst>
          </p:cNvPr>
          <p:cNvCxnSpPr>
            <a:cxnSpLocks/>
          </p:cNvCxnSpPr>
          <p:nvPr/>
        </p:nvCxnSpPr>
        <p:spPr>
          <a:xfrm>
            <a:off x="3333538" y="372257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A7E0DE6-5633-54C3-45B3-F08C413151F3}"/>
              </a:ext>
            </a:extLst>
          </p:cNvPr>
          <p:cNvSpPr/>
          <p:nvPr/>
        </p:nvSpPr>
        <p:spPr>
          <a:xfrm>
            <a:off x="3207366" y="337312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6</a:t>
            </a:r>
          </a:p>
        </p:txBody>
      </p:sp>
      <p:sp>
        <p:nvSpPr>
          <p:cNvPr id="33" name="Rectangle 32">
            <a:extLst>
              <a:ext uri="{FF2B5EF4-FFF2-40B4-BE49-F238E27FC236}">
                <a16:creationId xmlns:a16="http://schemas.microsoft.com/office/drawing/2014/main" id="{374027CB-9220-5ED4-6D48-E3EA7790E235}"/>
              </a:ext>
            </a:extLst>
          </p:cNvPr>
          <p:cNvSpPr>
            <a:spLocks/>
          </p:cNvSpPr>
          <p:nvPr/>
        </p:nvSpPr>
        <p:spPr>
          <a:xfrm>
            <a:off x="3606634" y="335795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Commercial proposal</a:t>
            </a:r>
          </a:p>
        </p:txBody>
      </p:sp>
      <p:cxnSp>
        <p:nvCxnSpPr>
          <p:cNvPr id="34" name="Straight Connector 33">
            <a:extLst>
              <a:ext uri="{FF2B5EF4-FFF2-40B4-BE49-F238E27FC236}">
                <a16:creationId xmlns:a16="http://schemas.microsoft.com/office/drawing/2014/main" id="{19D21FB8-C948-7A8D-F3D7-D79C27580DC3}"/>
              </a:ext>
            </a:extLst>
          </p:cNvPr>
          <p:cNvCxnSpPr>
            <a:cxnSpLocks/>
          </p:cNvCxnSpPr>
          <p:nvPr/>
        </p:nvCxnSpPr>
        <p:spPr>
          <a:xfrm>
            <a:off x="3333538" y="4168504"/>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704E04E-A9F8-C8FF-C2DD-C8FDDCFFC421}"/>
              </a:ext>
            </a:extLst>
          </p:cNvPr>
          <p:cNvSpPr/>
          <p:nvPr/>
        </p:nvSpPr>
        <p:spPr>
          <a:xfrm>
            <a:off x="3207366" y="3819054"/>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7</a:t>
            </a:r>
          </a:p>
        </p:txBody>
      </p:sp>
      <p:sp>
        <p:nvSpPr>
          <p:cNvPr id="36" name="Rectangle 35">
            <a:extLst>
              <a:ext uri="{FF2B5EF4-FFF2-40B4-BE49-F238E27FC236}">
                <a16:creationId xmlns:a16="http://schemas.microsoft.com/office/drawing/2014/main" id="{210EF76C-F4ED-3057-0CDA-DD7F39E4A923}"/>
              </a:ext>
            </a:extLst>
          </p:cNvPr>
          <p:cNvSpPr>
            <a:spLocks/>
          </p:cNvSpPr>
          <p:nvPr/>
        </p:nvSpPr>
        <p:spPr>
          <a:xfrm>
            <a:off x="3606634" y="3803884"/>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Evaluation criteria</a:t>
            </a:r>
          </a:p>
        </p:txBody>
      </p:sp>
      <p:cxnSp>
        <p:nvCxnSpPr>
          <p:cNvPr id="37" name="Straight Connector 36">
            <a:extLst>
              <a:ext uri="{FF2B5EF4-FFF2-40B4-BE49-F238E27FC236}">
                <a16:creationId xmlns:a16="http://schemas.microsoft.com/office/drawing/2014/main" id="{934AFF43-A705-1E30-DB1E-4CEED996204C}"/>
              </a:ext>
            </a:extLst>
          </p:cNvPr>
          <p:cNvCxnSpPr>
            <a:cxnSpLocks/>
          </p:cNvCxnSpPr>
          <p:nvPr/>
        </p:nvCxnSpPr>
        <p:spPr>
          <a:xfrm>
            <a:off x="3333538" y="4614431"/>
            <a:ext cx="52120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946C3C0-7FA6-6C04-E2E5-9083201429DD}"/>
              </a:ext>
            </a:extLst>
          </p:cNvPr>
          <p:cNvSpPr/>
          <p:nvPr/>
        </p:nvSpPr>
        <p:spPr>
          <a:xfrm>
            <a:off x="3207366" y="4264981"/>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8</a:t>
            </a:r>
          </a:p>
        </p:txBody>
      </p:sp>
      <p:sp>
        <p:nvSpPr>
          <p:cNvPr id="39" name="Rectangle 38">
            <a:extLst>
              <a:ext uri="{FF2B5EF4-FFF2-40B4-BE49-F238E27FC236}">
                <a16:creationId xmlns:a16="http://schemas.microsoft.com/office/drawing/2014/main" id="{C24311A0-4ECC-165B-C83B-E109EF19A291}"/>
              </a:ext>
            </a:extLst>
          </p:cNvPr>
          <p:cNvSpPr>
            <a:spLocks/>
          </p:cNvSpPr>
          <p:nvPr/>
        </p:nvSpPr>
        <p:spPr>
          <a:xfrm>
            <a:off x="3606634" y="4249811"/>
            <a:ext cx="5185246"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Submission deadline and information</a:t>
            </a:r>
          </a:p>
        </p:txBody>
      </p:sp>
      <p:sp>
        <p:nvSpPr>
          <p:cNvPr id="42" name="Rectangle 41">
            <a:extLst>
              <a:ext uri="{FF2B5EF4-FFF2-40B4-BE49-F238E27FC236}">
                <a16:creationId xmlns:a16="http://schemas.microsoft.com/office/drawing/2014/main" id="{A3B4E998-DF38-469B-57FC-3D9A7FB90E4D}"/>
              </a:ext>
            </a:extLst>
          </p:cNvPr>
          <p:cNvSpPr>
            <a:spLocks/>
          </p:cNvSpPr>
          <p:nvPr/>
        </p:nvSpPr>
        <p:spPr>
          <a:xfrm>
            <a:off x="5242929" y="4663860"/>
            <a:ext cx="3302689" cy="304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nchorCtr="0"/>
          <a:lstStyle/>
          <a:p>
            <a:pPr marR="0" lvl="0" algn="r" defTabSz="457200" rtl="0" eaLnBrk="1" fontAlgn="auto" latinLnBrk="0" hangingPunct="1">
              <a:lnSpc>
                <a:spcPct val="100000"/>
              </a:lnSpc>
              <a:spcBef>
                <a:spcPts val="300"/>
              </a:spcBef>
              <a:spcAft>
                <a:spcPts val="300"/>
              </a:spcAft>
              <a:buClrTx/>
              <a:buSzTx/>
              <a:tabLst/>
              <a:defRPr/>
            </a:pPr>
            <a:r>
              <a:rPr kumimoji="0" lang="en-US" sz="1000" i="1" u="none" strike="noStrike" kern="1200" cap="none" spc="0" normalizeH="0" baseline="0" noProof="0">
                <a:ln>
                  <a:noFill/>
                </a:ln>
                <a:solidFill>
                  <a:srgbClr val="FFFFFF">
                    <a:lumMod val="50000"/>
                  </a:srgbClr>
                </a:solidFill>
                <a:effectLst/>
                <a:uLnTx/>
                <a:uFillTx/>
                <a:latin typeface="Fund Light" pitchFamily="2" charset="-78"/>
                <a:ea typeface="+mn-ea"/>
                <a:cs typeface="Fund Light" pitchFamily="2" charset="-78"/>
              </a:rPr>
              <a:t>Details on the next page</a:t>
            </a:r>
          </a:p>
        </p:txBody>
      </p:sp>
      <p:sp>
        <p:nvSpPr>
          <p:cNvPr id="43" name="ee4pHeader1">
            <a:extLst>
              <a:ext uri="{FF2B5EF4-FFF2-40B4-BE49-F238E27FC236}">
                <a16:creationId xmlns:a16="http://schemas.microsoft.com/office/drawing/2014/main" id="{70C88AEB-8EB0-6E12-6DC7-A0965FD2AFC6}"/>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RfI</a:t>
            </a:r>
          </a:p>
        </p:txBody>
      </p:sp>
      <p:sp>
        <p:nvSpPr>
          <p:cNvPr id="44" name="ee4pHeader2">
            <a:extLst>
              <a:ext uri="{FF2B5EF4-FFF2-40B4-BE49-F238E27FC236}">
                <a16:creationId xmlns:a16="http://schemas.microsoft.com/office/drawing/2014/main" id="{1E042E68-359B-4A1C-A550-1082F7BF38DD}"/>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a:ea typeface="+mn-ea"/>
                <a:cs typeface="+mn-cs"/>
              </a:rPr>
              <a:t>RfP</a:t>
            </a:r>
          </a:p>
        </p:txBody>
      </p:sp>
      <p:sp>
        <p:nvSpPr>
          <p:cNvPr id="5" name="Text Placeholder 6">
            <a:extLst>
              <a:ext uri="{FF2B5EF4-FFF2-40B4-BE49-F238E27FC236}">
                <a16:creationId xmlns:a16="http://schemas.microsoft.com/office/drawing/2014/main" id="{637EC8C1-4B60-DCC2-2C80-BBD113F74161}"/>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What is the structure of the document?</a:t>
            </a:r>
          </a:p>
        </p:txBody>
      </p:sp>
      <p:sp>
        <p:nvSpPr>
          <p:cNvPr id="6" name="Oval 5">
            <a:extLst>
              <a:ext uri="{FF2B5EF4-FFF2-40B4-BE49-F238E27FC236}">
                <a16:creationId xmlns:a16="http://schemas.microsoft.com/office/drawing/2014/main" id="{BC9A081E-3A8B-F5D2-0DDB-9B9B859B10DF}"/>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2" name="Rectangle: Rounded Corners 1">
            <a:extLst>
              <a:ext uri="{FF2B5EF4-FFF2-40B4-BE49-F238E27FC236}">
                <a16:creationId xmlns:a16="http://schemas.microsoft.com/office/drawing/2014/main" id="{D1ED2D15-713E-70FE-7638-40360F8DCC23}"/>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9" action="ppaction://hlinksldjump"/>
              </a:rPr>
              <a:t>Contacts</a:t>
            </a:r>
            <a:r>
              <a:rPr lang="en-US" sz="1000">
                <a:solidFill>
                  <a:srgbClr val="000000"/>
                </a:solidFill>
                <a:latin typeface="Fund Light" pitchFamily="2" charset="-78"/>
                <a:cs typeface="Fund Light" pitchFamily="2" charset="-78"/>
              </a:rPr>
              <a:t>)</a:t>
            </a:r>
          </a:p>
        </p:txBody>
      </p:sp>
      <p:grpSp>
        <p:nvGrpSpPr>
          <p:cNvPr id="4" name="Group 3">
            <a:extLst>
              <a:ext uri="{FF2B5EF4-FFF2-40B4-BE49-F238E27FC236}">
                <a16:creationId xmlns:a16="http://schemas.microsoft.com/office/drawing/2014/main" id="{3EF2F2E0-1CEB-BB04-40CF-8B9FEA98A1DA}"/>
              </a:ext>
            </a:extLst>
          </p:cNvPr>
          <p:cNvGrpSpPr/>
          <p:nvPr/>
        </p:nvGrpSpPr>
        <p:grpSpPr>
          <a:xfrm>
            <a:off x="3004029" y="4817276"/>
            <a:ext cx="303559" cy="303559"/>
            <a:chOff x="-577629" y="2311332"/>
            <a:chExt cx="404038" cy="404037"/>
          </a:xfrm>
        </p:grpSpPr>
        <p:sp>
          <p:nvSpPr>
            <p:cNvPr id="14" name="Oval 13">
              <a:extLst>
                <a:ext uri="{FF2B5EF4-FFF2-40B4-BE49-F238E27FC236}">
                  <a16:creationId xmlns:a16="http://schemas.microsoft.com/office/drawing/2014/main" id="{F9FFDADB-F4B0-1240-88CF-15321DC67A0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0312EF84-7C80-745C-6A4B-3F6EE9057534}"/>
                </a:ext>
              </a:extLst>
            </p:cNvPr>
            <p:cNvPicPr>
              <a:picLocks noChangeAspect="1"/>
            </p:cNvPicPr>
            <p:nvPr/>
          </p:nvPicPr>
          <p:blipFill>
            <a:blip r:embed="rId10"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7" name="Group 16">
            <a:extLst>
              <a:ext uri="{FF2B5EF4-FFF2-40B4-BE49-F238E27FC236}">
                <a16:creationId xmlns:a16="http://schemas.microsoft.com/office/drawing/2014/main" id="{2B52A815-FEA2-FDC3-0885-1E036F5D9B66}"/>
              </a:ext>
            </a:extLst>
          </p:cNvPr>
          <p:cNvGrpSpPr/>
          <p:nvPr/>
        </p:nvGrpSpPr>
        <p:grpSpPr>
          <a:xfrm>
            <a:off x="6211995" y="4883810"/>
            <a:ext cx="168686" cy="161455"/>
            <a:chOff x="11260138" y="4194175"/>
            <a:chExt cx="360363" cy="379413"/>
          </a:xfrm>
        </p:grpSpPr>
        <p:sp>
          <p:nvSpPr>
            <p:cNvPr id="27" name="Freeform 289">
              <a:extLst>
                <a:ext uri="{FF2B5EF4-FFF2-40B4-BE49-F238E27FC236}">
                  <a16:creationId xmlns:a16="http://schemas.microsoft.com/office/drawing/2014/main" id="{7F91D01F-809C-71F5-518C-D42E9C902DC6}"/>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290">
              <a:extLst>
                <a:ext uri="{FF2B5EF4-FFF2-40B4-BE49-F238E27FC236}">
                  <a16:creationId xmlns:a16="http://schemas.microsoft.com/office/drawing/2014/main" id="{6C281320-2023-A16E-841D-8FB9B98D2AA0}"/>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291">
              <a:extLst>
                <a:ext uri="{FF2B5EF4-FFF2-40B4-BE49-F238E27FC236}">
                  <a16:creationId xmlns:a16="http://schemas.microsoft.com/office/drawing/2014/main" id="{E9B5E17C-C0CB-8795-3850-1AB3292C8041}"/>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850946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BA5FB4-A36F-48A0-282A-94387A7C5E52}"/>
              </a:ext>
            </a:extLst>
          </p:cNvPr>
          <p:cNvGraphicFramePr>
            <a:graphicFrameLocks noChangeAspect="1"/>
          </p:cNvGraphicFramePr>
          <p:nvPr>
            <p:custDataLst>
              <p:tags r:id="rId1"/>
            </p:custDataLst>
            <p:extLst>
              <p:ext uri="{D42A27DB-BD31-4B8C-83A1-F6EECF244321}">
                <p14:modId xmlns:p14="http://schemas.microsoft.com/office/powerpoint/2010/main" val="30277066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3" name="think-cell data - do not delete" hidden="1">
                        <a:extLst>
                          <a:ext uri="{FF2B5EF4-FFF2-40B4-BE49-F238E27FC236}">
                            <a16:creationId xmlns:a16="http://schemas.microsoft.com/office/drawing/2014/main" id="{4ABA5FB4-A36F-48A0-282A-94387A7C5E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4B9D9982-C10D-42C9-8BAB-9E9CF55E4764}"/>
              </a:ext>
            </a:extLst>
          </p:cNvPr>
          <p:cNvSpPr>
            <a:spLocks noGrp="1"/>
          </p:cNvSpPr>
          <p:nvPr>
            <p:ph type="title"/>
          </p:nvPr>
        </p:nvSpPr>
        <p:spPr/>
        <p:txBody>
          <a:bodyPr vert="horz"/>
          <a:lstStyle/>
          <a:p>
            <a:r>
              <a:rPr lang="en-US"/>
              <a:t>RfP typically includes eight sections </a:t>
            </a:r>
          </a:p>
        </p:txBody>
      </p:sp>
      <p:sp>
        <p:nvSpPr>
          <p:cNvPr id="16" name="ee4pHeader1">
            <a:extLst>
              <a:ext uri="{FF2B5EF4-FFF2-40B4-BE49-F238E27FC236}">
                <a16:creationId xmlns:a16="http://schemas.microsoft.com/office/drawing/2014/main" id="{91263F0D-055E-11A4-41D7-F4139193C343}"/>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RfI</a:t>
            </a:r>
          </a:p>
        </p:txBody>
      </p:sp>
      <p:sp>
        <p:nvSpPr>
          <p:cNvPr id="17" name="ee4pHeader2">
            <a:extLst>
              <a:ext uri="{FF2B5EF4-FFF2-40B4-BE49-F238E27FC236}">
                <a16:creationId xmlns:a16="http://schemas.microsoft.com/office/drawing/2014/main" id="{75EABC08-C89D-9608-1781-E289EBB5C11C}"/>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a:ea typeface="+mn-ea"/>
                <a:cs typeface="+mn-cs"/>
              </a:rPr>
              <a:t>RfP</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 and </a:t>
            </a:r>
            <a:r>
              <a:rPr lang="en-US" sz="788" b="1">
                <a:solidFill>
                  <a:srgbClr val="FFFFFF"/>
                </a:solidFill>
                <a:latin typeface="Fund Light" pitchFamily="2" charset="-78"/>
                <a:cs typeface="Fund Light" pitchFamily="2" charset="-78"/>
              </a:rPr>
              <a:t>t</a:t>
            </a: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emplate</a:t>
            </a:r>
          </a:p>
        </p:txBody>
      </p:sp>
      <p:sp>
        <p:nvSpPr>
          <p:cNvPr id="28" name="Text Placeholder 1">
            <a:extLst>
              <a:ext uri="{FF2B5EF4-FFF2-40B4-BE49-F238E27FC236}">
                <a16:creationId xmlns:a16="http://schemas.microsoft.com/office/drawing/2014/main" id="{768A328F-9EF4-BA0E-ADFD-6A40CEE69EE7}"/>
              </a:ext>
            </a:extLst>
          </p:cNvPr>
          <p:cNvSpPr txBox="1">
            <a:spLocks/>
          </p:cNvSpPr>
          <p:nvPr/>
        </p:nvSpPr>
        <p:spPr>
          <a:xfrm>
            <a:off x="1551726" y="4767025"/>
            <a:ext cx="3354655" cy="274834"/>
          </a:xfrm>
          <a:prstGeom prst="rect">
            <a:avLst/>
          </a:prstGeom>
        </p:spPr>
        <p:txBody>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sz="600"/>
              <a:t>1. e.g., Maximum plant capacity (based on RfI responses), production technology, location</a:t>
            </a:r>
          </a:p>
        </p:txBody>
      </p:sp>
      <p:sp>
        <p:nvSpPr>
          <p:cNvPr id="29" name="Text Placeholder 4">
            <a:extLst>
              <a:ext uri="{FF2B5EF4-FFF2-40B4-BE49-F238E27FC236}">
                <a16:creationId xmlns:a16="http://schemas.microsoft.com/office/drawing/2014/main" id="{8C5CD3B0-1087-8D5F-A8A3-A36A4C1F303B}"/>
              </a:ext>
            </a:extLst>
          </p:cNvPr>
          <p:cNvSpPr txBox="1">
            <a:spLocks/>
          </p:cNvSpPr>
          <p:nvPr/>
        </p:nvSpPr>
        <p:spPr>
          <a:xfrm>
            <a:off x="232817" y="830340"/>
            <a:ext cx="8674375" cy="186727"/>
          </a:xfrm>
          <a:prstGeom prst="rect">
            <a:avLst/>
          </a:prstGeom>
        </p:spPr>
        <p:txBody>
          <a:bodyPr vert="horz" lIns="68580" tIns="34290" rIns="68580" bIns="3429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200" b="0" kern="1200">
                <a:solidFill>
                  <a:schemeClr val="tx1">
                    <a:lumMod val="65000"/>
                    <a:lumOff val="35000"/>
                  </a:schemeClr>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t> </a:t>
            </a:r>
          </a:p>
        </p:txBody>
      </p:sp>
      <p:cxnSp>
        <p:nvCxnSpPr>
          <p:cNvPr id="31" name="Straight Connector 30">
            <a:extLst>
              <a:ext uri="{FF2B5EF4-FFF2-40B4-BE49-F238E27FC236}">
                <a16:creationId xmlns:a16="http://schemas.microsoft.com/office/drawing/2014/main" id="{35E70110-E2EE-CD82-3EF7-A436A74AF3C0}"/>
              </a:ext>
            </a:extLst>
          </p:cNvPr>
          <p:cNvCxnSpPr>
            <a:cxnSpLocks/>
          </p:cNvCxnSpPr>
          <p:nvPr/>
        </p:nvCxnSpPr>
        <p:spPr>
          <a:xfrm>
            <a:off x="2168525" y="1029221"/>
            <a:ext cx="6660671"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2A1B6C4-E684-C781-B956-34BC8277000A}"/>
              </a:ext>
            </a:extLst>
          </p:cNvPr>
          <p:cNvSpPr txBox="1"/>
          <p:nvPr/>
        </p:nvSpPr>
        <p:spPr>
          <a:xfrm>
            <a:off x="2168518" y="776246"/>
            <a:ext cx="6660671" cy="246221"/>
          </a:xfrm>
          <a:prstGeom prst="rect">
            <a:avLst/>
          </a:prstGeom>
          <a:noFill/>
        </p:spPr>
        <p:txBody>
          <a:bodyPr wrap="square" rtlCol="0" anchor="b">
            <a:spAutoFit/>
          </a:bodyPr>
          <a:lstStyle/>
          <a:p>
            <a:pPr defTabSz="457189"/>
            <a:r>
              <a:rPr lang="en-US" sz="1000" b="1">
                <a:solidFill>
                  <a:schemeClr val="bg2"/>
                </a:solidFill>
                <a:latin typeface="Fund Light"/>
                <a:cs typeface="Fund Light" pitchFamily="2" charset="-78"/>
              </a:rPr>
              <a:t>What is included</a:t>
            </a:r>
            <a:endParaRPr lang="en-US" sz="1000">
              <a:solidFill>
                <a:schemeClr val="bg2"/>
              </a:solidFill>
              <a:latin typeface="Fund Light"/>
              <a:cs typeface="Fund Light" pitchFamily="2" charset="-78"/>
            </a:endParaRPr>
          </a:p>
        </p:txBody>
      </p:sp>
      <p:cxnSp>
        <p:nvCxnSpPr>
          <p:cNvPr id="34" name="Straight Connector 33">
            <a:extLst>
              <a:ext uri="{FF2B5EF4-FFF2-40B4-BE49-F238E27FC236}">
                <a16:creationId xmlns:a16="http://schemas.microsoft.com/office/drawing/2014/main" id="{33DB6D71-4B46-CCD1-5EED-D31B52CC15E9}"/>
              </a:ext>
            </a:extLst>
          </p:cNvPr>
          <p:cNvCxnSpPr>
            <a:cxnSpLocks/>
          </p:cNvCxnSpPr>
          <p:nvPr/>
        </p:nvCxnSpPr>
        <p:spPr>
          <a:xfrm>
            <a:off x="333894" y="1029221"/>
            <a:ext cx="171715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8F33CB8-F592-DC7A-510C-F82B52202DDE}"/>
              </a:ext>
            </a:extLst>
          </p:cNvPr>
          <p:cNvSpPr txBox="1"/>
          <p:nvPr/>
        </p:nvSpPr>
        <p:spPr>
          <a:xfrm>
            <a:off x="333893" y="776246"/>
            <a:ext cx="1717157" cy="246221"/>
          </a:xfrm>
          <a:prstGeom prst="rect">
            <a:avLst/>
          </a:prstGeom>
          <a:noFill/>
        </p:spPr>
        <p:txBody>
          <a:bodyPr wrap="square" rtlCol="0" anchor="b">
            <a:spAutoFit/>
          </a:bodyPr>
          <a:lstStyle/>
          <a:p>
            <a:pPr defTabSz="457189"/>
            <a:r>
              <a:rPr lang="en-US" sz="1000" b="1">
                <a:solidFill>
                  <a:schemeClr val="bg2"/>
                </a:solidFill>
                <a:latin typeface="Fund Light"/>
                <a:cs typeface="Fund Light" pitchFamily="2" charset="-78"/>
              </a:rPr>
              <a:t>Section</a:t>
            </a:r>
          </a:p>
        </p:txBody>
      </p:sp>
      <p:graphicFrame>
        <p:nvGraphicFramePr>
          <p:cNvPr id="36" name="Table 141">
            <a:extLst>
              <a:ext uri="{FF2B5EF4-FFF2-40B4-BE49-F238E27FC236}">
                <a16:creationId xmlns:a16="http://schemas.microsoft.com/office/drawing/2014/main" id="{96ABB434-EAC5-9154-F0AA-BE6D7D61C1A8}"/>
              </a:ext>
            </a:extLst>
          </p:cNvPr>
          <p:cNvGraphicFramePr>
            <a:graphicFrameLocks noGrp="1"/>
          </p:cNvGraphicFramePr>
          <p:nvPr>
            <p:extLst>
              <p:ext uri="{D42A27DB-BD31-4B8C-83A1-F6EECF244321}">
                <p14:modId xmlns:p14="http://schemas.microsoft.com/office/powerpoint/2010/main" val="1243676680"/>
              </p:ext>
            </p:extLst>
          </p:nvPr>
        </p:nvGraphicFramePr>
        <p:xfrm>
          <a:off x="307953" y="1076776"/>
          <a:ext cx="8528093" cy="3712289"/>
        </p:xfrm>
        <a:graphic>
          <a:graphicData uri="http://schemas.openxmlformats.org/drawingml/2006/table">
            <a:tbl>
              <a:tblPr firstRow="1" bandRow="1">
                <a:tableStyleId>{5C22544A-7EE6-4342-B048-85BDC9FD1C3A}</a:tableStyleId>
              </a:tblPr>
              <a:tblGrid>
                <a:gridCol w="1761479">
                  <a:extLst>
                    <a:ext uri="{9D8B030D-6E8A-4147-A177-3AD203B41FA5}">
                      <a16:colId xmlns:a16="http://schemas.microsoft.com/office/drawing/2014/main" val="3633553993"/>
                    </a:ext>
                  </a:extLst>
                </a:gridCol>
                <a:gridCol w="6766614">
                  <a:extLst>
                    <a:ext uri="{9D8B030D-6E8A-4147-A177-3AD203B41FA5}">
                      <a16:colId xmlns:a16="http://schemas.microsoft.com/office/drawing/2014/main" val="1585286637"/>
                    </a:ext>
                  </a:extLst>
                </a:gridCol>
              </a:tblGrid>
              <a:tr h="770708">
                <a:tc>
                  <a:txBody>
                    <a:bodyPr/>
                    <a:lstStyle/>
                    <a:p>
                      <a:pPr rtl="0"/>
                      <a:r>
                        <a:rPr lang="en-US" sz="1000" b="1">
                          <a:solidFill>
                            <a:schemeClr val="bg2"/>
                          </a:solidFill>
                          <a:latin typeface="Fund Light" pitchFamily="2" charset="-78"/>
                          <a:cs typeface="Fund Light" pitchFamily="2" charset="-78"/>
                        </a:rPr>
                        <a:t>Background and high-level scope of the RfP</a:t>
                      </a:r>
                      <a:endParaRPr lang="en-GB" sz="1000" b="1">
                        <a:solidFill>
                          <a:schemeClr val="bg2"/>
                        </a:solidFill>
                        <a:latin typeface="Fund Light" pitchFamily="2" charset="-78"/>
                        <a:cs typeface="Fund Light" pitchFamily="2" charset="-78"/>
                      </a:endParaRP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High-level KSA and PIF average annual demand</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Buyers’ current projects</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Current supply capacity</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Localization opportunity and product category description</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246559"/>
                  </a:ext>
                </a:extLst>
              </a:tr>
              <a:tr h="212292">
                <a:tc>
                  <a:txBody>
                    <a:bodyPr/>
                    <a:lstStyle/>
                    <a:p>
                      <a:pPr rtl="0"/>
                      <a:r>
                        <a:rPr lang="en-GB" sz="1000" b="1">
                          <a:solidFill>
                            <a:schemeClr val="bg2"/>
                          </a:solidFill>
                          <a:latin typeface="Fund Light" pitchFamily="2" charset="-78"/>
                          <a:cs typeface="Fund Light" pitchFamily="2" charset="-78"/>
                        </a:rPr>
                        <a:t>Mandatory document</a:t>
                      </a:r>
                    </a:p>
                  </a:txBody>
                  <a:tcPr marL="274320" marR="9144"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Mandatory documents, certifications, and standards (e.g., labor certificates, sustainability certificates, construction licenses)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563561"/>
                  </a:ext>
                </a:extLst>
              </a:tr>
              <a:tr h="596836">
                <a:tc>
                  <a:txBody>
                    <a:bodyPr/>
                    <a:lstStyle/>
                    <a:p>
                      <a:pPr rtl="0"/>
                      <a:r>
                        <a:rPr lang="en-GB" sz="1000" b="1">
                          <a:solidFill>
                            <a:schemeClr val="bg2"/>
                          </a:solidFill>
                          <a:latin typeface="Fund Light" pitchFamily="2" charset="-78"/>
                          <a:cs typeface="Fund Light" pitchFamily="2" charset="-78"/>
                        </a:rPr>
                        <a:t>Project scope </a:t>
                      </a:r>
                      <a:r>
                        <a:rPr lang="en-GB" sz="1000" b="0">
                          <a:solidFill>
                            <a:schemeClr val="bg2"/>
                          </a:solidFill>
                          <a:latin typeface="Fund Light" pitchFamily="2" charset="-78"/>
                          <a:cs typeface="Fund Light" pitchFamily="2" charset="-78"/>
                        </a:rPr>
                        <a:t>and </a:t>
                      </a:r>
                      <a:r>
                        <a:rPr lang="en-GB" sz="1000" b="1">
                          <a:solidFill>
                            <a:schemeClr val="bg2"/>
                          </a:solidFill>
                          <a:latin typeface="Fund Light" pitchFamily="2" charset="-78"/>
                          <a:cs typeface="Fund Light" pitchFamily="2" charset="-78"/>
                        </a:rPr>
                        <a:t>technical requirements</a:t>
                      </a: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Project scope (e.g., product quality and specifications, manufacturing plant characteristics</a:t>
                      </a:r>
                      <a:r>
                        <a:rPr lang="en-US" sz="1000" b="0" i="0" baseline="30000">
                          <a:solidFill>
                            <a:srgbClr val="000000"/>
                          </a:solidFill>
                          <a:latin typeface="Fund Light" pitchFamily="2" charset="-78"/>
                          <a:cs typeface="Fund Light" pitchFamily="2" charset="-78"/>
                        </a:rPr>
                        <a:t>1</a:t>
                      </a:r>
                      <a:r>
                        <a:rPr lang="en-US" sz="1000" b="0" i="0">
                          <a:solidFill>
                            <a:srgbClr val="000000"/>
                          </a:solidFill>
                          <a:latin typeface="Fund Light" pitchFamily="2" charset="-78"/>
                          <a:cs typeface="Fund Light" pitchFamily="2" charset="-78"/>
                        </a:rPr>
                        <a:t>, manufacturing plant timeline)</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Technical requirements (e.g., technical certifications)</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Local content requirements (e.g., LC target, Saudi Made certificate)</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1172433"/>
                  </a:ext>
                </a:extLst>
              </a:tr>
              <a:tr h="21229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a:solidFill>
                            <a:schemeClr val="bg2"/>
                          </a:solidFill>
                          <a:latin typeface="Fund Light" pitchFamily="2" charset="-78"/>
                          <a:cs typeface="Fund Light" pitchFamily="2" charset="-78"/>
                        </a:rPr>
                        <a:t>Agreement T&amp;Cs</a:t>
                      </a: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1000" b="0" i="0">
                          <a:solidFill>
                            <a:srgbClr val="000000"/>
                          </a:solidFill>
                          <a:latin typeface="Fund Light" pitchFamily="2" charset="-78"/>
                          <a:cs typeface="Fund Light" pitchFamily="2" charset="-78"/>
                        </a:rPr>
                        <a:t>Anticipation of key T&amp;C of the agreement (e.g., conditions precedents, exclusive agreement, contract duration)</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212292">
                <a:tc>
                  <a:txBody>
                    <a:bodyPr/>
                    <a:lstStyle/>
                    <a:p>
                      <a:pPr rtl="0"/>
                      <a:r>
                        <a:rPr lang="en-US" sz="1000" b="1">
                          <a:solidFill>
                            <a:schemeClr val="bg2"/>
                          </a:solidFill>
                          <a:latin typeface="Fund Light" pitchFamily="2" charset="-78"/>
                          <a:cs typeface="Fund Light" pitchFamily="2" charset="-78"/>
                        </a:rPr>
                        <a:t>Technical proposal</a:t>
                      </a:r>
                      <a:endParaRPr lang="en-GB" sz="1000" b="1">
                        <a:solidFill>
                          <a:schemeClr val="bg2"/>
                        </a:solidFill>
                        <a:latin typeface="Fund Light" pitchFamily="2" charset="-78"/>
                        <a:cs typeface="Fund Light" pitchFamily="2" charset="-78"/>
                      </a:endParaRP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Details in the next slides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6403298"/>
                  </a:ext>
                </a:extLst>
              </a:tr>
              <a:tr h="212292">
                <a:tc>
                  <a:txBody>
                    <a:bodyPr/>
                    <a:lstStyle/>
                    <a:p>
                      <a:pPr rtl="0"/>
                      <a:r>
                        <a:rPr lang="en-GB" sz="1000" b="1">
                          <a:solidFill>
                            <a:schemeClr val="bg2"/>
                          </a:solidFill>
                          <a:latin typeface="Fund Light" pitchFamily="2" charset="-78"/>
                          <a:cs typeface="Fund Light" pitchFamily="2" charset="-78"/>
                        </a:rPr>
                        <a:t>Commercial proposal</a:t>
                      </a: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kumimoji="0" lang="en-GB"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Details in the next slides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9481089"/>
                  </a:ext>
                </a:extLst>
              </a:tr>
              <a:tr h="5968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a:solidFill>
                            <a:schemeClr val="bg2"/>
                          </a:solidFill>
                          <a:latin typeface="Fund Light" pitchFamily="2" charset="-78"/>
                          <a:cs typeface="Fund Light" pitchFamily="2" charset="-78"/>
                        </a:rPr>
                        <a:t>Evaluation criteria</a:t>
                      </a: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Minimum technical requirements</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Technical proposal evaluation criteria</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Commercial proposal evaluation criteria</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35849"/>
                  </a:ext>
                </a:extLst>
              </a:tr>
              <a:tr h="58211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000" b="1">
                          <a:solidFill>
                            <a:schemeClr val="bg2"/>
                          </a:solidFill>
                          <a:latin typeface="Fund Light" pitchFamily="2" charset="-78"/>
                          <a:cs typeface="Fund Light" pitchFamily="2" charset="-78"/>
                        </a:rPr>
                        <a:t>Submission deadline and information</a:t>
                      </a:r>
                    </a:p>
                  </a:txBody>
                  <a:tcPr marL="27432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RfP process</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Submission timeline</a:t>
                      </a:r>
                    </a:p>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1000" b="0" i="0" baseline="0">
                          <a:solidFill>
                            <a:srgbClr val="000000"/>
                          </a:solidFill>
                          <a:latin typeface="Fund Light" pitchFamily="2" charset="-78"/>
                          <a:cs typeface="Fund Light" pitchFamily="2" charset="-78"/>
                        </a:rPr>
                        <a:t>Details about the points of contacts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4059473"/>
                  </a:ext>
                </a:extLst>
              </a:tr>
            </a:tbl>
          </a:graphicData>
        </a:graphic>
      </p:graphicFrame>
      <p:sp>
        <p:nvSpPr>
          <p:cNvPr id="37" name="Oval 36">
            <a:extLst>
              <a:ext uri="{FF2B5EF4-FFF2-40B4-BE49-F238E27FC236}">
                <a16:creationId xmlns:a16="http://schemas.microsoft.com/office/drawing/2014/main" id="{63467763-4804-F530-F49A-D3E19FA20C87}"/>
              </a:ext>
            </a:extLst>
          </p:cNvPr>
          <p:cNvSpPr/>
          <p:nvPr/>
        </p:nvSpPr>
        <p:spPr>
          <a:xfrm>
            <a:off x="232817" y="1342946"/>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38" name="Oval 37">
            <a:extLst>
              <a:ext uri="{FF2B5EF4-FFF2-40B4-BE49-F238E27FC236}">
                <a16:creationId xmlns:a16="http://schemas.microsoft.com/office/drawing/2014/main" id="{0A48EAB3-0180-573C-2331-F2E17EABD8A5}"/>
              </a:ext>
            </a:extLst>
          </p:cNvPr>
          <p:cNvSpPr/>
          <p:nvPr/>
        </p:nvSpPr>
        <p:spPr>
          <a:xfrm>
            <a:off x="232817" y="1937009"/>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sp>
        <p:nvSpPr>
          <p:cNvPr id="39" name="Oval 38">
            <a:extLst>
              <a:ext uri="{FF2B5EF4-FFF2-40B4-BE49-F238E27FC236}">
                <a16:creationId xmlns:a16="http://schemas.microsoft.com/office/drawing/2014/main" id="{37ADB744-AB05-B36B-C732-1D08C0E99315}"/>
              </a:ext>
            </a:extLst>
          </p:cNvPr>
          <p:cNvSpPr/>
          <p:nvPr/>
        </p:nvSpPr>
        <p:spPr>
          <a:xfrm>
            <a:off x="232817" y="2450599"/>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
        <p:nvSpPr>
          <p:cNvPr id="40" name="Oval 39">
            <a:extLst>
              <a:ext uri="{FF2B5EF4-FFF2-40B4-BE49-F238E27FC236}">
                <a16:creationId xmlns:a16="http://schemas.microsoft.com/office/drawing/2014/main" id="{D8B3D9CE-77CB-6415-8447-5525002CD055}"/>
              </a:ext>
            </a:extLst>
          </p:cNvPr>
          <p:cNvSpPr/>
          <p:nvPr/>
        </p:nvSpPr>
        <p:spPr>
          <a:xfrm>
            <a:off x="232817" y="2907202"/>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4</a:t>
            </a:r>
          </a:p>
        </p:txBody>
      </p:sp>
      <p:sp>
        <p:nvSpPr>
          <p:cNvPr id="41" name="Oval 40">
            <a:extLst>
              <a:ext uri="{FF2B5EF4-FFF2-40B4-BE49-F238E27FC236}">
                <a16:creationId xmlns:a16="http://schemas.microsoft.com/office/drawing/2014/main" id="{E25CE9A3-B0FE-2875-6900-CA32033B4D75}"/>
              </a:ext>
            </a:extLst>
          </p:cNvPr>
          <p:cNvSpPr/>
          <p:nvPr/>
        </p:nvSpPr>
        <p:spPr>
          <a:xfrm>
            <a:off x="232817" y="3203785"/>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5</a:t>
            </a:r>
          </a:p>
        </p:txBody>
      </p:sp>
      <p:sp>
        <p:nvSpPr>
          <p:cNvPr id="42" name="Oval 41">
            <a:extLst>
              <a:ext uri="{FF2B5EF4-FFF2-40B4-BE49-F238E27FC236}">
                <a16:creationId xmlns:a16="http://schemas.microsoft.com/office/drawing/2014/main" id="{819ACC00-1AD8-9822-EA58-8F319D9C38C3}"/>
              </a:ext>
            </a:extLst>
          </p:cNvPr>
          <p:cNvSpPr/>
          <p:nvPr/>
        </p:nvSpPr>
        <p:spPr>
          <a:xfrm>
            <a:off x="232817" y="3415845"/>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6</a:t>
            </a:r>
          </a:p>
        </p:txBody>
      </p:sp>
      <p:sp>
        <p:nvSpPr>
          <p:cNvPr id="43" name="Oval 42">
            <a:extLst>
              <a:ext uri="{FF2B5EF4-FFF2-40B4-BE49-F238E27FC236}">
                <a16:creationId xmlns:a16="http://schemas.microsoft.com/office/drawing/2014/main" id="{CBCE24C5-9ECA-42AF-ABA9-CE2556FDD0B3}"/>
              </a:ext>
            </a:extLst>
          </p:cNvPr>
          <p:cNvSpPr/>
          <p:nvPr/>
        </p:nvSpPr>
        <p:spPr>
          <a:xfrm>
            <a:off x="232817" y="3822920"/>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7</a:t>
            </a:r>
          </a:p>
        </p:txBody>
      </p:sp>
      <p:sp>
        <p:nvSpPr>
          <p:cNvPr id="44" name="Oval 43">
            <a:extLst>
              <a:ext uri="{FF2B5EF4-FFF2-40B4-BE49-F238E27FC236}">
                <a16:creationId xmlns:a16="http://schemas.microsoft.com/office/drawing/2014/main" id="{777A3A58-F594-149E-5C26-363DC930B415}"/>
              </a:ext>
            </a:extLst>
          </p:cNvPr>
          <p:cNvSpPr/>
          <p:nvPr/>
        </p:nvSpPr>
        <p:spPr>
          <a:xfrm>
            <a:off x="232817" y="4416983"/>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8</a:t>
            </a:r>
          </a:p>
        </p:txBody>
      </p:sp>
      <p:sp>
        <p:nvSpPr>
          <p:cNvPr id="2" name="Text Placeholder 6">
            <a:extLst>
              <a:ext uri="{FF2B5EF4-FFF2-40B4-BE49-F238E27FC236}">
                <a16:creationId xmlns:a16="http://schemas.microsoft.com/office/drawing/2014/main" id="{4765D2F6-1BDF-C8CF-28B5-538855376851}"/>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What is the information requested?</a:t>
            </a:r>
          </a:p>
        </p:txBody>
      </p:sp>
      <p:sp>
        <p:nvSpPr>
          <p:cNvPr id="4" name="Oval 3">
            <a:extLst>
              <a:ext uri="{FF2B5EF4-FFF2-40B4-BE49-F238E27FC236}">
                <a16:creationId xmlns:a16="http://schemas.microsoft.com/office/drawing/2014/main" id="{260F6496-F654-DD63-D034-A022201D251B}"/>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6" name="Rectangle: Rounded Corners 5">
            <a:extLst>
              <a:ext uri="{FF2B5EF4-FFF2-40B4-BE49-F238E27FC236}">
                <a16:creationId xmlns:a16="http://schemas.microsoft.com/office/drawing/2014/main" id="{C827E0E9-7FC8-B6CD-BFE0-59300C785D82}"/>
              </a:ext>
            </a:extLst>
          </p:cNvPr>
          <p:cNvSpPr/>
          <p:nvPr/>
        </p:nvSpPr>
        <p:spPr>
          <a:xfrm>
            <a:off x="5250367"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7" name="Group 6">
            <a:extLst>
              <a:ext uri="{FF2B5EF4-FFF2-40B4-BE49-F238E27FC236}">
                <a16:creationId xmlns:a16="http://schemas.microsoft.com/office/drawing/2014/main" id="{BF11C9ED-14D9-F8A9-00CA-186B35108CDD}"/>
              </a:ext>
            </a:extLst>
          </p:cNvPr>
          <p:cNvGrpSpPr/>
          <p:nvPr/>
        </p:nvGrpSpPr>
        <p:grpSpPr>
          <a:xfrm>
            <a:off x="4995728" y="4817276"/>
            <a:ext cx="303559" cy="303559"/>
            <a:chOff x="-577629" y="2311332"/>
            <a:chExt cx="404038" cy="404037"/>
          </a:xfrm>
        </p:grpSpPr>
        <p:sp>
          <p:nvSpPr>
            <p:cNvPr id="8" name="Oval 7">
              <a:extLst>
                <a:ext uri="{FF2B5EF4-FFF2-40B4-BE49-F238E27FC236}">
                  <a16:creationId xmlns:a16="http://schemas.microsoft.com/office/drawing/2014/main" id="{1F34F548-3E95-75FD-021B-6EEADD292CE3}"/>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649EC79-5D97-37E8-46E0-F11EF9404ACE}"/>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0" name="Group 9">
            <a:extLst>
              <a:ext uri="{FF2B5EF4-FFF2-40B4-BE49-F238E27FC236}">
                <a16:creationId xmlns:a16="http://schemas.microsoft.com/office/drawing/2014/main" id="{DD0E147E-CA21-6B69-2D88-E9C3E9A83E0B}"/>
              </a:ext>
            </a:extLst>
          </p:cNvPr>
          <p:cNvGrpSpPr/>
          <p:nvPr/>
        </p:nvGrpSpPr>
        <p:grpSpPr>
          <a:xfrm>
            <a:off x="8203694" y="4883810"/>
            <a:ext cx="168686" cy="161455"/>
            <a:chOff x="11260138" y="4194175"/>
            <a:chExt cx="360363" cy="379413"/>
          </a:xfrm>
        </p:grpSpPr>
        <p:sp>
          <p:nvSpPr>
            <p:cNvPr id="11" name="Freeform 289">
              <a:extLst>
                <a:ext uri="{FF2B5EF4-FFF2-40B4-BE49-F238E27FC236}">
                  <a16:creationId xmlns:a16="http://schemas.microsoft.com/office/drawing/2014/main" id="{245E6433-ECDE-D4B0-DE3B-290AE384D265}"/>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Freeform 290">
              <a:extLst>
                <a:ext uri="{FF2B5EF4-FFF2-40B4-BE49-F238E27FC236}">
                  <a16:creationId xmlns:a16="http://schemas.microsoft.com/office/drawing/2014/main" id="{9345872D-2D10-6D4C-7369-093D180DD41D}"/>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291">
              <a:extLst>
                <a:ext uri="{FF2B5EF4-FFF2-40B4-BE49-F238E27FC236}">
                  <a16:creationId xmlns:a16="http://schemas.microsoft.com/office/drawing/2014/main" id="{64ACF664-9289-0E22-9097-CD9150185CA7}"/>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966735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B23427C-F354-E39E-55C0-A0ADC25905AA}"/>
              </a:ext>
            </a:extLst>
          </p:cNvPr>
          <p:cNvGraphicFramePr>
            <a:graphicFrameLocks noChangeAspect="1"/>
          </p:cNvGraphicFramePr>
          <p:nvPr>
            <p:custDataLst>
              <p:tags r:id="rId1"/>
            </p:custDataLst>
            <p:extLst>
              <p:ext uri="{D42A27DB-BD31-4B8C-83A1-F6EECF244321}">
                <p14:modId xmlns:p14="http://schemas.microsoft.com/office/powerpoint/2010/main" val="2974099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1" name="think-cell data - do not delete" hidden="1">
                        <a:extLst>
                          <a:ext uri="{FF2B5EF4-FFF2-40B4-BE49-F238E27FC236}">
                            <a16:creationId xmlns:a16="http://schemas.microsoft.com/office/drawing/2014/main" id="{2B23427C-F354-E39E-55C0-A0ADC25905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8" name="TextBox 27">
            <a:extLst>
              <a:ext uri="{FF2B5EF4-FFF2-40B4-BE49-F238E27FC236}">
                <a16:creationId xmlns:a16="http://schemas.microsoft.com/office/drawing/2014/main" id="{553F210F-B33F-9D8E-E1AF-3A66036E2C8C}"/>
              </a:ext>
            </a:extLst>
          </p:cNvPr>
          <p:cNvSpPr txBox="1"/>
          <p:nvPr/>
        </p:nvSpPr>
        <p:spPr>
          <a:xfrm>
            <a:off x="314473" y="609401"/>
            <a:ext cx="284630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a:t>
            </a:r>
          </a:p>
        </p:txBody>
      </p:sp>
      <p:sp>
        <p:nvSpPr>
          <p:cNvPr id="2" name="Title 1">
            <a:extLst>
              <a:ext uri="{FF2B5EF4-FFF2-40B4-BE49-F238E27FC236}">
                <a16:creationId xmlns:a16="http://schemas.microsoft.com/office/drawing/2014/main" id="{B6034A9E-C3FB-7FE8-AEED-F95395EE727A}"/>
              </a:ext>
            </a:extLst>
          </p:cNvPr>
          <p:cNvSpPr>
            <a:spLocks noGrp="1"/>
          </p:cNvSpPr>
          <p:nvPr>
            <p:ph type="title"/>
          </p:nvPr>
        </p:nvSpPr>
        <p:spPr>
          <a:xfrm>
            <a:off x="1255077" y="255973"/>
            <a:ext cx="6492240" cy="241824"/>
          </a:xfrm>
        </p:spPr>
        <p:txBody>
          <a:bodyPr vert="horz"/>
          <a:lstStyle/>
          <a:p>
            <a:r>
              <a:rPr lang="en-GB"/>
              <a:t>Responses to RfP need to be evaluated against technical and commercial parameters</a:t>
            </a:r>
          </a:p>
        </p:txBody>
      </p:sp>
      <p:sp>
        <p:nvSpPr>
          <p:cNvPr id="3" name="ee4pHeader1">
            <a:extLst>
              <a:ext uri="{FF2B5EF4-FFF2-40B4-BE49-F238E27FC236}">
                <a16:creationId xmlns:a16="http://schemas.microsoft.com/office/drawing/2014/main" id="{5E9D3FDC-6CB0-8551-E1C4-9889E3A7F494}"/>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RfI</a:t>
            </a:r>
          </a:p>
        </p:txBody>
      </p:sp>
      <p:sp>
        <p:nvSpPr>
          <p:cNvPr id="6" name="ee4pHeader2">
            <a:extLst>
              <a:ext uri="{FF2B5EF4-FFF2-40B4-BE49-F238E27FC236}">
                <a16:creationId xmlns:a16="http://schemas.microsoft.com/office/drawing/2014/main" id="{9F79DBFA-285F-51E4-AE4A-4426C906043E}"/>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a:ea typeface="+mn-ea"/>
                <a:cs typeface="+mn-cs"/>
              </a:rPr>
              <a:t>RfP</a:t>
            </a:r>
          </a:p>
        </p:txBody>
      </p:sp>
      <p:sp>
        <p:nvSpPr>
          <p:cNvPr id="7" name="Rectangle 6">
            <a:extLst>
              <a:ext uri="{FF2B5EF4-FFF2-40B4-BE49-F238E27FC236}">
                <a16:creationId xmlns:a16="http://schemas.microsoft.com/office/drawing/2014/main" id="{763A8AB3-E718-B5A3-523F-1FED2EF84DC9}"/>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 and template</a:t>
            </a:r>
          </a:p>
        </p:txBody>
      </p:sp>
      <p:sp>
        <p:nvSpPr>
          <p:cNvPr id="8" name="Text Placeholder 6">
            <a:extLst>
              <a:ext uri="{FF2B5EF4-FFF2-40B4-BE49-F238E27FC236}">
                <a16:creationId xmlns:a16="http://schemas.microsoft.com/office/drawing/2014/main" id="{C98329EF-3B46-72CE-518A-03963EA08DDD}"/>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p>
        </p:txBody>
      </p:sp>
      <p:sp>
        <p:nvSpPr>
          <p:cNvPr id="9" name="Oval 8">
            <a:extLst>
              <a:ext uri="{FF2B5EF4-FFF2-40B4-BE49-F238E27FC236}">
                <a16:creationId xmlns:a16="http://schemas.microsoft.com/office/drawing/2014/main" id="{390AA609-E546-3750-4110-40EAE74CCD1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graphicFrame>
        <p:nvGraphicFramePr>
          <p:cNvPr id="21" name="Table 141">
            <a:extLst>
              <a:ext uri="{FF2B5EF4-FFF2-40B4-BE49-F238E27FC236}">
                <a16:creationId xmlns:a16="http://schemas.microsoft.com/office/drawing/2014/main" id="{159C145A-3220-2C68-F667-5C736FBEC7B7}"/>
              </a:ext>
            </a:extLst>
          </p:cNvPr>
          <p:cNvGraphicFramePr>
            <a:graphicFrameLocks noGrp="1"/>
          </p:cNvGraphicFramePr>
          <p:nvPr>
            <p:extLst>
              <p:ext uri="{D42A27DB-BD31-4B8C-83A1-F6EECF244321}">
                <p14:modId xmlns:p14="http://schemas.microsoft.com/office/powerpoint/2010/main" val="2511937440"/>
              </p:ext>
            </p:extLst>
          </p:nvPr>
        </p:nvGraphicFramePr>
        <p:xfrm>
          <a:off x="288532" y="879152"/>
          <a:ext cx="8528093" cy="3765740"/>
        </p:xfrm>
        <a:graphic>
          <a:graphicData uri="http://schemas.openxmlformats.org/drawingml/2006/table">
            <a:tbl>
              <a:tblPr firstRow="1" bandRow="1">
                <a:tableStyleId>{5C22544A-7EE6-4342-B048-85BDC9FD1C3A}</a:tableStyleId>
              </a:tblPr>
              <a:tblGrid>
                <a:gridCol w="2848368">
                  <a:extLst>
                    <a:ext uri="{9D8B030D-6E8A-4147-A177-3AD203B41FA5}">
                      <a16:colId xmlns:a16="http://schemas.microsoft.com/office/drawing/2014/main" val="3633553993"/>
                    </a:ext>
                  </a:extLst>
                </a:gridCol>
                <a:gridCol w="5679725">
                  <a:extLst>
                    <a:ext uri="{9D8B030D-6E8A-4147-A177-3AD203B41FA5}">
                      <a16:colId xmlns:a16="http://schemas.microsoft.com/office/drawing/2014/main" val="1585286637"/>
                    </a:ext>
                  </a:extLst>
                </a:gridCol>
              </a:tblGrid>
              <a:tr h="140472">
                <a:tc>
                  <a:txBody>
                    <a:bodyPr/>
                    <a:lstStyle/>
                    <a:p>
                      <a:pPr rtl="0"/>
                      <a:r>
                        <a:rPr lang="en-US" sz="800" b="1">
                          <a:solidFill>
                            <a:schemeClr val="bg2">
                              <a:lumMod val="40000"/>
                              <a:lumOff val="60000"/>
                            </a:schemeClr>
                          </a:solidFill>
                          <a:latin typeface="Fund Light" pitchFamily="2" charset="-78"/>
                          <a:cs typeface="Fund Light" pitchFamily="2" charset="-78"/>
                        </a:rPr>
                        <a:t>Background and high-level scope of the RfP</a:t>
                      </a:r>
                      <a:endParaRPr lang="en-GB" sz="800" b="1">
                        <a:solidFill>
                          <a:schemeClr val="bg2">
                            <a:lumMod val="40000"/>
                            <a:lumOff val="60000"/>
                          </a:schemeClr>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800" b="0" i="0">
                          <a:solidFill>
                            <a:schemeClr val="bg1">
                              <a:lumMod val="95000"/>
                            </a:schemeClr>
                          </a:solidFill>
                          <a:latin typeface="Fund Light" pitchFamily="2" charset="-78"/>
                          <a:cs typeface="Fund Light" pitchFamily="2" charset="-78"/>
                        </a:rPr>
                        <a:t>High-level KSA and PIF average annual demand….</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104173"/>
                  </a:ext>
                </a:extLst>
              </a:tr>
              <a:tr h="140472">
                <a:tc>
                  <a:txBody>
                    <a:bodyPr/>
                    <a:lstStyle/>
                    <a:p>
                      <a:pPr rtl="0"/>
                      <a:r>
                        <a:rPr lang="en-GB" sz="800" b="1">
                          <a:solidFill>
                            <a:schemeClr val="bg2">
                              <a:lumMod val="40000"/>
                              <a:lumOff val="60000"/>
                            </a:schemeClr>
                          </a:solidFill>
                          <a:latin typeface="Fund Light" pitchFamily="2" charset="-78"/>
                          <a:cs typeface="Fund Light" pitchFamily="2" charset="-78"/>
                        </a:rPr>
                        <a:t>Mandatory document</a:t>
                      </a:r>
                    </a:p>
                  </a:txBody>
                  <a:tcPr marL="182880" marR="9144"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800" b="0" i="0">
                          <a:solidFill>
                            <a:schemeClr val="bg1">
                              <a:lumMod val="95000"/>
                            </a:schemeClr>
                          </a:solidFill>
                          <a:latin typeface="Fund Light" pitchFamily="2" charset="-78"/>
                          <a:cs typeface="Fund Light" pitchFamily="2" charset="-78"/>
                        </a:rPr>
                        <a:t>Mandatory documents, certifications and standards (e.g., labour certificates…..</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781683"/>
                  </a:ext>
                </a:extLst>
              </a:tr>
              <a:tr h="140472">
                <a:tc>
                  <a:txBody>
                    <a:bodyPr/>
                    <a:lstStyle/>
                    <a:p>
                      <a:pPr rtl="0"/>
                      <a:r>
                        <a:rPr lang="en-GB" sz="800" b="1">
                          <a:solidFill>
                            <a:schemeClr val="bg2">
                              <a:lumMod val="40000"/>
                              <a:lumOff val="60000"/>
                            </a:schemeClr>
                          </a:solidFill>
                          <a:latin typeface="Fund Light" pitchFamily="2" charset="-78"/>
                          <a:cs typeface="Fund Light" pitchFamily="2" charset="-78"/>
                        </a:rPr>
                        <a:t>Project scope </a:t>
                      </a:r>
                      <a:r>
                        <a:rPr lang="en-GB" sz="800" b="0">
                          <a:solidFill>
                            <a:schemeClr val="bg2">
                              <a:lumMod val="40000"/>
                              <a:lumOff val="60000"/>
                            </a:schemeClr>
                          </a:solidFill>
                          <a:latin typeface="Fund Light" pitchFamily="2" charset="-78"/>
                          <a:cs typeface="Fund Light" pitchFamily="2" charset="-78"/>
                        </a:rPr>
                        <a:t>and </a:t>
                      </a:r>
                      <a:r>
                        <a:rPr lang="en-GB" sz="800" b="1">
                          <a:solidFill>
                            <a:schemeClr val="bg2">
                              <a:lumMod val="40000"/>
                              <a:lumOff val="60000"/>
                            </a:schemeClr>
                          </a:solidFill>
                          <a:latin typeface="Fund Light" pitchFamily="2" charset="-78"/>
                          <a:cs typeface="Fund Light" pitchFamily="2" charset="-78"/>
                        </a:rPr>
                        <a:t>technical requirements</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800" b="0" i="0">
                          <a:solidFill>
                            <a:schemeClr val="bg1">
                              <a:lumMod val="95000"/>
                            </a:schemeClr>
                          </a:solidFill>
                          <a:latin typeface="Fund Light" pitchFamily="2" charset="-78"/>
                          <a:cs typeface="Fund Light" pitchFamily="2" charset="-78"/>
                        </a:rPr>
                        <a:t>Project scope (e.g., product quality and specifications, manufacturing plant….</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24128"/>
                  </a:ext>
                </a:extLst>
              </a:tr>
              <a:tr h="1404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chemeClr val="bg2">
                              <a:lumMod val="40000"/>
                              <a:lumOff val="60000"/>
                            </a:schemeClr>
                          </a:solidFill>
                          <a:latin typeface="Fund Light" pitchFamily="2" charset="-78"/>
                          <a:cs typeface="Fund Light" pitchFamily="2" charset="-78"/>
                        </a:rPr>
                        <a:t>Agreement T&amp;Cs</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US" sz="800" b="0" i="0">
                          <a:solidFill>
                            <a:schemeClr val="bg1">
                              <a:lumMod val="95000"/>
                            </a:schemeClr>
                          </a:solidFill>
                          <a:latin typeface="Fund Light" pitchFamily="2" charset="-78"/>
                          <a:cs typeface="Fund Light" pitchFamily="2" charset="-78"/>
                        </a:rPr>
                        <a:t>Anticipation of key T&amp;C of the agreement (e.g., conditions precedents, exclusive….</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2862931"/>
                  </a:ext>
                </a:extLst>
              </a:tr>
              <a:tr h="169470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rgbClr val="C4984F"/>
                          </a:solidFill>
                          <a:latin typeface="Fund Light" pitchFamily="2" charset="-78"/>
                          <a:cs typeface="Fund Light" pitchFamily="2" charset="-78"/>
                        </a:rPr>
                        <a:t>Technical</a:t>
                      </a:r>
                      <a:br>
                        <a:rPr lang="en-GB" sz="800" b="1">
                          <a:solidFill>
                            <a:srgbClr val="C4984F"/>
                          </a:solidFill>
                          <a:latin typeface="Fund Light" pitchFamily="2" charset="-78"/>
                          <a:cs typeface="Fund Light" pitchFamily="2" charset="-78"/>
                        </a:rPr>
                      </a:br>
                      <a:r>
                        <a:rPr lang="en-GB" sz="800" b="1">
                          <a:solidFill>
                            <a:srgbClr val="C4984F"/>
                          </a:solidFill>
                          <a:latin typeface="Fund Light" pitchFamily="2" charset="-78"/>
                          <a:cs typeface="Fund Light" pitchFamily="2" charset="-78"/>
                        </a:rPr>
                        <a:t>proposal</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25000"/>
                        </a:lnSpc>
                        <a:spcBef>
                          <a:spcPts val="0"/>
                        </a:spcBef>
                        <a:spcAft>
                          <a:spcPts val="0"/>
                        </a:spcAft>
                        <a:buClrTx/>
                        <a:buSzTx/>
                        <a:buFont typeface="+mj-lt"/>
                        <a:buAutoNum type="romanLcPeriod"/>
                        <a:tabLst/>
                        <a:defRPr/>
                      </a:pPr>
                      <a:r>
                        <a:rPr lang="en-US" sz="800" b="1" i="0" baseline="0">
                          <a:solidFill>
                            <a:srgbClr val="000000"/>
                          </a:solidFill>
                          <a:latin typeface="Fund Light" pitchFamily="2" charset="-78"/>
                          <a:cs typeface="Fund Light" pitchFamily="2" charset="-78"/>
                        </a:rPr>
                        <a:t>Minimum technical requirements </a:t>
                      </a:r>
                      <a:r>
                        <a:rPr lang="en-US" sz="800" b="0" i="0" baseline="0">
                          <a:solidFill>
                            <a:srgbClr val="000000"/>
                          </a:solidFill>
                          <a:latin typeface="Fund Light" pitchFamily="2" charset="-78"/>
                          <a:cs typeface="Fund Light" pitchFamily="2" charset="-78"/>
                        </a:rPr>
                        <a:t>(Technical pass)</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Proposed manufacturing plant capacity (up to a certain threshold)</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Product specifications</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Manufacturing plant technology (level of automation)</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Manufacturing plant setup timeline</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Manufacturing experience</a:t>
                      </a:r>
                    </a:p>
                    <a:p>
                      <a:pPr marL="285750" marR="0" lvl="0" indent="-285750" algn="l" defTabSz="685800" rtl="0" eaLnBrk="1" fontAlgn="auto" latinLnBrk="0" hangingPunct="1">
                        <a:lnSpc>
                          <a:spcPct val="125000"/>
                        </a:lnSpc>
                        <a:spcBef>
                          <a:spcPts val="0"/>
                        </a:spcBef>
                        <a:spcAft>
                          <a:spcPts val="0"/>
                        </a:spcAft>
                        <a:buClrTx/>
                        <a:buSzTx/>
                        <a:buFont typeface="+mj-lt"/>
                        <a:buAutoNum type="romanLcPeriod"/>
                        <a:tabLst/>
                        <a:defRPr/>
                      </a:pPr>
                      <a:r>
                        <a:rPr lang="en-US" sz="800" b="1" i="0" baseline="0">
                          <a:solidFill>
                            <a:srgbClr val="000000"/>
                          </a:solidFill>
                          <a:latin typeface="Fund Light" pitchFamily="2" charset="-78"/>
                          <a:cs typeface="Fund Light" pitchFamily="2" charset="-78"/>
                        </a:rPr>
                        <a:t>Proposed manufacturing plan </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Proposed manufacturing plant capacity</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Proposed depth of localization (i.e., level of integration across the value chain)</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Proposed local content strategy (e.g., local sourcing, Saudization, local R&amp;D spend)</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Estimated capex requirements to build the manufacturing facility</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GB" sz="800" b="0" i="0" baseline="0">
                          <a:solidFill>
                            <a:srgbClr val="000000"/>
                          </a:solidFill>
                          <a:latin typeface="Fund Light" pitchFamily="2" charset="-78"/>
                          <a:cs typeface="Fund Light" pitchFamily="2" charset="-78"/>
                        </a:rPr>
                        <a:t>Estimated plant financials (e.g., revenues, margins)</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US" sz="800" b="0" i="0" baseline="0">
                          <a:solidFill>
                            <a:srgbClr val="000000"/>
                          </a:solidFill>
                          <a:latin typeface="Fund Light" pitchFamily="2" charset="-78"/>
                          <a:cs typeface="Fund Light" pitchFamily="2" charset="-78"/>
                        </a:rPr>
                        <a:t>Estimated breakdown of fixed and variable costs (e.g., cost of components, salary costs) </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GB" sz="800" b="0" i="0" baseline="0">
                          <a:solidFill>
                            <a:srgbClr val="000000"/>
                          </a:solidFill>
                          <a:latin typeface="Fund Light" pitchFamily="2" charset="-78"/>
                          <a:cs typeface="Fund Light" pitchFamily="2" charset="-78"/>
                        </a:rPr>
                        <a:t>Funding sources</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49914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rgbClr val="C4984F"/>
                          </a:solidFill>
                          <a:latin typeface="Fund Light" pitchFamily="2" charset="-78"/>
                          <a:cs typeface="Fund Light" pitchFamily="2" charset="-78"/>
                        </a:rPr>
                        <a:t>Commercial</a:t>
                      </a:r>
                      <a:br>
                        <a:rPr lang="en-GB" sz="800" b="1">
                          <a:solidFill>
                            <a:srgbClr val="C4984F"/>
                          </a:solidFill>
                          <a:latin typeface="Fund Light" pitchFamily="2" charset="-78"/>
                          <a:cs typeface="Fund Light" pitchFamily="2" charset="-78"/>
                        </a:rPr>
                      </a:br>
                      <a:r>
                        <a:rPr lang="en-GB" sz="800" b="1">
                          <a:solidFill>
                            <a:srgbClr val="C4984F"/>
                          </a:solidFill>
                          <a:latin typeface="Fund Light" pitchFamily="2" charset="-78"/>
                          <a:cs typeface="Fund Light" pitchFamily="2" charset="-78"/>
                        </a:rPr>
                        <a:t>proposal</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25000"/>
                        </a:lnSpc>
                        <a:spcBef>
                          <a:spcPts val="0"/>
                        </a:spcBef>
                        <a:spcAft>
                          <a:spcPts val="0"/>
                        </a:spcAft>
                        <a:buClrTx/>
                        <a:buSzTx/>
                        <a:buFont typeface="+mj-lt"/>
                        <a:buAutoNum type="romanLcPeriod" startAt="3"/>
                        <a:tabLst/>
                        <a:defRPr/>
                      </a:pPr>
                      <a:r>
                        <a:rPr lang="en-GB" sz="800" b="1" i="0" baseline="0">
                          <a:solidFill>
                            <a:srgbClr val="000000"/>
                          </a:solidFill>
                          <a:latin typeface="Fund Light" pitchFamily="2" charset="-78"/>
                          <a:cs typeface="Fund Light" pitchFamily="2" charset="-78"/>
                        </a:rPr>
                        <a:t>Proposed</a:t>
                      </a:r>
                      <a:r>
                        <a:rPr lang="en-GB" sz="800" b="0" i="0" baseline="0">
                          <a:solidFill>
                            <a:srgbClr val="000000"/>
                          </a:solidFill>
                          <a:latin typeface="Fund Light" pitchFamily="2" charset="-78"/>
                          <a:cs typeface="Fund Light" pitchFamily="2" charset="-78"/>
                        </a:rPr>
                        <a:t> </a:t>
                      </a:r>
                      <a:r>
                        <a:rPr lang="en-GB" sz="800" b="1" i="0" baseline="0">
                          <a:solidFill>
                            <a:srgbClr val="000000"/>
                          </a:solidFill>
                          <a:latin typeface="Fund Light" pitchFamily="2" charset="-78"/>
                          <a:cs typeface="Fund Light" pitchFamily="2" charset="-78"/>
                        </a:rPr>
                        <a:t>commercial terms</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GB" sz="800" b="0" i="0" baseline="0">
                          <a:solidFill>
                            <a:srgbClr val="000000"/>
                          </a:solidFill>
                          <a:latin typeface="Fund Light" pitchFamily="2" charset="-78"/>
                          <a:cs typeface="Fund Light" pitchFamily="2" charset="-78"/>
                        </a:rPr>
                        <a:t>Selling price of the localized product</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GB" sz="800" b="0" i="0" baseline="0">
                          <a:solidFill>
                            <a:srgbClr val="000000"/>
                          </a:solidFill>
                          <a:latin typeface="Fund Light" pitchFamily="2" charset="-78"/>
                          <a:cs typeface="Fund Light" pitchFamily="2" charset="-78"/>
                        </a:rPr>
                        <a:t>Required number of years for demand commitment </a:t>
                      </a:r>
                    </a:p>
                    <a:p>
                      <a:pPr marL="628650" marR="0" lvl="1" indent="-285750" algn="l" defTabSz="685800" rtl="0" eaLnBrk="1" fontAlgn="auto" latinLnBrk="0" hangingPunct="1">
                        <a:lnSpc>
                          <a:spcPct val="125000"/>
                        </a:lnSpc>
                        <a:spcBef>
                          <a:spcPts val="0"/>
                        </a:spcBef>
                        <a:spcAft>
                          <a:spcPts val="0"/>
                        </a:spcAft>
                        <a:buClrTx/>
                        <a:buSzTx/>
                        <a:buFont typeface="+mj-lt"/>
                        <a:buAutoNum type="alphaLcPeriod"/>
                        <a:tabLst/>
                        <a:defRPr/>
                      </a:pPr>
                      <a:r>
                        <a:rPr lang="en-GB" sz="800" b="0" i="0" baseline="0">
                          <a:solidFill>
                            <a:srgbClr val="000000"/>
                          </a:solidFill>
                          <a:latin typeface="Fund Light" pitchFamily="2" charset="-78"/>
                          <a:cs typeface="Fund Light" pitchFamily="2" charset="-78"/>
                        </a:rPr>
                        <a:t>Level of demand commitment</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879564"/>
                  </a:ext>
                </a:extLst>
              </a:tr>
              <a:tr h="1404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chemeClr val="bg2">
                              <a:lumMod val="40000"/>
                              <a:lumOff val="60000"/>
                            </a:schemeClr>
                          </a:solidFill>
                          <a:latin typeface="Fund Light" pitchFamily="2" charset="-78"/>
                          <a:cs typeface="Fund Light" pitchFamily="2" charset="-78"/>
                        </a:rPr>
                        <a:t>Evaluation criteria</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800" b="0" i="0" kern="1200">
                          <a:solidFill>
                            <a:schemeClr val="bg1">
                              <a:lumMod val="95000"/>
                            </a:schemeClr>
                          </a:solidFill>
                          <a:latin typeface="Fund Light" pitchFamily="2" charset="-78"/>
                          <a:ea typeface="+mn-ea"/>
                          <a:cs typeface="Fund Light" pitchFamily="2" charset="-78"/>
                        </a:rPr>
                        <a:t>Minimum technical requirements….</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876936"/>
                  </a:ext>
                </a:extLst>
              </a:tr>
              <a:tr h="14047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chemeClr val="bg2">
                              <a:lumMod val="40000"/>
                              <a:lumOff val="60000"/>
                            </a:schemeClr>
                          </a:solidFill>
                          <a:latin typeface="Fund Light" pitchFamily="2" charset="-78"/>
                          <a:cs typeface="Fund Light" pitchFamily="2" charset="-78"/>
                        </a:rPr>
                        <a:t>Submission deadline and information</a:t>
                      </a:r>
                    </a:p>
                  </a:txBody>
                  <a:tcPr marL="182880" marT="18288" marB="21328"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85750" marR="0" lvl="0" indent="-285750" algn="l" defTabSz="685800" rtl="0" eaLnBrk="1" fontAlgn="auto" latinLnBrk="0" hangingPunct="1">
                        <a:lnSpc>
                          <a:spcPct val="100000"/>
                        </a:lnSpc>
                        <a:spcBef>
                          <a:spcPts val="0"/>
                        </a:spcBef>
                        <a:spcAft>
                          <a:spcPts val="0"/>
                        </a:spcAft>
                        <a:buClrTx/>
                        <a:buSzTx/>
                        <a:buFont typeface="+mj-lt"/>
                        <a:buAutoNum type="romanLcPeriod"/>
                        <a:tabLst/>
                        <a:defRPr/>
                      </a:pPr>
                      <a:r>
                        <a:rPr lang="en-GB" sz="800" b="0" i="0" kern="1200">
                          <a:solidFill>
                            <a:schemeClr val="bg1">
                              <a:lumMod val="95000"/>
                            </a:schemeClr>
                          </a:solidFill>
                          <a:latin typeface="Fund Light" pitchFamily="2" charset="-78"/>
                          <a:ea typeface="+mn-ea"/>
                          <a:cs typeface="Fund Light" pitchFamily="2" charset="-78"/>
                        </a:rPr>
                        <a:t>RfP process…..</a:t>
                      </a:r>
                    </a:p>
                  </a:txBody>
                  <a:tcPr marT="18288" marB="21328" anchor="ctr">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638878"/>
                  </a:ext>
                </a:extLst>
              </a:tr>
            </a:tbl>
          </a:graphicData>
        </a:graphic>
      </p:graphicFrame>
      <p:sp>
        <p:nvSpPr>
          <p:cNvPr id="22" name="Text Placeholder 4">
            <a:extLst>
              <a:ext uri="{FF2B5EF4-FFF2-40B4-BE49-F238E27FC236}">
                <a16:creationId xmlns:a16="http://schemas.microsoft.com/office/drawing/2014/main" id="{546A681F-B9EE-1614-AD92-3A265036F9A6}"/>
              </a:ext>
            </a:extLst>
          </p:cNvPr>
          <p:cNvSpPr txBox="1">
            <a:spLocks/>
          </p:cNvSpPr>
          <p:nvPr/>
        </p:nvSpPr>
        <p:spPr>
          <a:xfrm>
            <a:off x="213395" y="632717"/>
            <a:ext cx="2779415" cy="186727"/>
          </a:xfrm>
          <a:prstGeom prst="rect">
            <a:avLst/>
          </a:prstGeom>
        </p:spPr>
        <p:txBody>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 </a:t>
            </a:r>
          </a:p>
        </p:txBody>
      </p:sp>
      <p:cxnSp>
        <p:nvCxnSpPr>
          <p:cNvPr id="24" name="Straight Connector 23">
            <a:extLst>
              <a:ext uri="{FF2B5EF4-FFF2-40B4-BE49-F238E27FC236}">
                <a16:creationId xmlns:a16="http://schemas.microsoft.com/office/drawing/2014/main" id="{6485CE0D-527F-57A6-48EA-717D94D4ED23}"/>
              </a:ext>
            </a:extLst>
          </p:cNvPr>
          <p:cNvCxnSpPr>
            <a:cxnSpLocks/>
          </p:cNvCxnSpPr>
          <p:nvPr/>
        </p:nvCxnSpPr>
        <p:spPr>
          <a:xfrm>
            <a:off x="3236976" y="831599"/>
            <a:ext cx="557279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A857AF8-EBD2-94EB-A063-EE64A77198BD}"/>
              </a:ext>
            </a:extLst>
          </p:cNvPr>
          <p:cNvSpPr txBox="1"/>
          <p:nvPr/>
        </p:nvSpPr>
        <p:spPr>
          <a:xfrm>
            <a:off x="3160776" y="609401"/>
            <a:ext cx="564899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What must be included</a:t>
            </a:r>
            <a:endParaRPr lang="en-US" sz="800">
              <a:solidFill>
                <a:schemeClr val="bg2"/>
              </a:solidFill>
              <a:latin typeface="Fund Light" pitchFamily="2" charset="-78"/>
              <a:cs typeface="Fund Light" pitchFamily="2" charset="-78"/>
            </a:endParaRPr>
          </a:p>
        </p:txBody>
      </p:sp>
      <p:cxnSp>
        <p:nvCxnSpPr>
          <p:cNvPr id="27" name="Straight Connector 26">
            <a:extLst>
              <a:ext uri="{FF2B5EF4-FFF2-40B4-BE49-F238E27FC236}">
                <a16:creationId xmlns:a16="http://schemas.microsoft.com/office/drawing/2014/main" id="{C538F23A-C34C-4EA3-56DC-D40B3600C953}"/>
              </a:ext>
            </a:extLst>
          </p:cNvPr>
          <p:cNvCxnSpPr>
            <a:cxnSpLocks/>
          </p:cNvCxnSpPr>
          <p:nvPr/>
        </p:nvCxnSpPr>
        <p:spPr>
          <a:xfrm flipV="1">
            <a:off x="314474" y="831598"/>
            <a:ext cx="2743200" cy="1"/>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05789ADB-7043-2059-D7F1-6816574DE257}"/>
              </a:ext>
            </a:extLst>
          </p:cNvPr>
          <p:cNvSpPr/>
          <p:nvPr/>
        </p:nvSpPr>
        <p:spPr>
          <a:xfrm>
            <a:off x="209935" y="866996"/>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1</a:t>
            </a:r>
          </a:p>
        </p:txBody>
      </p:sp>
      <p:sp>
        <p:nvSpPr>
          <p:cNvPr id="30" name="Oval 29">
            <a:extLst>
              <a:ext uri="{FF2B5EF4-FFF2-40B4-BE49-F238E27FC236}">
                <a16:creationId xmlns:a16="http://schemas.microsoft.com/office/drawing/2014/main" id="{A613292C-6CDF-E480-7969-2948D66021EC}"/>
              </a:ext>
            </a:extLst>
          </p:cNvPr>
          <p:cNvSpPr/>
          <p:nvPr/>
        </p:nvSpPr>
        <p:spPr>
          <a:xfrm>
            <a:off x="209935" y="3905194"/>
            <a:ext cx="182880"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6</a:t>
            </a:r>
          </a:p>
        </p:txBody>
      </p:sp>
      <p:sp>
        <p:nvSpPr>
          <p:cNvPr id="14" name="Oval 13">
            <a:extLst>
              <a:ext uri="{FF2B5EF4-FFF2-40B4-BE49-F238E27FC236}">
                <a16:creationId xmlns:a16="http://schemas.microsoft.com/office/drawing/2014/main" id="{B88B5713-5E6D-F381-FED5-3C663000E004}"/>
              </a:ext>
            </a:extLst>
          </p:cNvPr>
          <p:cNvSpPr/>
          <p:nvPr/>
        </p:nvSpPr>
        <p:spPr>
          <a:xfrm>
            <a:off x="209935" y="1052773"/>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2</a:t>
            </a:r>
          </a:p>
        </p:txBody>
      </p:sp>
      <p:sp>
        <p:nvSpPr>
          <p:cNvPr id="15" name="Oval 14">
            <a:extLst>
              <a:ext uri="{FF2B5EF4-FFF2-40B4-BE49-F238E27FC236}">
                <a16:creationId xmlns:a16="http://schemas.microsoft.com/office/drawing/2014/main" id="{43CE97C0-598D-8A44-0416-98A68FE3B1DF}"/>
              </a:ext>
            </a:extLst>
          </p:cNvPr>
          <p:cNvSpPr/>
          <p:nvPr/>
        </p:nvSpPr>
        <p:spPr>
          <a:xfrm>
            <a:off x="209935" y="1238550"/>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3</a:t>
            </a:r>
          </a:p>
        </p:txBody>
      </p:sp>
      <p:sp>
        <p:nvSpPr>
          <p:cNvPr id="16" name="Oval 15">
            <a:extLst>
              <a:ext uri="{FF2B5EF4-FFF2-40B4-BE49-F238E27FC236}">
                <a16:creationId xmlns:a16="http://schemas.microsoft.com/office/drawing/2014/main" id="{549C65C8-55C8-025C-1F85-EF7663AA0F43}"/>
              </a:ext>
            </a:extLst>
          </p:cNvPr>
          <p:cNvSpPr/>
          <p:nvPr/>
        </p:nvSpPr>
        <p:spPr>
          <a:xfrm>
            <a:off x="209935" y="1424328"/>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4</a:t>
            </a:r>
          </a:p>
        </p:txBody>
      </p:sp>
      <p:sp>
        <p:nvSpPr>
          <p:cNvPr id="17" name="Oval 16">
            <a:extLst>
              <a:ext uri="{FF2B5EF4-FFF2-40B4-BE49-F238E27FC236}">
                <a16:creationId xmlns:a16="http://schemas.microsoft.com/office/drawing/2014/main" id="{1CA05E0A-1BB3-847C-2AC6-C96959303CE7}"/>
              </a:ext>
            </a:extLst>
          </p:cNvPr>
          <p:cNvSpPr/>
          <p:nvPr/>
        </p:nvSpPr>
        <p:spPr>
          <a:xfrm>
            <a:off x="197092" y="2480310"/>
            <a:ext cx="182880"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5</a:t>
            </a:r>
          </a:p>
        </p:txBody>
      </p:sp>
      <p:sp>
        <p:nvSpPr>
          <p:cNvPr id="18" name="Oval 17">
            <a:extLst>
              <a:ext uri="{FF2B5EF4-FFF2-40B4-BE49-F238E27FC236}">
                <a16:creationId xmlns:a16="http://schemas.microsoft.com/office/drawing/2014/main" id="{1E727557-E173-7B1C-F815-4215CBE1AAA1}"/>
              </a:ext>
            </a:extLst>
          </p:cNvPr>
          <p:cNvSpPr/>
          <p:nvPr/>
        </p:nvSpPr>
        <p:spPr>
          <a:xfrm>
            <a:off x="209935" y="4278456"/>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7</a:t>
            </a:r>
          </a:p>
        </p:txBody>
      </p:sp>
      <p:sp>
        <p:nvSpPr>
          <p:cNvPr id="19" name="Oval 18">
            <a:extLst>
              <a:ext uri="{FF2B5EF4-FFF2-40B4-BE49-F238E27FC236}">
                <a16:creationId xmlns:a16="http://schemas.microsoft.com/office/drawing/2014/main" id="{AD53F864-15BE-939F-0CBE-996A8ED44A10}"/>
              </a:ext>
            </a:extLst>
          </p:cNvPr>
          <p:cNvSpPr/>
          <p:nvPr/>
        </p:nvSpPr>
        <p:spPr>
          <a:xfrm>
            <a:off x="209935" y="4470002"/>
            <a:ext cx="182880" cy="182880"/>
          </a:xfrm>
          <a:prstGeom prst="ellipse">
            <a:avLst/>
          </a:prstGeom>
          <a:solidFill>
            <a:schemeClr val="bg2">
              <a:alpha val="25000"/>
            </a:schemeClr>
          </a:solidFill>
        </p:spPr>
        <p:txBody>
          <a:bodyPr wrap="square" lIns="0" tIns="0" rIns="0" bIns="0" rtlCol="0" anchor="ctr">
            <a:noAutofit/>
          </a:bodyPr>
          <a:lstStyle/>
          <a:p>
            <a:pPr algn="ctr">
              <a:spcBef>
                <a:spcPts val="300"/>
              </a:spcBef>
              <a:spcAft>
                <a:spcPts val="300"/>
              </a:spcAft>
            </a:pPr>
            <a:r>
              <a:rPr lang="en-US" sz="800" b="1">
                <a:solidFill>
                  <a:schemeClr val="bg2">
                    <a:lumMod val="40000"/>
                    <a:lumOff val="60000"/>
                  </a:schemeClr>
                </a:solidFill>
                <a:latin typeface="Fund Light" pitchFamily="2" charset="-78"/>
                <a:cs typeface="Fund Light" pitchFamily="2" charset="-78"/>
              </a:rPr>
              <a:t>8</a:t>
            </a:r>
          </a:p>
        </p:txBody>
      </p:sp>
      <p:sp>
        <p:nvSpPr>
          <p:cNvPr id="4" name="Rectangle: Rounded Corners 3">
            <a:extLst>
              <a:ext uri="{FF2B5EF4-FFF2-40B4-BE49-F238E27FC236}">
                <a16:creationId xmlns:a16="http://schemas.microsoft.com/office/drawing/2014/main" id="{AC623C33-DA37-A095-BF21-E982D97CDFA3}"/>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5" name="Group 4">
            <a:extLst>
              <a:ext uri="{FF2B5EF4-FFF2-40B4-BE49-F238E27FC236}">
                <a16:creationId xmlns:a16="http://schemas.microsoft.com/office/drawing/2014/main" id="{90FCBF4B-E798-9881-8C43-087270044460}"/>
              </a:ext>
            </a:extLst>
          </p:cNvPr>
          <p:cNvGrpSpPr/>
          <p:nvPr/>
        </p:nvGrpSpPr>
        <p:grpSpPr>
          <a:xfrm>
            <a:off x="3004029" y="4817276"/>
            <a:ext cx="303559" cy="303559"/>
            <a:chOff x="-577629" y="2311332"/>
            <a:chExt cx="404038" cy="404037"/>
          </a:xfrm>
        </p:grpSpPr>
        <p:sp>
          <p:nvSpPr>
            <p:cNvPr id="10" name="Oval 9">
              <a:extLst>
                <a:ext uri="{FF2B5EF4-FFF2-40B4-BE49-F238E27FC236}">
                  <a16:creationId xmlns:a16="http://schemas.microsoft.com/office/drawing/2014/main" id="{8C1EA4AC-387D-D204-8E4B-98C0C98B9ED8}"/>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036CB03-0F3B-9B4F-4036-8F8CA4094813}"/>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3" name="Group 12">
            <a:extLst>
              <a:ext uri="{FF2B5EF4-FFF2-40B4-BE49-F238E27FC236}">
                <a16:creationId xmlns:a16="http://schemas.microsoft.com/office/drawing/2014/main" id="{B7DA5AF6-0540-69AC-91DE-997FB63AFF84}"/>
              </a:ext>
            </a:extLst>
          </p:cNvPr>
          <p:cNvGrpSpPr/>
          <p:nvPr/>
        </p:nvGrpSpPr>
        <p:grpSpPr>
          <a:xfrm>
            <a:off x="6211995" y="4883810"/>
            <a:ext cx="168686" cy="161455"/>
            <a:chOff x="11260138" y="4194175"/>
            <a:chExt cx="360363" cy="379413"/>
          </a:xfrm>
        </p:grpSpPr>
        <p:sp>
          <p:nvSpPr>
            <p:cNvPr id="20" name="Freeform 289">
              <a:extLst>
                <a:ext uri="{FF2B5EF4-FFF2-40B4-BE49-F238E27FC236}">
                  <a16:creationId xmlns:a16="http://schemas.microsoft.com/office/drawing/2014/main" id="{9AA3CFE9-226D-241B-3E48-6C8208EEE083}"/>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290">
              <a:extLst>
                <a:ext uri="{FF2B5EF4-FFF2-40B4-BE49-F238E27FC236}">
                  <a16:creationId xmlns:a16="http://schemas.microsoft.com/office/drawing/2014/main" id="{D159DDD4-DB9E-C97C-8A90-00F1B93BD66D}"/>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291">
              <a:extLst>
                <a:ext uri="{FF2B5EF4-FFF2-40B4-BE49-F238E27FC236}">
                  <a16:creationId xmlns:a16="http://schemas.microsoft.com/office/drawing/2014/main" id="{81A63627-807D-00CB-D61A-85DB67D8BEE3}"/>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97029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DDB93FF-A250-7242-2614-A0B4635A4B5A}"/>
              </a:ext>
            </a:extLst>
          </p:cNvPr>
          <p:cNvGraphicFramePr>
            <a:graphicFrameLocks noChangeAspect="1"/>
          </p:cNvGraphicFramePr>
          <p:nvPr>
            <p:custDataLst>
              <p:tags r:id="rId1"/>
            </p:custDataLst>
            <p:extLst>
              <p:ext uri="{D42A27DB-BD31-4B8C-83A1-F6EECF244321}">
                <p14:modId xmlns:p14="http://schemas.microsoft.com/office/powerpoint/2010/main" val="14928100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60" imgH="360" progId="TCLayout.ActiveDocument.1">
                  <p:embed/>
                </p:oleObj>
              </mc:Choice>
              <mc:Fallback>
                <p:oleObj name="think-cell Slide" r:id="rId7" imgW="360" imgH="360" progId="TCLayout.ActiveDocument.1">
                  <p:embed/>
                  <p:pic>
                    <p:nvPicPr>
                      <p:cNvPr id="6" name="think-cell data - do not delete" hidden="1">
                        <a:extLst>
                          <a:ext uri="{FF2B5EF4-FFF2-40B4-BE49-F238E27FC236}">
                            <a16:creationId xmlns:a16="http://schemas.microsoft.com/office/drawing/2014/main" id="{ADDB93FF-A250-7242-2614-A0B4635A4B5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608642-63D6-72D7-4A0D-A32F5EB5555D}"/>
              </a:ext>
            </a:extLst>
          </p:cNvPr>
          <p:cNvSpPr>
            <a:spLocks noGrp="1"/>
          </p:cNvSpPr>
          <p:nvPr>
            <p:ph type="title"/>
          </p:nvPr>
        </p:nvSpPr>
        <p:spPr/>
        <p:txBody>
          <a:bodyPr vert="horz"/>
          <a:lstStyle/>
          <a:p>
            <a:r>
              <a:rPr lang="en-GB"/>
              <a:t>RfP evaluation process – technical and commercial scoring</a:t>
            </a:r>
          </a:p>
        </p:txBody>
      </p:sp>
      <p:sp>
        <p:nvSpPr>
          <p:cNvPr id="15" name="ee4pHeader1">
            <a:extLst>
              <a:ext uri="{FF2B5EF4-FFF2-40B4-BE49-F238E27FC236}">
                <a16:creationId xmlns:a16="http://schemas.microsoft.com/office/drawing/2014/main" id="{6F23ECA2-86F0-AD21-E7D3-3C24346DD8A7}"/>
              </a:ext>
            </a:extLst>
          </p:cNvPr>
          <p:cNvSpPr/>
          <p:nvPr>
            <p:custDataLst>
              <p:tags r:id="rId2"/>
            </p:custDataLst>
          </p:nvPr>
        </p:nvSpPr>
        <p:spPr bwMode="auto">
          <a:xfrm>
            <a:off x="475358" y="852672"/>
            <a:ext cx="5341285" cy="418504"/>
          </a:xfrm>
          <a:prstGeom prst="homePlate">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Technical evaluation</a:t>
            </a:r>
          </a:p>
        </p:txBody>
      </p:sp>
      <p:sp>
        <p:nvSpPr>
          <p:cNvPr id="16" name="ee4pHeader2">
            <a:extLst>
              <a:ext uri="{FF2B5EF4-FFF2-40B4-BE49-F238E27FC236}">
                <a16:creationId xmlns:a16="http://schemas.microsoft.com/office/drawing/2014/main" id="{DAD7F6CA-253A-A488-3718-CFA907BE0CBE}"/>
              </a:ext>
            </a:extLst>
          </p:cNvPr>
          <p:cNvSpPr/>
          <p:nvPr>
            <p:custDataLst>
              <p:tags r:id="rId3"/>
            </p:custDataLst>
          </p:nvPr>
        </p:nvSpPr>
        <p:spPr bwMode="auto">
          <a:xfrm>
            <a:off x="6345827" y="852672"/>
            <a:ext cx="2457388" cy="418504"/>
          </a:xfrm>
          <a:prstGeom prst="chevron">
            <a:avLst>
              <a:gd name="adj" fmla="val 1969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10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Commercial evaluation</a:t>
            </a:r>
          </a:p>
        </p:txBody>
      </p:sp>
      <p:sp>
        <p:nvSpPr>
          <p:cNvPr id="17" name="Rectangle 16">
            <a:extLst>
              <a:ext uri="{FF2B5EF4-FFF2-40B4-BE49-F238E27FC236}">
                <a16:creationId xmlns:a16="http://schemas.microsoft.com/office/drawing/2014/main" id="{98A779DB-31B1-616C-7285-F77086C6E121}"/>
              </a:ext>
            </a:extLst>
          </p:cNvPr>
          <p:cNvSpPr>
            <a:spLocks/>
          </p:cNvSpPr>
          <p:nvPr/>
        </p:nvSpPr>
        <p:spPr>
          <a:xfrm>
            <a:off x="613055" y="1456504"/>
            <a:ext cx="1468534" cy="2434166"/>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Technical Screening:</a:t>
            </a:r>
          </a:p>
          <a:p>
            <a:pPr marR="0" lvl="0" algn="l" defTabSz="457200" rtl="0" eaLnBrk="1" fontAlgn="auto" latinLnBrk="0" hangingPunct="1">
              <a:lnSpc>
                <a:spcPct val="100000"/>
              </a:lnSpc>
              <a:spcBef>
                <a:spcPts val="300"/>
              </a:spcBef>
              <a:spcAft>
                <a:spcPts val="300"/>
              </a:spcAft>
              <a:buClrTx/>
              <a:buSzTx/>
              <a:tabLst/>
              <a:defRPr/>
            </a:pPr>
            <a:endParaRPr lang="en-US" sz="1000">
              <a:solidFill>
                <a:srgbClr val="000000"/>
              </a:solidFill>
              <a:latin typeface="Fund Light" pitchFamily="2" charset="-78"/>
              <a:cs typeface="Fund Light" pitchFamily="2" charset="-78"/>
            </a:endParaRPr>
          </a:p>
          <a:p>
            <a:pPr marR="0" lvl="0" algn="l" defTabSz="457200" rtl="0" eaLnBrk="1" fontAlgn="auto" latinLnBrk="0" hangingPunct="1">
              <a:lnSpc>
                <a:spcPct val="100000"/>
              </a:lnSpc>
              <a:spcBef>
                <a:spcPts val="300"/>
              </a:spcBef>
              <a:spcAft>
                <a:spcPts val="300"/>
              </a:spcAft>
              <a:buClrTx/>
              <a:buSzTx/>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Shortlist only those suppliers that meet the minimum requirements of product and supply </a:t>
            </a:r>
          </a:p>
        </p:txBody>
      </p:sp>
      <p:sp>
        <p:nvSpPr>
          <p:cNvPr id="18" name="Oval 17">
            <a:extLst>
              <a:ext uri="{FF2B5EF4-FFF2-40B4-BE49-F238E27FC236}">
                <a16:creationId xmlns:a16="http://schemas.microsoft.com/office/drawing/2014/main" id="{5AC18348-FC55-6BF8-0D3E-CC1701202928}"/>
              </a:ext>
            </a:extLst>
          </p:cNvPr>
          <p:cNvSpPr/>
          <p:nvPr/>
        </p:nvSpPr>
        <p:spPr>
          <a:xfrm>
            <a:off x="475359" y="1405941"/>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A</a:t>
            </a:r>
          </a:p>
        </p:txBody>
      </p:sp>
      <p:grpSp>
        <p:nvGrpSpPr>
          <p:cNvPr id="19" name="Group 5">
            <a:extLst>
              <a:ext uri="{FF2B5EF4-FFF2-40B4-BE49-F238E27FC236}">
                <a16:creationId xmlns:a16="http://schemas.microsoft.com/office/drawing/2014/main" id="{5EFA7E1A-797F-8599-E0D3-1B069AE27B6C}"/>
              </a:ext>
            </a:extLst>
          </p:cNvPr>
          <p:cNvGrpSpPr>
            <a:grpSpLocks/>
          </p:cNvGrpSpPr>
          <p:nvPr/>
        </p:nvGrpSpPr>
        <p:grpSpPr bwMode="auto">
          <a:xfrm>
            <a:off x="2735209" y="1405941"/>
            <a:ext cx="344478" cy="2535293"/>
            <a:chOff x="1501" y="1327"/>
            <a:chExt cx="240" cy="1343"/>
          </a:xfrm>
        </p:grpSpPr>
        <p:sp>
          <p:nvSpPr>
            <p:cNvPr id="20" name="Rectangle 6">
              <a:extLst>
                <a:ext uri="{FF2B5EF4-FFF2-40B4-BE49-F238E27FC236}">
                  <a16:creationId xmlns:a16="http://schemas.microsoft.com/office/drawing/2014/main" id="{AAC01B0A-ADC9-88C7-D58B-B44A0D63FDF1}"/>
                </a:ext>
              </a:extLst>
            </p:cNvPr>
            <p:cNvSpPr>
              <a:spLocks noChangeArrowheads="1"/>
            </p:cNvSpPr>
            <p:nvPr/>
          </p:nvSpPr>
          <p:spPr bwMode="auto">
            <a:xfrm>
              <a:off x="1501" y="1495"/>
              <a:ext cx="40" cy="1175"/>
            </a:xfrm>
            <a:prstGeom prst="rect">
              <a:avLst/>
            </a:prstGeom>
            <a:pattFill prst="pct90">
              <a:fgClr>
                <a:schemeClr val="bg1"/>
              </a:fgClr>
              <a:bgClr>
                <a:schemeClr val="bg1"/>
              </a:bgClr>
            </a:pattFill>
            <a:ln w="9525">
              <a:solidFill>
                <a:schemeClr val="accent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sp>
          <p:nvSpPr>
            <p:cNvPr id="21" name="Freeform 7">
              <a:extLst>
                <a:ext uri="{FF2B5EF4-FFF2-40B4-BE49-F238E27FC236}">
                  <a16:creationId xmlns:a16="http://schemas.microsoft.com/office/drawing/2014/main" id="{9E1F752B-4223-960B-E147-BDECD70D3EE6}"/>
                </a:ext>
              </a:extLst>
            </p:cNvPr>
            <p:cNvSpPr>
              <a:spLocks/>
            </p:cNvSpPr>
            <p:nvPr/>
          </p:nvSpPr>
          <p:spPr bwMode="auto">
            <a:xfrm>
              <a:off x="1501" y="1327"/>
              <a:ext cx="240" cy="168"/>
            </a:xfrm>
            <a:custGeom>
              <a:avLst/>
              <a:gdLst>
                <a:gd name="T0" fmla="*/ 96 w 576"/>
                <a:gd name="T1" fmla="*/ 144 h 144"/>
                <a:gd name="T2" fmla="*/ 576 w 576"/>
                <a:gd name="T3" fmla="*/ 0 h 144"/>
                <a:gd name="T4" fmla="*/ 488 w 576"/>
                <a:gd name="T5" fmla="*/ 0 h 144"/>
                <a:gd name="T6" fmla="*/ 0 w 576"/>
                <a:gd name="T7" fmla="*/ 144 h 144"/>
                <a:gd name="T8" fmla="*/ 96 w 576"/>
                <a:gd name="T9" fmla="*/ 144 h 144"/>
              </a:gdLst>
              <a:ahLst/>
              <a:cxnLst>
                <a:cxn ang="0">
                  <a:pos x="T0" y="T1"/>
                </a:cxn>
                <a:cxn ang="0">
                  <a:pos x="T2" y="T3"/>
                </a:cxn>
                <a:cxn ang="0">
                  <a:pos x="T4" y="T5"/>
                </a:cxn>
                <a:cxn ang="0">
                  <a:pos x="T6" y="T7"/>
                </a:cxn>
                <a:cxn ang="0">
                  <a:pos x="T8" y="T9"/>
                </a:cxn>
              </a:cxnLst>
              <a:rect l="0" t="0" r="r" b="b"/>
              <a:pathLst>
                <a:path w="576" h="144">
                  <a:moveTo>
                    <a:pt x="96" y="144"/>
                  </a:moveTo>
                  <a:lnTo>
                    <a:pt x="576" y="0"/>
                  </a:lnTo>
                  <a:lnTo>
                    <a:pt x="488" y="0"/>
                  </a:lnTo>
                  <a:lnTo>
                    <a:pt x="0" y="144"/>
                  </a:lnTo>
                  <a:lnTo>
                    <a:pt x="96" y="144"/>
                  </a:lnTo>
                  <a:close/>
                </a:path>
              </a:pathLst>
            </a:custGeom>
            <a:pattFill prst="pct90">
              <a:fgClr>
                <a:schemeClr val="bg1"/>
              </a:fgClr>
              <a:bgClr>
                <a:schemeClr val="bg1"/>
              </a:bgClr>
            </a:pattFill>
            <a:ln w="9525" cap="flat" cmpd="sng">
              <a:solidFill>
                <a:schemeClr val="accent4"/>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sp>
          <p:nvSpPr>
            <p:cNvPr id="22" name="Freeform 8">
              <a:extLst>
                <a:ext uri="{FF2B5EF4-FFF2-40B4-BE49-F238E27FC236}">
                  <a16:creationId xmlns:a16="http://schemas.microsoft.com/office/drawing/2014/main" id="{480ED7F2-E9E1-C1C1-4B73-BAB5713310D3}"/>
                </a:ext>
              </a:extLst>
            </p:cNvPr>
            <p:cNvSpPr>
              <a:spLocks/>
            </p:cNvSpPr>
            <p:nvPr/>
          </p:nvSpPr>
          <p:spPr bwMode="auto">
            <a:xfrm>
              <a:off x="1541" y="1327"/>
              <a:ext cx="200" cy="1343"/>
            </a:xfrm>
            <a:custGeom>
              <a:avLst/>
              <a:gdLst>
                <a:gd name="T0" fmla="*/ 0 w 480"/>
                <a:gd name="T1" fmla="*/ 1152 h 1152"/>
                <a:gd name="T2" fmla="*/ 0 w 480"/>
                <a:gd name="T3" fmla="*/ 144 h 1152"/>
                <a:gd name="T4" fmla="*/ 480 w 480"/>
                <a:gd name="T5" fmla="*/ 0 h 1152"/>
                <a:gd name="T6" fmla="*/ 480 w 480"/>
                <a:gd name="T7" fmla="*/ 960 h 1152"/>
                <a:gd name="T8" fmla="*/ 0 w 480"/>
                <a:gd name="T9" fmla="*/ 1152 h 1152"/>
              </a:gdLst>
              <a:ahLst/>
              <a:cxnLst>
                <a:cxn ang="0">
                  <a:pos x="T0" y="T1"/>
                </a:cxn>
                <a:cxn ang="0">
                  <a:pos x="T2" y="T3"/>
                </a:cxn>
                <a:cxn ang="0">
                  <a:pos x="T4" y="T5"/>
                </a:cxn>
                <a:cxn ang="0">
                  <a:pos x="T6" y="T7"/>
                </a:cxn>
                <a:cxn ang="0">
                  <a:pos x="T8" y="T9"/>
                </a:cxn>
              </a:cxnLst>
              <a:rect l="0" t="0" r="r" b="b"/>
              <a:pathLst>
                <a:path w="480" h="1152">
                  <a:moveTo>
                    <a:pt x="0" y="1152"/>
                  </a:moveTo>
                  <a:lnTo>
                    <a:pt x="0" y="144"/>
                  </a:lnTo>
                  <a:lnTo>
                    <a:pt x="480" y="0"/>
                  </a:lnTo>
                  <a:lnTo>
                    <a:pt x="480" y="960"/>
                  </a:lnTo>
                  <a:lnTo>
                    <a:pt x="0" y="1152"/>
                  </a:lnTo>
                  <a:close/>
                </a:path>
              </a:pathLst>
            </a:custGeom>
            <a:solidFill>
              <a:schemeClr val="bg1"/>
            </a:solidFill>
            <a:ln w="9525" cap="flat" cmpd="sng">
              <a:solidFill>
                <a:schemeClr val="accent4"/>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sp>
          <p:nvSpPr>
            <p:cNvPr id="23" name="Freeform 9">
              <a:extLst>
                <a:ext uri="{FF2B5EF4-FFF2-40B4-BE49-F238E27FC236}">
                  <a16:creationId xmlns:a16="http://schemas.microsoft.com/office/drawing/2014/main" id="{036ED267-91A7-957F-9E08-A439CBAF812E}"/>
                </a:ext>
              </a:extLst>
            </p:cNvPr>
            <p:cNvSpPr>
              <a:spLocks/>
            </p:cNvSpPr>
            <p:nvPr/>
          </p:nvSpPr>
          <p:spPr bwMode="auto">
            <a:xfrm>
              <a:off x="1561" y="1416"/>
              <a:ext cx="163" cy="1128"/>
            </a:xfrm>
            <a:custGeom>
              <a:avLst/>
              <a:gdLst>
                <a:gd name="T0" fmla="*/ 0 w 392"/>
                <a:gd name="T1" fmla="*/ 968 h 968"/>
                <a:gd name="T2" fmla="*/ 0 w 392"/>
                <a:gd name="T3" fmla="*/ 128 h 968"/>
                <a:gd name="T4" fmla="*/ 392 w 392"/>
                <a:gd name="T5" fmla="*/ 0 h 968"/>
                <a:gd name="T6" fmla="*/ 392 w 392"/>
                <a:gd name="T7" fmla="*/ 820 h 968"/>
                <a:gd name="T8" fmla="*/ 0 w 392"/>
                <a:gd name="T9" fmla="*/ 968 h 968"/>
              </a:gdLst>
              <a:ahLst/>
              <a:cxnLst>
                <a:cxn ang="0">
                  <a:pos x="T0" y="T1"/>
                </a:cxn>
                <a:cxn ang="0">
                  <a:pos x="T2" y="T3"/>
                </a:cxn>
                <a:cxn ang="0">
                  <a:pos x="T4" y="T5"/>
                </a:cxn>
                <a:cxn ang="0">
                  <a:pos x="T6" y="T7"/>
                </a:cxn>
                <a:cxn ang="0">
                  <a:pos x="T8" y="T9"/>
                </a:cxn>
              </a:cxnLst>
              <a:rect l="0" t="0" r="r" b="b"/>
              <a:pathLst>
                <a:path w="392" h="968">
                  <a:moveTo>
                    <a:pt x="0" y="968"/>
                  </a:moveTo>
                  <a:lnTo>
                    <a:pt x="0" y="128"/>
                  </a:lnTo>
                  <a:lnTo>
                    <a:pt x="392" y="0"/>
                  </a:lnTo>
                  <a:lnTo>
                    <a:pt x="392" y="820"/>
                  </a:lnTo>
                  <a:lnTo>
                    <a:pt x="0" y="968"/>
                  </a:lnTo>
                  <a:close/>
                </a:path>
              </a:pathLst>
            </a:custGeom>
            <a:pattFill prst="openDmnd">
              <a:fgClr>
                <a:schemeClr val="tx1"/>
              </a:fgClr>
              <a:bgClr>
                <a:srgbClr val="FFFFFF"/>
              </a:bgClr>
            </a:pattFill>
            <a:ln w="9525" cap="flat" cmpd="sng">
              <a:solidFill>
                <a:schemeClr val="accent4"/>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sp>
          <p:nvSpPr>
            <p:cNvPr id="24" name="Line 10">
              <a:extLst>
                <a:ext uri="{FF2B5EF4-FFF2-40B4-BE49-F238E27FC236}">
                  <a16:creationId xmlns:a16="http://schemas.microsoft.com/office/drawing/2014/main" id="{9B27CCEF-3FC9-6C31-7607-80FA41B3F9DE}"/>
                </a:ext>
              </a:extLst>
            </p:cNvPr>
            <p:cNvSpPr>
              <a:spLocks noChangeShapeType="1"/>
            </p:cNvSpPr>
            <p:nvPr/>
          </p:nvSpPr>
          <p:spPr bwMode="auto">
            <a:xfrm>
              <a:off x="1721" y="1428"/>
              <a:ext cx="0" cy="939"/>
            </a:xfrm>
            <a:prstGeom prst="line">
              <a:avLst/>
            </a:prstGeom>
            <a:noFill/>
            <a:ln w="9525">
              <a:solidFill>
                <a:schemeClr val="accent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sp>
          <p:nvSpPr>
            <p:cNvPr id="25" name="Line 11">
              <a:extLst>
                <a:ext uri="{FF2B5EF4-FFF2-40B4-BE49-F238E27FC236}">
                  <a16:creationId xmlns:a16="http://schemas.microsoft.com/office/drawing/2014/main" id="{42F60B2B-F57C-86BB-87D8-872D5BBE3244}"/>
                </a:ext>
              </a:extLst>
            </p:cNvPr>
            <p:cNvSpPr>
              <a:spLocks noChangeShapeType="1"/>
            </p:cNvSpPr>
            <p:nvPr/>
          </p:nvSpPr>
          <p:spPr bwMode="auto">
            <a:xfrm flipH="1">
              <a:off x="1561" y="2367"/>
              <a:ext cx="160" cy="171"/>
            </a:xfrm>
            <a:prstGeom prst="line">
              <a:avLst/>
            </a:prstGeom>
            <a:noFill/>
            <a:ln w="12700">
              <a:solidFill>
                <a:schemeClr val="accent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b="1">
                <a:solidFill>
                  <a:srgbClr val="000000"/>
                </a:solidFill>
              </a:endParaRPr>
            </a:p>
          </p:txBody>
        </p:sp>
      </p:grpSp>
      <p:cxnSp>
        <p:nvCxnSpPr>
          <p:cNvPr id="26" name="Straight Arrow Connector 25">
            <a:extLst>
              <a:ext uri="{FF2B5EF4-FFF2-40B4-BE49-F238E27FC236}">
                <a16:creationId xmlns:a16="http://schemas.microsoft.com/office/drawing/2014/main" id="{36E42CA3-EA78-64BA-8B30-CA50CF02A820}"/>
              </a:ext>
            </a:extLst>
          </p:cNvPr>
          <p:cNvCxnSpPr>
            <a:cxnSpLocks/>
          </p:cNvCxnSpPr>
          <p:nvPr/>
        </p:nvCxnSpPr>
        <p:spPr>
          <a:xfrm>
            <a:off x="2252304" y="2673587"/>
            <a:ext cx="319040"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0D75E6F-92E0-A903-932F-1DEC7A28C7DA}"/>
              </a:ext>
            </a:extLst>
          </p:cNvPr>
          <p:cNvSpPr>
            <a:spLocks/>
          </p:cNvSpPr>
          <p:nvPr/>
        </p:nvSpPr>
        <p:spPr>
          <a:xfrm>
            <a:off x="3912396" y="2125371"/>
            <a:ext cx="1700767" cy="1096432"/>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Technical Scoring:</a:t>
            </a:r>
          </a:p>
          <a:p>
            <a:pPr marR="0" lvl="0" algn="l" defTabSz="457200" rtl="0" eaLnBrk="1" fontAlgn="auto" latinLnBrk="0" hangingPunct="1">
              <a:lnSpc>
                <a:spcPct val="100000"/>
              </a:lnSpc>
              <a:spcBef>
                <a:spcPts val="300"/>
              </a:spcBef>
              <a:spcAft>
                <a:spcPts val="300"/>
              </a:spcAft>
              <a:buClrTx/>
              <a:buSzTx/>
              <a:tabLst/>
              <a:defRPr/>
            </a:pPr>
            <a:endParaRPr lang="en-US" sz="1000">
              <a:solidFill>
                <a:srgbClr val="000000"/>
              </a:solidFill>
              <a:latin typeface="Fund Light" pitchFamily="2" charset="-78"/>
              <a:cs typeface="Fund Light" pitchFamily="2" charset="-78"/>
            </a:endParaRPr>
          </a:p>
          <a:p>
            <a:pPr marR="0" lvl="0" algn="l" defTabSz="457200" rtl="0" eaLnBrk="1" fontAlgn="auto" latinLnBrk="0" hangingPunct="1">
              <a:lnSpc>
                <a:spcPct val="100000"/>
              </a:lnSpc>
              <a:spcBef>
                <a:spcPts val="300"/>
              </a:spcBef>
              <a:spcAft>
                <a:spcPts val="300"/>
              </a:spcAft>
              <a:buClrTx/>
              <a:buSzTx/>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Score each shortlisted supplier against</a:t>
            </a:r>
            <a:r>
              <a:rPr lang="en-US" sz="1000">
                <a:solidFill>
                  <a:srgbClr val="000000"/>
                </a:solidFill>
                <a:latin typeface="Fund Light" pitchFamily="2" charset="-78"/>
                <a:cs typeface="Fund Light" pitchFamily="2" charset="-78"/>
              </a:rPr>
              <a:t> three</a:t>
            </a: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technical dimensions</a:t>
            </a:r>
          </a:p>
        </p:txBody>
      </p:sp>
      <p:sp>
        <p:nvSpPr>
          <p:cNvPr id="29" name="Oval 28">
            <a:extLst>
              <a:ext uri="{FF2B5EF4-FFF2-40B4-BE49-F238E27FC236}">
                <a16:creationId xmlns:a16="http://schemas.microsoft.com/office/drawing/2014/main" id="{EC563919-4581-2B5B-6638-F155785088A1}"/>
              </a:ext>
            </a:extLst>
          </p:cNvPr>
          <p:cNvSpPr/>
          <p:nvPr/>
        </p:nvSpPr>
        <p:spPr>
          <a:xfrm>
            <a:off x="3746559" y="2009522"/>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B</a:t>
            </a:r>
          </a:p>
        </p:txBody>
      </p:sp>
      <p:cxnSp>
        <p:nvCxnSpPr>
          <p:cNvPr id="30" name="Straight Arrow Connector 29">
            <a:extLst>
              <a:ext uri="{FF2B5EF4-FFF2-40B4-BE49-F238E27FC236}">
                <a16:creationId xmlns:a16="http://schemas.microsoft.com/office/drawing/2014/main" id="{EDC17225-6A5C-6633-ADF2-083D515B627A}"/>
              </a:ext>
            </a:extLst>
          </p:cNvPr>
          <p:cNvCxnSpPr>
            <a:cxnSpLocks/>
          </p:cNvCxnSpPr>
          <p:nvPr/>
        </p:nvCxnSpPr>
        <p:spPr>
          <a:xfrm>
            <a:off x="3257252" y="2673587"/>
            <a:ext cx="319040" cy="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32" name="Plus Sign 31">
            <a:extLst>
              <a:ext uri="{FF2B5EF4-FFF2-40B4-BE49-F238E27FC236}">
                <a16:creationId xmlns:a16="http://schemas.microsoft.com/office/drawing/2014/main" id="{D9763442-FDE7-5EBD-9902-638F8C329DDC}"/>
              </a:ext>
            </a:extLst>
          </p:cNvPr>
          <p:cNvSpPr/>
          <p:nvPr/>
        </p:nvSpPr>
        <p:spPr>
          <a:xfrm>
            <a:off x="5782777" y="2406589"/>
            <a:ext cx="563050" cy="533996"/>
          </a:xfrm>
          <a:prstGeom prst="mathPlus">
            <a:avLst>
              <a:gd name="adj1" fmla="val 17574"/>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ectangle 32">
            <a:extLst>
              <a:ext uri="{FF2B5EF4-FFF2-40B4-BE49-F238E27FC236}">
                <a16:creationId xmlns:a16="http://schemas.microsoft.com/office/drawing/2014/main" id="{95921259-AE2D-1FBB-C3B1-BF50455C7337}"/>
              </a:ext>
            </a:extLst>
          </p:cNvPr>
          <p:cNvSpPr>
            <a:spLocks/>
          </p:cNvSpPr>
          <p:nvPr/>
        </p:nvSpPr>
        <p:spPr>
          <a:xfrm>
            <a:off x="6555425" y="2125371"/>
            <a:ext cx="1700767" cy="1096432"/>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Commercial Scoring:</a:t>
            </a:r>
          </a:p>
          <a:p>
            <a:pPr marR="0" lvl="0" algn="l" defTabSz="457200" rtl="0" eaLnBrk="1" fontAlgn="auto" latinLnBrk="0" hangingPunct="1">
              <a:lnSpc>
                <a:spcPct val="100000"/>
              </a:lnSpc>
              <a:spcBef>
                <a:spcPts val="300"/>
              </a:spcBef>
              <a:spcAft>
                <a:spcPts val="300"/>
              </a:spcAft>
              <a:buClrTx/>
              <a:buSzTx/>
              <a:tabLst/>
              <a:defRPr/>
            </a:pPr>
            <a:endParaRPr lang="en-US" sz="1000">
              <a:solidFill>
                <a:srgbClr val="000000"/>
              </a:solidFill>
              <a:latin typeface="Fund Light" pitchFamily="2" charset="-78"/>
              <a:cs typeface="Fund Light" pitchFamily="2" charset="-78"/>
            </a:endParaRPr>
          </a:p>
          <a:p>
            <a:pPr marR="0" lvl="0" algn="l" defTabSz="457200" rtl="0" eaLnBrk="1" fontAlgn="auto" latinLnBrk="0" hangingPunct="1">
              <a:lnSpc>
                <a:spcPct val="100000"/>
              </a:lnSpc>
              <a:spcBef>
                <a:spcPts val="300"/>
              </a:spcBef>
              <a:spcAft>
                <a:spcPts val="300"/>
              </a:spcAft>
              <a:buClrTx/>
              <a:buSzTx/>
              <a:tabLst/>
              <a:defRPr/>
            </a:pPr>
            <a:r>
              <a:rPr kumimoji="0" lang="en-US" sz="100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Score each shortlisted supplier against three technical dimensions</a:t>
            </a:r>
          </a:p>
        </p:txBody>
      </p:sp>
      <p:sp>
        <p:nvSpPr>
          <p:cNvPr id="34" name="Oval 33">
            <a:extLst>
              <a:ext uri="{FF2B5EF4-FFF2-40B4-BE49-F238E27FC236}">
                <a16:creationId xmlns:a16="http://schemas.microsoft.com/office/drawing/2014/main" id="{C6DD2BB5-8861-4D40-64E6-5E6075AA0482}"/>
              </a:ext>
            </a:extLst>
          </p:cNvPr>
          <p:cNvSpPr/>
          <p:nvPr/>
        </p:nvSpPr>
        <p:spPr>
          <a:xfrm>
            <a:off x="6386867" y="2009522"/>
            <a:ext cx="275390" cy="274362"/>
          </a:xfrm>
          <a:prstGeom prst="ellipse">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609585" rtl="0" eaLnBrk="1" fontAlgn="auto" latinLnBrk="0" hangingPunct="1">
              <a:lnSpc>
                <a:spcPct val="100000"/>
              </a:lnSpc>
              <a:spcBef>
                <a:spcPts val="400"/>
              </a:spcBef>
              <a:spcAft>
                <a:spcPts val="400"/>
              </a:spcAft>
              <a:buClrTx/>
              <a:buSzTx/>
              <a:buFontTx/>
              <a:buNone/>
              <a:tabLst/>
              <a:defRPr/>
            </a:pPr>
            <a:r>
              <a:rPr lang="en-GB" sz="1000" b="1">
                <a:solidFill>
                  <a:srgbClr val="FFFFFF"/>
                </a:solidFill>
                <a:latin typeface="Fund Light" pitchFamily="2" charset="-78"/>
                <a:cs typeface="Fund Light" pitchFamily="2" charset="-78"/>
              </a:rPr>
              <a:t>C</a:t>
            </a:r>
            <a:endParaRPr kumimoji="0" lang="en-GB" sz="1000" b="1" i="0" u="none" strike="noStrike" kern="1200" cap="none" spc="0" normalizeH="0" baseline="0" noProof="0">
              <a:ln>
                <a:noFill/>
              </a:ln>
              <a:solidFill>
                <a:srgbClr val="FFFFFF"/>
              </a:solidFill>
              <a:effectLst/>
              <a:uLnTx/>
              <a:uFillTx/>
              <a:latin typeface="Fund Light" pitchFamily="2" charset="-78"/>
              <a:ea typeface="+mn-ea"/>
              <a:cs typeface="Fund Light" pitchFamily="2" charset="-78"/>
            </a:endParaRPr>
          </a:p>
        </p:txBody>
      </p:sp>
      <p:cxnSp>
        <p:nvCxnSpPr>
          <p:cNvPr id="35" name="Straight Connector 34">
            <a:extLst>
              <a:ext uri="{FF2B5EF4-FFF2-40B4-BE49-F238E27FC236}">
                <a16:creationId xmlns:a16="http://schemas.microsoft.com/office/drawing/2014/main" id="{F5200BDD-8EA3-9E48-20FC-D69935FA6096}"/>
              </a:ext>
            </a:extLst>
          </p:cNvPr>
          <p:cNvCxnSpPr>
            <a:cxnSpLocks/>
          </p:cNvCxnSpPr>
          <p:nvPr/>
        </p:nvCxnSpPr>
        <p:spPr>
          <a:xfrm rot="5400000">
            <a:off x="6024812" y="2385556"/>
            <a:ext cx="0" cy="2165543"/>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B9ACA396-0959-9630-0A26-D3E96AA1BB6D}"/>
              </a:ext>
            </a:extLst>
          </p:cNvPr>
          <p:cNvGrpSpPr/>
          <p:nvPr/>
        </p:nvGrpSpPr>
        <p:grpSpPr>
          <a:xfrm rot="5400000">
            <a:off x="5957693" y="3261540"/>
            <a:ext cx="131476" cy="413574"/>
            <a:chOff x="8518474" y="3416921"/>
            <a:chExt cx="323954" cy="594567"/>
          </a:xfrm>
        </p:grpSpPr>
        <p:sp>
          <p:nvSpPr>
            <p:cNvPr id="37" name="Isosceles Triangle 223">
              <a:extLst>
                <a:ext uri="{FF2B5EF4-FFF2-40B4-BE49-F238E27FC236}">
                  <a16:creationId xmlns:a16="http://schemas.microsoft.com/office/drawing/2014/main" id="{ADAAFB0C-86CC-A0F6-5B9D-DCA3E7476C8C}"/>
                </a:ext>
              </a:extLst>
            </p:cNvPr>
            <p:cNvSpPr/>
            <p:nvPr/>
          </p:nvSpPr>
          <p:spPr>
            <a:xfrm rot="5400000">
              <a:off x="8415642" y="3584703"/>
              <a:ext cx="594567" cy="259004"/>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a:solidFill>
                <a:schemeClr val="bg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chemeClr val="tx1">
                    <a:lumMod val="65000"/>
                    <a:lumOff val="35000"/>
                  </a:schemeClr>
                </a:solidFill>
                <a:effectLst/>
                <a:uLnTx/>
                <a:uFillTx/>
                <a:ea typeface="+mn-ea"/>
                <a:cs typeface="+mn-cs"/>
              </a:endParaRPr>
            </a:p>
          </p:txBody>
        </p:sp>
        <p:sp>
          <p:nvSpPr>
            <p:cNvPr id="38" name="Isosceles Triangle 223">
              <a:extLst>
                <a:ext uri="{FF2B5EF4-FFF2-40B4-BE49-F238E27FC236}">
                  <a16:creationId xmlns:a16="http://schemas.microsoft.com/office/drawing/2014/main" id="{08366998-1F96-8EFF-6FEF-00D5406CF7FD}"/>
                </a:ext>
              </a:extLst>
            </p:cNvPr>
            <p:cNvSpPr/>
            <p:nvPr/>
          </p:nvSpPr>
          <p:spPr>
            <a:xfrm rot="5400000">
              <a:off x="8387799" y="3613345"/>
              <a:ext cx="463071" cy="201721"/>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solidFill>
              <a:schemeClr val="bg1"/>
            </a:solidFill>
            <a:ln w="19050" cap="rnd">
              <a:solidFill>
                <a:schemeClr val="bg2"/>
              </a:solidFill>
              <a:prstDash val="sysDot"/>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98798"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a:ln>
                  <a:noFill/>
                </a:ln>
                <a:solidFill>
                  <a:schemeClr val="tx1">
                    <a:lumMod val="65000"/>
                    <a:lumOff val="35000"/>
                  </a:schemeClr>
                </a:solidFill>
                <a:effectLst/>
                <a:uLnTx/>
                <a:uFillTx/>
                <a:ea typeface="+mn-ea"/>
                <a:cs typeface="+mn-cs"/>
              </a:endParaRPr>
            </a:p>
          </p:txBody>
        </p:sp>
      </p:grpSp>
      <p:sp>
        <p:nvSpPr>
          <p:cNvPr id="42" name="Rectangle 41">
            <a:extLst>
              <a:ext uri="{FF2B5EF4-FFF2-40B4-BE49-F238E27FC236}">
                <a16:creationId xmlns:a16="http://schemas.microsoft.com/office/drawing/2014/main" id="{69A44E1F-48D6-AB20-1E87-680799CE3E08}"/>
              </a:ext>
            </a:extLst>
          </p:cNvPr>
          <p:cNvSpPr>
            <a:spLocks/>
          </p:cNvSpPr>
          <p:nvPr/>
        </p:nvSpPr>
        <p:spPr>
          <a:xfrm>
            <a:off x="3851532" y="3657488"/>
            <a:ext cx="4343796" cy="466364"/>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rtlCol="0" anchor="ctr" anchorCtr="0"/>
          <a:lstStyle/>
          <a:p>
            <a:pPr marR="0" lvl="0" algn="l" defTabSz="457200" rtl="0" eaLnBrk="1" fontAlgn="auto" latinLnBrk="0" hangingPunct="1">
              <a:lnSpc>
                <a:spcPct val="100000"/>
              </a:lnSpc>
              <a:spcBef>
                <a:spcPts val="300"/>
              </a:spcBef>
              <a:spcAft>
                <a:spcPts val="300"/>
              </a:spcAft>
              <a:buClrTx/>
              <a:buSzTx/>
              <a:tabLst/>
              <a:defRPr/>
            </a:pPr>
            <a:r>
              <a:rPr kumimoji="0" lang="en-US" sz="1000" b="1"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Best supplier identified through a weighted average of technical and commercial scores</a:t>
            </a:r>
          </a:p>
        </p:txBody>
      </p:sp>
      <p:sp>
        <p:nvSpPr>
          <p:cNvPr id="43" name="Text Placeholder 1">
            <a:extLst>
              <a:ext uri="{FF2B5EF4-FFF2-40B4-BE49-F238E27FC236}">
                <a16:creationId xmlns:a16="http://schemas.microsoft.com/office/drawing/2014/main" id="{EAA04BA5-ECCC-E52A-4B32-6B885FAF94BE}"/>
              </a:ext>
            </a:extLst>
          </p:cNvPr>
          <p:cNvSpPr txBox="1">
            <a:spLocks/>
          </p:cNvSpPr>
          <p:nvPr/>
        </p:nvSpPr>
        <p:spPr>
          <a:xfrm>
            <a:off x="1551727" y="4767025"/>
            <a:ext cx="6992076" cy="274834"/>
          </a:xfrm>
          <a:prstGeom prst="rect">
            <a:avLst/>
          </a:prstGeom>
        </p:spPr>
        <p:txBody>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600"/>
              <a:t>Note: Buyers can tailor the process (e.g., the weights of technical and commercial scores) based on existing procurement practices</a:t>
            </a:r>
          </a:p>
        </p:txBody>
      </p:sp>
      <p:sp>
        <p:nvSpPr>
          <p:cNvPr id="44" name="ee4pHeader1">
            <a:extLst>
              <a:ext uri="{FF2B5EF4-FFF2-40B4-BE49-F238E27FC236}">
                <a16:creationId xmlns:a16="http://schemas.microsoft.com/office/drawing/2014/main" id="{FB303813-C355-2E2F-1AB5-AA82552195D0}"/>
              </a:ext>
            </a:extLst>
          </p:cNvPr>
          <p:cNvSpPr/>
          <p:nvPr>
            <p:custDataLst>
              <p:tags r:id="rId4"/>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0" i="0" u="none" strike="noStrike" kern="1200" cap="none" spc="0" normalizeH="0" baseline="0" noProof="0">
                <a:ln>
                  <a:noFill/>
                </a:ln>
                <a:solidFill>
                  <a:srgbClr val="FFFFFF">
                    <a:lumMod val="50000"/>
                  </a:srgbClr>
                </a:solidFill>
                <a:effectLst/>
                <a:uLnTx/>
                <a:uFillTx/>
                <a:latin typeface="Fund Light"/>
                <a:ea typeface="+mn-ea"/>
                <a:cs typeface="+mn-cs"/>
              </a:rPr>
              <a:t>RfI</a:t>
            </a:r>
          </a:p>
        </p:txBody>
      </p:sp>
      <p:sp>
        <p:nvSpPr>
          <p:cNvPr id="45" name="ee4pHeader2">
            <a:extLst>
              <a:ext uri="{FF2B5EF4-FFF2-40B4-BE49-F238E27FC236}">
                <a16:creationId xmlns:a16="http://schemas.microsoft.com/office/drawing/2014/main" id="{9AAD2F2A-02EE-7760-1A12-84CAA1F8F061}"/>
              </a:ext>
            </a:extLst>
          </p:cNvPr>
          <p:cNvSpPr/>
          <p:nvPr>
            <p:custDataLst>
              <p:tags r:id="rId5"/>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rgbClr val="FFFFFF"/>
                </a:solidFill>
                <a:effectLst/>
                <a:uLnTx/>
                <a:uFillTx/>
                <a:latin typeface="Fund Light"/>
                <a:ea typeface="+mn-ea"/>
                <a:cs typeface="+mn-cs"/>
              </a:rPr>
              <a:t>RfP</a:t>
            </a:r>
          </a:p>
        </p:txBody>
      </p:sp>
      <p:sp>
        <p:nvSpPr>
          <p:cNvPr id="46" name="Rectangle 45">
            <a:extLst>
              <a:ext uri="{FF2B5EF4-FFF2-40B4-BE49-F238E27FC236}">
                <a16:creationId xmlns:a16="http://schemas.microsoft.com/office/drawing/2014/main" id="{411DA5A6-1305-DFF3-CCCF-4FA726A2D096}"/>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sp>
        <p:nvSpPr>
          <p:cNvPr id="47" name="Text Placeholder 6">
            <a:extLst>
              <a:ext uri="{FF2B5EF4-FFF2-40B4-BE49-F238E27FC236}">
                <a16:creationId xmlns:a16="http://schemas.microsoft.com/office/drawing/2014/main" id="{3D827040-0B51-02C7-5CE1-12E91ABAA83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p>
        </p:txBody>
      </p:sp>
      <p:sp>
        <p:nvSpPr>
          <p:cNvPr id="48" name="Oval 47">
            <a:extLst>
              <a:ext uri="{FF2B5EF4-FFF2-40B4-BE49-F238E27FC236}">
                <a16:creationId xmlns:a16="http://schemas.microsoft.com/office/drawing/2014/main" id="{9BBDDBEB-FACC-4872-825C-8E0AA77DD380}"/>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29476593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516D39B-CB0A-DBA5-CBFA-E3A6E9AC2577}"/>
              </a:ext>
            </a:extLst>
          </p:cNvPr>
          <p:cNvGraphicFramePr>
            <a:graphicFrameLocks noChangeAspect="1"/>
          </p:cNvGraphicFramePr>
          <p:nvPr>
            <p:custDataLst>
              <p:tags r:id="rId1"/>
            </p:custDataLst>
            <p:extLst>
              <p:ext uri="{D42A27DB-BD31-4B8C-83A1-F6EECF244321}">
                <p14:modId xmlns:p14="http://schemas.microsoft.com/office/powerpoint/2010/main" val="3536205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1" name="think-cell data - do not delete" hidden="1">
                        <a:extLst>
                          <a:ext uri="{FF2B5EF4-FFF2-40B4-BE49-F238E27FC236}">
                            <a16:creationId xmlns:a16="http://schemas.microsoft.com/office/drawing/2014/main" id="{C516D39B-CB0A-DBA5-CBFA-E3A6E9AC257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B1ABDD0C-D562-4464-B0BB-524838427446}"/>
              </a:ext>
            </a:extLst>
          </p:cNvPr>
          <p:cNvSpPr>
            <a:spLocks noGrp="1"/>
          </p:cNvSpPr>
          <p:nvPr>
            <p:ph type="title"/>
          </p:nvPr>
        </p:nvSpPr>
        <p:spPr/>
        <p:txBody>
          <a:bodyPr vert="horz"/>
          <a:lstStyle/>
          <a:p>
            <a:r>
              <a:rPr lang="en-US"/>
              <a:t>RfP responses should be evaluated against a minimum technical criteria</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rPr>
              <a:t>Methodology</a:t>
            </a:r>
          </a:p>
        </p:txBody>
      </p:sp>
      <p:sp>
        <p:nvSpPr>
          <p:cNvPr id="6" name="Text Placeholder 4">
            <a:extLst>
              <a:ext uri="{FF2B5EF4-FFF2-40B4-BE49-F238E27FC236}">
                <a16:creationId xmlns:a16="http://schemas.microsoft.com/office/drawing/2014/main" id="{D645B740-C78D-DC0B-E64D-BA282E48ADE8}"/>
              </a:ext>
            </a:extLst>
          </p:cNvPr>
          <p:cNvSpPr txBox="1">
            <a:spLocks/>
          </p:cNvSpPr>
          <p:nvPr/>
        </p:nvSpPr>
        <p:spPr>
          <a:xfrm>
            <a:off x="326230" y="794840"/>
            <a:ext cx="8493919" cy="186727"/>
          </a:xfrm>
          <a:prstGeom prst="rect">
            <a:avLst/>
          </a:prstGeom>
        </p:spPr>
        <p:txBody>
          <a:bodyPr vert="horz" lIns="68580" tIns="34290" rIns="68580" bIns="3429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200" b="0" kern="1200">
                <a:solidFill>
                  <a:schemeClr val="tx1">
                    <a:lumMod val="65000"/>
                    <a:lumOff val="35000"/>
                  </a:schemeClr>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332A">
                    <a:lumMod val="65000"/>
                    <a:lumOff val="35000"/>
                  </a:srgbClr>
                </a:solidFill>
                <a:effectLst/>
                <a:uLnTx/>
                <a:uFillTx/>
                <a:latin typeface="Fund Regular" pitchFamily="2" charset="-78"/>
                <a:ea typeface="+mn-ea"/>
                <a:cs typeface="Fund Regular" pitchFamily="2" charset="-78"/>
              </a:rPr>
              <a:t> </a:t>
            </a:r>
          </a:p>
        </p:txBody>
      </p:sp>
      <p:cxnSp>
        <p:nvCxnSpPr>
          <p:cNvPr id="9" name="Straight Connector 8">
            <a:extLst>
              <a:ext uri="{FF2B5EF4-FFF2-40B4-BE49-F238E27FC236}">
                <a16:creationId xmlns:a16="http://schemas.microsoft.com/office/drawing/2014/main" id="{195AA0D2-6722-9B9F-29AB-4CD516F607E5}"/>
              </a:ext>
            </a:extLst>
          </p:cNvPr>
          <p:cNvCxnSpPr>
            <a:cxnSpLocks/>
          </p:cNvCxnSpPr>
          <p:nvPr/>
        </p:nvCxnSpPr>
        <p:spPr>
          <a:xfrm>
            <a:off x="1609725" y="1078568"/>
            <a:ext cx="256032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ECF62F-BE5A-DB76-9123-DAE14187BDBA}"/>
              </a:ext>
            </a:extLst>
          </p:cNvPr>
          <p:cNvSpPr txBox="1"/>
          <p:nvPr/>
        </p:nvSpPr>
        <p:spPr>
          <a:xfrm>
            <a:off x="1609723" y="771525"/>
            <a:ext cx="2827404"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Shortlisting criteria</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2" name="Straight Connector 11">
            <a:extLst>
              <a:ext uri="{FF2B5EF4-FFF2-40B4-BE49-F238E27FC236}">
                <a16:creationId xmlns:a16="http://schemas.microsoft.com/office/drawing/2014/main" id="{EBB80799-F3BA-58D9-3217-FF84BB85CD3C}"/>
              </a:ext>
            </a:extLst>
          </p:cNvPr>
          <p:cNvCxnSpPr>
            <a:cxnSpLocks/>
          </p:cNvCxnSpPr>
          <p:nvPr/>
        </p:nvCxnSpPr>
        <p:spPr>
          <a:xfrm>
            <a:off x="83247" y="1078568"/>
            <a:ext cx="1367728"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CB6637-54BC-630C-00B4-D29B42F10744}"/>
              </a:ext>
            </a:extLst>
          </p:cNvPr>
          <p:cNvSpPr txBox="1">
            <a:spLocks/>
          </p:cNvSpPr>
          <p:nvPr/>
        </p:nvSpPr>
        <p:spPr>
          <a:xfrm>
            <a:off x="107420" y="771525"/>
            <a:ext cx="1468968"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Dimension</a:t>
            </a:r>
          </a:p>
        </p:txBody>
      </p:sp>
      <p:cxnSp>
        <p:nvCxnSpPr>
          <p:cNvPr id="34" name="Straight Connector 33">
            <a:extLst>
              <a:ext uri="{FF2B5EF4-FFF2-40B4-BE49-F238E27FC236}">
                <a16:creationId xmlns:a16="http://schemas.microsoft.com/office/drawing/2014/main" id="{E14AA76E-2FD1-D44C-26CB-D5E0A8ECCB24}"/>
              </a:ext>
            </a:extLst>
          </p:cNvPr>
          <p:cNvCxnSpPr>
            <a:cxnSpLocks/>
          </p:cNvCxnSpPr>
          <p:nvPr/>
        </p:nvCxnSpPr>
        <p:spPr>
          <a:xfrm>
            <a:off x="4520696" y="1078568"/>
            <a:ext cx="10361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658B532-9C00-8F4E-A284-6742DB0B236B}"/>
              </a:ext>
            </a:extLst>
          </p:cNvPr>
          <p:cNvSpPr txBox="1"/>
          <p:nvPr/>
        </p:nvSpPr>
        <p:spPr>
          <a:xfrm>
            <a:off x="4520696" y="617636"/>
            <a:ext cx="937754" cy="40011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failed if</a:t>
            </a:r>
          </a:p>
        </p:txBody>
      </p:sp>
      <p:cxnSp>
        <p:nvCxnSpPr>
          <p:cNvPr id="32" name="Straight Connector 31">
            <a:extLst>
              <a:ext uri="{FF2B5EF4-FFF2-40B4-BE49-F238E27FC236}">
                <a16:creationId xmlns:a16="http://schemas.microsoft.com/office/drawing/2014/main" id="{01904B7D-C9A3-478D-8069-82E1EBD483C8}"/>
              </a:ext>
            </a:extLst>
          </p:cNvPr>
          <p:cNvCxnSpPr>
            <a:cxnSpLocks/>
          </p:cNvCxnSpPr>
          <p:nvPr/>
        </p:nvCxnSpPr>
        <p:spPr>
          <a:xfrm>
            <a:off x="5595748" y="1078568"/>
            <a:ext cx="1078102"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7B8D066-AF52-4EC6-5962-8232B511581F}"/>
              </a:ext>
            </a:extLst>
          </p:cNvPr>
          <p:cNvSpPr txBox="1"/>
          <p:nvPr/>
        </p:nvSpPr>
        <p:spPr>
          <a:xfrm>
            <a:off x="5751259" y="617636"/>
            <a:ext cx="1040066" cy="40011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passed if</a:t>
            </a:r>
          </a:p>
        </p:txBody>
      </p:sp>
      <p:sp>
        <p:nvSpPr>
          <p:cNvPr id="24" name="ee4pHeader1">
            <a:extLst>
              <a:ext uri="{FF2B5EF4-FFF2-40B4-BE49-F238E27FC236}">
                <a16:creationId xmlns:a16="http://schemas.microsoft.com/office/drawing/2014/main" id="{1AAAA63A-39E7-4EA5-800F-9DFF92558B13}"/>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a:solidFill>
                  <a:srgbClr val="FFFFFF">
                    <a:lumMod val="50000"/>
                  </a:srgbClr>
                </a:solidFill>
                <a:latin typeface="Fund Light" pitchFamily="2" charset="-78"/>
                <a:cs typeface="Fund Light" pitchFamily="2" charset="-78"/>
              </a:rPr>
              <a:t>RfI</a:t>
            </a:r>
          </a:p>
        </p:txBody>
      </p:sp>
      <p:sp>
        <p:nvSpPr>
          <p:cNvPr id="25" name="ee4pHeader2">
            <a:extLst>
              <a:ext uri="{FF2B5EF4-FFF2-40B4-BE49-F238E27FC236}">
                <a16:creationId xmlns:a16="http://schemas.microsoft.com/office/drawing/2014/main" id="{25E314A1-A5B3-42CD-9987-8674C784E3B2}"/>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b="1">
                <a:solidFill>
                  <a:srgbClr val="FFFFFF"/>
                </a:solidFill>
                <a:latin typeface="Fund Light" pitchFamily="2" charset="-78"/>
                <a:cs typeface="Fund Light" pitchFamily="2" charset="-78"/>
              </a:rPr>
              <a:t>RfP</a:t>
            </a:r>
          </a:p>
        </p:txBody>
      </p:sp>
      <p:graphicFrame>
        <p:nvGraphicFramePr>
          <p:cNvPr id="30" name="Table 141">
            <a:extLst>
              <a:ext uri="{FF2B5EF4-FFF2-40B4-BE49-F238E27FC236}">
                <a16:creationId xmlns:a16="http://schemas.microsoft.com/office/drawing/2014/main" id="{EFBBFA2D-715B-39D4-A51E-A0EC793A5490}"/>
              </a:ext>
            </a:extLst>
          </p:cNvPr>
          <p:cNvGraphicFramePr>
            <a:graphicFrameLocks noGrp="1"/>
          </p:cNvGraphicFramePr>
          <p:nvPr>
            <p:extLst>
              <p:ext uri="{D42A27DB-BD31-4B8C-83A1-F6EECF244321}">
                <p14:modId xmlns:p14="http://schemas.microsoft.com/office/powerpoint/2010/main" val="2398404849"/>
              </p:ext>
            </p:extLst>
          </p:nvPr>
        </p:nvGraphicFramePr>
        <p:xfrm>
          <a:off x="298408" y="1175572"/>
          <a:ext cx="8528091" cy="3260960"/>
        </p:xfrm>
        <a:graphic>
          <a:graphicData uri="http://schemas.openxmlformats.org/drawingml/2006/table">
            <a:tbl>
              <a:tblPr firstRow="1" bandRow="1">
                <a:tableStyleId>{5C22544A-7EE6-4342-B048-85BDC9FD1C3A}</a:tableStyleId>
              </a:tblPr>
              <a:tblGrid>
                <a:gridCol w="1263693">
                  <a:extLst>
                    <a:ext uri="{9D8B030D-6E8A-4147-A177-3AD203B41FA5}">
                      <a16:colId xmlns:a16="http://schemas.microsoft.com/office/drawing/2014/main" val="1585286637"/>
                    </a:ext>
                  </a:extLst>
                </a:gridCol>
                <a:gridCol w="2900172">
                  <a:extLst>
                    <a:ext uri="{9D8B030D-6E8A-4147-A177-3AD203B41FA5}">
                      <a16:colId xmlns:a16="http://schemas.microsoft.com/office/drawing/2014/main" val="2486330668"/>
                    </a:ext>
                  </a:extLst>
                </a:gridCol>
                <a:gridCol w="1121664">
                  <a:extLst>
                    <a:ext uri="{9D8B030D-6E8A-4147-A177-3AD203B41FA5}">
                      <a16:colId xmlns:a16="http://schemas.microsoft.com/office/drawing/2014/main" val="242731654"/>
                    </a:ext>
                  </a:extLst>
                </a:gridCol>
                <a:gridCol w="1121664">
                  <a:extLst>
                    <a:ext uri="{9D8B030D-6E8A-4147-A177-3AD203B41FA5}">
                      <a16:colId xmlns:a16="http://schemas.microsoft.com/office/drawing/2014/main" val="1010882653"/>
                    </a:ext>
                  </a:extLst>
                </a:gridCol>
                <a:gridCol w="2120898">
                  <a:extLst>
                    <a:ext uri="{9D8B030D-6E8A-4147-A177-3AD203B41FA5}">
                      <a16:colId xmlns:a16="http://schemas.microsoft.com/office/drawing/2014/main" val="1109637607"/>
                    </a:ext>
                  </a:extLst>
                </a:gridCol>
              </a:tblGrid>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Proposed manufacturing</a:t>
                      </a:r>
                      <a:br>
                        <a:rPr lang="en-US" sz="1000" b="1" i="0" baseline="0">
                          <a:solidFill>
                            <a:srgbClr val="000000"/>
                          </a:solidFill>
                          <a:latin typeface="Fund Light" pitchFamily="2" charset="-78"/>
                          <a:cs typeface="Fund Light" pitchFamily="2" charset="-78"/>
                        </a:rPr>
                      </a:br>
                      <a:r>
                        <a:rPr lang="en-US" sz="1000" b="1" i="0" baseline="0">
                          <a:solidFill>
                            <a:srgbClr val="000000"/>
                          </a:solidFill>
                          <a:latin typeface="Fund Light" pitchFamily="2" charset="-78"/>
                          <a:cs typeface="Fund Light" pitchFamily="2" charset="-78"/>
                        </a:rPr>
                        <a:t>plant capacity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proposed manufacturing plant capacity above the minimum required capacity? </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4EF"/>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Product specifications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supplier committing to the production of the required specifications?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4EF"/>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5466058"/>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Manufacturing plant technology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Does the supplier have an automated factory?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4EF"/>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6252354"/>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Manufacturing plant  setup timeline</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proposed manufacturing plant setup timeline aligned with the required demand timeline?</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4EF"/>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2084066"/>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Manufacturing experience</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Does the supplier have previous manufacturing experience?</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No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4EF"/>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Supplier has previous experience in</a:t>
                      </a:r>
                    </a:p>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r>
                        <a:rPr lang="en-US" sz="1000" b="0" i="0" baseline="0">
                          <a:solidFill>
                            <a:srgbClr val="000000"/>
                          </a:solidFill>
                          <a:latin typeface="Fund Light" pitchFamily="2" charset="-78"/>
                          <a:cs typeface="Fund Light" pitchFamily="2" charset="-78"/>
                        </a:rPr>
                        <a:t>Gulf countries, and / or,</a:t>
                      </a:r>
                    </a:p>
                    <a:p>
                      <a:pPr marL="228600" marR="0" lvl="0" indent="-228600" algn="l" defTabSz="685800" rtl="0" eaLnBrk="1" fontAlgn="auto" latinLnBrk="0" hangingPunct="1">
                        <a:lnSpc>
                          <a:spcPct val="100000"/>
                        </a:lnSpc>
                        <a:spcBef>
                          <a:spcPts val="0"/>
                        </a:spcBef>
                        <a:spcAft>
                          <a:spcPts val="0"/>
                        </a:spcAft>
                        <a:buClrTx/>
                        <a:buSzTx/>
                        <a:buFont typeface="+mj-lt"/>
                        <a:buAutoNum type="arabicPeriod"/>
                        <a:tabLst/>
                        <a:defRPr/>
                      </a:pPr>
                      <a:r>
                        <a:rPr lang="en-US" sz="1000" b="0" i="0" baseline="0">
                          <a:solidFill>
                            <a:srgbClr val="000000"/>
                          </a:solidFill>
                          <a:latin typeface="Fund Light" pitchFamily="2" charset="-78"/>
                          <a:cs typeface="Fund Light" pitchFamily="2" charset="-78"/>
                        </a:rPr>
                        <a:t>Working on localization</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796829"/>
                  </a:ext>
                </a:extLst>
              </a:tr>
            </a:tbl>
          </a:graphicData>
        </a:graphic>
      </p:graphicFrame>
      <p:sp>
        <p:nvSpPr>
          <p:cNvPr id="31" name="Oval 30">
            <a:extLst>
              <a:ext uri="{FF2B5EF4-FFF2-40B4-BE49-F238E27FC236}">
                <a16:creationId xmlns:a16="http://schemas.microsoft.com/office/drawing/2014/main" id="{3E9B8E4F-A1AF-60BB-DB32-EC5535808B8B}"/>
              </a:ext>
            </a:extLst>
          </p:cNvPr>
          <p:cNvSpPr/>
          <p:nvPr/>
        </p:nvSpPr>
        <p:spPr>
          <a:xfrm>
            <a:off x="111852" y="1413849"/>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36" name="Oval 35">
            <a:extLst>
              <a:ext uri="{FF2B5EF4-FFF2-40B4-BE49-F238E27FC236}">
                <a16:creationId xmlns:a16="http://schemas.microsoft.com/office/drawing/2014/main" id="{65B9B8EE-FCD4-127B-F8E5-1C44817BF058}"/>
              </a:ext>
            </a:extLst>
          </p:cNvPr>
          <p:cNvSpPr/>
          <p:nvPr/>
        </p:nvSpPr>
        <p:spPr>
          <a:xfrm>
            <a:off x="130945" y="2057631"/>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sp>
        <p:nvSpPr>
          <p:cNvPr id="37" name="Oval 36">
            <a:extLst>
              <a:ext uri="{FF2B5EF4-FFF2-40B4-BE49-F238E27FC236}">
                <a16:creationId xmlns:a16="http://schemas.microsoft.com/office/drawing/2014/main" id="{BC5C5658-571C-3890-55D0-0C9D1BF52CCA}"/>
              </a:ext>
            </a:extLst>
          </p:cNvPr>
          <p:cNvSpPr/>
          <p:nvPr/>
        </p:nvSpPr>
        <p:spPr>
          <a:xfrm>
            <a:off x="139674" y="2709517"/>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
        <p:nvSpPr>
          <p:cNvPr id="38" name="Oval 37">
            <a:extLst>
              <a:ext uri="{FF2B5EF4-FFF2-40B4-BE49-F238E27FC236}">
                <a16:creationId xmlns:a16="http://schemas.microsoft.com/office/drawing/2014/main" id="{74D6B42C-8507-246C-27D2-085BE6694EF7}"/>
              </a:ext>
            </a:extLst>
          </p:cNvPr>
          <p:cNvSpPr/>
          <p:nvPr/>
        </p:nvSpPr>
        <p:spPr>
          <a:xfrm>
            <a:off x="139674" y="3325177"/>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4</a:t>
            </a:r>
          </a:p>
        </p:txBody>
      </p:sp>
      <p:sp>
        <p:nvSpPr>
          <p:cNvPr id="39" name="Oval 38">
            <a:extLst>
              <a:ext uri="{FF2B5EF4-FFF2-40B4-BE49-F238E27FC236}">
                <a16:creationId xmlns:a16="http://schemas.microsoft.com/office/drawing/2014/main" id="{FE2F9724-971B-F8DD-A7EF-572569DAEED2}"/>
              </a:ext>
            </a:extLst>
          </p:cNvPr>
          <p:cNvSpPr/>
          <p:nvPr/>
        </p:nvSpPr>
        <p:spPr>
          <a:xfrm>
            <a:off x="139674" y="3940836"/>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5</a:t>
            </a:r>
          </a:p>
        </p:txBody>
      </p:sp>
      <p:cxnSp>
        <p:nvCxnSpPr>
          <p:cNvPr id="51" name="Straight Connector 50">
            <a:extLst>
              <a:ext uri="{FF2B5EF4-FFF2-40B4-BE49-F238E27FC236}">
                <a16:creationId xmlns:a16="http://schemas.microsoft.com/office/drawing/2014/main" id="{F7B3A78A-7241-5C13-C335-4362AA66B6F4}"/>
              </a:ext>
            </a:extLst>
          </p:cNvPr>
          <p:cNvCxnSpPr>
            <a:cxnSpLocks/>
          </p:cNvCxnSpPr>
          <p:nvPr/>
        </p:nvCxnSpPr>
        <p:spPr>
          <a:xfrm>
            <a:off x="6854624" y="1078568"/>
            <a:ext cx="2120043"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27EE27E-6F82-0870-8E82-44CEC77B691C}"/>
              </a:ext>
            </a:extLst>
          </p:cNvPr>
          <p:cNvSpPr txBox="1"/>
          <p:nvPr/>
        </p:nvSpPr>
        <p:spPr>
          <a:xfrm>
            <a:off x="7010134" y="771525"/>
            <a:ext cx="1893583"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Preference given if</a:t>
            </a:r>
          </a:p>
        </p:txBody>
      </p:sp>
      <p:sp>
        <p:nvSpPr>
          <p:cNvPr id="7" name="Text Placeholder 6">
            <a:extLst>
              <a:ext uri="{FF2B5EF4-FFF2-40B4-BE49-F238E27FC236}">
                <a16:creationId xmlns:a16="http://schemas.microsoft.com/office/drawing/2014/main" id="{78133C5D-518D-AEDC-BE3D-5EE8E2A8F25A}"/>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endParaRPr lang="en-US" b="1"/>
          </a:p>
        </p:txBody>
      </p:sp>
      <p:sp>
        <p:nvSpPr>
          <p:cNvPr id="8" name="Oval 7">
            <a:extLst>
              <a:ext uri="{FF2B5EF4-FFF2-40B4-BE49-F238E27FC236}">
                <a16:creationId xmlns:a16="http://schemas.microsoft.com/office/drawing/2014/main" id="{882CB3C2-EE91-D7BE-7825-F7522DBD2D53}"/>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16" name="Oval 15">
            <a:extLst>
              <a:ext uri="{FF2B5EF4-FFF2-40B4-BE49-F238E27FC236}">
                <a16:creationId xmlns:a16="http://schemas.microsoft.com/office/drawing/2014/main" id="{128D5F7C-E378-655D-7C4E-016B59342402}"/>
              </a:ext>
            </a:extLst>
          </p:cNvPr>
          <p:cNvSpPr/>
          <p:nvPr/>
        </p:nvSpPr>
        <p:spPr>
          <a:xfrm>
            <a:off x="7654541" y="240596"/>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A</a:t>
            </a:r>
          </a:p>
        </p:txBody>
      </p:sp>
      <p:sp>
        <p:nvSpPr>
          <p:cNvPr id="17" name="Text Placeholder 6">
            <a:extLst>
              <a:ext uri="{FF2B5EF4-FFF2-40B4-BE49-F238E27FC236}">
                <a16:creationId xmlns:a16="http://schemas.microsoft.com/office/drawing/2014/main" id="{2EF607BE-D535-C873-CD98-AB7C69B8E987}"/>
              </a:ext>
            </a:extLst>
          </p:cNvPr>
          <p:cNvSpPr txBox="1">
            <a:spLocks/>
          </p:cNvSpPr>
          <p:nvPr/>
        </p:nvSpPr>
        <p:spPr>
          <a:xfrm>
            <a:off x="7744820" y="187566"/>
            <a:ext cx="13716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Technical screening</a:t>
            </a:r>
            <a:endParaRPr lang="en-US" b="1"/>
          </a:p>
        </p:txBody>
      </p:sp>
      <p:sp>
        <p:nvSpPr>
          <p:cNvPr id="2" name="Rectangle: Rounded Corners 1">
            <a:extLst>
              <a:ext uri="{FF2B5EF4-FFF2-40B4-BE49-F238E27FC236}">
                <a16:creationId xmlns:a16="http://schemas.microsoft.com/office/drawing/2014/main" id="{AC76E7C6-0D50-8BC8-0473-58C4AA4AE558}"/>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7"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74A59E44-C4F2-33E2-7B4E-65799E05C6AC}"/>
              </a:ext>
            </a:extLst>
          </p:cNvPr>
          <p:cNvGrpSpPr/>
          <p:nvPr/>
        </p:nvGrpSpPr>
        <p:grpSpPr>
          <a:xfrm>
            <a:off x="3004029" y="4817276"/>
            <a:ext cx="303559" cy="303559"/>
            <a:chOff x="-577629" y="2311332"/>
            <a:chExt cx="404038" cy="404037"/>
          </a:xfrm>
        </p:grpSpPr>
        <p:sp>
          <p:nvSpPr>
            <p:cNvPr id="4" name="Oval 3">
              <a:extLst>
                <a:ext uri="{FF2B5EF4-FFF2-40B4-BE49-F238E27FC236}">
                  <a16:creationId xmlns:a16="http://schemas.microsoft.com/office/drawing/2014/main" id="{60FD146E-FC81-496F-EEEF-B884E83E6478}"/>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0040E8E-0820-0753-58B7-A49AC8DC092A}"/>
                </a:ext>
              </a:extLst>
            </p:cNvPr>
            <p:cNvPicPr>
              <a:picLocks noChangeAspect="1"/>
            </p:cNvPicPr>
            <p:nvPr/>
          </p:nvPicPr>
          <p:blipFill>
            <a:blip r:embed="rId8"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4" name="Group 13">
            <a:extLst>
              <a:ext uri="{FF2B5EF4-FFF2-40B4-BE49-F238E27FC236}">
                <a16:creationId xmlns:a16="http://schemas.microsoft.com/office/drawing/2014/main" id="{3725C123-78BD-A721-494B-8F7A2EE635D8}"/>
              </a:ext>
            </a:extLst>
          </p:cNvPr>
          <p:cNvGrpSpPr/>
          <p:nvPr/>
        </p:nvGrpSpPr>
        <p:grpSpPr>
          <a:xfrm>
            <a:off x="6211995" y="4883810"/>
            <a:ext cx="168686" cy="161455"/>
            <a:chOff x="11260138" y="4194175"/>
            <a:chExt cx="360363" cy="379413"/>
          </a:xfrm>
        </p:grpSpPr>
        <p:sp>
          <p:nvSpPr>
            <p:cNvPr id="19" name="Freeform 289">
              <a:extLst>
                <a:ext uri="{FF2B5EF4-FFF2-40B4-BE49-F238E27FC236}">
                  <a16:creationId xmlns:a16="http://schemas.microsoft.com/office/drawing/2014/main" id="{72CF2FB6-A5A3-5823-0903-37A92302C5ED}"/>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90">
              <a:extLst>
                <a:ext uri="{FF2B5EF4-FFF2-40B4-BE49-F238E27FC236}">
                  <a16:creationId xmlns:a16="http://schemas.microsoft.com/office/drawing/2014/main" id="{BCCAF540-A3FB-FD0D-D536-41ECC3FE4CCB}"/>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91">
              <a:extLst>
                <a:ext uri="{FF2B5EF4-FFF2-40B4-BE49-F238E27FC236}">
                  <a16:creationId xmlns:a16="http://schemas.microsoft.com/office/drawing/2014/main" id="{4310709B-BABD-8282-EF85-B0B42120CFF0}"/>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59384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516D39B-CB0A-DBA5-CBFA-E3A6E9AC2577}"/>
              </a:ext>
            </a:extLst>
          </p:cNvPr>
          <p:cNvGraphicFramePr>
            <a:graphicFrameLocks noChangeAspect="1"/>
          </p:cNvGraphicFramePr>
          <p:nvPr>
            <p:custDataLst>
              <p:tags r:id="rId1"/>
            </p:custDataLst>
            <p:extLst>
              <p:ext uri="{D42A27DB-BD31-4B8C-83A1-F6EECF244321}">
                <p14:modId xmlns:p14="http://schemas.microsoft.com/office/powerpoint/2010/main" val="3373521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11" name="think-cell data - do not delete" hidden="1">
                        <a:extLst>
                          <a:ext uri="{FF2B5EF4-FFF2-40B4-BE49-F238E27FC236}">
                            <a16:creationId xmlns:a16="http://schemas.microsoft.com/office/drawing/2014/main" id="{C516D39B-CB0A-DBA5-CBFA-E3A6E9AC257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B1ABDD0C-D562-4464-B0BB-524838427446}"/>
              </a:ext>
            </a:extLst>
          </p:cNvPr>
          <p:cNvSpPr>
            <a:spLocks noGrp="1"/>
          </p:cNvSpPr>
          <p:nvPr>
            <p:ph type="title"/>
          </p:nvPr>
        </p:nvSpPr>
        <p:spPr>
          <a:xfrm>
            <a:off x="1255078" y="255973"/>
            <a:ext cx="7321655" cy="241824"/>
          </a:xfrm>
        </p:spPr>
        <p:txBody>
          <a:bodyPr vert="horz"/>
          <a:lstStyle/>
          <a:p>
            <a:r>
              <a:rPr lang="en-US"/>
              <a:t>Suppliers that pass technical screening should be scored against three dimensions</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lang="en-US" sz="788" b="1">
                <a:solidFill>
                  <a:srgbClr val="FFFFFF"/>
                </a:solidFill>
                <a:latin typeface="Fund Light" pitchFamily="2" charset="-78"/>
                <a:cs typeface="Fund Light" pitchFamily="2" charset="-78"/>
              </a:rPr>
              <a:t>Methodology </a:t>
            </a:r>
            <a:endPar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endParaRPr>
          </a:p>
        </p:txBody>
      </p:sp>
      <p:sp>
        <p:nvSpPr>
          <p:cNvPr id="6" name="Text Placeholder 4">
            <a:extLst>
              <a:ext uri="{FF2B5EF4-FFF2-40B4-BE49-F238E27FC236}">
                <a16:creationId xmlns:a16="http://schemas.microsoft.com/office/drawing/2014/main" id="{D645B740-C78D-DC0B-E64D-BA282E48ADE8}"/>
              </a:ext>
            </a:extLst>
          </p:cNvPr>
          <p:cNvSpPr txBox="1">
            <a:spLocks/>
          </p:cNvSpPr>
          <p:nvPr/>
        </p:nvSpPr>
        <p:spPr>
          <a:xfrm>
            <a:off x="326230" y="1208607"/>
            <a:ext cx="8493919" cy="186727"/>
          </a:xfrm>
          <a:prstGeom prst="rect">
            <a:avLst/>
          </a:prstGeom>
        </p:spPr>
        <p:txBody>
          <a:bodyPr vert="horz" lIns="68580" tIns="34290" rIns="68580" bIns="3429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200" b="0" kern="1200">
                <a:solidFill>
                  <a:schemeClr val="tx1">
                    <a:lumMod val="65000"/>
                    <a:lumOff val="35000"/>
                  </a:schemeClr>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332A">
                    <a:lumMod val="65000"/>
                    <a:lumOff val="35000"/>
                  </a:srgbClr>
                </a:solidFill>
                <a:effectLst/>
                <a:uLnTx/>
                <a:uFillTx/>
                <a:latin typeface="Fund Regular" pitchFamily="2" charset="-78"/>
                <a:ea typeface="+mn-ea"/>
                <a:cs typeface="Fund Regular" pitchFamily="2" charset="-78"/>
              </a:rPr>
              <a:t> </a:t>
            </a:r>
          </a:p>
        </p:txBody>
      </p:sp>
      <p:cxnSp>
        <p:nvCxnSpPr>
          <p:cNvPr id="9" name="Straight Connector 8">
            <a:extLst>
              <a:ext uri="{FF2B5EF4-FFF2-40B4-BE49-F238E27FC236}">
                <a16:creationId xmlns:a16="http://schemas.microsoft.com/office/drawing/2014/main" id="{195AA0D2-6722-9B9F-29AB-4CD516F607E5}"/>
              </a:ext>
            </a:extLst>
          </p:cNvPr>
          <p:cNvCxnSpPr>
            <a:cxnSpLocks/>
          </p:cNvCxnSpPr>
          <p:nvPr/>
        </p:nvCxnSpPr>
        <p:spPr>
          <a:xfrm>
            <a:off x="1609725" y="1492335"/>
            <a:ext cx="296227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ECF62F-BE5A-DB76-9123-DAE14187BDBA}"/>
              </a:ext>
            </a:extLst>
          </p:cNvPr>
          <p:cNvSpPr txBox="1"/>
          <p:nvPr/>
        </p:nvSpPr>
        <p:spPr>
          <a:xfrm>
            <a:off x="1609723" y="1185292"/>
            <a:ext cx="2827404"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criteria</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2" name="Straight Connector 11">
            <a:extLst>
              <a:ext uri="{FF2B5EF4-FFF2-40B4-BE49-F238E27FC236}">
                <a16:creationId xmlns:a16="http://schemas.microsoft.com/office/drawing/2014/main" id="{EBB80799-F3BA-58D9-3217-FF84BB85CD3C}"/>
              </a:ext>
            </a:extLst>
          </p:cNvPr>
          <p:cNvCxnSpPr>
            <a:cxnSpLocks/>
          </p:cNvCxnSpPr>
          <p:nvPr/>
        </p:nvCxnSpPr>
        <p:spPr>
          <a:xfrm>
            <a:off x="83247" y="1492335"/>
            <a:ext cx="1367728"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CB6637-54BC-630C-00B4-D29B42F10744}"/>
              </a:ext>
            </a:extLst>
          </p:cNvPr>
          <p:cNvSpPr txBox="1">
            <a:spLocks/>
          </p:cNvSpPr>
          <p:nvPr/>
        </p:nvSpPr>
        <p:spPr>
          <a:xfrm>
            <a:off x="107420" y="1185292"/>
            <a:ext cx="1468968"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Dimension</a:t>
            </a:r>
          </a:p>
        </p:txBody>
      </p:sp>
      <p:cxnSp>
        <p:nvCxnSpPr>
          <p:cNvPr id="34" name="Straight Connector 33">
            <a:extLst>
              <a:ext uri="{FF2B5EF4-FFF2-40B4-BE49-F238E27FC236}">
                <a16:creationId xmlns:a16="http://schemas.microsoft.com/office/drawing/2014/main" id="{E14AA76E-2FD1-D44C-26CB-D5E0A8ECCB24}"/>
              </a:ext>
            </a:extLst>
          </p:cNvPr>
          <p:cNvCxnSpPr>
            <a:cxnSpLocks/>
          </p:cNvCxnSpPr>
          <p:nvPr/>
        </p:nvCxnSpPr>
        <p:spPr>
          <a:xfrm>
            <a:off x="4648200" y="1492335"/>
            <a:ext cx="72390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658B532-9C00-8F4E-A284-6742DB0B236B}"/>
              </a:ext>
            </a:extLst>
          </p:cNvPr>
          <p:cNvSpPr txBox="1"/>
          <p:nvPr/>
        </p:nvSpPr>
        <p:spPr>
          <a:xfrm>
            <a:off x="4655936" y="1185292"/>
            <a:ext cx="72390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Weight</a:t>
            </a:r>
          </a:p>
        </p:txBody>
      </p:sp>
      <p:cxnSp>
        <p:nvCxnSpPr>
          <p:cNvPr id="32" name="Straight Connector 31">
            <a:extLst>
              <a:ext uri="{FF2B5EF4-FFF2-40B4-BE49-F238E27FC236}">
                <a16:creationId xmlns:a16="http://schemas.microsoft.com/office/drawing/2014/main" id="{01904B7D-C9A3-478D-8069-82E1EBD483C8}"/>
              </a:ext>
            </a:extLst>
          </p:cNvPr>
          <p:cNvCxnSpPr>
            <a:cxnSpLocks/>
          </p:cNvCxnSpPr>
          <p:nvPr/>
        </p:nvCxnSpPr>
        <p:spPr>
          <a:xfrm>
            <a:off x="5432425" y="1492335"/>
            <a:ext cx="105323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7B8D066-AF52-4EC6-5962-8232B511581F}"/>
              </a:ext>
            </a:extLst>
          </p:cNvPr>
          <p:cNvSpPr txBox="1"/>
          <p:nvPr/>
        </p:nvSpPr>
        <p:spPr>
          <a:xfrm>
            <a:off x="5457825" y="1185292"/>
            <a:ext cx="1017334" cy="24622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L3 (25%)</a:t>
            </a:r>
          </a:p>
        </p:txBody>
      </p:sp>
      <p:sp>
        <p:nvSpPr>
          <p:cNvPr id="24" name="ee4pHeader1">
            <a:extLst>
              <a:ext uri="{FF2B5EF4-FFF2-40B4-BE49-F238E27FC236}">
                <a16:creationId xmlns:a16="http://schemas.microsoft.com/office/drawing/2014/main" id="{1AAAA63A-39E7-4EA5-800F-9DFF92558B13}"/>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a:solidFill>
                  <a:srgbClr val="FFFFFF">
                    <a:lumMod val="50000"/>
                  </a:srgbClr>
                </a:solidFill>
                <a:latin typeface="Fund Light" pitchFamily="2" charset="-78"/>
                <a:cs typeface="Fund Light" pitchFamily="2" charset="-78"/>
              </a:rPr>
              <a:t>RfI</a:t>
            </a:r>
          </a:p>
        </p:txBody>
      </p:sp>
      <p:sp>
        <p:nvSpPr>
          <p:cNvPr id="25" name="ee4pHeader2">
            <a:extLst>
              <a:ext uri="{FF2B5EF4-FFF2-40B4-BE49-F238E27FC236}">
                <a16:creationId xmlns:a16="http://schemas.microsoft.com/office/drawing/2014/main" id="{25E314A1-A5B3-42CD-9987-8674C784E3B2}"/>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b="1">
                <a:solidFill>
                  <a:srgbClr val="FFFFFF"/>
                </a:solidFill>
                <a:latin typeface="Fund Light" pitchFamily="2" charset="-78"/>
                <a:cs typeface="Fund Light" pitchFamily="2" charset="-78"/>
              </a:rPr>
              <a:t>RfP</a:t>
            </a:r>
          </a:p>
        </p:txBody>
      </p:sp>
      <p:graphicFrame>
        <p:nvGraphicFramePr>
          <p:cNvPr id="30" name="Table 141">
            <a:extLst>
              <a:ext uri="{FF2B5EF4-FFF2-40B4-BE49-F238E27FC236}">
                <a16:creationId xmlns:a16="http://schemas.microsoft.com/office/drawing/2014/main" id="{EFBBFA2D-715B-39D4-A51E-A0EC793A5490}"/>
              </a:ext>
            </a:extLst>
          </p:cNvPr>
          <p:cNvGraphicFramePr>
            <a:graphicFrameLocks noGrp="1"/>
          </p:cNvGraphicFramePr>
          <p:nvPr>
            <p:extLst>
              <p:ext uri="{D42A27DB-BD31-4B8C-83A1-F6EECF244321}">
                <p14:modId xmlns:p14="http://schemas.microsoft.com/office/powerpoint/2010/main" val="1956221376"/>
              </p:ext>
            </p:extLst>
          </p:nvPr>
        </p:nvGraphicFramePr>
        <p:xfrm>
          <a:off x="298408" y="1589339"/>
          <a:ext cx="8528092" cy="1956576"/>
        </p:xfrm>
        <a:graphic>
          <a:graphicData uri="http://schemas.openxmlformats.org/drawingml/2006/table">
            <a:tbl>
              <a:tblPr firstRow="1" bandRow="1">
                <a:tableStyleId>{5C22544A-7EE6-4342-B048-85BDC9FD1C3A}</a:tableStyleId>
              </a:tblPr>
              <a:tblGrid>
                <a:gridCol w="1116804">
                  <a:extLst>
                    <a:ext uri="{9D8B030D-6E8A-4147-A177-3AD203B41FA5}">
                      <a16:colId xmlns:a16="http://schemas.microsoft.com/office/drawing/2014/main" val="1585286637"/>
                    </a:ext>
                  </a:extLst>
                </a:gridCol>
                <a:gridCol w="3207588">
                  <a:extLst>
                    <a:ext uri="{9D8B030D-6E8A-4147-A177-3AD203B41FA5}">
                      <a16:colId xmlns:a16="http://schemas.microsoft.com/office/drawing/2014/main" val="2486330668"/>
                    </a:ext>
                  </a:extLst>
                </a:gridCol>
                <a:gridCol w="778933">
                  <a:extLst>
                    <a:ext uri="{9D8B030D-6E8A-4147-A177-3AD203B41FA5}">
                      <a16:colId xmlns:a16="http://schemas.microsoft.com/office/drawing/2014/main" val="242731654"/>
                    </a:ext>
                  </a:extLst>
                </a:gridCol>
                <a:gridCol w="1141589">
                  <a:extLst>
                    <a:ext uri="{9D8B030D-6E8A-4147-A177-3AD203B41FA5}">
                      <a16:colId xmlns:a16="http://schemas.microsoft.com/office/drawing/2014/main" val="1010882653"/>
                    </a:ext>
                  </a:extLst>
                </a:gridCol>
                <a:gridCol w="1141589">
                  <a:extLst>
                    <a:ext uri="{9D8B030D-6E8A-4147-A177-3AD203B41FA5}">
                      <a16:colId xmlns:a16="http://schemas.microsoft.com/office/drawing/2014/main" val="1610450903"/>
                    </a:ext>
                  </a:extLst>
                </a:gridCol>
                <a:gridCol w="1141589">
                  <a:extLst>
                    <a:ext uri="{9D8B030D-6E8A-4147-A177-3AD203B41FA5}">
                      <a16:colId xmlns:a16="http://schemas.microsoft.com/office/drawing/2014/main" val="1109637607"/>
                    </a:ext>
                  </a:extLst>
                </a:gridCol>
              </a:tblGrid>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Proposed manufacturing</a:t>
                      </a:r>
                      <a:br>
                        <a:rPr lang="en-US" sz="1000" b="1" i="0" baseline="0">
                          <a:solidFill>
                            <a:srgbClr val="000000"/>
                          </a:solidFill>
                          <a:latin typeface="Fund Light" pitchFamily="2" charset="-78"/>
                          <a:cs typeface="Fund Light" pitchFamily="2" charset="-78"/>
                        </a:rPr>
                      </a:br>
                      <a:r>
                        <a:rPr lang="en-US" sz="1000" b="1" i="0" baseline="0">
                          <a:solidFill>
                            <a:srgbClr val="000000"/>
                          </a:solidFill>
                          <a:latin typeface="Fund Light" pitchFamily="2" charset="-78"/>
                          <a:cs typeface="Fund Light" pitchFamily="2" charset="-78"/>
                        </a:rPr>
                        <a:t>plant capacity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proposed manufacturing plant capacity above the minimum required capacity? </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50%</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926263137"/>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Product specifications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supplier committing to the production of the required specifications?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25%</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495466058"/>
                  </a:ext>
                </a:extLst>
              </a:tr>
              <a:tr h="652192">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Manufacturing plant technology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Is the technology used for manufacturing (e.g., tooling, automation, processes, etc.), world-class?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25%</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F1F1"/>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3E9"/>
                    </a:solidFill>
                  </a:tcPr>
                </a:tc>
                <a:tc>
                  <a:txBody>
                    <a:bodyPr/>
                    <a:lstStyle/>
                    <a:p>
                      <a:pPr marL="0" marR="0" lvl="0" indent="0" algn="ctr" defTabSz="685800" rtl="0" eaLnBrk="1" fontAlgn="auto" latinLnBrk="0" hangingPunct="1">
                        <a:lnSpc>
                          <a:spcPts val="1000"/>
                        </a:lnSpc>
                        <a:spcBef>
                          <a:spcPts val="0"/>
                        </a:spcBef>
                        <a:spcAft>
                          <a:spcPts val="0"/>
                        </a:spcAft>
                        <a:buClrTx/>
                        <a:buSzTx/>
                        <a:buFont typeface="+mj-lt"/>
                        <a:buNone/>
                        <a:tabLst/>
                        <a:defRPr/>
                      </a:pPr>
                      <a:r>
                        <a:rPr kumimoji="0" lang="en-US" sz="9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Dependent on opportunity </a:t>
                      </a: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6F1"/>
                    </a:solidFill>
                  </a:tcPr>
                </a:tc>
                <a:extLst>
                  <a:ext uri="{0D108BD9-81ED-4DB2-BD59-A6C34878D82A}">
                    <a16:rowId xmlns:a16="http://schemas.microsoft.com/office/drawing/2014/main" val="1516252354"/>
                  </a:ext>
                </a:extLst>
              </a:tr>
            </a:tbl>
          </a:graphicData>
        </a:graphic>
      </p:graphicFrame>
      <p:sp>
        <p:nvSpPr>
          <p:cNvPr id="31" name="Oval 30">
            <a:extLst>
              <a:ext uri="{FF2B5EF4-FFF2-40B4-BE49-F238E27FC236}">
                <a16:creationId xmlns:a16="http://schemas.microsoft.com/office/drawing/2014/main" id="{3E9B8E4F-A1AF-60BB-DB32-EC5535808B8B}"/>
              </a:ext>
            </a:extLst>
          </p:cNvPr>
          <p:cNvSpPr/>
          <p:nvPr/>
        </p:nvSpPr>
        <p:spPr>
          <a:xfrm>
            <a:off x="111852" y="1827616"/>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36" name="Oval 35">
            <a:extLst>
              <a:ext uri="{FF2B5EF4-FFF2-40B4-BE49-F238E27FC236}">
                <a16:creationId xmlns:a16="http://schemas.microsoft.com/office/drawing/2014/main" id="{65B9B8EE-FCD4-127B-F8E5-1C44817BF058}"/>
              </a:ext>
            </a:extLst>
          </p:cNvPr>
          <p:cNvSpPr/>
          <p:nvPr/>
        </p:nvSpPr>
        <p:spPr>
          <a:xfrm>
            <a:off x="130945" y="2487726"/>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sp>
        <p:nvSpPr>
          <p:cNvPr id="37" name="Oval 36">
            <a:extLst>
              <a:ext uri="{FF2B5EF4-FFF2-40B4-BE49-F238E27FC236}">
                <a16:creationId xmlns:a16="http://schemas.microsoft.com/office/drawing/2014/main" id="{BC5C5658-571C-3890-55D0-0C9D1BF52CCA}"/>
              </a:ext>
            </a:extLst>
          </p:cNvPr>
          <p:cNvSpPr/>
          <p:nvPr/>
        </p:nvSpPr>
        <p:spPr>
          <a:xfrm>
            <a:off x="139674" y="3106641"/>
            <a:ext cx="228600" cy="228600"/>
          </a:xfrm>
          <a:prstGeom prst="ellipse">
            <a:avLst/>
          </a:prstGeom>
          <a:solidFill>
            <a:schemeClr val="bg2"/>
          </a:solidFill>
          <a:ln>
            <a:solidFill>
              <a:schemeClr val="bg1"/>
            </a:solid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cxnSp>
        <p:nvCxnSpPr>
          <p:cNvPr id="45" name="Straight Connector 44">
            <a:extLst>
              <a:ext uri="{FF2B5EF4-FFF2-40B4-BE49-F238E27FC236}">
                <a16:creationId xmlns:a16="http://schemas.microsoft.com/office/drawing/2014/main" id="{7D3EA799-2A5C-2B8A-4AE3-9C4F4D02BAE2}"/>
              </a:ext>
            </a:extLst>
          </p:cNvPr>
          <p:cNvCxnSpPr>
            <a:cxnSpLocks/>
          </p:cNvCxnSpPr>
          <p:nvPr/>
        </p:nvCxnSpPr>
        <p:spPr>
          <a:xfrm>
            <a:off x="6565848" y="1492335"/>
            <a:ext cx="105323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FFB7DC8-CC50-C72C-213F-E4AD5CA16672}"/>
              </a:ext>
            </a:extLst>
          </p:cNvPr>
          <p:cNvSpPr txBox="1"/>
          <p:nvPr/>
        </p:nvSpPr>
        <p:spPr>
          <a:xfrm>
            <a:off x="6591248" y="1185292"/>
            <a:ext cx="1017334" cy="24622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L2 (75%)</a:t>
            </a:r>
          </a:p>
        </p:txBody>
      </p:sp>
      <p:cxnSp>
        <p:nvCxnSpPr>
          <p:cNvPr id="47" name="Straight Connector 46">
            <a:extLst>
              <a:ext uri="{FF2B5EF4-FFF2-40B4-BE49-F238E27FC236}">
                <a16:creationId xmlns:a16="http://schemas.microsoft.com/office/drawing/2014/main" id="{94F90BB3-BB21-EC33-2731-BA3BC40CED56}"/>
              </a:ext>
            </a:extLst>
          </p:cNvPr>
          <p:cNvCxnSpPr>
            <a:cxnSpLocks/>
          </p:cNvCxnSpPr>
          <p:nvPr/>
        </p:nvCxnSpPr>
        <p:spPr>
          <a:xfrm>
            <a:off x="7699271" y="1492335"/>
            <a:ext cx="105323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BE4B1A4-0F87-5EF7-4AE3-2F8C2A3AA30B}"/>
              </a:ext>
            </a:extLst>
          </p:cNvPr>
          <p:cNvSpPr txBox="1"/>
          <p:nvPr/>
        </p:nvSpPr>
        <p:spPr>
          <a:xfrm>
            <a:off x="7724671" y="1185292"/>
            <a:ext cx="1017334" cy="246221"/>
          </a:xfrm>
          <a:prstGeom prst="rect">
            <a:avLst/>
          </a:prstGeom>
          <a:noFill/>
        </p:spPr>
        <p:txBody>
          <a:bodyPr wrap="square" rtlCol="0" anchor="b">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L1 (100%)</a:t>
            </a:r>
          </a:p>
        </p:txBody>
      </p:sp>
      <p:sp>
        <p:nvSpPr>
          <p:cNvPr id="53" name="Rectangle 52">
            <a:extLst>
              <a:ext uri="{FF2B5EF4-FFF2-40B4-BE49-F238E27FC236}">
                <a16:creationId xmlns:a16="http://schemas.microsoft.com/office/drawing/2014/main" id="{9CFB0E89-092B-0BBE-23E7-F91FE28F9A7F}"/>
              </a:ext>
            </a:extLst>
          </p:cNvPr>
          <p:cNvSpPr/>
          <p:nvPr/>
        </p:nvSpPr>
        <p:spPr>
          <a:xfrm>
            <a:off x="5049313" y="4097750"/>
            <a:ext cx="3902268" cy="567890"/>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i="1">
                <a:solidFill>
                  <a:srgbClr val="7F7F7F"/>
                </a:solidFill>
              </a:rPr>
              <a:t>Each supplier to be evaluated (scored) and ranked (L1, L2, or L3) against technical parameters. Supplier with the highest score to be selected for further steps – evaluation of commercial proposal</a:t>
            </a:r>
          </a:p>
        </p:txBody>
      </p:sp>
      <p:sp>
        <p:nvSpPr>
          <p:cNvPr id="54" name="AutoShape 2">
            <a:extLst>
              <a:ext uri="{FF2B5EF4-FFF2-40B4-BE49-F238E27FC236}">
                <a16:creationId xmlns:a16="http://schemas.microsoft.com/office/drawing/2014/main" id="{87970065-7549-E07D-A05A-684E92DCCBDF}"/>
              </a:ext>
            </a:extLst>
          </p:cNvPr>
          <p:cNvSpPr>
            <a:spLocks noChangeArrowheads="1"/>
          </p:cNvSpPr>
          <p:nvPr>
            <p:custDataLst>
              <p:tags r:id="rId4"/>
            </p:custDataLst>
          </p:nvPr>
        </p:nvSpPr>
        <p:spPr bwMode="auto">
          <a:xfrm rot="10800000">
            <a:off x="5270942" y="3659516"/>
            <a:ext cx="3420208" cy="317500"/>
          </a:xfrm>
          <a:prstGeom prst="triangle">
            <a:avLst>
              <a:gd name="adj" fmla="val 50000"/>
            </a:avLst>
          </a:prstGeom>
          <a:solidFill>
            <a:schemeClr val="bg2"/>
          </a:solidFill>
          <a:ln>
            <a:noFill/>
          </a:ln>
          <a:effectLst/>
        </p:spPr>
        <p:txBody>
          <a:bodyPr wrap="none" lIns="45720" rIns="45720" anchor="ctr"/>
          <a:lstStyle/>
          <a:p>
            <a:pPr eaLnBrk="0" fontAlgn="base" hangingPunct="0">
              <a:spcBef>
                <a:spcPct val="0"/>
              </a:spcBef>
              <a:spcAft>
                <a:spcPct val="0"/>
              </a:spcAft>
            </a:pPr>
            <a:endParaRPr lang="en-US" sz="1200">
              <a:solidFill>
                <a:srgbClr val="000000"/>
              </a:solidFill>
            </a:endParaRPr>
          </a:p>
        </p:txBody>
      </p:sp>
      <p:sp>
        <p:nvSpPr>
          <p:cNvPr id="2" name="Text Placeholder 6">
            <a:extLst>
              <a:ext uri="{FF2B5EF4-FFF2-40B4-BE49-F238E27FC236}">
                <a16:creationId xmlns:a16="http://schemas.microsoft.com/office/drawing/2014/main" id="{C5C668E0-F4B2-AE6B-0628-2CA91D8E000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endParaRPr lang="en-US" b="1"/>
          </a:p>
        </p:txBody>
      </p:sp>
      <p:sp>
        <p:nvSpPr>
          <p:cNvPr id="3" name="Oval 2">
            <a:extLst>
              <a:ext uri="{FF2B5EF4-FFF2-40B4-BE49-F238E27FC236}">
                <a16:creationId xmlns:a16="http://schemas.microsoft.com/office/drawing/2014/main" id="{96495FAF-31D0-B561-504C-45A135CB3AD4}"/>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4" name="Oval 3">
            <a:extLst>
              <a:ext uri="{FF2B5EF4-FFF2-40B4-BE49-F238E27FC236}">
                <a16:creationId xmlns:a16="http://schemas.microsoft.com/office/drawing/2014/main" id="{F3AFB59B-BFA2-1BEE-0839-58F35D521FAF}"/>
              </a:ext>
            </a:extLst>
          </p:cNvPr>
          <p:cNvSpPr/>
          <p:nvPr/>
        </p:nvSpPr>
        <p:spPr>
          <a:xfrm>
            <a:off x="7654541" y="240596"/>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
        <p:nvSpPr>
          <p:cNvPr id="7" name="Text Placeholder 6">
            <a:extLst>
              <a:ext uri="{FF2B5EF4-FFF2-40B4-BE49-F238E27FC236}">
                <a16:creationId xmlns:a16="http://schemas.microsoft.com/office/drawing/2014/main" id="{0225D333-8C7B-D8A6-FF19-1552DD2000AA}"/>
              </a:ext>
            </a:extLst>
          </p:cNvPr>
          <p:cNvSpPr txBox="1">
            <a:spLocks/>
          </p:cNvSpPr>
          <p:nvPr/>
        </p:nvSpPr>
        <p:spPr>
          <a:xfrm>
            <a:off x="7744820" y="187566"/>
            <a:ext cx="13716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Technical scoring</a:t>
            </a:r>
            <a:endParaRPr lang="en-US" b="1"/>
          </a:p>
        </p:txBody>
      </p:sp>
      <p:sp>
        <p:nvSpPr>
          <p:cNvPr id="8" name="Rectangle: Rounded Corners 7">
            <a:extLst>
              <a:ext uri="{FF2B5EF4-FFF2-40B4-BE49-F238E27FC236}">
                <a16:creationId xmlns:a16="http://schemas.microsoft.com/office/drawing/2014/main" id="{8FA6BB6A-CE28-28E0-E818-61D22C6B4614}"/>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8" action="ppaction://hlinksldjump"/>
              </a:rPr>
              <a:t>Contacts</a:t>
            </a:r>
            <a:r>
              <a:rPr lang="en-US" sz="1000">
                <a:solidFill>
                  <a:srgbClr val="000000"/>
                </a:solidFill>
                <a:latin typeface="Fund Light" pitchFamily="2" charset="-78"/>
                <a:cs typeface="Fund Light" pitchFamily="2" charset="-78"/>
              </a:rPr>
              <a:t>)</a:t>
            </a:r>
          </a:p>
        </p:txBody>
      </p:sp>
      <p:grpSp>
        <p:nvGrpSpPr>
          <p:cNvPr id="13" name="Group 12">
            <a:extLst>
              <a:ext uri="{FF2B5EF4-FFF2-40B4-BE49-F238E27FC236}">
                <a16:creationId xmlns:a16="http://schemas.microsoft.com/office/drawing/2014/main" id="{06364B79-D948-3C58-4BA1-9716154F317F}"/>
              </a:ext>
            </a:extLst>
          </p:cNvPr>
          <p:cNvGrpSpPr/>
          <p:nvPr/>
        </p:nvGrpSpPr>
        <p:grpSpPr>
          <a:xfrm>
            <a:off x="3004029" y="4817276"/>
            <a:ext cx="303559" cy="303559"/>
            <a:chOff x="-577629" y="2311332"/>
            <a:chExt cx="404038" cy="404037"/>
          </a:xfrm>
        </p:grpSpPr>
        <p:sp>
          <p:nvSpPr>
            <p:cNvPr id="14" name="Oval 13">
              <a:extLst>
                <a:ext uri="{FF2B5EF4-FFF2-40B4-BE49-F238E27FC236}">
                  <a16:creationId xmlns:a16="http://schemas.microsoft.com/office/drawing/2014/main" id="{9010A84C-A4CD-5231-7385-490BAAC609C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B5AA5EB-B1FA-1116-A703-4B818E1021E8}"/>
                </a:ext>
              </a:extLst>
            </p:cNvPr>
            <p:cNvPicPr>
              <a:picLocks noChangeAspect="1"/>
            </p:cNvPicPr>
            <p:nvPr/>
          </p:nvPicPr>
          <p:blipFill>
            <a:blip r:embed="rId9"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7" name="Group 16">
            <a:extLst>
              <a:ext uri="{FF2B5EF4-FFF2-40B4-BE49-F238E27FC236}">
                <a16:creationId xmlns:a16="http://schemas.microsoft.com/office/drawing/2014/main" id="{900BA617-560F-34F3-1627-FAA4973CF987}"/>
              </a:ext>
            </a:extLst>
          </p:cNvPr>
          <p:cNvGrpSpPr/>
          <p:nvPr/>
        </p:nvGrpSpPr>
        <p:grpSpPr>
          <a:xfrm>
            <a:off x="6211995" y="4883810"/>
            <a:ext cx="168686" cy="161455"/>
            <a:chOff x="11260138" y="4194175"/>
            <a:chExt cx="360363" cy="379413"/>
          </a:xfrm>
        </p:grpSpPr>
        <p:sp>
          <p:nvSpPr>
            <p:cNvPr id="19" name="Freeform 289">
              <a:extLst>
                <a:ext uri="{FF2B5EF4-FFF2-40B4-BE49-F238E27FC236}">
                  <a16:creationId xmlns:a16="http://schemas.microsoft.com/office/drawing/2014/main" id="{B69965FD-A6F9-5300-F53D-4097FFC1CE1F}"/>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90">
              <a:extLst>
                <a:ext uri="{FF2B5EF4-FFF2-40B4-BE49-F238E27FC236}">
                  <a16:creationId xmlns:a16="http://schemas.microsoft.com/office/drawing/2014/main" id="{C46EC099-6E18-0BF6-8784-100300CBAEA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291">
              <a:extLst>
                <a:ext uri="{FF2B5EF4-FFF2-40B4-BE49-F238E27FC236}">
                  <a16:creationId xmlns:a16="http://schemas.microsoft.com/office/drawing/2014/main" id="{F6E7497B-2B40-58EC-4495-258700B0F8E8}"/>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 name="Speech Bubble: Rectangle 25">
            <a:extLst>
              <a:ext uri="{FF2B5EF4-FFF2-40B4-BE49-F238E27FC236}">
                <a16:creationId xmlns:a16="http://schemas.microsoft.com/office/drawing/2014/main" id="{4C786D09-05F2-3EA8-7C0A-6CD93E8857E8}"/>
              </a:ext>
            </a:extLst>
          </p:cNvPr>
          <p:cNvSpPr/>
          <p:nvPr/>
        </p:nvSpPr>
        <p:spPr>
          <a:xfrm>
            <a:off x="2974539" y="677321"/>
            <a:ext cx="3109474" cy="388859"/>
          </a:xfrm>
          <a:prstGeom prst="wedgeRectCallout">
            <a:avLst>
              <a:gd name="adj1" fmla="val 16394"/>
              <a:gd name="adj2" fmla="val 84586"/>
            </a:avLst>
          </a:prstGeom>
          <a:solidFill>
            <a:schemeClr val="bg1"/>
          </a:solidFill>
          <a:ln>
            <a:solidFill>
              <a:schemeClr val="bg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rgbClr val="000000"/>
                </a:solidFill>
                <a:latin typeface="Fund Light" pitchFamily="2" charset="-78"/>
                <a:cs typeface="Fund Light" pitchFamily="2" charset="-78"/>
              </a:rPr>
              <a:t>Weightages are indicative and can vary across companies / industries</a:t>
            </a:r>
          </a:p>
        </p:txBody>
      </p:sp>
    </p:spTree>
    <p:extLst>
      <p:ext uri="{BB962C8B-B14F-4D97-AF65-F5344CB8AC3E}">
        <p14:creationId xmlns:p14="http://schemas.microsoft.com/office/powerpoint/2010/main" val="8114036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516D39B-CB0A-DBA5-CBFA-E3A6E9AC2577}"/>
              </a:ext>
            </a:extLst>
          </p:cNvPr>
          <p:cNvGraphicFramePr>
            <a:graphicFrameLocks noChangeAspect="1"/>
          </p:cNvGraphicFramePr>
          <p:nvPr>
            <p:custDataLst>
              <p:tags r:id="rId1"/>
            </p:custDataLst>
            <p:extLst>
              <p:ext uri="{D42A27DB-BD31-4B8C-83A1-F6EECF244321}">
                <p14:modId xmlns:p14="http://schemas.microsoft.com/office/powerpoint/2010/main" val="82172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11" name="think-cell data - do not delete" hidden="1">
                        <a:extLst>
                          <a:ext uri="{FF2B5EF4-FFF2-40B4-BE49-F238E27FC236}">
                            <a16:creationId xmlns:a16="http://schemas.microsoft.com/office/drawing/2014/main" id="{C516D39B-CB0A-DBA5-CBFA-E3A6E9AC257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B1ABDD0C-D562-4464-B0BB-524838427446}"/>
              </a:ext>
            </a:extLst>
          </p:cNvPr>
          <p:cNvSpPr>
            <a:spLocks noGrp="1"/>
          </p:cNvSpPr>
          <p:nvPr>
            <p:ph type="title"/>
          </p:nvPr>
        </p:nvSpPr>
        <p:spPr>
          <a:xfrm>
            <a:off x="1255077" y="255973"/>
            <a:ext cx="6949440" cy="241824"/>
          </a:xfrm>
        </p:spPr>
        <p:txBody>
          <a:bodyPr vert="horz"/>
          <a:lstStyle/>
          <a:p>
            <a:r>
              <a:rPr lang="en-US"/>
              <a:t>Commercial evaluation is done across four dimensions</a:t>
            </a:r>
          </a:p>
        </p:txBody>
      </p:sp>
      <p:sp>
        <p:nvSpPr>
          <p:cNvPr id="18" name="Rectangle 17">
            <a:extLst>
              <a:ext uri="{FF2B5EF4-FFF2-40B4-BE49-F238E27FC236}">
                <a16:creationId xmlns:a16="http://schemas.microsoft.com/office/drawing/2014/main" id="{5BF80045-7760-A834-3EEA-91F62E182715}"/>
              </a:ext>
            </a:extLst>
          </p:cNvPr>
          <p:cNvSpPr/>
          <p:nvPr/>
        </p:nvSpPr>
        <p:spPr>
          <a:xfrm>
            <a:off x="2648052" y="2208"/>
            <a:ext cx="1789075" cy="170331"/>
          </a:xfrm>
          <a:prstGeom prst="rect">
            <a:avLst/>
          </a:prstGeom>
          <a:solidFill>
            <a:srgbClr val="005D4D"/>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225"/>
              </a:spcBef>
              <a:spcAft>
                <a:spcPts val="225"/>
              </a:spcAft>
              <a:buClrTx/>
              <a:buSzTx/>
              <a:buFontTx/>
              <a:buNone/>
              <a:tabLst/>
              <a:defRPr/>
            </a:pPr>
            <a:r>
              <a:rPr lang="en-US" sz="788" b="1">
                <a:solidFill>
                  <a:srgbClr val="FFFFFF"/>
                </a:solidFill>
                <a:latin typeface="Fund Light" pitchFamily="2" charset="-78"/>
                <a:cs typeface="Fund Light" pitchFamily="2" charset="-78"/>
              </a:rPr>
              <a:t>Methodology </a:t>
            </a:r>
            <a:endParaRPr kumimoji="0" lang="en-US" sz="788" b="1" i="0" u="none" strike="noStrike" kern="1200" cap="none" spc="0" normalizeH="0" baseline="0" noProof="0">
              <a:ln>
                <a:noFill/>
              </a:ln>
              <a:solidFill>
                <a:srgbClr val="FFFFFF"/>
              </a:solidFill>
              <a:effectLst/>
              <a:uLnTx/>
              <a:uFillTx/>
              <a:latin typeface="Fund Light" pitchFamily="2" charset="-78"/>
              <a:ea typeface="+mn-ea"/>
              <a:cs typeface="Fund Light" pitchFamily="2" charset="-78"/>
            </a:endParaRPr>
          </a:p>
        </p:txBody>
      </p:sp>
      <p:sp>
        <p:nvSpPr>
          <p:cNvPr id="6" name="Text Placeholder 4">
            <a:extLst>
              <a:ext uri="{FF2B5EF4-FFF2-40B4-BE49-F238E27FC236}">
                <a16:creationId xmlns:a16="http://schemas.microsoft.com/office/drawing/2014/main" id="{D645B740-C78D-DC0B-E64D-BA282E48ADE8}"/>
              </a:ext>
            </a:extLst>
          </p:cNvPr>
          <p:cNvSpPr txBox="1">
            <a:spLocks/>
          </p:cNvSpPr>
          <p:nvPr/>
        </p:nvSpPr>
        <p:spPr>
          <a:xfrm>
            <a:off x="326230" y="794840"/>
            <a:ext cx="8493919" cy="186727"/>
          </a:xfrm>
          <a:prstGeom prst="rect">
            <a:avLst/>
          </a:prstGeom>
        </p:spPr>
        <p:txBody>
          <a:bodyPr vert="horz" lIns="68580" tIns="34290" rIns="68580" bIns="34290" rtlCol="0" anchor="ctr">
            <a:noAutofit/>
          </a:bodyPr>
          <a:lstStyle>
            <a:lvl1pPr marL="0" indent="0" algn="l" defTabSz="914377" rtl="0" eaLnBrk="1" latinLnBrk="0" hangingPunct="1">
              <a:lnSpc>
                <a:spcPct val="90000"/>
              </a:lnSpc>
              <a:spcBef>
                <a:spcPts val="1000"/>
              </a:spcBef>
              <a:buFont typeface="Arial" panose="020B0604020202020204" pitchFamily="34" charset="0"/>
              <a:buNone/>
              <a:defRPr sz="1200" b="0" kern="1200">
                <a:solidFill>
                  <a:schemeClr val="tx1">
                    <a:lumMod val="65000"/>
                    <a:lumOff val="35000"/>
                  </a:schemeClr>
                </a:solidFill>
                <a:latin typeface="Fund Regular" pitchFamily="2" charset="-78"/>
                <a:ea typeface="+mn-ea"/>
                <a:cs typeface="Fund Regular" pitchFamily="2" charset="-78"/>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332A">
                    <a:lumMod val="65000"/>
                    <a:lumOff val="35000"/>
                  </a:srgbClr>
                </a:solidFill>
                <a:effectLst/>
                <a:uLnTx/>
                <a:uFillTx/>
                <a:latin typeface="Fund Regular" pitchFamily="2" charset="-78"/>
                <a:ea typeface="+mn-ea"/>
                <a:cs typeface="Fund Regular" pitchFamily="2" charset="-78"/>
              </a:rPr>
              <a:t> </a:t>
            </a:r>
          </a:p>
        </p:txBody>
      </p:sp>
      <p:cxnSp>
        <p:nvCxnSpPr>
          <p:cNvPr id="9" name="Straight Connector 8">
            <a:extLst>
              <a:ext uri="{FF2B5EF4-FFF2-40B4-BE49-F238E27FC236}">
                <a16:creationId xmlns:a16="http://schemas.microsoft.com/office/drawing/2014/main" id="{195AA0D2-6722-9B9F-29AB-4CD516F607E5}"/>
              </a:ext>
            </a:extLst>
          </p:cNvPr>
          <p:cNvCxnSpPr>
            <a:cxnSpLocks/>
          </p:cNvCxnSpPr>
          <p:nvPr/>
        </p:nvCxnSpPr>
        <p:spPr>
          <a:xfrm>
            <a:off x="2372360" y="1078568"/>
            <a:ext cx="21996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ECF62F-BE5A-DB76-9123-DAE14187BDBA}"/>
              </a:ext>
            </a:extLst>
          </p:cNvPr>
          <p:cNvSpPr txBox="1"/>
          <p:nvPr/>
        </p:nvSpPr>
        <p:spPr>
          <a:xfrm>
            <a:off x="2443480" y="771525"/>
            <a:ext cx="1993646"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Evaluation criteria</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2" name="Straight Connector 11">
            <a:extLst>
              <a:ext uri="{FF2B5EF4-FFF2-40B4-BE49-F238E27FC236}">
                <a16:creationId xmlns:a16="http://schemas.microsoft.com/office/drawing/2014/main" id="{EBB80799-F3BA-58D9-3217-FF84BB85CD3C}"/>
              </a:ext>
            </a:extLst>
          </p:cNvPr>
          <p:cNvCxnSpPr>
            <a:cxnSpLocks/>
          </p:cNvCxnSpPr>
          <p:nvPr/>
        </p:nvCxnSpPr>
        <p:spPr>
          <a:xfrm>
            <a:off x="83247" y="1078568"/>
            <a:ext cx="2157033"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CB6637-54BC-630C-00B4-D29B42F10744}"/>
              </a:ext>
            </a:extLst>
          </p:cNvPr>
          <p:cNvSpPr txBox="1">
            <a:spLocks/>
          </p:cNvSpPr>
          <p:nvPr/>
        </p:nvSpPr>
        <p:spPr>
          <a:xfrm>
            <a:off x="107420" y="771525"/>
            <a:ext cx="1468968"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Dimensions</a:t>
            </a:r>
          </a:p>
        </p:txBody>
      </p:sp>
      <p:cxnSp>
        <p:nvCxnSpPr>
          <p:cNvPr id="34" name="Straight Connector 33">
            <a:extLst>
              <a:ext uri="{FF2B5EF4-FFF2-40B4-BE49-F238E27FC236}">
                <a16:creationId xmlns:a16="http://schemas.microsoft.com/office/drawing/2014/main" id="{E14AA76E-2FD1-D44C-26CB-D5E0A8ECCB24}"/>
              </a:ext>
            </a:extLst>
          </p:cNvPr>
          <p:cNvCxnSpPr>
            <a:cxnSpLocks/>
          </p:cNvCxnSpPr>
          <p:nvPr/>
        </p:nvCxnSpPr>
        <p:spPr>
          <a:xfrm>
            <a:off x="4648200" y="1078568"/>
            <a:ext cx="72390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658B532-9C00-8F4E-A284-6742DB0B236B}"/>
              </a:ext>
            </a:extLst>
          </p:cNvPr>
          <p:cNvSpPr txBox="1"/>
          <p:nvPr/>
        </p:nvSpPr>
        <p:spPr>
          <a:xfrm>
            <a:off x="4655936" y="771525"/>
            <a:ext cx="72390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Weight</a:t>
            </a:r>
          </a:p>
        </p:txBody>
      </p:sp>
      <p:cxnSp>
        <p:nvCxnSpPr>
          <p:cNvPr id="32" name="Straight Connector 31">
            <a:extLst>
              <a:ext uri="{FF2B5EF4-FFF2-40B4-BE49-F238E27FC236}">
                <a16:creationId xmlns:a16="http://schemas.microsoft.com/office/drawing/2014/main" id="{01904B7D-C9A3-478D-8069-82E1EBD483C8}"/>
              </a:ext>
            </a:extLst>
          </p:cNvPr>
          <p:cNvCxnSpPr>
            <a:cxnSpLocks/>
          </p:cNvCxnSpPr>
          <p:nvPr/>
        </p:nvCxnSpPr>
        <p:spPr>
          <a:xfrm>
            <a:off x="5432425" y="1078568"/>
            <a:ext cx="319341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7B8D066-AF52-4EC6-5962-8232B511581F}"/>
              </a:ext>
            </a:extLst>
          </p:cNvPr>
          <p:cNvSpPr txBox="1"/>
          <p:nvPr/>
        </p:nvSpPr>
        <p:spPr>
          <a:xfrm>
            <a:off x="5457824" y="771525"/>
            <a:ext cx="3168015"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Scoring </a:t>
            </a:r>
            <a:r>
              <a:rPr kumimoji="0" lang="en-US" sz="700" i="1" u="none" strike="noStrike" kern="1200" cap="none" spc="0" normalizeH="0" baseline="0" noProof="0">
                <a:ln>
                  <a:noFill/>
                </a:ln>
                <a:solidFill>
                  <a:srgbClr val="C3984D"/>
                </a:solidFill>
                <a:effectLst/>
                <a:uLnTx/>
                <a:uFillTx/>
                <a:latin typeface="Fund Light" pitchFamily="2" charset="-78"/>
                <a:ea typeface="+mn-ea"/>
                <a:cs typeface="Fund Light" pitchFamily="2" charset="-78"/>
              </a:rPr>
              <a:t>(continuous scoring, normalized on the best result)</a:t>
            </a:r>
            <a:endParaRPr kumimoji="0" lang="en-US" sz="1000" i="1"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sp>
        <p:nvSpPr>
          <p:cNvPr id="24" name="ee4pHeader1">
            <a:extLst>
              <a:ext uri="{FF2B5EF4-FFF2-40B4-BE49-F238E27FC236}">
                <a16:creationId xmlns:a16="http://schemas.microsoft.com/office/drawing/2014/main" id="{1AAAA63A-39E7-4EA5-800F-9DFF92558B13}"/>
              </a:ext>
            </a:extLst>
          </p:cNvPr>
          <p:cNvSpPr/>
          <p:nvPr>
            <p:custDataLst>
              <p:tags r:id="rId2"/>
            </p:custDataLst>
          </p:nvPr>
        </p:nvSpPr>
        <p:spPr bwMode="auto">
          <a:xfrm>
            <a:off x="4917881" y="0"/>
            <a:ext cx="943814" cy="175146"/>
          </a:xfrm>
          <a:prstGeom prst="homePlate">
            <a:avLst>
              <a:gd name="adj" fmla="val 1969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a:solidFill>
                  <a:srgbClr val="FFFFFF">
                    <a:lumMod val="50000"/>
                  </a:srgbClr>
                </a:solidFill>
                <a:latin typeface="Fund Light" pitchFamily="2" charset="-78"/>
                <a:cs typeface="Fund Light" pitchFamily="2" charset="-78"/>
              </a:rPr>
              <a:t>RfI</a:t>
            </a:r>
          </a:p>
        </p:txBody>
      </p:sp>
      <p:sp>
        <p:nvSpPr>
          <p:cNvPr id="25" name="ee4pHeader2">
            <a:extLst>
              <a:ext uri="{FF2B5EF4-FFF2-40B4-BE49-F238E27FC236}">
                <a16:creationId xmlns:a16="http://schemas.microsoft.com/office/drawing/2014/main" id="{25E314A1-A5B3-42CD-9987-8674C784E3B2}"/>
              </a:ext>
            </a:extLst>
          </p:cNvPr>
          <p:cNvSpPr/>
          <p:nvPr>
            <p:custDataLst>
              <p:tags r:id="rId3"/>
            </p:custDataLst>
          </p:nvPr>
        </p:nvSpPr>
        <p:spPr bwMode="auto">
          <a:xfrm>
            <a:off x="5891054" y="0"/>
            <a:ext cx="943814" cy="175146"/>
          </a:xfrm>
          <a:prstGeom prst="chevron">
            <a:avLst>
              <a:gd name="adj" fmla="val 1969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457189">
              <a:spcBef>
                <a:spcPts val="300"/>
              </a:spcBef>
              <a:spcAft>
                <a:spcPts val="300"/>
              </a:spcAft>
            </a:pPr>
            <a:r>
              <a:rPr lang="en-GB" sz="1050" b="1">
                <a:solidFill>
                  <a:srgbClr val="FFFFFF"/>
                </a:solidFill>
                <a:latin typeface="Fund Light" pitchFamily="2" charset="-78"/>
                <a:cs typeface="Fund Light" pitchFamily="2" charset="-78"/>
              </a:rPr>
              <a:t>RfP</a:t>
            </a:r>
          </a:p>
        </p:txBody>
      </p:sp>
      <p:graphicFrame>
        <p:nvGraphicFramePr>
          <p:cNvPr id="30" name="Table 141">
            <a:extLst>
              <a:ext uri="{FF2B5EF4-FFF2-40B4-BE49-F238E27FC236}">
                <a16:creationId xmlns:a16="http://schemas.microsoft.com/office/drawing/2014/main" id="{EFBBFA2D-715B-39D4-A51E-A0EC793A5490}"/>
              </a:ext>
            </a:extLst>
          </p:cNvPr>
          <p:cNvGraphicFramePr>
            <a:graphicFrameLocks noGrp="1"/>
          </p:cNvGraphicFramePr>
          <p:nvPr>
            <p:extLst>
              <p:ext uri="{D42A27DB-BD31-4B8C-83A1-F6EECF244321}">
                <p14:modId xmlns:p14="http://schemas.microsoft.com/office/powerpoint/2010/main" val="1250298263"/>
              </p:ext>
            </p:extLst>
          </p:nvPr>
        </p:nvGraphicFramePr>
        <p:xfrm>
          <a:off x="298408" y="1175572"/>
          <a:ext cx="8395165" cy="2840704"/>
        </p:xfrm>
        <a:graphic>
          <a:graphicData uri="http://schemas.openxmlformats.org/drawingml/2006/table">
            <a:tbl>
              <a:tblPr firstRow="1" bandRow="1">
                <a:tableStyleId>{5C22544A-7EE6-4342-B048-85BDC9FD1C3A}</a:tableStyleId>
              </a:tblPr>
              <a:tblGrid>
                <a:gridCol w="2029925">
                  <a:extLst>
                    <a:ext uri="{9D8B030D-6E8A-4147-A177-3AD203B41FA5}">
                      <a16:colId xmlns:a16="http://schemas.microsoft.com/office/drawing/2014/main" val="1585286637"/>
                    </a:ext>
                  </a:extLst>
                </a:gridCol>
                <a:gridCol w="2294467">
                  <a:extLst>
                    <a:ext uri="{9D8B030D-6E8A-4147-A177-3AD203B41FA5}">
                      <a16:colId xmlns:a16="http://schemas.microsoft.com/office/drawing/2014/main" val="2486330668"/>
                    </a:ext>
                  </a:extLst>
                </a:gridCol>
                <a:gridCol w="778933">
                  <a:extLst>
                    <a:ext uri="{9D8B030D-6E8A-4147-A177-3AD203B41FA5}">
                      <a16:colId xmlns:a16="http://schemas.microsoft.com/office/drawing/2014/main" val="242731654"/>
                    </a:ext>
                  </a:extLst>
                </a:gridCol>
                <a:gridCol w="3291840">
                  <a:extLst>
                    <a:ext uri="{9D8B030D-6E8A-4147-A177-3AD203B41FA5}">
                      <a16:colId xmlns:a16="http://schemas.microsoft.com/office/drawing/2014/main" val="1010882653"/>
                    </a:ext>
                  </a:extLst>
                </a:gridCol>
              </a:tblGrid>
              <a:tr h="710176">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Estimated price </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What is the price of a unit of the product?</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40%</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endParaRPr kumimoji="0" lang="en-US" sz="1000" b="0" i="1" u="none" strike="noStrike" kern="1200" cap="none" spc="0" normalizeH="0" baseline="0">
                        <a:ln>
                          <a:noFill/>
                        </a:ln>
                        <a:solidFill>
                          <a:srgbClr val="000000"/>
                        </a:solidFill>
                        <a:effectLst/>
                        <a:uLnTx/>
                        <a:uFillTx/>
                        <a:latin typeface="Fund Light" pitchFamily="2" charset="-78"/>
                        <a:ea typeface="+mn-ea"/>
                        <a:cs typeface="Fund Light" pitchFamily="2" charset="-78"/>
                      </a:endParaRP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710176">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Number of years of annual demand commitment needed</a:t>
                      </a:r>
                      <a:endParaRPr lang="en-US" sz="1000" b="1" i="0" baseline="30000">
                        <a:solidFill>
                          <a:srgbClr val="000000"/>
                        </a:solidFill>
                        <a:latin typeface="Fund Light" pitchFamily="2" charset="-78"/>
                        <a:cs typeface="Fund Light" pitchFamily="2" charset="-78"/>
                      </a:endParaRP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How many years does the supplier want the demand commitment for?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25%</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endParaRPr kumimoji="0" lang="en-US"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5466058"/>
                  </a:ext>
                </a:extLst>
              </a:tr>
              <a:tr h="710176">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Absolute annual demand commitment needed</a:t>
                      </a:r>
                      <a:endParaRPr lang="en-US" sz="1000" b="1" i="0" baseline="30000">
                        <a:solidFill>
                          <a:srgbClr val="000000"/>
                        </a:solidFill>
                        <a:latin typeface="Fund Light" pitchFamily="2" charset="-78"/>
                        <a:cs typeface="Fund Light" pitchFamily="2" charset="-78"/>
                      </a:endParaRP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What is the absolute annual demand commitment required by the supplier?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25%</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endParaRPr kumimoji="0" lang="en-US"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6252354"/>
                  </a:ext>
                </a:extLst>
              </a:tr>
              <a:tr h="710176">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Committed share</a:t>
                      </a:r>
                      <a:br>
                        <a:rPr lang="en-US" sz="1000" b="1" i="0" baseline="0">
                          <a:solidFill>
                            <a:srgbClr val="000000"/>
                          </a:solidFill>
                          <a:latin typeface="Fund Light" pitchFamily="2" charset="-78"/>
                          <a:cs typeface="Fund Light" pitchFamily="2" charset="-78"/>
                        </a:rPr>
                      </a:br>
                      <a:r>
                        <a:rPr lang="en-US" sz="1000" b="1" i="0" baseline="0">
                          <a:solidFill>
                            <a:srgbClr val="000000"/>
                          </a:solidFill>
                          <a:latin typeface="Fund Light" pitchFamily="2" charset="-78"/>
                          <a:cs typeface="Fund Light" pitchFamily="2" charset="-78"/>
                        </a:rPr>
                        <a:t>of capacity</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What is the share of capacity the supplier is willing to commit to?</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10%</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 typeface="+mj-lt"/>
                        <a:buNone/>
                        <a:tabLst/>
                        <a:defRPr/>
                      </a:pPr>
                      <a:endParaRPr kumimoji="0" lang="en-US" sz="1000" b="0" i="1"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121920" marR="121920" marT="24384" marB="28437"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9029478"/>
                  </a:ext>
                </a:extLst>
              </a:tr>
            </a:tbl>
          </a:graphicData>
        </a:graphic>
      </p:graphicFrame>
      <p:sp>
        <p:nvSpPr>
          <p:cNvPr id="31" name="Oval 30">
            <a:extLst>
              <a:ext uri="{FF2B5EF4-FFF2-40B4-BE49-F238E27FC236}">
                <a16:creationId xmlns:a16="http://schemas.microsoft.com/office/drawing/2014/main" id="{3E9B8E4F-A1AF-60BB-DB32-EC5535808B8B}"/>
              </a:ext>
            </a:extLst>
          </p:cNvPr>
          <p:cNvSpPr/>
          <p:nvPr/>
        </p:nvSpPr>
        <p:spPr>
          <a:xfrm>
            <a:off x="111852" y="1441886"/>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36" name="Oval 35">
            <a:extLst>
              <a:ext uri="{FF2B5EF4-FFF2-40B4-BE49-F238E27FC236}">
                <a16:creationId xmlns:a16="http://schemas.microsoft.com/office/drawing/2014/main" id="{65B9B8EE-FCD4-127B-F8E5-1C44817BF058}"/>
              </a:ext>
            </a:extLst>
          </p:cNvPr>
          <p:cNvSpPr/>
          <p:nvPr/>
        </p:nvSpPr>
        <p:spPr>
          <a:xfrm>
            <a:off x="107420" y="2118453"/>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sp>
        <p:nvSpPr>
          <p:cNvPr id="37" name="Oval 36">
            <a:extLst>
              <a:ext uri="{FF2B5EF4-FFF2-40B4-BE49-F238E27FC236}">
                <a16:creationId xmlns:a16="http://schemas.microsoft.com/office/drawing/2014/main" id="{BC5C5658-571C-3890-55D0-0C9D1BF52CCA}"/>
              </a:ext>
            </a:extLst>
          </p:cNvPr>
          <p:cNvSpPr/>
          <p:nvPr/>
        </p:nvSpPr>
        <p:spPr>
          <a:xfrm>
            <a:off x="116873" y="2814136"/>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
        <p:nvSpPr>
          <p:cNvPr id="50" name="Oval 49">
            <a:extLst>
              <a:ext uri="{FF2B5EF4-FFF2-40B4-BE49-F238E27FC236}">
                <a16:creationId xmlns:a16="http://schemas.microsoft.com/office/drawing/2014/main" id="{44076C04-5AEC-95DE-8D7F-590B1EC6D8D4}"/>
              </a:ext>
            </a:extLst>
          </p:cNvPr>
          <p:cNvSpPr/>
          <p:nvPr/>
        </p:nvSpPr>
        <p:spPr>
          <a:xfrm>
            <a:off x="116873" y="3582486"/>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4</a:t>
            </a:r>
          </a:p>
        </p:txBody>
      </p:sp>
      <p:sp>
        <p:nvSpPr>
          <p:cNvPr id="55" name="Freeform 179">
            <a:extLst>
              <a:ext uri="{FF2B5EF4-FFF2-40B4-BE49-F238E27FC236}">
                <a16:creationId xmlns:a16="http://schemas.microsoft.com/office/drawing/2014/main" id="{4500D252-1E9F-C08E-9C28-CE0985CA8FD4}"/>
              </a:ext>
            </a:extLst>
          </p:cNvPr>
          <p:cNvSpPr>
            <a:spLocks/>
          </p:cNvSpPr>
          <p:nvPr/>
        </p:nvSpPr>
        <p:spPr bwMode="auto">
          <a:xfrm rot="10800000">
            <a:off x="5720287" y="1391389"/>
            <a:ext cx="2909354" cy="202489"/>
          </a:xfrm>
          <a:custGeom>
            <a:avLst/>
            <a:gdLst>
              <a:gd name="connsiteX0" fmla="*/ 120358 w 3048227"/>
              <a:gd name="connsiteY0" fmla="*/ 0 h 245359"/>
              <a:gd name="connsiteX1" fmla="*/ 659411 w 3048227"/>
              <a:gd name="connsiteY1" fmla="*/ 0 h 245359"/>
              <a:gd name="connsiteX2" fmla="*/ 721985 w 3048227"/>
              <a:gd name="connsiteY2" fmla="*/ 0 h 245359"/>
              <a:gd name="connsiteX3" fmla="*/ 997980 w 3048227"/>
              <a:gd name="connsiteY3" fmla="*/ 0 h 245359"/>
              <a:gd name="connsiteX4" fmla="*/ 1051841 w 3048227"/>
              <a:gd name="connsiteY4" fmla="*/ 0 h 245359"/>
              <a:gd name="connsiteX5" fmla="*/ 1261037 w 3048227"/>
              <a:gd name="connsiteY5" fmla="*/ 0 h 245359"/>
              <a:gd name="connsiteX6" fmla="*/ 1599519 w 3048227"/>
              <a:gd name="connsiteY6" fmla="*/ 0 h 245359"/>
              <a:gd name="connsiteX7" fmla="*/ 1653467 w 3048227"/>
              <a:gd name="connsiteY7" fmla="*/ 0 h 245359"/>
              <a:gd name="connsiteX8" fmla="*/ 2201145 w 3048227"/>
              <a:gd name="connsiteY8" fmla="*/ 0 h 245359"/>
              <a:gd name="connsiteX9" fmla="*/ 2328318 w 3048227"/>
              <a:gd name="connsiteY9" fmla="*/ 0 h 245359"/>
              <a:gd name="connsiteX10" fmla="*/ 2929944 w 3048227"/>
              <a:gd name="connsiteY10" fmla="*/ 0 h 245359"/>
              <a:gd name="connsiteX11" fmla="*/ 3048227 w 3048227"/>
              <a:gd name="connsiteY11" fmla="*/ 123746 h 245359"/>
              <a:gd name="connsiteX12" fmla="*/ 2929944 w 3048227"/>
              <a:gd name="connsiteY12" fmla="*/ 245359 h 245359"/>
              <a:gd name="connsiteX13" fmla="*/ 2390891 w 3048227"/>
              <a:gd name="connsiteY13" fmla="*/ 245359 h 245359"/>
              <a:gd name="connsiteX14" fmla="*/ 2328318 w 3048227"/>
              <a:gd name="connsiteY14" fmla="*/ 245359 h 245359"/>
              <a:gd name="connsiteX15" fmla="*/ 2293818 w 3048227"/>
              <a:gd name="connsiteY15" fmla="*/ 245359 h 245359"/>
              <a:gd name="connsiteX16" fmla="*/ 2211882 w 3048227"/>
              <a:gd name="connsiteY16" fmla="*/ 245359 h 245359"/>
              <a:gd name="connsiteX17" fmla="*/ 2052323 w 3048227"/>
              <a:gd name="connsiteY17" fmla="*/ 245359 h 245359"/>
              <a:gd name="connsiteX18" fmla="*/ 1998461 w 3048227"/>
              <a:gd name="connsiteY18" fmla="*/ 245359 h 245359"/>
              <a:gd name="connsiteX19" fmla="*/ 1789265 w 3048227"/>
              <a:gd name="connsiteY19" fmla="*/ 245359 h 245359"/>
              <a:gd name="connsiteX20" fmla="*/ 1450784 w 3048227"/>
              <a:gd name="connsiteY20" fmla="*/ 245359 h 245359"/>
              <a:gd name="connsiteX21" fmla="*/ 1396835 w 3048227"/>
              <a:gd name="connsiteY21" fmla="*/ 245359 h 245359"/>
              <a:gd name="connsiteX22" fmla="*/ 849158 w 3048227"/>
              <a:gd name="connsiteY22" fmla="*/ 245359 h 245359"/>
              <a:gd name="connsiteX23" fmla="*/ 721985 w 3048227"/>
              <a:gd name="connsiteY23" fmla="*/ 245359 h 245359"/>
              <a:gd name="connsiteX24" fmla="*/ 120358 w 3048227"/>
              <a:gd name="connsiteY24" fmla="*/ 245359 h 245359"/>
              <a:gd name="connsiteX25" fmla="*/ 0 w 3048227"/>
              <a:gd name="connsiteY25" fmla="*/ 123746 h 245359"/>
              <a:gd name="connsiteX26" fmla="*/ 120358 w 3048227"/>
              <a:gd name="connsiteY26" fmla="*/ 0 h 24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8227" h="245359">
                <a:moveTo>
                  <a:pt x="120358" y="0"/>
                </a:moveTo>
                <a:cubicBezTo>
                  <a:pt x="120358" y="0"/>
                  <a:pt x="120358" y="0"/>
                  <a:pt x="659411" y="0"/>
                </a:cubicBezTo>
                <a:lnTo>
                  <a:pt x="721985" y="0"/>
                </a:lnTo>
                <a:cubicBezTo>
                  <a:pt x="721985" y="0"/>
                  <a:pt x="721985" y="0"/>
                  <a:pt x="997980" y="0"/>
                </a:cubicBezTo>
                <a:lnTo>
                  <a:pt x="1051841" y="0"/>
                </a:lnTo>
                <a:lnTo>
                  <a:pt x="1261037" y="0"/>
                </a:lnTo>
                <a:lnTo>
                  <a:pt x="1599519" y="0"/>
                </a:lnTo>
                <a:lnTo>
                  <a:pt x="1653467" y="0"/>
                </a:lnTo>
                <a:cubicBezTo>
                  <a:pt x="1808715" y="0"/>
                  <a:pt x="1989836" y="0"/>
                  <a:pt x="2201145" y="0"/>
                </a:cubicBezTo>
                <a:lnTo>
                  <a:pt x="2328318" y="0"/>
                </a:lnTo>
                <a:lnTo>
                  <a:pt x="2929944" y="0"/>
                </a:lnTo>
                <a:cubicBezTo>
                  <a:pt x="2994273" y="0"/>
                  <a:pt x="3048227" y="55473"/>
                  <a:pt x="3048227" y="123746"/>
                </a:cubicBezTo>
                <a:cubicBezTo>
                  <a:pt x="3048227" y="189887"/>
                  <a:pt x="2994273" y="245359"/>
                  <a:pt x="2929944" y="245359"/>
                </a:cubicBezTo>
                <a:cubicBezTo>
                  <a:pt x="2929944" y="245359"/>
                  <a:pt x="2929944" y="245359"/>
                  <a:pt x="2390891" y="245359"/>
                </a:cubicBezTo>
                <a:lnTo>
                  <a:pt x="2328318" y="245359"/>
                </a:lnTo>
                <a:lnTo>
                  <a:pt x="2293818" y="245359"/>
                </a:lnTo>
                <a:lnTo>
                  <a:pt x="2211882" y="245359"/>
                </a:lnTo>
                <a:lnTo>
                  <a:pt x="2052323" y="245359"/>
                </a:lnTo>
                <a:lnTo>
                  <a:pt x="1998461" y="245359"/>
                </a:lnTo>
                <a:lnTo>
                  <a:pt x="1789265" y="245359"/>
                </a:lnTo>
                <a:lnTo>
                  <a:pt x="1450784" y="245359"/>
                </a:lnTo>
                <a:lnTo>
                  <a:pt x="1396835" y="245359"/>
                </a:lnTo>
                <a:lnTo>
                  <a:pt x="849158" y="245359"/>
                </a:lnTo>
                <a:lnTo>
                  <a:pt x="721985" y="245359"/>
                </a:lnTo>
                <a:lnTo>
                  <a:pt x="120358" y="245359"/>
                </a:lnTo>
                <a:cubicBezTo>
                  <a:pt x="53954" y="245359"/>
                  <a:pt x="0" y="189887"/>
                  <a:pt x="0" y="123746"/>
                </a:cubicBezTo>
                <a:cubicBezTo>
                  <a:pt x="0" y="55473"/>
                  <a:pt x="53954" y="0"/>
                  <a:pt x="120358" y="0"/>
                </a:cubicBezTo>
                <a:close/>
              </a:path>
            </a:pathLst>
          </a:custGeom>
          <a:gradFill flip="none" rotWithShape="1">
            <a:gsLst>
              <a:gs pos="50000">
                <a:srgbClr val="F6F9DB"/>
              </a:gs>
              <a:gs pos="0">
                <a:srgbClr val="C9E1D4"/>
              </a:gs>
              <a:gs pos="100000">
                <a:srgbClr val="F78989"/>
              </a:gs>
            </a:gsLst>
            <a:lin ang="0" scaled="1"/>
            <a:tileRect/>
          </a:gradFill>
          <a:ln>
            <a:noFill/>
          </a:ln>
        </p:spPr>
        <p:txBody>
          <a:bodyPr vert="horz" wrap="square" lIns="91440" tIns="45720" rIns="91440" bIns="45720" numCol="1" anchor="t" anchorCtr="0" compatLnSpc="1">
            <a:prstTxWarp prst="textNoShape">
              <a:avLst/>
            </a:prstTxWarp>
            <a:noAutofit/>
          </a:bodyPr>
          <a:lstStyle/>
          <a:p>
            <a:pPr defTabSz="898776">
              <a:defRPr/>
            </a:pPr>
            <a:endParaRPr lang="en-US" sz="971">
              <a:solidFill>
                <a:srgbClr val="000000"/>
              </a:solidFill>
              <a:latin typeface="Arial"/>
            </a:endParaRPr>
          </a:p>
        </p:txBody>
      </p:sp>
      <p:sp>
        <p:nvSpPr>
          <p:cNvPr id="56" name="Rectangle 55">
            <a:extLst>
              <a:ext uri="{FF2B5EF4-FFF2-40B4-BE49-F238E27FC236}">
                <a16:creationId xmlns:a16="http://schemas.microsoft.com/office/drawing/2014/main" id="{26C4594C-12B5-FE1F-14CB-3942EEBA42B8}"/>
              </a:ext>
            </a:extLst>
          </p:cNvPr>
          <p:cNvSpPr/>
          <p:nvPr/>
        </p:nvSpPr>
        <p:spPr>
          <a:xfrm>
            <a:off x="5278233" y="1391389"/>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0 %</a:t>
            </a:r>
          </a:p>
        </p:txBody>
      </p:sp>
      <p:sp>
        <p:nvSpPr>
          <p:cNvPr id="57" name="Rectangle 56">
            <a:extLst>
              <a:ext uri="{FF2B5EF4-FFF2-40B4-BE49-F238E27FC236}">
                <a16:creationId xmlns:a16="http://schemas.microsoft.com/office/drawing/2014/main" id="{2817BB08-922B-8542-E408-07873B17969E}"/>
              </a:ext>
            </a:extLst>
          </p:cNvPr>
          <p:cNvSpPr/>
          <p:nvPr/>
        </p:nvSpPr>
        <p:spPr>
          <a:xfrm>
            <a:off x="5418562" y="1579348"/>
            <a:ext cx="813932" cy="348872"/>
          </a:xfrm>
          <a:prstGeom prst="rect">
            <a:avLst/>
          </a:prstGeom>
          <a:noFill/>
          <a:ln>
            <a:noFill/>
          </a:ln>
        </p:spPr>
        <p:txBody>
          <a:bodyPr vert="horz" lIns="0" tIns="45720" rIns="0" bIns="457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pPr>
            <a:r>
              <a:rPr lang="en-US" sz="800" i="1">
                <a:solidFill>
                  <a:schemeClr val="bg2"/>
                </a:solidFill>
                <a:latin typeface="Fund Light" pitchFamily="2" charset="-78"/>
                <a:cs typeface="Fund Light" pitchFamily="2" charset="-78"/>
              </a:rPr>
              <a:t>Highest Price</a:t>
            </a:r>
          </a:p>
        </p:txBody>
      </p:sp>
      <p:sp>
        <p:nvSpPr>
          <p:cNvPr id="58" name="Rectangle 57">
            <a:extLst>
              <a:ext uri="{FF2B5EF4-FFF2-40B4-BE49-F238E27FC236}">
                <a16:creationId xmlns:a16="http://schemas.microsoft.com/office/drawing/2014/main" id="{7FB89DAA-1E99-9FF6-FE3D-49475C2CAD1F}"/>
              </a:ext>
            </a:extLst>
          </p:cNvPr>
          <p:cNvSpPr/>
          <p:nvPr/>
        </p:nvSpPr>
        <p:spPr>
          <a:xfrm>
            <a:off x="8673366" y="1391389"/>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100 %</a:t>
            </a:r>
          </a:p>
        </p:txBody>
      </p:sp>
      <p:sp>
        <p:nvSpPr>
          <p:cNvPr id="72" name="Freeform 179">
            <a:extLst>
              <a:ext uri="{FF2B5EF4-FFF2-40B4-BE49-F238E27FC236}">
                <a16:creationId xmlns:a16="http://schemas.microsoft.com/office/drawing/2014/main" id="{F495A63A-F5ED-F632-1D1E-63840E95858F}"/>
              </a:ext>
            </a:extLst>
          </p:cNvPr>
          <p:cNvSpPr>
            <a:spLocks/>
          </p:cNvSpPr>
          <p:nvPr/>
        </p:nvSpPr>
        <p:spPr bwMode="auto">
          <a:xfrm rot="10800000">
            <a:off x="5720287" y="2072281"/>
            <a:ext cx="2909354" cy="202489"/>
          </a:xfrm>
          <a:custGeom>
            <a:avLst/>
            <a:gdLst>
              <a:gd name="connsiteX0" fmla="*/ 120358 w 3048227"/>
              <a:gd name="connsiteY0" fmla="*/ 0 h 245359"/>
              <a:gd name="connsiteX1" fmla="*/ 659411 w 3048227"/>
              <a:gd name="connsiteY1" fmla="*/ 0 h 245359"/>
              <a:gd name="connsiteX2" fmla="*/ 721985 w 3048227"/>
              <a:gd name="connsiteY2" fmla="*/ 0 h 245359"/>
              <a:gd name="connsiteX3" fmla="*/ 997980 w 3048227"/>
              <a:gd name="connsiteY3" fmla="*/ 0 h 245359"/>
              <a:gd name="connsiteX4" fmla="*/ 1051841 w 3048227"/>
              <a:gd name="connsiteY4" fmla="*/ 0 h 245359"/>
              <a:gd name="connsiteX5" fmla="*/ 1261037 w 3048227"/>
              <a:gd name="connsiteY5" fmla="*/ 0 h 245359"/>
              <a:gd name="connsiteX6" fmla="*/ 1599519 w 3048227"/>
              <a:gd name="connsiteY6" fmla="*/ 0 h 245359"/>
              <a:gd name="connsiteX7" fmla="*/ 1653467 w 3048227"/>
              <a:gd name="connsiteY7" fmla="*/ 0 h 245359"/>
              <a:gd name="connsiteX8" fmla="*/ 2201145 w 3048227"/>
              <a:gd name="connsiteY8" fmla="*/ 0 h 245359"/>
              <a:gd name="connsiteX9" fmla="*/ 2328318 w 3048227"/>
              <a:gd name="connsiteY9" fmla="*/ 0 h 245359"/>
              <a:gd name="connsiteX10" fmla="*/ 2929944 w 3048227"/>
              <a:gd name="connsiteY10" fmla="*/ 0 h 245359"/>
              <a:gd name="connsiteX11" fmla="*/ 3048227 w 3048227"/>
              <a:gd name="connsiteY11" fmla="*/ 123746 h 245359"/>
              <a:gd name="connsiteX12" fmla="*/ 2929944 w 3048227"/>
              <a:gd name="connsiteY12" fmla="*/ 245359 h 245359"/>
              <a:gd name="connsiteX13" fmla="*/ 2390891 w 3048227"/>
              <a:gd name="connsiteY13" fmla="*/ 245359 h 245359"/>
              <a:gd name="connsiteX14" fmla="*/ 2328318 w 3048227"/>
              <a:gd name="connsiteY14" fmla="*/ 245359 h 245359"/>
              <a:gd name="connsiteX15" fmla="*/ 2293818 w 3048227"/>
              <a:gd name="connsiteY15" fmla="*/ 245359 h 245359"/>
              <a:gd name="connsiteX16" fmla="*/ 2211882 w 3048227"/>
              <a:gd name="connsiteY16" fmla="*/ 245359 h 245359"/>
              <a:gd name="connsiteX17" fmla="*/ 2052323 w 3048227"/>
              <a:gd name="connsiteY17" fmla="*/ 245359 h 245359"/>
              <a:gd name="connsiteX18" fmla="*/ 1998461 w 3048227"/>
              <a:gd name="connsiteY18" fmla="*/ 245359 h 245359"/>
              <a:gd name="connsiteX19" fmla="*/ 1789265 w 3048227"/>
              <a:gd name="connsiteY19" fmla="*/ 245359 h 245359"/>
              <a:gd name="connsiteX20" fmla="*/ 1450784 w 3048227"/>
              <a:gd name="connsiteY20" fmla="*/ 245359 h 245359"/>
              <a:gd name="connsiteX21" fmla="*/ 1396835 w 3048227"/>
              <a:gd name="connsiteY21" fmla="*/ 245359 h 245359"/>
              <a:gd name="connsiteX22" fmla="*/ 849158 w 3048227"/>
              <a:gd name="connsiteY22" fmla="*/ 245359 h 245359"/>
              <a:gd name="connsiteX23" fmla="*/ 721985 w 3048227"/>
              <a:gd name="connsiteY23" fmla="*/ 245359 h 245359"/>
              <a:gd name="connsiteX24" fmla="*/ 120358 w 3048227"/>
              <a:gd name="connsiteY24" fmla="*/ 245359 h 245359"/>
              <a:gd name="connsiteX25" fmla="*/ 0 w 3048227"/>
              <a:gd name="connsiteY25" fmla="*/ 123746 h 245359"/>
              <a:gd name="connsiteX26" fmla="*/ 120358 w 3048227"/>
              <a:gd name="connsiteY26" fmla="*/ 0 h 24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8227" h="245359">
                <a:moveTo>
                  <a:pt x="120358" y="0"/>
                </a:moveTo>
                <a:cubicBezTo>
                  <a:pt x="120358" y="0"/>
                  <a:pt x="120358" y="0"/>
                  <a:pt x="659411" y="0"/>
                </a:cubicBezTo>
                <a:lnTo>
                  <a:pt x="721985" y="0"/>
                </a:lnTo>
                <a:cubicBezTo>
                  <a:pt x="721985" y="0"/>
                  <a:pt x="721985" y="0"/>
                  <a:pt x="997980" y="0"/>
                </a:cubicBezTo>
                <a:lnTo>
                  <a:pt x="1051841" y="0"/>
                </a:lnTo>
                <a:lnTo>
                  <a:pt x="1261037" y="0"/>
                </a:lnTo>
                <a:lnTo>
                  <a:pt x="1599519" y="0"/>
                </a:lnTo>
                <a:lnTo>
                  <a:pt x="1653467" y="0"/>
                </a:lnTo>
                <a:cubicBezTo>
                  <a:pt x="1808715" y="0"/>
                  <a:pt x="1989836" y="0"/>
                  <a:pt x="2201145" y="0"/>
                </a:cubicBezTo>
                <a:lnTo>
                  <a:pt x="2328318" y="0"/>
                </a:lnTo>
                <a:lnTo>
                  <a:pt x="2929944" y="0"/>
                </a:lnTo>
                <a:cubicBezTo>
                  <a:pt x="2994273" y="0"/>
                  <a:pt x="3048227" y="55473"/>
                  <a:pt x="3048227" y="123746"/>
                </a:cubicBezTo>
                <a:cubicBezTo>
                  <a:pt x="3048227" y="189887"/>
                  <a:pt x="2994273" y="245359"/>
                  <a:pt x="2929944" y="245359"/>
                </a:cubicBezTo>
                <a:cubicBezTo>
                  <a:pt x="2929944" y="245359"/>
                  <a:pt x="2929944" y="245359"/>
                  <a:pt x="2390891" y="245359"/>
                </a:cubicBezTo>
                <a:lnTo>
                  <a:pt x="2328318" y="245359"/>
                </a:lnTo>
                <a:lnTo>
                  <a:pt x="2293818" y="245359"/>
                </a:lnTo>
                <a:lnTo>
                  <a:pt x="2211882" y="245359"/>
                </a:lnTo>
                <a:lnTo>
                  <a:pt x="2052323" y="245359"/>
                </a:lnTo>
                <a:lnTo>
                  <a:pt x="1998461" y="245359"/>
                </a:lnTo>
                <a:lnTo>
                  <a:pt x="1789265" y="245359"/>
                </a:lnTo>
                <a:lnTo>
                  <a:pt x="1450784" y="245359"/>
                </a:lnTo>
                <a:lnTo>
                  <a:pt x="1396835" y="245359"/>
                </a:lnTo>
                <a:lnTo>
                  <a:pt x="849158" y="245359"/>
                </a:lnTo>
                <a:lnTo>
                  <a:pt x="721985" y="245359"/>
                </a:lnTo>
                <a:lnTo>
                  <a:pt x="120358" y="245359"/>
                </a:lnTo>
                <a:cubicBezTo>
                  <a:pt x="53954" y="245359"/>
                  <a:pt x="0" y="189887"/>
                  <a:pt x="0" y="123746"/>
                </a:cubicBezTo>
                <a:cubicBezTo>
                  <a:pt x="0" y="55473"/>
                  <a:pt x="53954" y="0"/>
                  <a:pt x="120358" y="0"/>
                </a:cubicBezTo>
                <a:close/>
              </a:path>
            </a:pathLst>
          </a:custGeom>
          <a:gradFill flip="none" rotWithShape="1">
            <a:gsLst>
              <a:gs pos="50000">
                <a:srgbClr val="F6F9DB"/>
              </a:gs>
              <a:gs pos="0">
                <a:srgbClr val="C9E1D4"/>
              </a:gs>
              <a:gs pos="100000">
                <a:srgbClr val="F78989"/>
              </a:gs>
            </a:gsLst>
            <a:lin ang="0" scaled="1"/>
            <a:tileRect/>
          </a:gradFill>
          <a:ln>
            <a:noFill/>
          </a:ln>
        </p:spPr>
        <p:txBody>
          <a:bodyPr vert="horz" wrap="square" lIns="91440" tIns="45720" rIns="91440" bIns="45720" numCol="1" anchor="t" anchorCtr="0" compatLnSpc="1">
            <a:prstTxWarp prst="textNoShape">
              <a:avLst/>
            </a:prstTxWarp>
            <a:noAutofit/>
          </a:bodyPr>
          <a:lstStyle/>
          <a:p>
            <a:pPr defTabSz="898776">
              <a:defRPr/>
            </a:pPr>
            <a:endParaRPr lang="en-US" sz="971">
              <a:solidFill>
                <a:srgbClr val="000000"/>
              </a:solidFill>
              <a:latin typeface="Arial"/>
            </a:endParaRPr>
          </a:p>
        </p:txBody>
      </p:sp>
      <p:sp>
        <p:nvSpPr>
          <p:cNvPr id="73" name="Rectangle 72">
            <a:extLst>
              <a:ext uri="{FF2B5EF4-FFF2-40B4-BE49-F238E27FC236}">
                <a16:creationId xmlns:a16="http://schemas.microsoft.com/office/drawing/2014/main" id="{C00BF7D7-AD4D-B482-9171-09C2E72DC6EF}"/>
              </a:ext>
            </a:extLst>
          </p:cNvPr>
          <p:cNvSpPr/>
          <p:nvPr/>
        </p:nvSpPr>
        <p:spPr>
          <a:xfrm>
            <a:off x="5278233" y="2072281"/>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0 %</a:t>
            </a:r>
          </a:p>
        </p:txBody>
      </p:sp>
      <p:sp>
        <p:nvSpPr>
          <p:cNvPr id="74" name="Rectangle 73">
            <a:extLst>
              <a:ext uri="{FF2B5EF4-FFF2-40B4-BE49-F238E27FC236}">
                <a16:creationId xmlns:a16="http://schemas.microsoft.com/office/drawing/2014/main" id="{93CF935D-A299-F888-855A-378814C81A2D}"/>
              </a:ext>
            </a:extLst>
          </p:cNvPr>
          <p:cNvSpPr/>
          <p:nvPr/>
        </p:nvSpPr>
        <p:spPr>
          <a:xfrm>
            <a:off x="5418561" y="2251773"/>
            <a:ext cx="1320905" cy="348872"/>
          </a:xfrm>
          <a:prstGeom prst="rect">
            <a:avLst/>
          </a:prstGeom>
          <a:noFill/>
          <a:ln>
            <a:noFill/>
          </a:ln>
        </p:spPr>
        <p:txBody>
          <a:bodyPr vert="horz" lIns="0" tIns="45720" rIns="0" bIns="457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pPr>
            <a:r>
              <a:rPr lang="en-US" sz="800" i="1">
                <a:solidFill>
                  <a:schemeClr val="bg2"/>
                </a:solidFill>
                <a:latin typeface="Fund Light" pitchFamily="2" charset="-78"/>
                <a:cs typeface="Fund Light" pitchFamily="2" charset="-78"/>
              </a:rPr>
              <a:t>Highest number of years</a:t>
            </a:r>
          </a:p>
        </p:txBody>
      </p:sp>
      <p:sp>
        <p:nvSpPr>
          <p:cNvPr id="75" name="Rectangle 74">
            <a:extLst>
              <a:ext uri="{FF2B5EF4-FFF2-40B4-BE49-F238E27FC236}">
                <a16:creationId xmlns:a16="http://schemas.microsoft.com/office/drawing/2014/main" id="{77A4DE2D-3C5E-2157-ACF8-897DE7A300F7}"/>
              </a:ext>
            </a:extLst>
          </p:cNvPr>
          <p:cNvSpPr/>
          <p:nvPr/>
        </p:nvSpPr>
        <p:spPr>
          <a:xfrm>
            <a:off x="8673366" y="2072281"/>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100 %</a:t>
            </a:r>
          </a:p>
        </p:txBody>
      </p:sp>
      <p:sp>
        <p:nvSpPr>
          <p:cNvPr id="76" name="Freeform 179">
            <a:extLst>
              <a:ext uri="{FF2B5EF4-FFF2-40B4-BE49-F238E27FC236}">
                <a16:creationId xmlns:a16="http://schemas.microsoft.com/office/drawing/2014/main" id="{D56AEAE8-9459-FF3D-15DF-5BDB3AF4CBF8}"/>
              </a:ext>
            </a:extLst>
          </p:cNvPr>
          <p:cNvSpPr>
            <a:spLocks/>
          </p:cNvSpPr>
          <p:nvPr/>
        </p:nvSpPr>
        <p:spPr bwMode="auto">
          <a:xfrm rot="10800000">
            <a:off x="5694979" y="2753172"/>
            <a:ext cx="2909354" cy="202489"/>
          </a:xfrm>
          <a:custGeom>
            <a:avLst/>
            <a:gdLst>
              <a:gd name="connsiteX0" fmla="*/ 120358 w 3048227"/>
              <a:gd name="connsiteY0" fmla="*/ 0 h 245359"/>
              <a:gd name="connsiteX1" fmla="*/ 659411 w 3048227"/>
              <a:gd name="connsiteY1" fmla="*/ 0 h 245359"/>
              <a:gd name="connsiteX2" fmla="*/ 721985 w 3048227"/>
              <a:gd name="connsiteY2" fmla="*/ 0 h 245359"/>
              <a:gd name="connsiteX3" fmla="*/ 997980 w 3048227"/>
              <a:gd name="connsiteY3" fmla="*/ 0 h 245359"/>
              <a:gd name="connsiteX4" fmla="*/ 1051841 w 3048227"/>
              <a:gd name="connsiteY4" fmla="*/ 0 h 245359"/>
              <a:gd name="connsiteX5" fmla="*/ 1261037 w 3048227"/>
              <a:gd name="connsiteY5" fmla="*/ 0 h 245359"/>
              <a:gd name="connsiteX6" fmla="*/ 1599519 w 3048227"/>
              <a:gd name="connsiteY6" fmla="*/ 0 h 245359"/>
              <a:gd name="connsiteX7" fmla="*/ 1653467 w 3048227"/>
              <a:gd name="connsiteY7" fmla="*/ 0 h 245359"/>
              <a:gd name="connsiteX8" fmla="*/ 2201145 w 3048227"/>
              <a:gd name="connsiteY8" fmla="*/ 0 h 245359"/>
              <a:gd name="connsiteX9" fmla="*/ 2328318 w 3048227"/>
              <a:gd name="connsiteY9" fmla="*/ 0 h 245359"/>
              <a:gd name="connsiteX10" fmla="*/ 2929944 w 3048227"/>
              <a:gd name="connsiteY10" fmla="*/ 0 h 245359"/>
              <a:gd name="connsiteX11" fmla="*/ 3048227 w 3048227"/>
              <a:gd name="connsiteY11" fmla="*/ 123746 h 245359"/>
              <a:gd name="connsiteX12" fmla="*/ 2929944 w 3048227"/>
              <a:gd name="connsiteY12" fmla="*/ 245359 h 245359"/>
              <a:gd name="connsiteX13" fmla="*/ 2390891 w 3048227"/>
              <a:gd name="connsiteY13" fmla="*/ 245359 h 245359"/>
              <a:gd name="connsiteX14" fmla="*/ 2328318 w 3048227"/>
              <a:gd name="connsiteY14" fmla="*/ 245359 h 245359"/>
              <a:gd name="connsiteX15" fmla="*/ 2293818 w 3048227"/>
              <a:gd name="connsiteY15" fmla="*/ 245359 h 245359"/>
              <a:gd name="connsiteX16" fmla="*/ 2211882 w 3048227"/>
              <a:gd name="connsiteY16" fmla="*/ 245359 h 245359"/>
              <a:gd name="connsiteX17" fmla="*/ 2052323 w 3048227"/>
              <a:gd name="connsiteY17" fmla="*/ 245359 h 245359"/>
              <a:gd name="connsiteX18" fmla="*/ 1998461 w 3048227"/>
              <a:gd name="connsiteY18" fmla="*/ 245359 h 245359"/>
              <a:gd name="connsiteX19" fmla="*/ 1789265 w 3048227"/>
              <a:gd name="connsiteY19" fmla="*/ 245359 h 245359"/>
              <a:gd name="connsiteX20" fmla="*/ 1450784 w 3048227"/>
              <a:gd name="connsiteY20" fmla="*/ 245359 h 245359"/>
              <a:gd name="connsiteX21" fmla="*/ 1396835 w 3048227"/>
              <a:gd name="connsiteY21" fmla="*/ 245359 h 245359"/>
              <a:gd name="connsiteX22" fmla="*/ 849158 w 3048227"/>
              <a:gd name="connsiteY22" fmla="*/ 245359 h 245359"/>
              <a:gd name="connsiteX23" fmla="*/ 721985 w 3048227"/>
              <a:gd name="connsiteY23" fmla="*/ 245359 h 245359"/>
              <a:gd name="connsiteX24" fmla="*/ 120358 w 3048227"/>
              <a:gd name="connsiteY24" fmla="*/ 245359 h 245359"/>
              <a:gd name="connsiteX25" fmla="*/ 0 w 3048227"/>
              <a:gd name="connsiteY25" fmla="*/ 123746 h 245359"/>
              <a:gd name="connsiteX26" fmla="*/ 120358 w 3048227"/>
              <a:gd name="connsiteY26" fmla="*/ 0 h 24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8227" h="245359">
                <a:moveTo>
                  <a:pt x="120358" y="0"/>
                </a:moveTo>
                <a:cubicBezTo>
                  <a:pt x="120358" y="0"/>
                  <a:pt x="120358" y="0"/>
                  <a:pt x="659411" y="0"/>
                </a:cubicBezTo>
                <a:lnTo>
                  <a:pt x="721985" y="0"/>
                </a:lnTo>
                <a:cubicBezTo>
                  <a:pt x="721985" y="0"/>
                  <a:pt x="721985" y="0"/>
                  <a:pt x="997980" y="0"/>
                </a:cubicBezTo>
                <a:lnTo>
                  <a:pt x="1051841" y="0"/>
                </a:lnTo>
                <a:lnTo>
                  <a:pt x="1261037" y="0"/>
                </a:lnTo>
                <a:lnTo>
                  <a:pt x="1599519" y="0"/>
                </a:lnTo>
                <a:lnTo>
                  <a:pt x="1653467" y="0"/>
                </a:lnTo>
                <a:cubicBezTo>
                  <a:pt x="1808715" y="0"/>
                  <a:pt x="1989836" y="0"/>
                  <a:pt x="2201145" y="0"/>
                </a:cubicBezTo>
                <a:lnTo>
                  <a:pt x="2328318" y="0"/>
                </a:lnTo>
                <a:lnTo>
                  <a:pt x="2929944" y="0"/>
                </a:lnTo>
                <a:cubicBezTo>
                  <a:pt x="2994273" y="0"/>
                  <a:pt x="3048227" y="55473"/>
                  <a:pt x="3048227" y="123746"/>
                </a:cubicBezTo>
                <a:cubicBezTo>
                  <a:pt x="3048227" y="189887"/>
                  <a:pt x="2994273" y="245359"/>
                  <a:pt x="2929944" y="245359"/>
                </a:cubicBezTo>
                <a:cubicBezTo>
                  <a:pt x="2929944" y="245359"/>
                  <a:pt x="2929944" y="245359"/>
                  <a:pt x="2390891" y="245359"/>
                </a:cubicBezTo>
                <a:lnTo>
                  <a:pt x="2328318" y="245359"/>
                </a:lnTo>
                <a:lnTo>
                  <a:pt x="2293818" y="245359"/>
                </a:lnTo>
                <a:lnTo>
                  <a:pt x="2211882" y="245359"/>
                </a:lnTo>
                <a:lnTo>
                  <a:pt x="2052323" y="245359"/>
                </a:lnTo>
                <a:lnTo>
                  <a:pt x="1998461" y="245359"/>
                </a:lnTo>
                <a:lnTo>
                  <a:pt x="1789265" y="245359"/>
                </a:lnTo>
                <a:lnTo>
                  <a:pt x="1450784" y="245359"/>
                </a:lnTo>
                <a:lnTo>
                  <a:pt x="1396835" y="245359"/>
                </a:lnTo>
                <a:lnTo>
                  <a:pt x="849158" y="245359"/>
                </a:lnTo>
                <a:lnTo>
                  <a:pt x="721985" y="245359"/>
                </a:lnTo>
                <a:lnTo>
                  <a:pt x="120358" y="245359"/>
                </a:lnTo>
                <a:cubicBezTo>
                  <a:pt x="53954" y="245359"/>
                  <a:pt x="0" y="189887"/>
                  <a:pt x="0" y="123746"/>
                </a:cubicBezTo>
                <a:cubicBezTo>
                  <a:pt x="0" y="55473"/>
                  <a:pt x="53954" y="0"/>
                  <a:pt x="120358" y="0"/>
                </a:cubicBezTo>
                <a:close/>
              </a:path>
            </a:pathLst>
          </a:custGeom>
          <a:gradFill flip="none" rotWithShape="1">
            <a:gsLst>
              <a:gs pos="50000">
                <a:srgbClr val="F6F9DB"/>
              </a:gs>
              <a:gs pos="0">
                <a:srgbClr val="C9E1D4"/>
              </a:gs>
              <a:gs pos="100000">
                <a:srgbClr val="F78989"/>
              </a:gs>
            </a:gsLst>
            <a:lin ang="0" scaled="1"/>
            <a:tileRect/>
          </a:gradFill>
          <a:ln>
            <a:noFill/>
          </a:ln>
        </p:spPr>
        <p:txBody>
          <a:bodyPr vert="horz" wrap="square" lIns="91440" tIns="45720" rIns="91440" bIns="45720" numCol="1" anchor="t" anchorCtr="0" compatLnSpc="1">
            <a:prstTxWarp prst="textNoShape">
              <a:avLst/>
            </a:prstTxWarp>
            <a:noAutofit/>
          </a:bodyPr>
          <a:lstStyle/>
          <a:p>
            <a:pPr defTabSz="898776">
              <a:defRPr/>
            </a:pPr>
            <a:endParaRPr lang="en-US" sz="971">
              <a:solidFill>
                <a:srgbClr val="000000"/>
              </a:solidFill>
              <a:latin typeface="Arial"/>
            </a:endParaRPr>
          </a:p>
        </p:txBody>
      </p:sp>
      <p:sp>
        <p:nvSpPr>
          <p:cNvPr id="77" name="Rectangle 76">
            <a:extLst>
              <a:ext uri="{FF2B5EF4-FFF2-40B4-BE49-F238E27FC236}">
                <a16:creationId xmlns:a16="http://schemas.microsoft.com/office/drawing/2014/main" id="{729EDEC4-3B11-2420-75C9-3AC267CD2754}"/>
              </a:ext>
            </a:extLst>
          </p:cNvPr>
          <p:cNvSpPr/>
          <p:nvPr/>
        </p:nvSpPr>
        <p:spPr>
          <a:xfrm>
            <a:off x="5252925" y="2753172"/>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0 %</a:t>
            </a:r>
          </a:p>
        </p:txBody>
      </p:sp>
      <p:sp>
        <p:nvSpPr>
          <p:cNvPr id="78" name="Rectangle 77">
            <a:extLst>
              <a:ext uri="{FF2B5EF4-FFF2-40B4-BE49-F238E27FC236}">
                <a16:creationId xmlns:a16="http://schemas.microsoft.com/office/drawing/2014/main" id="{12F98786-AE14-3E91-0849-23444EFBC124}"/>
              </a:ext>
            </a:extLst>
          </p:cNvPr>
          <p:cNvSpPr/>
          <p:nvPr/>
        </p:nvSpPr>
        <p:spPr>
          <a:xfrm>
            <a:off x="5393253" y="2932664"/>
            <a:ext cx="1320905" cy="348872"/>
          </a:xfrm>
          <a:prstGeom prst="rect">
            <a:avLst/>
          </a:prstGeom>
          <a:noFill/>
          <a:ln>
            <a:noFill/>
          </a:ln>
        </p:spPr>
        <p:txBody>
          <a:bodyPr vert="horz" lIns="0" tIns="45720" rIns="0" bIns="457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pPr>
            <a:r>
              <a:rPr lang="en-US" sz="800" i="1">
                <a:solidFill>
                  <a:schemeClr val="bg2"/>
                </a:solidFill>
                <a:latin typeface="Fund Light" pitchFamily="2" charset="-78"/>
                <a:cs typeface="Fund Light" pitchFamily="2" charset="-78"/>
              </a:rPr>
              <a:t>Largest volume</a:t>
            </a:r>
          </a:p>
        </p:txBody>
      </p:sp>
      <p:sp>
        <p:nvSpPr>
          <p:cNvPr id="79" name="Rectangle 78">
            <a:extLst>
              <a:ext uri="{FF2B5EF4-FFF2-40B4-BE49-F238E27FC236}">
                <a16:creationId xmlns:a16="http://schemas.microsoft.com/office/drawing/2014/main" id="{1B983F1B-87FC-D45C-CE62-F64F86E4B563}"/>
              </a:ext>
            </a:extLst>
          </p:cNvPr>
          <p:cNvSpPr/>
          <p:nvPr/>
        </p:nvSpPr>
        <p:spPr>
          <a:xfrm>
            <a:off x="8648058" y="2753172"/>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100 %</a:t>
            </a:r>
          </a:p>
        </p:txBody>
      </p:sp>
      <p:sp>
        <p:nvSpPr>
          <p:cNvPr id="80" name="Freeform 179">
            <a:extLst>
              <a:ext uri="{FF2B5EF4-FFF2-40B4-BE49-F238E27FC236}">
                <a16:creationId xmlns:a16="http://schemas.microsoft.com/office/drawing/2014/main" id="{3C2AE3EF-3C23-BC91-DD6F-A4CE5DD76A37}"/>
              </a:ext>
            </a:extLst>
          </p:cNvPr>
          <p:cNvSpPr>
            <a:spLocks/>
          </p:cNvSpPr>
          <p:nvPr/>
        </p:nvSpPr>
        <p:spPr bwMode="auto">
          <a:xfrm rot="10800000">
            <a:off x="5694979" y="3431747"/>
            <a:ext cx="2909354" cy="202489"/>
          </a:xfrm>
          <a:custGeom>
            <a:avLst/>
            <a:gdLst>
              <a:gd name="connsiteX0" fmla="*/ 120358 w 3048227"/>
              <a:gd name="connsiteY0" fmla="*/ 0 h 245359"/>
              <a:gd name="connsiteX1" fmla="*/ 659411 w 3048227"/>
              <a:gd name="connsiteY1" fmla="*/ 0 h 245359"/>
              <a:gd name="connsiteX2" fmla="*/ 721985 w 3048227"/>
              <a:gd name="connsiteY2" fmla="*/ 0 h 245359"/>
              <a:gd name="connsiteX3" fmla="*/ 997980 w 3048227"/>
              <a:gd name="connsiteY3" fmla="*/ 0 h 245359"/>
              <a:gd name="connsiteX4" fmla="*/ 1051841 w 3048227"/>
              <a:gd name="connsiteY4" fmla="*/ 0 h 245359"/>
              <a:gd name="connsiteX5" fmla="*/ 1261037 w 3048227"/>
              <a:gd name="connsiteY5" fmla="*/ 0 h 245359"/>
              <a:gd name="connsiteX6" fmla="*/ 1599519 w 3048227"/>
              <a:gd name="connsiteY6" fmla="*/ 0 h 245359"/>
              <a:gd name="connsiteX7" fmla="*/ 1653467 w 3048227"/>
              <a:gd name="connsiteY7" fmla="*/ 0 h 245359"/>
              <a:gd name="connsiteX8" fmla="*/ 2201145 w 3048227"/>
              <a:gd name="connsiteY8" fmla="*/ 0 h 245359"/>
              <a:gd name="connsiteX9" fmla="*/ 2328318 w 3048227"/>
              <a:gd name="connsiteY9" fmla="*/ 0 h 245359"/>
              <a:gd name="connsiteX10" fmla="*/ 2929944 w 3048227"/>
              <a:gd name="connsiteY10" fmla="*/ 0 h 245359"/>
              <a:gd name="connsiteX11" fmla="*/ 3048227 w 3048227"/>
              <a:gd name="connsiteY11" fmla="*/ 123746 h 245359"/>
              <a:gd name="connsiteX12" fmla="*/ 2929944 w 3048227"/>
              <a:gd name="connsiteY12" fmla="*/ 245359 h 245359"/>
              <a:gd name="connsiteX13" fmla="*/ 2390891 w 3048227"/>
              <a:gd name="connsiteY13" fmla="*/ 245359 h 245359"/>
              <a:gd name="connsiteX14" fmla="*/ 2328318 w 3048227"/>
              <a:gd name="connsiteY14" fmla="*/ 245359 h 245359"/>
              <a:gd name="connsiteX15" fmla="*/ 2293818 w 3048227"/>
              <a:gd name="connsiteY15" fmla="*/ 245359 h 245359"/>
              <a:gd name="connsiteX16" fmla="*/ 2211882 w 3048227"/>
              <a:gd name="connsiteY16" fmla="*/ 245359 h 245359"/>
              <a:gd name="connsiteX17" fmla="*/ 2052323 w 3048227"/>
              <a:gd name="connsiteY17" fmla="*/ 245359 h 245359"/>
              <a:gd name="connsiteX18" fmla="*/ 1998461 w 3048227"/>
              <a:gd name="connsiteY18" fmla="*/ 245359 h 245359"/>
              <a:gd name="connsiteX19" fmla="*/ 1789265 w 3048227"/>
              <a:gd name="connsiteY19" fmla="*/ 245359 h 245359"/>
              <a:gd name="connsiteX20" fmla="*/ 1450784 w 3048227"/>
              <a:gd name="connsiteY20" fmla="*/ 245359 h 245359"/>
              <a:gd name="connsiteX21" fmla="*/ 1396835 w 3048227"/>
              <a:gd name="connsiteY21" fmla="*/ 245359 h 245359"/>
              <a:gd name="connsiteX22" fmla="*/ 849158 w 3048227"/>
              <a:gd name="connsiteY22" fmla="*/ 245359 h 245359"/>
              <a:gd name="connsiteX23" fmla="*/ 721985 w 3048227"/>
              <a:gd name="connsiteY23" fmla="*/ 245359 h 245359"/>
              <a:gd name="connsiteX24" fmla="*/ 120358 w 3048227"/>
              <a:gd name="connsiteY24" fmla="*/ 245359 h 245359"/>
              <a:gd name="connsiteX25" fmla="*/ 0 w 3048227"/>
              <a:gd name="connsiteY25" fmla="*/ 123746 h 245359"/>
              <a:gd name="connsiteX26" fmla="*/ 120358 w 3048227"/>
              <a:gd name="connsiteY26" fmla="*/ 0 h 24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8227" h="245359">
                <a:moveTo>
                  <a:pt x="120358" y="0"/>
                </a:moveTo>
                <a:cubicBezTo>
                  <a:pt x="120358" y="0"/>
                  <a:pt x="120358" y="0"/>
                  <a:pt x="659411" y="0"/>
                </a:cubicBezTo>
                <a:lnTo>
                  <a:pt x="721985" y="0"/>
                </a:lnTo>
                <a:cubicBezTo>
                  <a:pt x="721985" y="0"/>
                  <a:pt x="721985" y="0"/>
                  <a:pt x="997980" y="0"/>
                </a:cubicBezTo>
                <a:lnTo>
                  <a:pt x="1051841" y="0"/>
                </a:lnTo>
                <a:lnTo>
                  <a:pt x="1261037" y="0"/>
                </a:lnTo>
                <a:lnTo>
                  <a:pt x="1599519" y="0"/>
                </a:lnTo>
                <a:lnTo>
                  <a:pt x="1653467" y="0"/>
                </a:lnTo>
                <a:cubicBezTo>
                  <a:pt x="1808715" y="0"/>
                  <a:pt x="1989836" y="0"/>
                  <a:pt x="2201145" y="0"/>
                </a:cubicBezTo>
                <a:lnTo>
                  <a:pt x="2328318" y="0"/>
                </a:lnTo>
                <a:lnTo>
                  <a:pt x="2929944" y="0"/>
                </a:lnTo>
                <a:cubicBezTo>
                  <a:pt x="2994273" y="0"/>
                  <a:pt x="3048227" y="55473"/>
                  <a:pt x="3048227" y="123746"/>
                </a:cubicBezTo>
                <a:cubicBezTo>
                  <a:pt x="3048227" y="189887"/>
                  <a:pt x="2994273" y="245359"/>
                  <a:pt x="2929944" y="245359"/>
                </a:cubicBezTo>
                <a:cubicBezTo>
                  <a:pt x="2929944" y="245359"/>
                  <a:pt x="2929944" y="245359"/>
                  <a:pt x="2390891" y="245359"/>
                </a:cubicBezTo>
                <a:lnTo>
                  <a:pt x="2328318" y="245359"/>
                </a:lnTo>
                <a:lnTo>
                  <a:pt x="2293818" y="245359"/>
                </a:lnTo>
                <a:lnTo>
                  <a:pt x="2211882" y="245359"/>
                </a:lnTo>
                <a:lnTo>
                  <a:pt x="2052323" y="245359"/>
                </a:lnTo>
                <a:lnTo>
                  <a:pt x="1998461" y="245359"/>
                </a:lnTo>
                <a:lnTo>
                  <a:pt x="1789265" y="245359"/>
                </a:lnTo>
                <a:lnTo>
                  <a:pt x="1450784" y="245359"/>
                </a:lnTo>
                <a:lnTo>
                  <a:pt x="1396835" y="245359"/>
                </a:lnTo>
                <a:lnTo>
                  <a:pt x="849158" y="245359"/>
                </a:lnTo>
                <a:lnTo>
                  <a:pt x="721985" y="245359"/>
                </a:lnTo>
                <a:lnTo>
                  <a:pt x="120358" y="245359"/>
                </a:lnTo>
                <a:cubicBezTo>
                  <a:pt x="53954" y="245359"/>
                  <a:pt x="0" y="189887"/>
                  <a:pt x="0" y="123746"/>
                </a:cubicBezTo>
                <a:cubicBezTo>
                  <a:pt x="0" y="55473"/>
                  <a:pt x="53954" y="0"/>
                  <a:pt x="120358" y="0"/>
                </a:cubicBezTo>
                <a:close/>
              </a:path>
            </a:pathLst>
          </a:custGeom>
          <a:gradFill flip="none" rotWithShape="1">
            <a:gsLst>
              <a:gs pos="50000">
                <a:srgbClr val="F6F9DB"/>
              </a:gs>
              <a:gs pos="0">
                <a:srgbClr val="C9E1D4"/>
              </a:gs>
              <a:gs pos="100000">
                <a:srgbClr val="F78989"/>
              </a:gs>
            </a:gsLst>
            <a:lin ang="0" scaled="1"/>
            <a:tileRect/>
          </a:gradFill>
          <a:ln>
            <a:noFill/>
          </a:ln>
        </p:spPr>
        <p:txBody>
          <a:bodyPr vert="horz" wrap="square" lIns="91440" tIns="45720" rIns="91440" bIns="45720" numCol="1" anchor="t" anchorCtr="0" compatLnSpc="1">
            <a:prstTxWarp prst="textNoShape">
              <a:avLst/>
            </a:prstTxWarp>
            <a:noAutofit/>
          </a:bodyPr>
          <a:lstStyle/>
          <a:p>
            <a:pPr defTabSz="898776">
              <a:defRPr/>
            </a:pPr>
            <a:endParaRPr lang="en-US" sz="971">
              <a:solidFill>
                <a:srgbClr val="000000"/>
              </a:solidFill>
              <a:latin typeface="Arial"/>
            </a:endParaRPr>
          </a:p>
        </p:txBody>
      </p:sp>
      <p:sp>
        <p:nvSpPr>
          <p:cNvPr id="81" name="Rectangle 80">
            <a:extLst>
              <a:ext uri="{FF2B5EF4-FFF2-40B4-BE49-F238E27FC236}">
                <a16:creationId xmlns:a16="http://schemas.microsoft.com/office/drawing/2014/main" id="{7A0E42E3-6301-95A7-7281-8007DC7FB4E6}"/>
              </a:ext>
            </a:extLst>
          </p:cNvPr>
          <p:cNvSpPr/>
          <p:nvPr/>
        </p:nvSpPr>
        <p:spPr>
          <a:xfrm>
            <a:off x="5252925" y="3431747"/>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0 %</a:t>
            </a:r>
          </a:p>
        </p:txBody>
      </p:sp>
      <p:sp>
        <p:nvSpPr>
          <p:cNvPr id="82" name="Rectangle 81">
            <a:extLst>
              <a:ext uri="{FF2B5EF4-FFF2-40B4-BE49-F238E27FC236}">
                <a16:creationId xmlns:a16="http://schemas.microsoft.com/office/drawing/2014/main" id="{9DE13367-5C83-DF05-6922-36F7E8F343CB}"/>
              </a:ext>
            </a:extLst>
          </p:cNvPr>
          <p:cNvSpPr/>
          <p:nvPr/>
        </p:nvSpPr>
        <p:spPr>
          <a:xfrm>
            <a:off x="5393253" y="3611239"/>
            <a:ext cx="2150547" cy="348872"/>
          </a:xfrm>
          <a:prstGeom prst="rect">
            <a:avLst/>
          </a:prstGeom>
          <a:noFill/>
          <a:ln>
            <a:noFill/>
          </a:ln>
        </p:spPr>
        <p:txBody>
          <a:bodyPr vert="horz" lIns="0" tIns="45720" rIns="0" bIns="4572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pPr>
            <a:r>
              <a:rPr lang="en-US" sz="800" i="1">
                <a:solidFill>
                  <a:schemeClr val="bg2"/>
                </a:solidFill>
                <a:latin typeface="Fund Light" pitchFamily="2" charset="-78"/>
                <a:cs typeface="Fund Light" pitchFamily="2" charset="-78"/>
              </a:rPr>
              <a:t>Largest share over total capacity</a:t>
            </a:r>
          </a:p>
        </p:txBody>
      </p:sp>
      <p:sp>
        <p:nvSpPr>
          <p:cNvPr id="83" name="Rectangle 82">
            <a:extLst>
              <a:ext uri="{FF2B5EF4-FFF2-40B4-BE49-F238E27FC236}">
                <a16:creationId xmlns:a16="http://schemas.microsoft.com/office/drawing/2014/main" id="{567DAA36-6A81-0654-6F91-D227AC0B93ED}"/>
              </a:ext>
            </a:extLst>
          </p:cNvPr>
          <p:cNvSpPr/>
          <p:nvPr/>
        </p:nvSpPr>
        <p:spPr>
          <a:xfrm>
            <a:off x="8648058" y="3431747"/>
            <a:ext cx="358782" cy="202489"/>
          </a:xfrm>
          <a:prstGeom prst="rect">
            <a:avLst/>
          </a:prstGeom>
          <a:noFill/>
          <a:ln>
            <a:noFill/>
          </a:ln>
        </p:spPr>
        <p:txBody>
          <a:bodyPr vert="horz" lIns="0" tIns="45720" rIns="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300"/>
              </a:spcBef>
            </a:pPr>
            <a:r>
              <a:rPr lang="en-US" sz="800">
                <a:solidFill>
                  <a:srgbClr val="C4984F"/>
                </a:solidFill>
                <a:latin typeface="Fund Light" pitchFamily="2" charset="-78"/>
                <a:cs typeface="Fund Light" pitchFamily="2" charset="-78"/>
              </a:rPr>
              <a:t> 100 %</a:t>
            </a:r>
          </a:p>
        </p:txBody>
      </p:sp>
      <p:sp>
        <p:nvSpPr>
          <p:cNvPr id="19" name="Rectangle 18">
            <a:extLst>
              <a:ext uri="{FF2B5EF4-FFF2-40B4-BE49-F238E27FC236}">
                <a16:creationId xmlns:a16="http://schemas.microsoft.com/office/drawing/2014/main" id="{A8E074DA-BF6D-F7CA-94B0-E5179D8D188E}"/>
              </a:ext>
            </a:extLst>
          </p:cNvPr>
          <p:cNvSpPr/>
          <p:nvPr/>
        </p:nvSpPr>
        <p:spPr>
          <a:xfrm>
            <a:off x="5517793" y="4156905"/>
            <a:ext cx="3406074" cy="429725"/>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rgbClr val="7F7F7F"/>
                </a:solidFill>
                <a:latin typeface="Fund Light" pitchFamily="2" charset="-78"/>
                <a:cs typeface="Fund Light" pitchFamily="2" charset="-78"/>
              </a:rPr>
              <a:t>Contract should be awarded to the supplier with the highest overall techno-commercial scores</a:t>
            </a:r>
          </a:p>
        </p:txBody>
      </p:sp>
      <p:sp>
        <p:nvSpPr>
          <p:cNvPr id="20" name="AutoShape 2">
            <a:extLst>
              <a:ext uri="{FF2B5EF4-FFF2-40B4-BE49-F238E27FC236}">
                <a16:creationId xmlns:a16="http://schemas.microsoft.com/office/drawing/2014/main" id="{18BA6074-72B3-CF1C-8E15-3CCCDD15759B}"/>
              </a:ext>
            </a:extLst>
          </p:cNvPr>
          <p:cNvSpPr>
            <a:spLocks noChangeArrowheads="1"/>
          </p:cNvSpPr>
          <p:nvPr>
            <p:custDataLst>
              <p:tags r:id="rId4"/>
            </p:custDataLst>
          </p:nvPr>
        </p:nvSpPr>
        <p:spPr bwMode="auto">
          <a:xfrm rot="10800000">
            <a:off x="6128575" y="3974990"/>
            <a:ext cx="2184512" cy="121771"/>
          </a:xfrm>
          <a:prstGeom prst="triangle">
            <a:avLst>
              <a:gd name="adj" fmla="val 50000"/>
            </a:avLst>
          </a:prstGeom>
          <a:solidFill>
            <a:schemeClr val="bg2"/>
          </a:solidFill>
          <a:ln>
            <a:noFill/>
          </a:ln>
          <a:effectLst/>
        </p:spPr>
        <p:txBody>
          <a:bodyPr wrap="none" lIns="45720" rIns="45720" anchor="ctr"/>
          <a:lstStyle/>
          <a:p>
            <a:pPr eaLnBrk="0" fontAlgn="base" hangingPunct="0">
              <a:spcBef>
                <a:spcPct val="0"/>
              </a:spcBef>
              <a:spcAft>
                <a:spcPct val="0"/>
              </a:spcAft>
            </a:pPr>
            <a:endParaRPr lang="en-US" sz="1200">
              <a:solidFill>
                <a:srgbClr val="000000"/>
              </a:solidFill>
            </a:endParaRPr>
          </a:p>
        </p:txBody>
      </p:sp>
      <p:sp>
        <p:nvSpPr>
          <p:cNvPr id="4" name="Text Placeholder 6">
            <a:extLst>
              <a:ext uri="{FF2B5EF4-FFF2-40B4-BE49-F238E27FC236}">
                <a16:creationId xmlns:a16="http://schemas.microsoft.com/office/drawing/2014/main" id="{D39CEFE1-CEDF-A744-B671-16AB75E35A3C}"/>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How to evaluate responses?</a:t>
            </a:r>
            <a:endParaRPr lang="en-US" b="1"/>
          </a:p>
        </p:txBody>
      </p:sp>
      <p:sp>
        <p:nvSpPr>
          <p:cNvPr id="7" name="Oval 6">
            <a:extLst>
              <a:ext uri="{FF2B5EF4-FFF2-40B4-BE49-F238E27FC236}">
                <a16:creationId xmlns:a16="http://schemas.microsoft.com/office/drawing/2014/main" id="{6BEFFA10-CE5D-D080-8A8D-937C396D83B4}"/>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8" name="Oval 7">
            <a:extLst>
              <a:ext uri="{FF2B5EF4-FFF2-40B4-BE49-F238E27FC236}">
                <a16:creationId xmlns:a16="http://schemas.microsoft.com/office/drawing/2014/main" id="{88B336CB-A9CE-4C90-2E1F-C6C55EA75086}"/>
              </a:ext>
            </a:extLst>
          </p:cNvPr>
          <p:cNvSpPr/>
          <p:nvPr/>
        </p:nvSpPr>
        <p:spPr>
          <a:xfrm>
            <a:off x="7654541" y="240596"/>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C</a:t>
            </a:r>
          </a:p>
        </p:txBody>
      </p:sp>
      <p:sp>
        <p:nvSpPr>
          <p:cNvPr id="13" name="Text Placeholder 6">
            <a:extLst>
              <a:ext uri="{FF2B5EF4-FFF2-40B4-BE49-F238E27FC236}">
                <a16:creationId xmlns:a16="http://schemas.microsoft.com/office/drawing/2014/main" id="{F55E4307-6006-8148-0561-503420C58FF1}"/>
              </a:ext>
            </a:extLst>
          </p:cNvPr>
          <p:cNvSpPr txBox="1">
            <a:spLocks/>
          </p:cNvSpPr>
          <p:nvPr/>
        </p:nvSpPr>
        <p:spPr>
          <a:xfrm>
            <a:off x="7744820" y="187566"/>
            <a:ext cx="13716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Commercial scoring</a:t>
            </a:r>
            <a:endParaRPr lang="en-US" b="1"/>
          </a:p>
        </p:txBody>
      </p:sp>
      <p:sp>
        <p:nvSpPr>
          <p:cNvPr id="2" name="Rectangle: Rounded Corners 1">
            <a:extLst>
              <a:ext uri="{FF2B5EF4-FFF2-40B4-BE49-F238E27FC236}">
                <a16:creationId xmlns:a16="http://schemas.microsoft.com/office/drawing/2014/main" id="{222DECB9-78A0-69E7-CC87-76B71EAD527C}"/>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8" action="ppaction://hlinksldjump"/>
              </a:rPr>
              <a:t>Contacts</a:t>
            </a:r>
            <a:r>
              <a:rPr lang="en-US" sz="1000">
                <a:solidFill>
                  <a:srgbClr val="000000"/>
                </a:solidFill>
                <a:latin typeface="Fund Light" pitchFamily="2" charset="-78"/>
                <a:cs typeface="Fund Light" pitchFamily="2" charset="-78"/>
              </a:rPr>
              <a:t>)</a:t>
            </a:r>
          </a:p>
        </p:txBody>
      </p:sp>
      <p:grpSp>
        <p:nvGrpSpPr>
          <p:cNvPr id="3" name="Group 2">
            <a:extLst>
              <a:ext uri="{FF2B5EF4-FFF2-40B4-BE49-F238E27FC236}">
                <a16:creationId xmlns:a16="http://schemas.microsoft.com/office/drawing/2014/main" id="{47ED99A8-FC6E-A379-D908-35F0F8C77578}"/>
              </a:ext>
            </a:extLst>
          </p:cNvPr>
          <p:cNvGrpSpPr/>
          <p:nvPr/>
        </p:nvGrpSpPr>
        <p:grpSpPr>
          <a:xfrm>
            <a:off x="3004029" y="4817276"/>
            <a:ext cx="303559" cy="303559"/>
            <a:chOff x="-577629" y="2311332"/>
            <a:chExt cx="404038" cy="404037"/>
          </a:xfrm>
        </p:grpSpPr>
        <p:sp>
          <p:nvSpPr>
            <p:cNvPr id="14" name="Oval 13">
              <a:extLst>
                <a:ext uri="{FF2B5EF4-FFF2-40B4-BE49-F238E27FC236}">
                  <a16:creationId xmlns:a16="http://schemas.microsoft.com/office/drawing/2014/main" id="{AE7E8280-0D33-42EC-3A12-6CB6933EA112}"/>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BA91E6F-6744-2189-5A8D-15B887B09858}"/>
                </a:ext>
              </a:extLst>
            </p:cNvPr>
            <p:cNvPicPr>
              <a:picLocks noChangeAspect="1"/>
            </p:cNvPicPr>
            <p:nvPr/>
          </p:nvPicPr>
          <p:blipFill>
            <a:blip r:embed="rId9"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7" name="Group 16">
            <a:extLst>
              <a:ext uri="{FF2B5EF4-FFF2-40B4-BE49-F238E27FC236}">
                <a16:creationId xmlns:a16="http://schemas.microsoft.com/office/drawing/2014/main" id="{6198AADA-AEF0-17E7-C997-D0493217FF49}"/>
              </a:ext>
            </a:extLst>
          </p:cNvPr>
          <p:cNvGrpSpPr/>
          <p:nvPr/>
        </p:nvGrpSpPr>
        <p:grpSpPr>
          <a:xfrm>
            <a:off x="6211995" y="4883810"/>
            <a:ext cx="168686" cy="161455"/>
            <a:chOff x="11260138" y="4194175"/>
            <a:chExt cx="360363" cy="379413"/>
          </a:xfrm>
        </p:grpSpPr>
        <p:sp>
          <p:nvSpPr>
            <p:cNvPr id="21" name="Freeform 289">
              <a:extLst>
                <a:ext uri="{FF2B5EF4-FFF2-40B4-BE49-F238E27FC236}">
                  <a16:creationId xmlns:a16="http://schemas.microsoft.com/office/drawing/2014/main" id="{0580DA1D-70A2-98C5-E2C8-BE8E4DBD7304}"/>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90">
              <a:extLst>
                <a:ext uri="{FF2B5EF4-FFF2-40B4-BE49-F238E27FC236}">
                  <a16:creationId xmlns:a16="http://schemas.microsoft.com/office/drawing/2014/main" id="{049B80FB-C270-9D29-E5FD-5D22D2C779D7}"/>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291">
              <a:extLst>
                <a:ext uri="{FF2B5EF4-FFF2-40B4-BE49-F238E27FC236}">
                  <a16:creationId xmlns:a16="http://schemas.microsoft.com/office/drawing/2014/main" id="{A19DB3AD-3003-DDEB-FF88-B984BF3DE22D}"/>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274030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74C95B4B-A749-4D54-B01F-C44CDC7CC6C0}"/>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…Define LDC terms and conditions</a:t>
            </a:r>
            <a:endParaRPr lang="en-GB" sz="1200">
              <a:solidFill>
                <a:schemeClr val="bg1">
                  <a:lumMod val="65000"/>
                </a:schemeClr>
              </a:solidFill>
              <a:latin typeface="Fund Light" pitchFamily="2" charset="-78"/>
              <a:cs typeface="Fund Light" pitchFamily="2" charset="-78"/>
            </a:endParaRP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8615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2239333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821225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4 of 5 – Terms and conditions: </a:t>
            </a:r>
            <a:r>
              <a:rPr lang="en-US"/>
              <a:t>Section preface</a:t>
            </a:r>
          </a:p>
        </p:txBody>
      </p:sp>
      <p:sp>
        <p:nvSpPr>
          <p:cNvPr id="7" name="Rectangle 6">
            <a:extLst>
              <a:ext uri="{FF2B5EF4-FFF2-40B4-BE49-F238E27FC236}">
                <a16:creationId xmlns:a16="http://schemas.microsoft.com/office/drawing/2014/main" id="{5C6A77BB-7CC5-F0BC-823C-CFE0129451B8}"/>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8" name="Rectangle 7">
            <a:extLst>
              <a:ext uri="{FF2B5EF4-FFF2-40B4-BE49-F238E27FC236}">
                <a16:creationId xmlns:a16="http://schemas.microsoft.com/office/drawing/2014/main" id="{5594876C-391D-A345-B20D-6E975558FB63}"/>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9" name="Rectangle 8">
            <a:extLst>
              <a:ext uri="{FF2B5EF4-FFF2-40B4-BE49-F238E27FC236}">
                <a16:creationId xmlns:a16="http://schemas.microsoft.com/office/drawing/2014/main" id="{F5FF7A6E-27EC-0237-1F11-435000CD8CF9}"/>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0" name="Rectangle 9">
            <a:extLst>
              <a:ext uri="{FF2B5EF4-FFF2-40B4-BE49-F238E27FC236}">
                <a16:creationId xmlns:a16="http://schemas.microsoft.com/office/drawing/2014/main" id="{BBA7C6E6-05A7-DA6C-A38F-6A1D1D8B8BCB}"/>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2" name="Rectangle 11">
            <a:extLst>
              <a:ext uri="{FF2B5EF4-FFF2-40B4-BE49-F238E27FC236}">
                <a16:creationId xmlns:a16="http://schemas.microsoft.com/office/drawing/2014/main" id="{5B2641C8-11CF-D90F-05D2-101FE75C3B7E}"/>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Legal team [owner of the process]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Business teams / LC unit [recommendations and feedback]</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BoD [take-or-pay sign-off]; Management [liability agreements sign-off]</a:t>
            </a:r>
          </a:p>
        </p:txBody>
      </p:sp>
      <p:sp>
        <p:nvSpPr>
          <p:cNvPr id="13" name="Rectangle 12">
            <a:extLst>
              <a:ext uri="{FF2B5EF4-FFF2-40B4-BE49-F238E27FC236}">
                <a16:creationId xmlns:a16="http://schemas.microsoft.com/office/drawing/2014/main" id="{0A89F3AA-EA57-27D0-E715-E934325F5207}"/>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Considerations to appropriately structure an LDC agreement to safeguard a buyer against investment risks</a:t>
            </a:r>
          </a:p>
        </p:txBody>
      </p:sp>
      <p:sp>
        <p:nvSpPr>
          <p:cNvPr id="14" name="Rectangle 13">
            <a:extLst>
              <a:ext uri="{FF2B5EF4-FFF2-40B4-BE49-F238E27FC236}">
                <a16:creationId xmlns:a16="http://schemas.microsoft.com/office/drawing/2014/main" id="{28A5AB9B-8717-3786-CEA4-6674060B01A2}"/>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How to structure an LDC agreement</a:t>
            </a: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Terms and conditions</a:t>
            </a:r>
          </a:p>
        </p:txBody>
      </p:sp>
      <p:sp>
        <p:nvSpPr>
          <p:cNvPr id="23" name="Rectangle 22">
            <a:extLst>
              <a:ext uri="{FF2B5EF4-FFF2-40B4-BE49-F238E27FC236}">
                <a16:creationId xmlns:a16="http://schemas.microsoft.com/office/drawing/2014/main" id="{DB76E406-BF29-61AA-7C21-E2FDC5AEF09D}"/>
              </a:ext>
            </a:extLst>
          </p:cNvPr>
          <p:cNvSpPr/>
          <p:nvPr/>
        </p:nvSpPr>
        <p:spPr>
          <a:xfrm>
            <a:off x="1551727" y="4767025"/>
            <a:ext cx="6673639" cy="241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spcBef>
                <a:spcPts val="300"/>
              </a:spcBef>
              <a:spcAft>
                <a:spcPts val="300"/>
              </a:spcAft>
            </a:pPr>
            <a:r>
              <a:rPr lang="en-GB" sz="600">
                <a:solidFill>
                  <a:schemeClr val="bg1">
                    <a:lumMod val="50000"/>
                  </a:schemeClr>
                </a:solidFill>
                <a:latin typeface="Fund Light" pitchFamily="2" charset="-78"/>
                <a:cs typeface="Fund Light" pitchFamily="2" charset="-78"/>
              </a:rPr>
              <a:t>1. Given the nature and complexity of the template, this will be shared upon request. Please reach out to PIF NDD contacts shared</a:t>
            </a:r>
          </a:p>
        </p:txBody>
      </p:sp>
      <p:grpSp>
        <p:nvGrpSpPr>
          <p:cNvPr id="6" name="Group 5">
            <a:extLst>
              <a:ext uri="{FF2B5EF4-FFF2-40B4-BE49-F238E27FC236}">
                <a16:creationId xmlns:a16="http://schemas.microsoft.com/office/drawing/2014/main" id="{0C52233F-04F7-18C0-A5A2-A65AB149399F}"/>
              </a:ext>
            </a:extLst>
          </p:cNvPr>
          <p:cNvGrpSpPr/>
          <p:nvPr/>
        </p:nvGrpSpPr>
        <p:grpSpPr>
          <a:xfrm>
            <a:off x="2331794" y="2879428"/>
            <a:ext cx="2938706" cy="323165"/>
            <a:chOff x="4266739" y="2093348"/>
            <a:chExt cx="2938706" cy="323165"/>
          </a:xfrm>
        </p:grpSpPr>
        <p:sp>
          <p:nvSpPr>
            <p:cNvPr id="11" name="Rectangle 10">
              <a:extLst>
                <a:ext uri="{FF2B5EF4-FFF2-40B4-BE49-F238E27FC236}">
                  <a16:creationId xmlns:a16="http://schemas.microsoft.com/office/drawing/2014/main" id="{71D7C1E2-B9F0-5D9B-709C-F1ED644B7D75}"/>
                </a:ext>
              </a:extLst>
            </p:cNvPr>
            <p:cNvSpPr/>
            <p:nvPr/>
          </p:nvSpPr>
          <p:spPr>
            <a:xfrm>
              <a:off x="5913085" y="2093348"/>
              <a:ext cx="1292360"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Preferred supplier agreement</a:t>
              </a:r>
            </a:p>
          </p:txBody>
        </p:sp>
        <p:sp>
          <p:nvSpPr>
            <p:cNvPr id="15" name="Oval 14">
              <a:extLst>
                <a:ext uri="{FF2B5EF4-FFF2-40B4-BE49-F238E27FC236}">
                  <a16:creationId xmlns:a16="http://schemas.microsoft.com/office/drawing/2014/main" id="{582DBC31-01E9-7144-CF8C-B271E14539D0}"/>
                </a:ext>
              </a:extLst>
            </p:cNvPr>
            <p:cNvSpPr/>
            <p:nvPr/>
          </p:nvSpPr>
          <p:spPr>
            <a:xfrm>
              <a:off x="4266739" y="2164768"/>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E</a:t>
              </a:r>
            </a:p>
          </p:txBody>
        </p:sp>
      </p:grpSp>
      <p:pic>
        <p:nvPicPr>
          <p:cNvPr id="20" name="Picture 19">
            <a:extLst>
              <a:ext uri="{FF2B5EF4-FFF2-40B4-BE49-F238E27FC236}">
                <a16:creationId xmlns:a16="http://schemas.microsoft.com/office/drawing/2014/main" id="{AF65F96B-7BC1-5CAA-C632-E28FE3D21B21}"/>
              </a:ext>
            </a:extLst>
          </p:cNvPr>
          <p:cNvPicPr>
            <a:picLocks noChangeAspect="1"/>
          </p:cNvPicPr>
          <p:nvPr/>
        </p:nvPicPr>
        <p:blipFill>
          <a:blip r:embed="rId6"/>
          <a:stretch>
            <a:fillRect/>
          </a:stretch>
        </p:blipFill>
        <p:spPr>
          <a:xfrm>
            <a:off x="2601061" y="2671033"/>
            <a:ext cx="1277205" cy="739954"/>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Oval 21">
            <a:extLst>
              <a:ext uri="{FF2B5EF4-FFF2-40B4-BE49-F238E27FC236}">
                <a16:creationId xmlns:a16="http://schemas.microsoft.com/office/drawing/2014/main" id="{B74FECD0-DC4A-AB2E-56BD-F1F52DC6961D}"/>
              </a:ext>
            </a:extLst>
          </p:cNvPr>
          <p:cNvSpPr/>
          <p:nvPr/>
        </p:nvSpPr>
        <p:spPr>
          <a:xfrm>
            <a:off x="5697294" y="2950848"/>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E</a:t>
            </a:r>
          </a:p>
        </p:txBody>
      </p:sp>
      <p:sp>
        <p:nvSpPr>
          <p:cNvPr id="26" name="Rectangle 25">
            <a:extLst>
              <a:ext uri="{FF2B5EF4-FFF2-40B4-BE49-F238E27FC236}">
                <a16:creationId xmlns:a16="http://schemas.microsoft.com/office/drawing/2014/main" id="{12CA9301-768C-1182-AF72-A52DC4C5F09F}"/>
              </a:ext>
            </a:extLst>
          </p:cNvPr>
          <p:cNvSpPr/>
          <p:nvPr/>
        </p:nvSpPr>
        <p:spPr>
          <a:xfrm>
            <a:off x="7302264" y="2879428"/>
            <a:ext cx="1292360"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rPr>
              <a:t>Take-or-pay agreement</a:t>
            </a:r>
          </a:p>
        </p:txBody>
      </p:sp>
      <p:pic>
        <p:nvPicPr>
          <p:cNvPr id="27" name="Picture 26">
            <a:extLst>
              <a:ext uri="{FF2B5EF4-FFF2-40B4-BE49-F238E27FC236}">
                <a16:creationId xmlns:a16="http://schemas.microsoft.com/office/drawing/2014/main" id="{310CC8A4-B82B-15FB-3E94-630F568C4791}"/>
              </a:ext>
            </a:extLst>
          </p:cNvPr>
          <p:cNvPicPr>
            <a:picLocks noChangeAspect="1"/>
          </p:cNvPicPr>
          <p:nvPr/>
        </p:nvPicPr>
        <p:blipFill>
          <a:blip r:embed="rId7"/>
          <a:stretch>
            <a:fillRect/>
          </a:stretch>
        </p:blipFill>
        <p:spPr>
          <a:xfrm>
            <a:off x="5957385" y="2655326"/>
            <a:ext cx="1277205" cy="77136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453682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9343573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7558722" cy="241824"/>
          </a:xfrm>
        </p:spPr>
        <p:txBody>
          <a:bodyPr vert="horz"/>
          <a:lstStyle/>
          <a:p>
            <a:r>
              <a:rPr lang="en-US"/>
              <a:t>Optimal terms and conditions of an LDC agreement to be defined for appropriate risk mitigation</a:t>
            </a:r>
          </a:p>
        </p:txBody>
      </p:sp>
      <p:sp>
        <p:nvSpPr>
          <p:cNvPr id="38" name="TextBox 37">
            <a:extLst>
              <a:ext uri="{FF2B5EF4-FFF2-40B4-BE49-F238E27FC236}">
                <a16:creationId xmlns:a16="http://schemas.microsoft.com/office/drawing/2014/main" id="{C042F6D2-859A-43CD-8234-E7C7CBF253A8}"/>
              </a:ext>
            </a:extLst>
          </p:cNvPr>
          <p:cNvSpPr txBox="1">
            <a:spLocks/>
          </p:cNvSpPr>
          <p:nvPr/>
        </p:nvSpPr>
        <p:spPr>
          <a:xfrm>
            <a:off x="323850" y="771525"/>
            <a:ext cx="2858878" cy="3744913"/>
          </a:xfrm>
          <a:prstGeom prst="rect">
            <a:avLst/>
          </a:prstGeom>
          <a:solidFill>
            <a:schemeClr val="bg2">
              <a:lumMod val="20000"/>
              <a:lumOff val="80000"/>
            </a:schemeClr>
          </a:solidFill>
          <a:ln w="6350">
            <a:noFill/>
            <a:miter lim="800000"/>
          </a:ln>
        </p:spPr>
        <p:txBody>
          <a:bodyPr vert="horz" wrap="square" lIns="121920" tIns="121920" rIns="121920" bIns="121920" rtlCol="0" anchor="t" anchorCtr="0">
            <a:noAutofit/>
          </a:bodyPr>
          <a:lstStyle/>
          <a:p>
            <a:pPr defTabSz="1219170">
              <a:spcAft>
                <a:spcPts val="800"/>
              </a:spcAft>
              <a:defRPr/>
            </a:pPr>
            <a:r>
              <a:rPr lang="en-GB" sz="1100" b="1">
                <a:solidFill>
                  <a:schemeClr val="bg2"/>
                </a:solidFill>
                <a:latin typeface="Fund Light" pitchFamily="2" charset="-78"/>
                <a:cs typeface="Fund Light" pitchFamily="2" charset="-78"/>
              </a:rPr>
              <a:t>Objective</a:t>
            </a:r>
          </a:p>
          <a:p>
            <a:pPr marL="231642" indent="-231642" defTabSz="1219170">
              <a:spcBef>
                <a:spcPct val="50000"/>
              </a:spcBef>
              <a:buFont typeface="+mj-lt"/>
              <a:buAutoNum type="arabicPeriod"/>
              <a:defRPr/>
            </a:pPr>
            <a:r>
              <a:rPr lang="en-US" sz="1100">
                <a:solidFill>
                  <a:srgbClr val="000000"/>
                </a:solidFill>
                <a:latin typeface="Fund Light" pitchFamily="2" charset="-78"/>
                <a:cs typeface="Fund Light" pitchFamily="2" charset="-78"/>
              </a:rPr>
              <a:t>Understand the buyer risks across four categories:</a:t>
            </a:r>
          </a:p>
          <a:p>
            <a:pPr marL="688842" lvl="1" indent="-231642" defTabSz="1219170">
              <a:spcBef>
                <a:spcPct val="50000"/>
              </a:spcBef>
              <a:buFont typeface="+mj-lt"/>
              <a:buAutoNum type="alphaLcPeriod"/>
              <a:defRPr/>
            </a:pPr>
            <a:r>
              <a:rPr lang="en-US" sz="1100">
                <a:solidFill>
                  <a:srgbClr val="000000"/>
                </a:solidFill>
                <a:latin typeface="Fund Light" pitchFamily="2" charset="-78"/>
                <a:cs typeface="Fund Light" pitchFamily="2" charset="-78"/>
              </a:rPr>
              <a:t>Liability risk</a:t>
            </a:r>
          </a:p>
          <a:p>
            <a:pPr marL="688842" lvl="1" indent="-231642" defTabSz="1219170">
              <a:spcBef>
                <a:spcPct val="50000"/>
              </a:spcBef>
              <a:buFont typeface="+mj-lt"/>
              <a:buAutoNum type="alphaLcPeriod"/>
              <a:defRPr/>
            </a:pPr>
            <a:r>
              <a:rPr lang="en-US" sz="1100">
                <a:solidFill>
                  <a:srgbClr val="000000"/>
                </a:solidFill>
                <a:latin typeface="Fund Light" pitchFamily="2" charset="-78"/>
                <a:cs typeface="Fund Light" pitchFamily="2" charset="-78"/>
              </a:rPr>
              <a:t>Supply risk</a:t>
            </a:r>
          </a:p>
          <a:p>
            <a:pPr marL="688842" lvl="1" indent="-231642" defTabSz="1219170">
              <a:spcBef>
                <a:spcPct val="50000"/>
              </a:spcBef>
              <a:buFont typeface="+mj-lt"/>
              <a:buAutoNum type="alphaLcPeriod"/>
              <a:defRPr/>
            </a:pPr>
            <a:r>
              <a:rPr lang="en-US" sz="1100">
                <a:solidFill>
                  <a:srgbClr val="000000"/>
                </a:solidFill>
                <a:latin typeface="Fund Light" pitchFamily="2" charset="-78"/>
                <a:cs typeface="Fund Light" pitchFamily="2" charset="-78"/>
              </a:rPr>
              <a:t>Price risk</a:t>
            </a:r>
          </a:p>
          <a:p>
            <a:pPr marL="688842" lvl="1" indent="-231642" defTabSz="1219170">
              <a:spcBef>
                <a:spcPct val="50000"/>
              </a:spcBef>
              <a:buFont typeface="+mj-lt"/>
              <a:buAutoNum type="alphaLcPeriod"/>
              <a:defRPr/>
            </a:pPr>
            <a:r>
              <a:rPr lang="en-US" sz="1100">
                <a:solidFill>
                  <a:srgbClr val="000000"/>
                </a:solidFill>
                <a:latin typeface="Fund Light" pitchFamily="2" charset="-78"/>
                <a:cs typeface="Fund Light" pitchFamily="2" charset="-78"/>
              </a:rPr>
              <a:t>Technology risk</a:t>
            </a:r>
          </a:p>
          <a:p>
            <a:pPr marL="231642" indent="-231642" defTabSz="1219170">
              <a:spcBef>
                <a:spcPct val="50000"/>
              </a:spcBef>
              <a:buFont typeface="+mj-lt"/>
              <a:buAutoNum type="arabicPeriod"/>
              <a:defRPr/>
            </a:pPr>
            <a:r>
              <a:rPr lang="en-US" sz="1100">
                <a:solidFill>
                  <a:srgbClr val="000000"/>
                </a:solidFill>
                <a:latin typeface="Fund Light" pitchFamily="2" charset="-78"/>
                <a:cs typeface="Fund Light" pitchFamily="2" charset="-78"/>
              </a:rPr>
              <a:t>Make an informed choice on the optimal type of LDC agreement – Preferred supplier agreement or take-or-pay</a:t>
            </a:r>
          </a:p>
          <a:p>
            <a:pPr marL="231642" indent="-231642" defTabSz="1219170">
              <a:spcBef>
                <a:spcPct val="50000"/>
              </a:spcBef>
              <a:buFont typeface="+mj-lt"/>
              <a:buAutoNum type="arabicPeriod"/>
              <a:defRPr/>
            </a:pPr>
            <a:r>
              <a:rPr lang="en-US" sz="1100">
                <a:solidFill>
                  <a:srgbClr val="000000"/>
                </a:solidFill>
                <a:latin typeface="Fund Light" pitchFamily="2" charset="-78"/>
                <a:cs typeface="Fund Light" pitchFamily="2" charset="-78"/>
              </a:rPr>
              <a:t>Minimize buyer risk based on the type of the LDC agreement</a:t>
            </a:r>
          </a:p>
        </p:txBody>
      </p:sp>
      <p:sp>
        <p:nvSpPr>
          <p:cNvPr id="39" name="TextBox 38">
            <a:extLst>
              <a:ext uri="{FF2B5EF4-FFF2-40B4-BE49-F238E27FC236}">
                <a16:creationId xmlns:a16="http://schemas.microsoft.com/office/drawing/2014/main" id="{3895A889-C831-4A80-B7E2-2D79EC7354A0}"/>
              </a:ext>
            </a:extLst>
          </p:cNvPr>
          <p:cNvSpPr txBox="1">
            <a:spLocks/>
          </p:cNvSpPr>
          <p:nvPr/>
        </p:nvSpPr>
        <p:spPr>
          <a:xfrm>
            <a:off x="3332470" y="771525"/>
            <a:ext cx="5481330" cy="3744913"/>
          </a:xfrm>
          <a:prstGeom prst="rect">
            <a:avLst/>
          </a:prstGeom>
          <a:noFill/>
          <a:ln w="6350">
            <a:noFill/>
            <a:miter lim="800000"/>
          </a:ln>
        </p:spPr>
        <p:txBody>
          <a:bodyPr vert="horz" wrap="square" lIns="121920" tIns="121920" rIns="121920" bIns="121920" rtlCol="0" anchor="t" anchorCtr="0">
            <a:noAutofit/>
          </a:bodyPr>
          <a:lstStyle/>
          <a:p>
            <a:pPr defTabSz="1219170">
              <a:spcBef>
                <a:spcPct val="50000"/>
              </a:spcBef>
              <a:defRPr/>
            </a:pPr>
            <a:r>
              <a:rPr lang="en-US" sz="1100" b="1">
                <a:solidFill>
                  <a:schemeClr val="bg2"/>
                </a:solidFill>
                <a:latin typeface="Fund Light" pitchFamily="2" charset="-78"/>
                <a:cs typeface="Fund Light" pitchFamily="2" charset="-78"/>
              </a:rPr>
              <a:t>Questions covered under the LDC feasibility assessment </a:t>
            </a:r>
            <a:endParaRPr lang="en-GB" sz="1100" b="1">
              <a:solidFill>
                <a:schemeClr val="bg2"/>
              </a:solidFill>
              <a:latin typeface="Fund Light" pitchFamily="2" charset="-78"/>
              <a:cs typeface="Fund Light" pitchFamily="2" charset="-78"/>
            </a:endParaRPr>
          </a:p>
          <a:p>
            <a:pPr defTabSz="1219170">
              <a:spcBef>
                <a:spcPts val="400"/>
              </a:spcBef>
              <a:spcAft>
                <a:spcPts val="400"/>
              </a:spcAft>
              <a:defRPr/>
            </a:pPr>
            <a:endParaRPr lang="en-GB" sz="1100" b="1">
              <a:solidFill>
                <a:schemeClr val="tx2"/>
              </a:solidFill>
              <a:latin typeface="Fund Light" pitchFamily="2" charset="-78"/>
              <a:cs typeface="Fund Light" pitchFamily="2" charset="-78"/>
            </a:endParaRPr>
          </a:p>
        </p:txBody>
      </p:sp>
      <p:sp>
        <p:nvSpPr>
          <p:cNvPr id="40" name="TextBox 39">
            <a:extLst>
              <a:ext uri="{FF2B5EF4-FFF2-40B4-BE49-F238E27FC236}">
                <a16:creationId xmlns:a16="http://schemas.microsoft.com/office/drawing/2014/main" id="{BEDBDE93-30D1-473F-8BB4-BBEBADD3BF2E}"/>
              </a:ext>
            </a:extLst>
          </p:cNvPr>
          <p:cNvSpPr txBox="1">
            <a:spLocks/>
          </p:cNvSpPr>
          <p:nvPr/>
        </p:nvSpPr>
        <p:spPr>
          <a:xfrm>
            <a:off x="3816350" y="1292320"/>
            <a:ext cx="4997450" cy="3224118"/>
          </a:xfrm>
          <a:prstGeom prst="rect">
            <a:avLst/>
          </a:prstGeom>
          <a:noFill/>
          <a:ln w="6350">
            <a:noFill/>
            <a:miter lim="800000"/>
          </a:ln>
        </p:spPr>
        <p:txBody>
          <a:bodyPr wrap="square" lIns="91440" tIns="91440" rIns="91440" bIns="91440">
            <a:noAutofit/>
          </a:bodyPr>
          <a:lstStyle/>
          <a:p>
            <a:pPr defTabSz="1219170">
              <a:spcBef>
                <a:spcPts val="600"/>
              </a:spcBef>
              <a:spcAft>
                <a:spcPts val="800"/>
              </a:spcAft>
              <a:defRPr/>
            </a:pPr>
            <a:r>
              <a:rPr lang="en-US" sz="1100">
                <a:solidFill>
                  <a:srgbClr val="000000"/>
                </a:solidFill>
                <a:latin typeface="Fund Light" pitchFamily="2" charset="-78"/>
                <a:cs typeface="Fund Light" pitchFamily="2" charset="-78"/>
              </a:rPr>
              <a:t>What are the various risks associated with an LDC agreement?</a:t>
            </a:r>
          </a:p>
          <a:p>
            <a:pPr defTabSz="1219170">
              <a:spcBef>
                <a:spcPts val="600"/>
              </a:spcBef>
              <a:spcAft>
                <a:spcPts val="800"/>
              </a:spcAft>
              <a:defRPr/>
            </a:pPr>
            <a:r>
              <a:rPr lang="en-US" sz="1100">
                <a:solidFill>
                  <a:srgbClr val="000000"/>
                </a:solidFill>
                <a:latin typeface="Fund Light" pitchFamily="2" charset="-78"/>
                <a:cs typeface="Fund Light" pitchFamily="2" charset="-78"/>
              </a:rPr>
              <a:t>How to define optimal terms and conditions to mitigate these risks?</a:t>
            </a:r>
          </a:p>
        </p:txBody>
      </p:sp>
      <p:sp>
        <p:nvSpPr>
          <p:cNvPr id="41" name="Oval 40">
            <a:extLst>
              <a:ext uri="{FF2B5EF4-FFF2-40B4-BE49-F238E27FC236}">
                <a16:creationId xmlns:a16="http://schemas.microsoft.com/office/drawing/2014/main" id="{C0722AEB-78F6-4253-9E2C-EED187ED408F}"/>
              </a:ext>
            </a:extLst>
          </p:cNvPr>
          <p:cNvSpPr/>
          <p:nvPr/>
        </p:nvSpPr>
        <p:spPr>
          <a:xfrm>
            <a:off x="3467704" y="1334378"/>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1</a:t>
            </a:r>
          </a:p>
        </p:txBody>
      </p:sp>
      <p:sp>
        <p:nvSpPr>
          <p:cNvPr id="51" name="Oval 50">
            <a:extLst>
              <a:ext uri="{FF2B5EF4-FFF2-40B4-BE49-F238E27FC236}">
                <a16:creationId xmlns:a16="http://schemas.microsoft.com/office/drawing/2014/main" id="{C8B7969B-C34E-463D-A042-43CB5C7499CF}"/>
              </a:ext>
            </a:extLst>
          </p:cNvPr>
          <p:cNvSpPr/>
          <p:nvPr/>
        </p:nvSpPr>
        <p:spPr>
          <a:xfrm>
            <a:off x="3467704" y="1670151"/>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200">
                <a:solidFill>
                  <a:schemeClr val="bg1"/>
                </a:solidFill>
                <a:latin typeface="Fund Light" pitchFamily="2" charset="-78"/>
                <a:cs typeface="Fund Light" pitchFamily="2" charset="-78"/>
              </a:rPr>
              <a:t>2</a:t>
            </a:r>
          </a:p>
        </p:txBody>
      </p:sp>
    </p:spTree>
    <p:extLst>
      <p:ext uri="{BB962C8B-B14F-4D97-AF65-F5344CB8AC3E}">
        <p14:creationId xmlns:p14="http://schemas.microsoft.com/office/powerpoint/2010/main" val="13531908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75982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5785802" cy="241824"/>
          </a:xfrm>
        </p:spPr>
        <p:txBody>
          <a:bodyPr vert="horz"/>
          <a:lstStyle/>
          <a:p>
            <a:r>
              <a:rPr lang="en-US"/>
              <a:t>Defining terms and conditions helps structure the optimal agreement</a:t>
            </a:r>
          </a:p>
        </p:txBody>
      </p:sp>
      <p:sp>
        <p:nvSpPr>
          <p:cNvPr id="7" name="Rectangle 6">
            <a:extLst>
              <a:ext uri="{FF2B5EF4-FFF2-40B4-BE49-F238E27FC236}">
                <a16:creationId xmlns:a16="http://schemas.microsoft.com/office/drawing/2014/main" id="{0214B694-0303-C235-5CAB-0E2DC4B45854}"/>
              </a:ext>
            </a:extLst>
          </p:cNvPr>
          <p:cNvSpPr/>
          <p:nvPr/>
        </p:nvSpPr>
        <p:spPr>
          <a:xfrm>
            <a:off x="326229" y="1371530"/>
            <a:ext cx="1071121" cy="75906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Description</a:t>
            </a:r>
          </a:p>
        </p:txBody>
      </p:sp>
      <p:cxnSp>
        <p:nvCxnSpPr>
          <p:cNvPr id="8" name="Straight Connector 7">
            <a:extLst>
              <a:ext uri="{FF2B5EF4-FFF2-40B4-BE49-F238E27FC236}">
                <a16:creationId xmlns:a16="http://schemas.microsoft.com/office/drawing/2014/main" id="{D69664FD-2425-D8E1-CA04-4D6A519B4C0E}"/>
              </a:ext>
            </a:extLst>
          </p:cNvPr>
          <p:cNvCxnSpPr>
            <a:cxnSpLocks/>
          </p:cNvCxnSpPr>
          <p:nvPr/>
        </p:nvCxnSpPr>
        <p:spPr>
          <a:xfrm>
            <a:off x="332923" y="2164347"/>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C3FD979-F851-554B-34F6-3499B75C0F2C}"/>
              </a:ext>
            </a:extLst>
          </p:cNvPr>
          <p:cNvSpPr/>
          <p:nvPr/>
        </p:nvSpPr>
        <p:spPr>
          <a:xfrm>
            <a:off x="332923" y="2189664"/>
            <a:ext cx="1071121" cy="383386"/>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Demand commitment</a:t>
            </a:r>
          </a:p>
        </p:txBody>
      </p:sp>
      <p:sp>
        <p:nvSpPr>
          <p:cNvPr id="10" name="ee4pHeader1">
            <a:extLst>
              <a:ext uri="{FF2B5EF4-FFF2-40B4-BE49-F238E27FC236}">
                <a16:creationId xmlns:a16="http://schemas.microsoft.com/office/drawing/2014/main" id="{D3DF6D3C-AC9F-3853-D510-42257A7A87CA}"/>
              </a:ext>
            </a:extLst>
          </p:cNvPr>
          <p:cNvSpPr/>
          <p:nvPr>
            <p:custDataLst>
              <p:tags r:id="rId2"/>
            </p:custDataLst>
          </p:nvPr>
        </p:nvSpPr>
        <p:spPr bwMode="auto">
          <a:xfrm>
            <a:off x="1520607" y="906892"/>
            <a:ext cx="3593873" cy="418504"/>
          </a:xfrm>
          <a:prstGeom prst="homePlate">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Preferred supplier </a:t>
            </a:r>
            <a:r>
              <a:rPr lang="en-GB" sz="1050" b="1">
                <a:solidFill>
                  <a:schemeClr val="bg1"/>
                </a:solidFill>
                <a:latin typeface="Fund Light" pitchFamily="2" charset="-78"/>
                <a:cs typeface="Fund Light" pitchFamily="2" charset="-78"/>
              </a:rPr>
              <a:t>a</a:t>
            </a: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greement (PSA)</a:t>
            </a:r>
          </a:p>
        </p:txBody>
      </p:sp>
      <p:sp>
        <p:nvSpPr>
          <p:cNvPr id="11" name="ee4pHeader2">
            <a:extLst>
              <a:ext uri="{FF2B5EF4-FFF2-40B4-BE49-F238E27FC236}">
                <a16:creationId xmlns:a16="http://schemas.microsoft.com/office/drawing/2014/main" id="{CA9DFC82-91E0-96F0-0E04-102987A13E0C}"/>
              </a:ext>
            </a:extLst>
          </p:cNvPr>
          <p:cNvSpPr/>
          <p:nvPr>
            <p:custDataLst>
              <p:tags r:id="rId3"/>
            </p:custDataLst>
          </p:nvPr>
        </p:nvSpPr>
        <p:spPr bwMode="auto">
          <a:xfrm>
            <a:off x="5226276" y="906892"/>
            <a:ext cx="3593873" cy="418504"/>
          </a:xfrm>
          <a:prstGeom prst="chevron">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Take-or-pay Agreement</a:t>
            </a:r>
          </a:p>
        </p:txBody>
      </p:sp>
      <p:sp>
        <p:nvSpPr>
          <p:cNvPr id="12" name="Oval 11">
            <a:extLst>
              <a:ext uri="{FF2B5EF4-FFF2-40B4-BE49-F238E27FC236}">
                <a16:creationId xmlns:a16="http://schemas.microsoft.com/office/drawing/2014/main" id="{7B5349C8-0FCF-2375-83A2-1C272C8BC6CF}"/>
              </a:ext>
            </a:extLst>
          </p:cNvPr>
          <p:cNvSpPr/>
          <p:nvPr/>
        </p:nvSpPr>
        <p:spPr>
          <a:xfrm>
            <a:off x="1397351"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A</a:t>
            </a:r>
          </a:p>
        </p:txBody>
      </p:sp>
      <p:sp>
        <p:nvSpPr>
          <p:cNvPr id="13" name="Rectangle 12">
            <a:extLst>
              <a:ext uri="{FF2B5EF4-FFF2-40B4-BE49-F238E27FC236}">
                <a16:creationId xmlns:a16="http://schemas.microsoft.com/office/drawing/2014/main" id="{25DED39D-080A-5FDB-E32F-CC4C1D0FF256}"/>
              </a:ext>
            </a:extLst>
          </p:cNvPr>
          <p:cNvSpPr/>
          <p:nvPr/>
        </p:nvSpPr>
        <p:spPr>
          <a:xfrm>
            <a:off x="1520607" y="1389052"/>
            <a:ext cx="3593872"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Prioritization of a preferred local supplier</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up to a certain annual quantity at an agreed price</a:t>
            </a:r>
          </a:p>
        </p:txBody>
      </p:sp>
      <p:sp>
        <p:nvSpPr>
          <p:cNvPr id="14" name="Rectangle 13">
            <a:extLst>
              <a:ext uri="{FF2B5EF4-FFF2-40B4-BE49-F238E27FC236}">
                <a16:creationId xmlns:a16="http://schemas.microsoft.com/office/drawing/2014/main" id="{71B83C42-0862-7965-DDEE-8AA0EF04C88D}"/>
              </a:ext>
            </a:extLst>
          </p:cNvPr>
          <p:cNvSpPr/>
          <p:nvPr/>
        </p:nvSpPr>
        <p:spPr>
          <a:xfrm>
            <a:off x="5226276" y="1389052"/>
            <a:ext cx="3509785"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Demand commitments with purchase obligations </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set at a minimum annual quantity at an agreed price</a:t>
            </a:r>
          </a:p>
        </p:txBody>
      </p:sp>
      <p:sp>
        <p:nvSpPr>
          <p:cNvPr id="15" name="Oval 14">
            <a:extLst>
              <a:ext uri="{FF2B5EF4-FFF2-40B4-BE49-F238E27FC236}">
                <a16:creationId xmlns:a16="http://schemas.microsoft.com/office/drawing/2014/main" id="{D69C5144-125E-9431-7C23-6DCF183F8A6C}"/>
              </a:ext>
            </a:extLst>
          </p:cNvPr>
          <p:cNvSpPr/>
          <p:nvPr/>
        </p:nvSpPr>
        <p:spPr>
          <a:xfrm>
            <a:off x="5121173"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B</a:t>
            </a:r>
          </a:p>
        </p:txBody>
      </p:sp>
      <p:cxnSp>
        <p:nvCxnSpPr>
          <p:cNvPr id="17" name="Straight Connector 16">
            <a:extLst>
              <a:ext uri="{FF2B5EF4-FFF2-40B4-BE49-F238E27FC236}">
                <a16:creationId xmlns:a16="http://schemas.microsoft.com/office/drawing/2014/main" id="{CC8F96EE-BB6E-4241-6575-6B5BF385AEB7}"/>
              </a:ext>
            </a:extLst>
          </p:cNvPr>
          <p:cNvCxnSpPr>
            <a:cxnSpLocks/>
          </p:cNvCxnSpPr>
          <p:nvPr/>
        </p:nvCxnSpPr>
        <p:spPr>
          <a:xfrm>
            <a:off x="1455629" y="1389051"/>
            <a:ext cx="0" cy="7315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7DB4EDF-8848-EF83-EDDC-75B46189668C}"/>
              </a:ext>
            </a:extLst>
          </p:cNvPr>
          <p:cNvCxnSpPr>
            <a:cxnSpLocks/>
          </p:cNvCxnSpPr>
          <p:nvPr/>
        </p:nvCxnSpPr>
        <p:spPr>
          <a:xfrm>
            <a:off x="1462323" y="2189664"/>
            <a:ext cx="0" cy="37704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0D27B95-F186-6ABD-5147-54F7591B447A}"/>
              </a:ext>
            </a:extLst>
          </p:cNvPr>
          <p:cNvSpPr/>
          <p:nvPr/>
        </p:nvSpPr>
        <p:spPr>
          <a:xfrm>
            <a:off x="1527301" y="2203144"/>
            <a:ext cx="3593872"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Only if business needs arise</a:t>
            </a:r>
          </a:p>
        </p:txBody>
      </p:sp>
      <p:sp>
        <p:nvSpPr>
          <p:cNvPr id="27" name="Rectangle 26">
            <a:extLst>
              <a:ext uri="{FF2B5EF4-FFF2-40B4-BE49-F238E27FC236}">
                <a16:creationId xmlns:a16="http://schemas.microsoft.com/office/drawing/2014/main" id="{CC3AC5B1-49F1-3FCA-D137-216B05E269F2}"/>
              </a:ext>
            </a:extLst>
          </p:cNvPr>
          <p:cNvSpPr/>
          <p:nvPr/>
        </p:nvSpPr>
        <p:spPr>
          <a:xfrm>
            <a:off x="5232970" y="2203144"/>
            <a:ext cx="3509785"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p>
        </p:txBody>
      </p:sp>
      <p:cxnSp>
        <p:nvCxnSpPr>
          <p:cNvPr id="29" name="Straight Connector 28">
            <a:extLst>
              <a:ext uri="{FF2B5EF4-FFF2-40B4-BE49-F238E27FC236}">
                <a16:creationId xmlns:a16="http://schemas.microsoft.com/office/drawing/2014/main" id="{41B02281-2EE7-4648-EB82-55F1570342B1}"/>
              </a:ext>
            </a:extLst>
          </p:cNvPr>
          <p:cNvCxnSpPr>
            <a:cxnSpLocks/>
          </p:cNvCxnSpPr>
          <p:nvPr/>
        </p:nvCxnSpPr>
        <p:spPr>
          <a:xfrm>
            <a:off x="359587" y="259237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112947B-3BFD-7E66-45E8-EAB9E44773C6}"/>
              </a:ext>
            </a:extLst>
          </p:cNvPr>
          <p:cNvSpPr/>
          <p:nvPr/>
        </p:nvSpPr>
        <p:spPr>
          <a:xfrm>
            <a:off x="326229" y="2628884"/>
            <a:ext cx="1071121" cy="1230472"/>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200" b="1" spc="-20">
                <a:solidFill>
                  <a:schemeClr val="bg2"/>
                </a:solidFill>
                <a:latin typeface="Fund Light" pitchFamily="2" charset="-78"/>
                <a:cs typeface="Fund Light" pitchFamily="2" charset="-78"/>
              </a:rPr>
              <a:t>Risks to the buyer </a:t>
            </a:r>
            <a:r>
              <a:rPr lang="en-US" sz="900" i="1" spc="-20">
                <a:solidFill>
                  <a:schemeClr val="bg2"/>
                </a:solidFill>
                <a:latin typeface="Fund Light" pitchFamily="2" charset="-78"/>
                <a:cs typeface="Fund Light" pitchFamily="2" charset="-78"/>
              </a:rPr>
              <a:t>(agreements to have equivalent clauses to mitigate them)</a:t>
            </a:r>
            <a:endParaRPr lang="en-US" sz="1050" i="1" spc="-20">
              <a:solidFill>
                <a:schemeClr val="bg2"/>
              </a:solidFill>
              <a:latin typeface="Fund Light" pitchFamily="2" charset="-78"/>
              <a:cs typeface="Fund Light" pitchFamily="2" charset="-78"/>
            </a:endParaRPr>
          </a:p>
        </p:txBody>
      </p:sp>
      <p:cxnSp>
        <p:nvCxnSpPr>
          <p:cNvPr id="31" name="Straight Connector 30">
            <a:extLst>
              <a:ext uri="{FF2B5EF4-FFF2-40B4-BE49-F238E27FC236}">
                <a16:creationId xmlns:a16="http://schemas.microsoft.com/office/drawing/2014/main" id="{48E2038B-1176-AA20-7B75-E3C253CF9E43}"/>
              </a:ext>
            </a:extLst>
          </p:cNvPr>
          <p:cNvCxnSpPr>
            <a:cxnSpLocks/>
          </p:cNvCxnSpPr>
          <p:nvPr/>
        </p:nvCxnSpPr>
        <p:spPr>
          <a:xfrm>
            <a:off x="1455629" y="2628884"/>
            <a:ext cx="0" cy="12101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0717446-30A3-C3A3-81C6-E05462EA3F56}"/>
              </a:ext>
            </a:extLst>
          </p:cNvPr>
          <p:cNvSpPr/>
          <p:nvPr/>
        </p:nvSpPr>
        <p:spPr>
          <a:xfrm>
            <a:off x="1520607" y="2635099"/>
            <a:ext cx="3593872"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Technology risk</a:t>
            </a:r>
          </a:p>
        </p:txBody>
      </p:sp>
      <p:cxnSp>
        <p:nvCxnSpPr>
          <p:cNvPr id="6" name="Straight Connector 5">
            <a:extLst>
              <a:ext uri="{FF2B5EF4-FFF2-40B4-BE49-F238E27FC236}">
                <a16:creationId xmlns:a16="http://schemas.microsoft.com/office/drawing/2014/main" id="{1D7C885D-870B-C396-6726-BEC3B5B1B7B2}"/>
              </a:ext>
            </a:extLst>
          </p:cNvPr>
          <p:cNvCxnSpPr>
            <a:cxnSpLocks/>
          </p:cNvCxnSpPr>
          <p:nvPr/>
        </p:nvCxnSpPr>
        <p:spPr>
          <a:xfrm>
            <a:off x="359587" y="387264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ED3F57D-11A3-3D31-A7B4-C7B4401DCDB0}"/>
              </a:ext>
            </a:extLst>
          </p:cNvPr>
          <p:cNvSpPr/>
          <p:nvPr/>
        </p:nvSpPr>
        <p:spPr>
          <a:xfrm>
            <a:off x="326229" y="3909154"/>
            <a:ext cx="1071121" cy="764445"/>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Ready-to-plug template</a:t>
            </a:r>
          </a:p>
        </p:txBody>
      </p:sp>
      <p:cxnSp>
        <p:nvCxnSpPr>
          <p:cNvPr id="19" name="Straight Connector 18">
            <a:extLst>
              <a:ext uri="{FF2B5EF4-FFF2-40B4-BE49-F238E27FC236}">
                <a16:creationId xmlns:a16="http://schemas.microsoft.com/office/drawing/2014/main" id="{19568D45-4B97-92A7-3F7A-AE4EC604DBEF}"/>
              </a:ext>
            </a:extLst>
          </p:cNvPr>
          <p:cNvCxnSpPr>
            <a:cxnSpLocks/>
          </p:cNvCxnSpPr>
          <p:nvPr/>
        </p:nvCxnSpPr>
        <p:spPr>
          <a:xfrm>
            <a:off x="1455629" y="3909154"/>
            <a:ext cx="0" cy="7517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9701FAA-7F00-E014-4DB8-55A8085EF2AF}"/>
              </a:ext>
            </a:extLst>
          </p:cNvPr>
          <p:cNvSpPr/>
          <p:nvPr/>
        </p:nvSpPr>
        <p:spPr>
          <a:xfrm>
            <a:off x="2849909" y="4067481"/>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PSA template provided as </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separate document as part of this implementation guide</a:t>
            </a:r>
          </a:p>
        </p:txBody>
      </p:sp>
      <p:sp>
        <p:nvSpPr>
          <p:cNvPr id="23" name="Rectangle 22">
            <a:extLst>
              <a:ext uri="{FF2B5EF4-FFF2-40B4-BE49-F238E27FC236}">
                <a16:creationId xmlns:a16="http://schemas.microsoft.com/office/drawing/2014/main" id="{911E7452-92B8-2959-7771-8CDAB33D5426}"/>
              </a:ext>
            </a:extLst>
          </p:cNvPr>
          <p:cNvSpPr/>
          <p:nvPr/>
        </p:nvSpPr>
        <p:spPr>
          <a:xfrm>
            <a:off x="6556086" y="4067481"/>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Take-or-pay template provided as separate document as part of this implementation guide</a:t>
            </a:r>
          </a:p>
        </p:txBody>
      </p:sp>
      <p:sp>
        <p:nvSpPr>
          <p:cNvPr id="39" name="Rectangle 38">
            <a:extLst>
              <a:ext uri="{FF2B5EF4-FFF2-40B4-BE49-F238E27FC236}">
                <a16:creationId xmlns:a16="http://schemas.microsoft.com/office/drawing/2014/main" id="{0B15B6A4-3B56-6ED1-047C-FFF6BEBE65DD}"/>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 and template</a:t>
            </a:r>
          </a:p>
        </p:txBody>
      </p:sp>
      <p:sp>
        <p:nvSpPr>
          <p:cNvPr id="2" name="Rectangle 1">
            <a:extLst>
              <a:ext uri="{FF2B5EF4-FFF2-40B4-BE49-F238E27FC236}">
                <a16:creationId xmlns:a16="http://schemas.microsoft.com/office/drawing/2014/main" id="{1B292972-4D57-EC46-A34D-F13CEBFB13FB}"/>
              </a:ext>
            </a:extLst>
          </p:cNvPr>
          <p:cNvSpPr/>
          <p:nvPr/>
        </p:nvSpPr>
        <p:spPr>
          <a:xfrm>
            <a:off x="5200875" y="2635099"/>
            <a:ext cx="3593872"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Liability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Technology risk</a:t>
            </a:r>
          </a:p>
        </p:txBody>
      </p:sp>
      <p:pic>
        <p:nvPicPr>
          <p:cNvPr id="24" name="Picture 23">
            <a:extLst>
              <a:ext uri="{FF2B5EF4-FFF2-40B4-BE49-F238E27FC236}">
                <a16:creationId xmlns:a16="http://schemas.microsoft.com/office/drawing/2014/main" id="{183B60F2-8A66-6905-7A6F-16937DFA0314}"/>
              </a:ext>
            </a:extLst>
          </p:cNvPr>
          <p:cNvPicPr>
            <a:picLocks noChangeAspect="1"/>
          </p:cNvPicPr>
          <p:nvPr/>
        </p:nvPicPr>
        <p:blipFill>
          <a:blip r:embed="rId8"/>
          <a:stretch>
            <a:fillRect/>
          </a:stretch>
        </p:blipFill>
        <p:spPr>
          <a:xfrm>
            <a:off x="1666874" y="4018283"/>
            <a:ext cx="1071122" cy="641335"/>
          </a:xfrm>
          <a:prstGeom prst="rect">
            <a:avLst/>
          </a:prstGeom>
          <a:effectLst>
            <a:outerShdw blurRad="50800" dist="38100" dir="2700000" algn="tl" rotWithShape="0">
              <a:prstClr val="black">
                <a:alpha val="40000"/>
              </a:prstClr>
            </a:outerShdw>
          </a:effectLst>
        </p:spPr>
      </p:pic>
      <p:grpSp>
        <p:nvGrpSpPr>
          <p:cNvPr id="28" name="Group 27">
            <a:extLst>
              <a:ext uri="{FF2B5EF4-FFF2-40B4-BE49-F238E27FC236}">
                <a16:creationId xmlns:a16="http://schemas.microsoft.com/office/drawing/2014/main" id="{CF492350-2CFE-753D-DAB6-7F4765B9D5C5}"/>
              </a:ext>
            </a:extLst>
          </p:cNvPr>
          <p:cNvGrpSpPr/>
          <p:nvPr/>
        </p:nvGrpSpPr>
        <p:grpSpPr>
          <a:xfrm>
            <a:off x="4835115" y="3872645"/>
            <a:ext cx="365760" cy="364795"/>
            <a:chOff x="2688384" y="3834733"/>
            <a:chExt cx="365760" cy="364795"/>
          </a:xfrm>
        </p:grpSpPr>
        <p:sp>
          <p:nvSpPr>
            <p:cNvPr id="40" name="Oval 39">
              <a:extLst>
                <a:ext uri="{FF2B5EF4-FFF2-40B4-BE49-F238E27FC236}">
                  <a16:creationId xmlns:a16="http://schemas.microsoft.com/office/drawing/2014/main" id="{94B15DD4-EA05-A8B4-F035-B7531085A860}"/>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41" name="Group 40">
              <a:extLst>
                <a:ext uri="{FF2B5EF4-FFF2-40B4-BE49-F238E27FC236}">
                  <a16:creationId xmlns:a16="http://schemas.microsoft.com/office/drawing/2014/main" id="{A4B39F4D-76A2-97DA-334C-9F9DB57DF7D1}"/>
                </a:ext>
              </a:extLst>
            </p:cNvPr>
            <p:cNvGrpSpPr/>
            <p:nvPr/>
          </p:nvGrpSpPr>
          <p:grpSpPr>
            <a:xfrm>
              <a:off x="2851400" y="3905407"/>
              <a:ext cx="39729" cy="223447"/>
              <a:chOff x="2836160" y="3903439"/>
              <a:chExt cx="39729" cy="223447"/>
            </a:xfrm>
          </p:grpSpPr>
          <p:sp>
            <p:nvSpPr>
              <p:cNvPr id="42" name="Freeform: Shape 41">
                <a:extLst>
                  <a:ext uri="{FF2B5EF4-FFF2-40B4-BE49-F238E27FC236}">
                    <a16:creationId xmlns:a16="http://schemas.microsoft.com/office/drawing/2014/main" id="{B8DDFAA9-905B-C2E6-F8F5-BDA36B1A6825}"/>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E9B987D2-F3A3-3E08-D9F4-B67175F2DDEF}"/>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grpSp>
        <p:nvGrpSpPr>
          <p:cNvPr id="44" name="Group 43">
            <a:extLst>
              <a:ext uri="{FF2B5EF4-FFF2-40B4-BE49-F238E27FC236}">
                <a16:creationId xmlns:a16="http://schemas.microsoft.com/office/drawing/2014/main" id="{7D287139-586F-3D24-2841-7E823611455C}"/>
              </a:ext>
            </a:extLst>
          </p:cNvPr>
          <p:cNvGrpSpPr/>
          <p:nvPr/>
        </p:nvGrpSpPr>
        <p:grpSpPr>
          <a:xfrm>
            <a:off x="8700149" y="3897522"/>
            <a:ext cx="365760" cy="364795"/>
            <a:chOff x="2688384" y="3834733"/>
            <a:chExt cx="365760" cy="364795"/>
          </a:xfrm>
        </p:grpSpPr>
        <p:sp>
          <p:nvSpPr>
            <p:cNvPr id="45" name="Oval 44">
              <a:extLst>
                <a:ext uri="{FF2B5EF4-FFF2-40B4-BE49-F238E27FC236}">
                  <a16:creationId xmlns:a16="http://schemas.microsoft.com/office/drawing/2014/main" id="{528999C6-E4DF-DD7E-785F-0EB9354A506B}"/>
                </a:ext>
              </a:extLst>
            </p:cNvPr>
            <p:cNvSpPr/>
            <p:nvPr/>
          </p:nvSpPr>
          <p:spPr>
            <a:xfrm>
              <a:off x="2688384" y="3834733"/>
              <a:ext cx="365760" cy="364795"/>
            </a:xfrm>
            <a:prstGeom prst="ellipse">
              <a:avLst/>
            </a:prstGeom>
            <a:solidFill>
              <a:schemeClr val="bg1"/>
            </a:solidFill>
            <a:ln>
              <a:solidFill>
                <a:schemeClr val="tx2"/>
              </a:solidFill>
            </a:ln>
          </p:spPr>
          <p:txBody>
            <a:bodyPr wrap="square" rtlCol="0" anchor="t">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endParaRPr kumimoji="0" lang="en-US" sz="1050" b="0" i="0" u="none" strike="noStrike" kern="1200" cap="none" spc="0" normalizeH="0" baseline="0" noProof="0">
                <a:ln>
                  <a:noFill/>
                </a:ln>
                <a:solidFill>
                  <a:srgbClr val="00332A">
                    <a:lumMod val="65000"/>
                    <a:lumOff val="35000"/>
                  </a:srgbClr>
                </a:solidFill>
                <a:effectLst/>
                <a:uLnTx/>
                <a:uFillTx/>
                <a:latin typeface="Fund Light" pitchFamily="2" charset="-78"/>
                <a:ea typeface="+mn-ea"/>
                <a:cs typeface="Fund Light" pitchFamily="2" charset="-78"/>
              </a:endParaRPr>
            </a:p>
          </p:txBody>
        </p:sp>
        <p:grpSp>
          <p:nvGrpSpPr>
            <p:cNvPr id="46" name="Group 45">
              <a:extLst>
                <a:ext uri="{FF2B5EF4-FFF2-40B4-BE49-F238E27FC236}">
                  <a16:creationId xmlns:a16="http://schemas.microsoft.com/office/drawing/2014/main" id="{8B76DBF5-FCBB-796F-A7C3-580B1B81D256}"/>
                </a:ext>
              </a:extLst>
            </p:cNvPr>
            <p:cNvGrpSpPr/>
            <p:nvPr/>
          </p:nvGrpSpPr>
          <p:grpSpPr>
            <a:xfrm>
              <a:off x="2851400" y="3905407"/>
              <a:ext cx="39729" cy="223447"/>
              <a:chOff x="2836160" y="3903439"/>
              <a:chExt cx="39729" cy="223447"/>
            </a:xfrm>
          </p:grpSpPr>
          <p:sp>
            <p:nvSpPr>
              <p:cNvPr id="47" name="Freeform: Shape 46">
                <a:extLst>
                  <a:ext uri="{FF2B5EF4-FFF2-40B4-BE49-F238E27FC236}">
                    <a16:creationId xmlns:a16="http://schemas.microsoft.com/office/drawing/2014/main" id="{01FAC416-82C0-E323-CA7C-A91EF15498B0}"/>
                  </a:ext>
                </a:extLst>
              </p:cNvPr>
              <p:cNvSpPr/>
              <p:nvPr/>
            </p:nvSpPr>
            <p:spPr>
              <a:xfrm>
                <a:off x="2841995" y="3903439"/>
                <a:ext cx="27314" cy="161221"/>
              </a:xfrm>
              <a:custGeom>
                <a:avLst/>
                <a:gdLst>
                  <a:gd name="connsiteX0" fmla="*/ 485 w 27313"/>
                  <a:gd name="connsiteY0" fmla="*/ 552 h 161220"/>
                  <a:gd name="connsiteX1" fmla="*/ 28543 w 27313"/>
                  <a:gd name="connsiteY1" fmla="*/ 552 h 161220"/>
                  <a:gd name="connsiteX2" fmla="*/ 26209 w 27313"/>
                  <a:gd name="connsiteY2" fmla="*/ 161462 h 161220"/>
                  <a:gd name="connsiteX3" fmla="*/ 2819 w 27313"/>
                  <a:gd name="connsiteY3" fmla="*/ 161462 h 161220"/>
                  <a:gd name="connsiteX4" fmla="*/ 485 w 27313"/>
                  <a:gd name="connsiteY4" fmla="*/ 552 h 161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13" h="161220">
                    <a:moveTo>
                      <a:pt x="485" y="552"/>
                    </a:moveTo>
                    <a:lnTo>
                      <a:pt x="28543" y="552"/>
                    </a:lnTo>
                    <a:lnTo>
                      <a:pt x="26209" y="161462"/>
                    </a:lnTo>
                    <a:lnTo>
                      <a:pt x="2819" y="161462"/>
                    </a:lnTo>
                    <a:lnTo>
                      <a:pt x="485" y="552"/>
                    </a:ln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sp>
            <p:nvSpPr>
              <p:cNvPr id="48" name="Freeform: Shape 47">
                <a:extLst>
                  <a:ext uri="{FF2B5EF4-FFF2-40B4-BE49-F238E27FC236}">
                    <a16:creationId xmlns:a16="http://schemas.microsoft.com/office/drawing/2014/main" id="{92DFD096-3A0B-3F63-578C-010B263CEC75}"/>
                  </a:ext>
                </a:extLst>
              </p:cNvPr>
              <p:cNvSpPr/>
              <p:nvPr/>
            </p:nvSpPr>
            <p:spPr>
              <a:xfrm>
                <a:off x="2836160" y="4081631"/>
                <a:ext cx="39729" cy="45255"/>
              </a:xfrm>
              <a:custGeom>
                <a:avLst/>
                <a:gdLst>
                  <a:gd name="connsiteX0" fmla="*/ 40214 w 39728"/>
                  <a:gd name="connsiteY0" fmla="*/ 23180 h 45255"/>
                  <a:gd name="connsiteX1" fmla="*/ 20349 w 39728"/>
                  <a:gd name="connsiteY1" fmla="*/ 45807 h 45255"/>
                  <a:gd name="connsiteX2" fmla="*/ 485 w 39728"/>
                  <a:gd name="connsiteY2" fmla="*/ 23180 h 45255"/>
                  <a:gd name="connsiteX3" fmla="*/ 20349 w 39728"/>
                  <a:gd name="connsiteY3" fmla="*/ 552 h 45255"/>
                  <a:gd name="connsiteX4" fmla="*/ 40214 w 39728"/>
                  <a:gd name="connsiteY4" fmla="*/ 23180 h 45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28" h="45255">
                    <a:moveTo>
                      <a:pt x="40214" y="23180"/>
                    </a:moveTo>
                    <a:cubicBezTo>
                      <a:pt x="40214" y="35677"/>
                      <a:pt x="31320" y="45807"/>
                      <a:pt x="20349" y="45807"/>
                    </a:cubicBezTo>
                    <a:cubicBezTo>
                      <a:pt x="9379" y="45807"/>
                      <a:pt x="485" y="35677"/>
                      <a:pt x="485" y="23180"/>
                    </a:cubicBezTo>
                    <a:cubicBezTo>
                      <a:pt x="485" y="10683"/>
                      <a:pt x="9379" y="552"/>
                      <a:pt x="20349" y="552"/>
                    </a:cubicBezTo>
                    <a:cubicBezTo>
                      <a:pt x="31320" y="552"/>
                      <a:pt x="40214" y="10683"/>
                      <a:pt x="40214" y="23180"/>
                    </a:cubicBezTo>
                    <a:close/>
                  </a:path>
                </a:pathLst>
              </a:custGeom>
              <a:solidFill>
                <a:schemeClr val="bg2"/>
              </a:solidFill>
              <a:ln w="248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2A"/>
                  </a:solidFill>
                  <a:effectLst/>
                  <a:uLnTx/>
                  <a:uFillTx/>
                  <a:latin typeface="Arial" panose="020B0604020202020204"/>
                  <a:ea typeface="+mn-ea"/>
                  <a:cs typeface="+mn-cs"/>
                </a:endParaRPr>
              </a:p>
            </p:txBody>
          </p:sp>
        </p:grpSp>
      </p:grpSp>
      <p:pic>
        <p:nvPicPr>
          <p:cNvPr id="50" name="Picture 49">
            <a:extLst>
              <a:ext uri="{FF2B5EF4-FFF2-40B4-BE49-F238E27FC236}">
                <a16:creationId xmlns:a16="http://schemas.microsoft.com/office/drawing/2014/main" id="{F315606D-DE89-F49A-1789-C81047A3054D}"/>
              </a:ext>
            </a:extLst>
          </p:cNvPr>
          <p:cNvPicPr>
            <a:picLocks noChangeAspect="1"/>
          </p:cNvPicPr>
          <p:nvPr/>
        </p:nvPicPr>
        <p:blipFill>
          <a:blip r:embed="rId9"/>
          <a:stretch>
            <a:fillRect/>
          </a:stretch>
        </p:blipFill>
        <p:spPr>
          <a:xfrm>
            <a:off x="5363891" y="4033519"/>
            <a:ext cx="1059823" cy="640080"/>
          </a:xfrm>
          <a:prstGeom prst="rect">
            <a:avLst/>
          </a:prstGeom>
          <a:effectLst>
            <a:outerShdw blurRad="50800" dist="38100" dir="2700000" algn="tl" rotWithShape="0">
              <a:prstClr val="black">
                <a:alpha val="40000"/>
              </a:prstClr>
            </a:outerShdw>
          </a:effectLst>
        </p:spPr>
      </p:pic>
      <p:sp>
        <p:nvSpPr>
          <p:cNvPr id="3" name="Text Placeholder 6">
            <a:extLst>
              <a:ext uri="{FF2B5EF4-FFF2-40B4-BE49-F238E27FC236}">
                <a16:creationId xmlns:a16="http://schemas.microsoft.com/office/drawing/2014/main" id="{4EB038E7-9D9F-523C-A8F3-DD0FC28F53CB}"/>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Terms and conditions</a:t>
            </a:r>
          </a:p>
        </p:txBody>
      </p:sp>
    </p:spTree>
    <p:extLst>
      <p:ext uri="{BB962C8B-B14F-4D97-AF65-F5344CB8AC3E}">
        <p14:creationId xmlns:p14="http://schemas.microsoft.com/office/powerpoint/2010/main" val="785503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B8D64CBC-C36F-8144-DE8B-93D45A9142ED}"/>
              </a:ext>
            </a:extLst>
          </p:cNvPr>
          <p:cNvGraphicFramePr>
            <a:graphicFrameLocks noChangeAspect="1"/>
          </p:cNvGraphicFramePr>
          <p:nvPr>
            <p:custDataLst>
              <p:tags r:id="rId1"/>
            </p:custDataLst>
            <p:extLst>
              <p:ext uri="{D42A27DB-BD31-4B8C-83A1-F6EECF244321}">
                <p14:modId xmlns:p14="http://schemas.microsoft.com/office/powerpoint/2010/main" val="2782328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17" name="think-cell data - do not delete" hidden="1">
                        <a:extLst>
                          <a:ext uri="{FF2B5EF4-FFF2-40B4-BE49-F238E27FC236}">
                            <a16:creationId xmlns:a16="http://schemas.microsoft.com/office/drawing/2014/main" id="{B8D64CBC-C36F-8144-DE8B-93D45A9142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141">
            <a:extLst>
              <a:ext uri="{FF2B5EF4-FFF2-40B4-BE49-F238E27FC236}">
                <a16:creationId xmlns:a16="http://schemas.microsoft.com/office/drawing/2014/main" id="{4F487DD1-CFA8-C6E6-FF73-7D42CE473391}"/>
              </a:ext>
            </a:extLst>
          </p:cNvPr>
          <p:cNvGraphicFramePr>
            <a:graphicFrameLocks noGrp="1"/>
          </p:cNvGraphicFramePr>
          <p:nvPr>
            <p:extLst>
              <p:ext uri="{D42A27DB-BD31-4B8C-83A1-F6EECF244321}">
                <p14:modId xmlns:p14="http://schemas.microsoft.com/office/powerpoint/2010/main" val="2229439127"/>
              </p:ext>
            </p:extLst>
          </p:nvPr>
        </p:nvGraphicFramePr>
        <p:xfrm>
          <a:off x="298407" y="1011545"/>
          <a:ext cx="8528093" cy="3473833"/>
        </p:xfrm>
        <a:graphic>
          <a:graphicData uri="http://schemas.openxmlformats.org/drawingml/2006/table">
            <a:tbl>
              <a:tblPr firstRow="1" bandRow="1">
                <a:tableStyleId>{5C22544A-7EE6-4342-B048-85BDC9FD1C3A}</a:tableStyleId>
              </a:tblPr>
              <a:tblGrid>
                <a:gridCol w="2756850">
                  <a:extLst>
                    <a:ext uri="{9D8B030D-6E8A-4147-A177-3AD203B41FA5}">
                      <a16:colId xmlns:a16="http://schemas.microsoft.com/office/drawing/2014/main" val="3633553993"/>
                    </a:ext>
                  </a:extLst>
                </a:gridCol>
                <a:gridCol w="5771243">
                  <a:extLst>
                    <a:ext uri="{9D8B030D-6E8A-4147-A177-3AD203B41FA5}">
                      <a16:colId xmlns:a16="http://schemas.microsoft.com/office/drawing/2014/main" val="1585286637"/>
                    </a:ext>
                  </a:extLst>
                </a:gridCol>
              </a:tblGrid>
              <a:tr h="315803">
                <a:tc>
                  <a:txBody>
                    <a:bodyPr/>
                    <a:lstStyle/>
                    <a:p>
                      <a:pPr rtl="0"/>
                      <a:r>
                        <a:rPr lang="en-GB" sz="900" b="1">
                          <a:solidFill>
                            <a:srgbClr val="C09345"/>
                          </a:solidFill>
                          <a:latin typeface="Fund Light" pitchFamily="2" charset="-78"/>
                          <a:cs typeface="Fund Light" pitchFamily="2" charset="-78"/>
                        </a:rPr>
                        <a:t>Definitions and interpretation</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Definition of key terminologies used throughout the contract and rules of interpretation</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0957718"/>
                  </a:ext>
                </a:extLst>
              </a:tr>
              <a:tr h="315803">
                <a:tc>
                  <a:txBody>
                    <a:bodyPr/>
                    <a:lstStyle/>
                    <a:p>
                      <a:pPr rtl="0"/>
                      <a:r>
                        <a:rPr lang="en-US" sz="900" b="1">
                          <a:solidFill>
                            <a:srgbClr val="C09345"/>
                          </a:solidFill>
                          <a:latin typeface="Fund Light" pitchFamily="2" charset="-78"/>
                          <a:cs typeface="Fund Light" pitchFamily="2" charset="-78"/>
                        </a:rPr>
                        <a:t>Factory readiness, purpose, and term</a:t>
                      </a:r>
                      <a:endParaRPr lang="en-GB" sz="900" b="1">
                        <a:solidFill>
                          <a:srgbClr val="C09345"/>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General section on agreement commencement and its purpose (e.g., supplier/buyer obligations)</a:t>
                      </a:r>
                      <a:endPar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246559"/>
                  </a:ext>
                </a:extLst>
              </a:tr>
              <a:tr h="315803">
                <a:tc>
                  <a:txBody>
                    <a:bodyPr/>
                    <a:lstStyle/>
                    <a:p>
                      <a:pPr rtl="0"/>
                      <a:r>
                        <a:rPr lang="en-US" sz="900" b="1">
                          <a:solidFill>
                            <a:srgbClr val="C09345"/>
                          </a:solidFill>
                          <a:latin typeface="Fund Light" pitchFamily="2" charset="-78"/>
                          <a:cs typeface="Fund Light" pitchFamily="2" charset="-78"/>
                        </a:rPr>
                        <a:t>Conditions precedents</a:t>
                      </a:r>
                      <a:endParaRPr lang="en-GB" sz="900" b="1">
                        <a:solidFill>
                          <a:srgbClr val="C09345"/>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Description of conditions that must be met before any obligation gets triggered (e.g., factory setup)</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1003580"/>
                  </a:ext>
                </a:extLst>
              </a:tr>
              <a:tr h="315803">
                <a:tc>
                  <a:txBody>
                    <a:bodyPr/>
                    <a:lstStyle/>
                    <a:p>
                      <a:pPr rtl="0"/>
                      <a:r>
                        <a:rPr lang="en-GB" sz="900" b="1">
                          <a:solidFill>
                            <a:srgbClr val="C09345"/>
                          </a:solidFill>
                          <a:latin typeface="Fund Light" pitchFamily="2" charset="-78"/>
                          <a:cs typeface="Fund Light" pitchFamily="2" charset="-78"/>
                        </a:rPr>
                        <a:t>Purchase order (PO)</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Provisions detailing products’ PO (e.g., quantity, quality, specs) and consequence of non-payment</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552264"/>
                  </a:ext>
                </a:extLst>
              </a:tr>
              <a:tr h="315803">
                <a:tc>
                  <a:txBody>
                    <a:bodyPr/>
                    <a:lstStyle/>
                    <a:p>
                      <a:pPr rtl="0"/>
                      <a:r>
                        <a:rPr lang="en-GB" sz="900" b="1">
                          <a:solidFill>
                            <a:srgbClr val="C09345"/>
                          </a:solidFill>
                          <a:latin typeface="Fund Light" pitchFamily="2" charset="-78"/>
                          <a:cs typeface="Fund Light" pitchFamily="2" charset="-78"/>
                        </a:rPr>
                        <a:t>Inspection of materials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Provisions detailing products’ quality check mechanism of buyers</a:t>
                      </a:r>
                      <a:endParaRPr lang="en-GB" sz="900" b="0" i="0" baseline="3000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6041668"/>
                  </a:ext>
                </a:extLst>
              </a:tr>
              <a:tr h="315803">
                <a:tc>
                  <a:txBody>
                    <a:bodyPr/>
                    <a:lstStyle/>
                    <a:p>
                      <a:pPr rtl="0"/>
                      <a:r>
                        <a:rPr lang="en-GB" sz="900" b="1">
                          <a:solidFill>
                            <a:srgbClr val="C09345"/>
                          </a:solidFill>
                          <a:latin typeface="Fund Light" pitchFamily="2" charset="-78"/>
                          <a:cs typeface="Fund Light" pitchFamily="2" charset="-78"/>
                        </a:rPr>
                        <a:t>Price and payments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Provisions on price calculation, price review mechanisms and change requests, and payment terms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2989402"/>
                  </a:ext>
                </a:extLst>
              </a:tr>
              <a:tr h="31580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900" b="1">
                          <a:solidFill>
                            <a:srgbClr val="C09345"/>
                          </a:solidFill>
                          <a:latin typeface="Fund Light" pitchFamily="2" charset="-78"/>
                          <a:cs typeface="Fund Light" pitchFamily="2" charset="-78"/>
                        </a:rPr>
                        <a:t>Representations and undertakings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Provisions detailing the party representative and undertakings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39011"/>
                  </a:ext>
                </a:extLst>
              </a:tr>
              <a:tr h="315803">
                <a:tc>
                  <a:txBody>
                    <a:bodyPr/>
                    <a:lstStyle/>
                    <a:p>
                      <a:pPr rtl="0"/>
                      <a:r>
                        <a:rPr lang="en-GB" sz="900" b="1">
                          <a:solidFill>
                            <a:srgbClr val="C09345"/>
                          </a:solidFill>
                          <a:latin typeface="Fund Light" pitchFamily="2" charset="-78"/>
                          <a:cs typeface="Fund Light" pitchFamily="2" charset="-78"/>
                        </a:rPr>
                        <a:t>Indemnification and limitation of liability</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Provisions such as conditions triggering guarantee payments, maximum liability)</a:t>
                      </a:r>
                      <a:endPar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315803">
                <a:tc>
                  <a:txBody>
                    <a:bodyPr/>
                    <a:lstStyle/>
                    <a:p>
                      <a:pPr rtl="0"/>
                      <a:r>
                        <a:rPr lang="en-GB" sz="900" b="1">
                          <a:solidFill>
                            <a:srgbClr val="C09345"/>
                          </a:solidFill>
                          <a:latin typeface="Fund Light" pitchFamily="2" charset="-78"/>
                          <a:cs typeface="Fund Light" pitchFamily="2" charset="-78"/>
                        </a:rPr>
                        <a:t>Events of default</a:t>
                      </a:r>
                      <a:r>
                        <a:rPr lang="en-GB" sz="900" b="1" baseline="30000">
                          <a:solidFill>
                            <a:srgbClr val="C09345"/>
                          </a:solidFill>
                          <a:latin typeface="Fund Light" pitchFamily="2" charset="-78"/>
                          <a:cs typeface="Fund Light" pitchFamily="2" charset="-78"/>
                        </a:rPr>
                        <a:t> </a:t>
                      </a:r>
                      <a:r>
                        <a:rPr lang="en-GB" sz="900" b="1" baseline="0">
                          <a:solidFill>
                            <a:srgbClr val="C09345"/>
                          </a:solidFill>
                          <a:latin typeface="Fund Light" pitchFamily="2" charset="-78"/>
                          <a:cs typeface="Fund Light" pitchFamily="2" charset="-78"/>
                        </a:rPr>
                        <a:t>(EoD)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Provisions describing the supplier’s and buyer’s failure to fulfil obligations</a:t>
                      </a:r>
                      <a:endPar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782404"/>
                  </a:ext>
                </a:extLst>
              </a:tr>
              <a:tr h="315803">
                <a:tc>
                  <a:txBody>
                    <a:bodyPr/>
                    <a:lstStyle/>
                    <a:p>
                      <a:pPr rtl="0"/>
                      <a:r>
                        <a:rPr lang="en-GB" sz="900" b="1">
                          <a:solidFill>
                            <a:srgbClr val="C09345"/>
                          </a:solidFill>
                          <a:latin typeface="Fund Light" pitchFamily="2" charset="-78"/>
                          <a:cs typeface="Fund Light" pitchFamily="2" charset="-78"/>
                        </a:rPr>
                        <a:t>Consequences of EoD and termination</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Provisions on the compensation mechanisms (i.e., remedies) and the termination of the agreement</a:t>
                      </a:r>
                      <a:endParaRPr lang="en-GB" sz="9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567837"/>
                  </a:ext>
                </a:extLst>
              </a:tr>
              <a:tr h="315803">
                <a:tc>
                  <a:txBody>
                    <a:bodyPr/>
                    <a:lstStyle/>
                    <a:p>
                      <a:pPr rtl="0"/>
                      <a:r>
                        <a:rPr lang="en-GB" sz="900" b="1">
                          <a:solidFill>
                            <a:srgbClr val="C09345"/>
                          </a:solidFill>
                          <a:latin typeface="Fund Light" pitchFamily="2" charset="-78"/>
                          <a:cs typeface="Fund Light" pitchFamily="2" charset="-78"/>
                        </a:rPr>
                        <a:t>Other boilerplate provisions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E.g., expert determination, force majeure, intellectual property, confidentiality, assignment, </a:t>
                      </a:r>
                      <a:r>
                        <a:rPr lang="en-US" sz="900" b="0" i="0">
                          <a:solidFill>
                            <a:srgbClr val="000000"/>
                          </a:solidFill>
                          <a:latin typeface="Fund Light" pitchFamily="2" charset="-78"/>
                          <a:cs typeface="Fund Light" pitchFamily="2" charset="-78"/>
                        </a:rPr>
                        <a:t>waivers</a:t>
                      </a:r>
                      <a:endParaRPr lang="en-GB" sz="9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305275"/>
                  </a:ext>
                </a:extLst>
              </a:tr>
            </a:tbl>
          </a:graphicData>
        </a:graphic>
      </p:graphicFrame>
      <p:sp>
        <p:nvSpPr>
          <p:cNvPr id="12" name="Title 11">
            <a:extLst>
              <a:ext uri="{FF2B5EF4-FFF2-40B4-BE49-F238E27FC236}">
                <a16:creationId xmlns:a16="http://schemas.microsoft.com/office/drawing/2014/main" id="{9535FC0F-1DF9-24B4-6E27-60C4A49B02FB}"/>
              </a:ext>
            </a:extLst>
          </p:cNvPr>
          <p:cNvSpPr>
            <a:spLocks noGrp="1"/>
          </p:cNvSpPr>
          <p:nvPr>
            <p:ph type="title"/>
          </p:nvPr>
        </p:nvSpPr>
        <p:spPr/>
        <p:txBody>
          <a:bodyPr vert="horz">
            <a:normAutofit fontScale="90000"/>
          </a:bodyPr>
          <a:lstStyle/>
          <a:p>
            <a:r>
              <a:rPr lang="en-US"/>
              <a:t>A preferred supplier agreement is structured with 11 sections</a:t>
            </a:r>
          </a:p>
        </p:txBody>
      </p:sp>
      <p:sp>
        <p:nvSpPr>
          <p:cNvPr id="5" name="Text Placeholder 4">
            <a:extLst>
              <a:ext uri="{FF2B5EF4-FFF2-40B4-BE49-F238E27FC236}">
                <a16:creationId xmlns:a16="http://schemas.microsoft.com/office/drawing/2014/main" id="{25E20482-5469-1919-D5B2-F40A478482D2}"/>
              </a:ext>
            </a:extLst>
          </p:cNvPr>
          <p:cNvSpPr>
            <a:spLocks noGrp="1"/>
          </p:cNvSpPr>
          <p:nvPr>
            <p:ph type="body" sz="quarter" idx="4294967295"/>
          </p:nvPr>
        </p:nvSpPr>
        <p:spPr>
          <a:xfrm>
            <a:off x="0" y="741795"/>
            <a:ext cx="8674100" cy="187325"/>
          </a:xfrm>
        </p:spPr>
        <p:txBody>
          <a:bodyPr/>
          <a:lstStyle/>
          <a:p>
            <a:r>
              <a:rPr lang="en-US"/>
              <a:t> </a:t>
            </a:r>
          </a:p>
        </p:txBody>
      </p:sp>
      <p:sp>
        <p:nvSpPr>
          <p:cNvPr id="18" name="Oval 17">
            <a:extLst>
              <a:ext uri="{FF2B5EF4-FFF2-40B4-BE49-F238E27FC236}">
                <a16:creationId xmlns:a16="http://schemas.microsoft.com/office/drawing/2014/main" id="{75621A6B-DC60-9C38-CE91-CAC89B2C7B7B}"/>
              </a:ext>
            </a:extLst>
          </p:cNvPr>
          <p:cNvSpPr/>
          <p:nvPr/>
        </p:nvSpPr>
        <p:spPr>
          <a:xfrm>
            <a:off x="231069" y="1381189"/>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2</a:t>
            </a:r>
          </a:p>
        </p:txBody>
      </p:sp>
      <p:sp>
        <p:nvSpPr>
          <p:cNvPr id="19" name="Oval 18">
            <a:extLst>
              <a:ext uri="{FF2B5EF4-FFF2-40B4-BE49-F238E27FC236}">
                <a16:creationId xmlns:a16="http://schemas.microsoft.com/office/drawing/2014/main" id="{BEE38816-EC7B-FD42-1D32-2F698313421F}"/>
              </a:ext>
            </a:extLst>
          </p:cNvPr>
          <p:cNvSpPr/>
          <p:nvPr/>
        </p:nvSpPr>
        <p:spPr>
          <a:xfrm>
            <a:off x="231069" y="1696686"/>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3</a:t>
            </a:r>
          </a:p>
        </p:txBody>
      </p:sp>
      <p:sp>
        <p:nvSpPr>
          <p:cNvPr id="20" name="Oval 19">
            <a:extLst>
              <a:ext uri="{FF2B5EF4-FFF2-40B4-BE49-F238E27FC236}">
                <a16:creationId xmlns:a16="http://schemas.microsoft.com/office/drawing/2014/main" id="{F0E84B82-4474-D953-6CF2-A8F48BBEA87D}"/>
              </a:ext>
            </a:extLst>
          </p:cNvPr>
          <p:cNvSpPr/>
          <p:nvPr/>
        </p:nvSpPr>
        <p:spPr>
          <a:xfrm>
            <a:off x="231069" y="2012183"/>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4</a:t>
            </a:r>
          </a:p>
        </p:txBody>
      </p:sp>
      <p:cxnSp>
        <p:nvCxnSpPr>
          <p:cNvPr id="37" name="Straight Connector 36">
            <a:extLst>
              <a:ext uri="{FF2B5EF4-FFF2-40B4-BE49-F238E27FC236}">
                <a16:creationId xmlns:a16="http://schemas.microsoft.com/office/drawing/2014/main" id="{F718A762-3AD7-7C38-638E-ED72B558D226}"/>
              </a:ext>
            </a:extLst>
          </p:cNvPr>
          <p:cNvCxnSpPr>
            <a:cxnSpLocks/>
          </p:cNvCxnSpPr>
          <p:nvPr/>
        </p:nvCxnSpPr>
        <p:spPr>
          <a:xfrm>
            <a:off x="3098804" y="980952"/>
            <a:ext cx="5720846"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84287EF-E0C4-903D-2374-B715F3673EB6}"/>
              </a:ext>
            </a:extLst>
          </p:cNvPr>
          <p:cNvSpPr txBox="1"/>
          <p:nvPr/>
        </p:nvSpPr>
        <p:spPr>
          <a:xfrm>
            <a:off x="3098800" y="742851"/>
            <a:ext cx="5720843"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What is included </a:t>
            </a:r>
            <a:r>
              <a:rPr lang="en-US" sz="900">
                <a:solidFill>
                  <a:schemeClr val="bg2"/>
                </a:solidFill>
                <a:latin typeface="Fund Light" pitchFamily="2" charset="-78"/>
                <a:cs typeface="Fund Light" pitchFamily="2" charset="-78"/>
              </a:rPr>
              <a:t>(non-exhaustive)</a:t>
            </a:r>
          </a:p>
        </p:txBody>
      </p:sp>
      <p:cxnSp>
        <p:nvCxnSpPr>
          <p:cNvPr id="40" name="Straight Connector 39">
            <a:extLst>
              <a:ext uri="{FF2B5EF4-FFF2-40B4-BE49-F238E27FC236}">
                <a16:creationId xmlns:a16="http://schemas.microsoft.com/office/drawing/2014/main" id="{3BE438BD-2B75-F263-550A-BC6644415010}"/>
              </a:ext>
            </a:extLst>
          </p:cNvPr>
          <p:cNvCxnSpPr>
            <a:cxnSpLocks/>
          </p:cNvCxnSpPr>
          <p:nvPr/>
        </p:nvCxnSpPr>
        <p:spPr>
          <a:xfrm>
            <a:off x="324348" y="980952"/>
            <a:ext cx="262628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1BD44E3-0166-3D9A-14D4-15826F025B48}"/>
              </a:ext>
            </a:extLst>
          </p:cNvPr>
          <p:cNvSpPr txBox="1"/>
          <p:nvPr/>
        </p:nvSpPr>
        <p:spPr>
          <a:xfrm>
            <a:off x="324347" y="742851"/>
            <a:ext cx="2626286"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Section</a:t>
            </a:r>
          </a:p>
        </p:txBody>
      </p:sp>
      <p:sp>
        <p:nvSpPr>
          <p:cNvPr id="3" name="Oval 2">
            <a:extLst>
              <a:ext uri="{FF2B5EF4-FFF2-40B4-BE49-F238E27FC236}">
                <a16:creationId xmlns:a16="http://schemas.microsoft.com/office/drawing/2014/main" id="{F53440C5-398A-A013-3D07-5B5FC0498F0E}"/>
              </a:ext>
            </a:extLst>
          </p:cNvPr>
          <p:cNvSpPr/>
          <p:nvPr/>
        </p:nvSpPr>
        <p:spPr>
          <a:xfrm>
            <a:off x="231069" y="1065692"/>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1</a:t>
            </a:r>
          </a:p>
        </p:txBody>
      </p:sp>
      <p:sp>
        <p:nvSpPr>
          <p:cNvPr id="23" name="Oval 22">
            <a:extLst>
              <a:ext uri="{FF2B5EF4-FFF2-40B4-BE49-F238E27FC236}">
                <a16:creationId xmlns:a16="http://schemas.microsoft.com/office/drawing/2014/main" id="{585E86FA-6DAD-EDA9-15A5-213331698E3C}"/>
              </a:ext>
            </a:extLst>
          </p:cNvPr>
          <p:cNvSpPr/>
          <p:nvPr/>
        </p:nvSpPr>
        <p:spPr>
          <a:xfrm>
            <a:off x="231069" y="2327680"/>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5</a:t>
            </a:r>
          </a:p>
        </p:txBody>
      </p:sp>
      <p:sp>
        <p:nvSpPr>
          <p:cNvPr id="24" name="Oval 23">
            <a:extLst>
              <a:ext uri="{FF2B5EF4-FFF2-40B4-BE49-F238E27FC236}">
                <a16:creationId xmlns:a16="http://schemas.microsoft.com/office/drawing/2014/main" id="{AF74A971-1D35-4249-6CDA-5307B2F92488}"/>
              </a:ext>
            </a:extLst>
          </p:cNvPr>
          <p:cNvSpPr/>
          <p:nvPr/>
        </p:nvSpPr>
        <p:spPr>
          <a:xfrm>
            <a:off x="231069" y="2643177"/>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6</a:t>
            </a:r>
          </a:p>
        </p:txBody>
      </p:sp>
      <p:sp>
        <p:nvSpPr>
          <p:cNvPr id="25" name="Oval 24">
            <a:extLst>
              <a:ext uri="{FF2B5EF4-FFF2-40B4-BE49-F238E27FC236}">
                <a16:creationId xmlns:a16="http://schemas.microsoft.com/office/drawing/2014/main" id="{7F665408-9C48-67E6-9C9B-E74C8F995FC4}"/>
              </a:ext>
            </a:extLst>
          </p:cNvPr>
          <p:cNvSpPr/>
          <p:nvPr/>
        </p:nvSpPr>
        <p:spPr>
          <a:xfrm>
            <a:off x="231069" y="2958674"/>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7</a:t>
            </a:r>
          </a:p>
        </p:txBody>
      </p:sp>
      <p:sp>
        <p:nvSpPr>
          <p:cNvPr id="26" name="Oval 25">
            <a:extLst>
              <a:ext uri="{FF2B5EF4-FFF2-40B4-BE49-F238E27FC236}">
                <a16:creationId xmlns:a16="http://schemas.microsoft.com/office/drawing/2014/main" id="{4E4A1A90-2B6C-C086-501D-7BAB29BA1E5F}"/>
              </a:ext>
            </a:extLst>
          </p:cNvPr>
          <p:cNvSpPr/>
          <p:nvPr/>
        </p:nvSpPr>
        <p:spPr>
          <a:xfrm>
            <a:off x="231069" y="3274171"/>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8</a:t>
            </a:r>
          </a:p>
        </p:txBody>
      </p:sp>
      <p:sp>
        <p:nvSpPr>
          <p:cNvPr id="27" name="Oval 26">
            <a:extLst>
              <a:ext uri="{FF2B5EF4-FFF2-40B4-BE49-F238E27FC236}">
                <a16:creationId xmlns:a16="http://schemas.microsoft.com/office/drawing/2014/main" id="{A61EDE9C-4C58-B13C-E2E3-ACD7C2A23D3C}"/>
              </a:ext>
            </a:extLst>
          </p:cNvPr>
          <p:cNvSpPr/>
          <p:nvPr/>
        </p:nvSpPr>
        <p:spPr>
          <a:xfrm>
            <a:off x="231069" y="3589668"/>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9</a:t>
            </a:r>
          </a:p>
        </p:txBody>
      </p:sp>
      <p:sp>
        <p:nvSpPr>
          <p:cNvPr id="28" name="Oval 27">
            <a:extLst>
              <a:ext uri="{FF2B5EF4-FFF2-40B4-BE49-F238E27FC236}">
                <a16:creationId xmlns:a16="http://schemas.microsoft.com/office/drawing/2014/main" id="{E8828F8F-48F9-633B-3F08-C51B773CD0FB}"/>
              </a:ext>
            </a:extLst>
          </p:cNvPr>
          <p:cNvSpPr/>
          <p:nvPr/>
        </p:nvSpPr>
        <p:spPr>
          <a:xfrm>
            <a:off x="231069" y="3905165"/>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10</a:t>
            </a:r>
          </a:p>
        </p:txBody>
      </p:sp>
      <p:sp>
        <p:nvSpPr>
          <p:cNvPr id="29" name="Oval 28">
            <a:extLst>
              <a:ext uri="{FF2B5EF4-FFF2-40B4-BE49-F238E27FC236}">
                <a16:creationId xmlns:a16="http://schemas.microsoft.com/office/drawing/2014/main" id="{7D439B68-6547-B95F-25E9-B04C0D0E9367}"/>
              </a:ext>
            </a:extLst>
          </p:cNvPr>
          <p:cNvSpPr/>
          <p:nvPr/>
        </p:nvSpPr>
        <p:spPr>
          <a:xfrm>
            <a:off x="231069" y="4220663"/>
            <a:ext cx="201168" cy="196835"/>
          </a:xfrm>
          <a:prstGeom prst="ellipse">
            <a:avLst/>
          </a:prstGeom>
          <a:solidFill>
            <a:srgbClr val="C4984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pPr>
            <a:r>
              <a:rPr lang="en-US" sz="900">
                <a:solidFill>
                  <a:srgbClr val="FFFFFF"/>
                </a:solidFill>
                <a:latin typeface="Fund Light" pitchFamily="2" charset="-78"/>
                <a:cs typeface="Fund Light" pitchFamily="2" charset="-78"/>
              </a:rPr>
              <a:t>11</a:t>
            </a:r>
          </a:p>
        </p:txBody>
      </p:sp>
      <p:sp>
        <p:nvSpPr>
          <p:cNvPr id="4" name="Text Placeholder 6">
            <a:extLst>
              <a:ext uri="{FF2B5EF4-FFF2-40B4-BE49-F238E27FC236}">
                <a16:creationId xmlns:a16="http://schemas.microsoft.com/office/drawing/2014/main" id="{8B489D7D-AA1E-DE35-6153-BF144AFA0A6B}"/>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Preferred supplier agreement</a:t>
            </a:r>
          </a:p>
        </p:txBody>
      </p:sp>
      <p:sp>
        <p:nvSpPr>
          <p:cNvPr id="7" name="Oval 6">
            <a:extLst>
              <a:ext uri="{FF2B5EF4-FFF2-40B4-BE49-F238E27FC236}">
                <a16:creationId xmlns:a16="http://schemas.microsoft.com/office/drawing/2014/main" id="{4DC15CA0-9FC9-D9B8-60C6-D2B16C76F910}"/>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A</a:t>
            </a:r>
          </a:p>
        </p:txBody>
      </p:sp>
      <p:sp>
        <p:nvSpPr>
          <p:cNvPr id="34" name="Rectangle 33">
            <a:extLst>
              <a:ext uri="{FF2B5EF4-FFF2-40B4-BE49-F238E27FC236}">
                <a16:creationId xmlns:a16="http://schemas.microsoft.com/office/drawing/2014/main" id="{4C643934-031E-506E-41A3-6A964604F20A}"/>
              </a:ext>
            </a:extLst>
          </p:cNvPr>
          <p:cNvSpPr/>
          <p:nvPr/>
        </p:nvSpPr>
        <p:spPr>
          <a:xfrm>
            <a:off x="231069" y="4485378"/>
            <a:ext cx="1132064" cy="1968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bg2"/>
                </a:solidFill>
                <a:latin typeface="Fund Light" pitchFamily="2" charset="-78"/>
                <a:cs typeface="Fund Light" pitchFamily="2" charset="-78"/>
              </a:rPr>
              <a:t>…………….</a:t>
            </a:r>
          </a:p>
        </p:txBody>
      </p:sp>
      <p:sp>
        <p:nvSpPr>
          <p:cNvPr id="35" name="Rectangle 34">
            <a:extLst>
              <a:ext uri="{FF2B5EF4-FFF2-40B4-BE49-F238E27FC236}">
                <a16:creationId xmlns:a16="http://schemas.microsoft.com/office/drawing/2014/main" id="{416A1CE0-6193-996B-9524-995D7AD881CB}"/>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Tree>
    <p:extLst>
      <p:ext uri="{BB962C8B-B14F-4D97-AF65-F5344CB8AC3E}">
        <p14:creationId xmlns:p14="http://schemas.microsoft.com/office/powerpoint/2010/main" val="25466073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0C3194DC-B280-E594-A348-92D1A81C49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25" name="think-cell data - do not delete" hidden="1">
                        <a:extLst>
                          <a:ext uri="{FF2B5EF4-FFF2-40B4-BE49-F238E27FC236}">
                            <a16:creationId xmlns:a16="http://schemas.microsoft.com/office/drawing/2014/main" id="{0C3194DC-B280-E594-A348-92D1A81C49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D72D1CAA-47EB-DDC9-5B56-AD2D6178517A}"/>
              </a:ext>
            </a:extLst>
          </p:cNvPr>
          <p:cNvSpPr>
            <a:spLocks noGrp="1"/>
          </p:cNvSpPr>
          <p:nvPr>
            <p:ph type="body" sz="quarter" idx="4294967295"/>
          </p:nvPr>
        </p:nvSpPr>
        <p:spPr>
          <a:xfrm>
            <a:off x="0" y="921880"/>
            <a:ext cx="8674100" cy="187325"/>
          </a:xfrm>
        </p:spPr>
        <p:txBody>
          <a:bodyPr/>
          <a:lstStyle/>
          <a:p>
            <a:r>
              <a:rPr lang="en-US">
                <a:solidFill>
                  <a:schemeClr val="tx1"/>
                </a:solidFill>
              </a:rPr>
              <a:t> </a:t>
            </a:r>
          </a:p>
        </p:txBody>
      </p:sp>
      <p:graphicFrame>
        <p:nvGraphicFramePr>
          <p:cNvPr id="35" name="Table 141">
            <a:extLst>
              <a:ext uri="{FF2B5EF4-FFF2-40B4-BE49-F238E27FC236}">
                <a16:creationId xmlns:a16="http://schemas.microsoft.com/office/drawing/2014/main" id="{4E6F99EA-925F-DB17-CA0D-F9AF51267B20}"/>
              </a:ext>
            </a:extLst>
          </p:cNvPr>
          <p:cNvGraphicFramePr>
            <a:graphicFrameLocks noGrp="1"/>
          </p:cNvGraphicFramePr>
          <p:nvPr>
            <p:extLst>
              <p:ext uri="{D42A27DB-BD31-4B8C-83A1-F6EECF244321}">
                <p14:modId xmlns:p14="http://schemas.microsoft.com/office/powerpoint/2010/main" val="2684816493"/>
              </p:ext>
            </p:extLst>
          </p:nvPr>
        </p:nvGraphicFramePr>
        <p:xfrm>
          <a:off x="298408" y="1168427"/>
          <a:ext cx="8482420" cy="3241850"/>
        </p:xfrm>
        <a:graphic>
          <a:graphicData uri="http://schemas.openxmlformats.org/drawingml/2006/table">
            <a:tbl>
              <a:tblPr firstRow="1" bandRow="1">
                <a:tableStyleId>{5C22544A-7EE6-4342-B048-85BDC9FD1C3A}</a:tableStyleId>
              </a:tblPr>
              <a:tblGrid>
                <a:gridCol w="737155">
                  <a:extLst>
                    <a:ext uri="{9D8B030D-6E8A-4147-A177-3AD203B41FA5}">
                      <a16:colId xmlns:a16="http://schemas.microsoft.com/office/drawing/2014/main" val="522316640"/>
                    </a:ext>
                  </a:extLst>
                </a:gridCol>
                <a:gridCol w="1539024">
                  <a:extLst>
                    <a:ext uri="{9D8B030D-6E8A-4147-A177-3AD203B41FA5}">
                      <a16:colId xmlns:a16="http://schemas.microsoft.com/office/drawing/2014/main" val="3633553993"/>
                    </a:ext>
                  </a:extLst>
                </a:gridCol>
                <a:gridCol w="4072647">
                  <a:extLst>
                    <a:ext uri="{9D8B030D-6E8A-4147-A177-3AD203B41FA5}">
                      <a16:colId xmlns:a16="http://schemas.microsoft.com/office/drawing/2014/main" val="1585286637"/>
                    </a:ext>
                  </a:extLst>
                </a:gridCol>
                <a:gridCol w="1300483">
                  <a:extLst>
                    <a:ext uri="{9D8B030D-6E8A-4147-A177-3AD203B41FA5}">
                      <a16:colId xmlns:a16="http://schemas.microsoft.com/office/drawing/2014/main" val="4212489912"/>
                    </a:ext>
                  </a:extLst>
                </a:gridCol>
                <a:gridCol w="833111">
                  <a:extLst>
                    <a:ext uri="{9D8B030D-6E8A-4147-A177-3AD203B41FA5}">
                      <a16:colId xmlns:a16="http://schemas.microsoft.com/office/drawing/2014/main" val="1515870065"/>
                    </a:ext>
                  </a:extLst>
                </a:gridCol>
              </a:tblGrid>
              <a:tr h="622822">
                <a:tc rowSpan="5">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Supply 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rowSpan="3">
                  <a:txBody>
                    <a:bodyPr/>
                    <a:lstStyle/>
                    <a:p>
                      <a:pPr rtl="0"/>
                      <a:r>
                        <a:rPr lang="en-US" sz="800" b="1">
                          <a:solidFill>
                            <a:srgbClr val="C4984F"/>
                          </a:solidFill>
                          <a:latin typeface="Fund Light" pitchFamily="2" charset="-78"/>
                          <a:cs typeface="Fund Light" pitchFamily="2" charset="-78"/>
                        </a:rPr>
                        <a:t>How to minimize supply risk for the buyer? </a:t>
                      </a:r>
                      <a:r>
                        <a:rPr lang="en-US" sz="800" b="0">
                          <a:solidFill>
                            <a:srgbClr val="C4984F"/>
                          </a:solidFill>
                          <a:latin typeface="Fund Light" pitchFamily="2" charset="-78"/>
                          <a:cs typeface="Fund Light" pitchFamily="2" charset="-78"/>
                        </a:rPr>
                        <a:t>i.e., delivery, quantity, quality</a:t>
                      </a:r>
                      <a:endParaRPr kumimoji="0" lang="en-US" sz="800" b="0" i="0" u="none" strike="noStrike" kern="1200" cap="none" spc="0" normalizeH="0" baseline="0" noProof="0">
                        <a:ln>
                          <a:noFill/>
                        </a:ln>
                        <a:solidFill>
                          <a:srgbClr val="C4984F"/>
                        </a:solidFill>
                        <a:effectLst/>
                        <a:uLnTx/>
                        <a:uFillTx/>
                        <a:latin typeface="Fund Light" pitchFamily="2" charset="-78"/>
                        <a:ea typeface="+mn-ea"/>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US" sz="800" b="0" i="0">
                          <a:solidFill>
                            <a:srgbClr val="000000"/>
                          </a:solidFill>
                          <a:latin typeface="Fund Light" pitchFamily="2" charset="-78"/>
                          <a:cs typeface="Fund Light" pitchFamily="2" charset="-78"/>
                        </a:rPr>
                        <a:t>LDC agreement to trigger only post-start of </a:t>
                      </a:r>
                      <a:r>
                        <a:rPr lang="en-US" sz="800" b="1" i="0">
                          <a:solidFill>
                            <a:srgbClr val="000000"/>
                          </a:solidFill>
                          <a:latin typeface="Fund Light" pitchFamily="2" charset="-78"/>
                          <a:cs typeface="Fund Light" pitchFamily="2" charset="-78"/>
                        </a:rPr>
                        <a:t>conditions precedents </a:t>
                      </a:r>
                      <a:r>
                        <a:rPr lang="en-US" sz="800" b="0" i="0">
                          <a:solidFill>
                            <a:srgbClr val="000000"/>
                          </a:solidFill>
                          <a:latin typeface="Fund Light" pitchFamily="2" charset="-78"/>
                          <a:cs typeface="Fund Light" pitchFamily="2" charset="-78"/>
                        </a:rPr>
                        <a:t>covering </a:t>
                      </a:r>
                      <a:r>
                        <a:rPr lang="en-US" sz="800" b="1" i="0">
                          <a:solidFill>
                            <a:srgbClr val="000000"/>
                          </a:solidFill>
                          <a:latin typeface="Fund Light" pitchFamily="2" charset="-78"/>
                          <a:cs typeface="Fund Light" pitchFamily="2" charset="-78"/>
                        </a:rPr>
                        <a:t>pre-production conditions</a:t>
                      </a:r>
                      <a:r>
                        <a:rPr lang="en-US" sz="800" b="1" i="0" baseline="30000">
                          <a:solidFill>
                            <a:srgbClr val="000000"/>
                          </a:solidFill>
                          <a:latin typeface="Fund Light" pitchFamily="2" charset="-78"/>
                          <a:cs typeface="Fund Light" pitchFamily="2" charset="-78"/>
                        </a:rPr>
                        <a:t>1</a:t>
                      </a:r>
                      <a:r>
                        <a:rPr lang="en-US" sz="800" b="1" i="0">
                          <a:solidFill>
                            <a:srgbClr val="000000"/>
                          </a:solidFill>
                          <a:latin typeface="Fund Light" pitchFamily="2" charset="-78"/>
                          <a:cs typeface="Fund Light" pitchFamily="2" charset="-78"/>
                        </a:rPr>
                        <a:t> </a:t>
                      </a:r>
                      <a:r>
                        <a:rPr lang="en-US" sz="800" b="0" i="0">
                          <a:solidFill>
                            <a:srgbClr val="000000"/>
                          </a:solidFill>
                          <a:latin typeface="Fund Light" pitchFamily="2" charset="-78"/>
                          <a:cs typeface="Fund Light" pitchFamily="2" charset="-78"/>
                        </a:rPr>
                        <a:t>(e.g., timeline, production capacity, production technology) and </a:t>
                      </a:r>
                      <a:r>
                        <a:rPr lang="en-US" sz="800" b="1" i="0">
                          <a:solidFill>
                            <a:srgbClr val="000000"/>
                          </a:solidFill>
                          <a:latin typeface="Fund Light" pitchFamily="2" charset="-78"/>
                          <a:cs typeface="Fund Light" pitchFamily="2" charset="-78"/>
                        </a:rPr>
                        <a:t>production conditions </a:t>
                      </a:r>
                      <a:r>
                        <a:rPr lang="en-US" sz="800" b="0" i="0">
                          <a:solidFill>
                            <a:srgbClr val="000000"/>
                          </a:solidFill>
                          <a:latin typeface="Fund Light" pitchFamily="2" charset="-78"/>
                          <a:cs typeface="Fund Light" pitchFamily="2" charset="-78"/>
                        </a:rPr>
                        <a:t>(e.g., specifications, localization, Saudi Made certificate, other certificates</a:t>
                      </a:r>
                      <a:r>
                        <a:rPr lang="en-US" sz="800" b="0" i="0" baseline="30000">
                          <a:solidFill>
                            <a:srgbClr val="000000"/>
                          </a:solidFill>
                          <a:latin typeface="Fund Light" pitchFamily="2" charset="-78"/>
                          <a:cs typeface="Fund Light" pitchFamily="2" charset="-78"/>
                        </a:rPr>
                        <a:t>2</a:t>
                      </a:r>
                      <a:r>
                        <a:rPr lang="en-US" sz="800" b="0" i="0">
                          <a:solidFill>
                            <a:srgbClr val="000000"/>
                          </a:solidFill>
                          <a:latin typeface="Fund Light" pitchFamily="2" charset="-78"/>
                          <a:cs typeface="Fund Light" pitchFamily="2" charset="-78"/>
                        </a:rPr>
                        <a:t>)</a:t>
                      </a:r>
                      <a:endParaRPr lang="en-US" sz="800" b="1" i="0" u="sng">
                        <a:solidFill>
                          <a:srgbClr val="000000"/>
                        </a:solidFill>
                        <a:latin typeface="Fund Light" pitchFamily="2" charset="-78"/>
                        <a:cs typeface="Fund Light" pitchFamily="2" charset="-78"/>
                      </a:endParaRPr>
                    </a:p>
                  </a:txBody>
                  <a:tcPr marT="18288" marB="21328" anchor="ctr">
                    <a:lnL w="571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CONDITIONS PRECEDENTS</a:t>
                      </a:r>
                    </a:p>
                  </a:txBody>
                  <a:tcPr marR="45720" marT="18288" marB="21328" anchor="ctr">
                    <a:lnL w="3175" cap="flat" cmpd="sng" algn="ctr">
                      <a:solidFill>
                        <a:schemeClr val="bg1">
                          <a:lumMod val="65000"/>
                        </a:schemeClr>
                      </a:solidFill>
                      <a:prstDash val="solid"/>
                      <a:round/>
                      <a:headEnd type="none" w="med" len="med"/>
                      <a:tailEnd type="none" w="med" len="med"/>
                    </a:lnL>
                    <a:lnR w="9525" cap="flat" cmpd="sng" algn="ctr">
                      <a:noFill/>
                      <a:prstDash val="sys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3.1</a:t>
                      </a:r>
                    </a:p>
                  </a:txBody>
                  <a:tcPr marL="45720" marR="45720" marT="18288" marB="21328" anchor="ctr">
                    <a:lnL w="9525" cap="flat" cmpd="sng" algn="ctr">
                      <a:noFill/>
                      <a:prstDash val="sysDash"/>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87678"/>
                  </a:ext>
                </a:extLst>
              </a:tr>
              <a:tr h="622822">
                <a:tc vMerge="1">
                  <a:txBody>
                    <a:bodyPr/>
                    <a:lstStyle/>
                    <a:p>
                      <a:endParaRPr lang="en-US"/>
                    </a:p>
                  </a:txBody>
                  <a:tcPr/>
                </a:tc>
                <a:tc vMerge="1">
                  <a:txBody>
                    <a:bodyPr/>
                    <a:lstStyle/>
                    <a:p>
                      <a:endParaRPr lang="en-US"/>
                    </a:p>
                  </a:txBody>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Notification mechanisms </a:t>
                      </a:r>
                      <a:r>
                        <a:rPr lang="en-US" sz="800" b="0" i="0">
                          <a:solidFill>
                            <a:srgbClr val="000000"/>
                          </a:solidFill>
                          <a:latin typeface="Fund Light" pitchFamily="2" charset="-78"/>
                          <a:cs typeface="Fund Light" pitchFamily="2" charset="-78"/>
                        </a:rPr>
                        <a:t>in place to prevent any supply shortfall for each purchase order (i.e., time, quantity, specs)</a:t>
                      </a:r>
                      <a:endParaRPr lang="en-US" sz="800" b="1" i="0">
                        <a:solidFill>
                          <a:srgbClr val="000000"/>
                        </a:solidFill>
                        <a:latin typeface="Fund Light" pitchFamily="2" charset="-78"/>
                        <a:cs typeface="Fund Light" pitchFamily="2" charset="-78"/>
                      </a:endParaRPr>
                    </a:p>
                  </a:txBody>
                  <a:tcPr marT="18288" marB="21328" anchor="ctr">
                    <a:lnL w="571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FACTORY READINESS,</a:t>
                      </a:r>
                    </a:p>
                    <a:p>
                      <a:pPr marL="0" indent="0" algn="l" rtl="0">
                        <a:lnSpc>
                          <a:spcPct val="150000"/>
                        </a:lnSpc>
                        <a:buFont typeface="+mj-lt"/>
                        <a:buNone/>
                      </a:pPr>
                      <a:r>
                        <a:rPr lang="en-US" sz="800" b="1" i="0">
                          <a:solidFill>
                            <a:srgbClr val="000000"/>
                          </a:solidFill>
                          <a:latin typeface="Fund Light" pitchFamily="2" charset="-78"/>
                          <a:cs typeface="Fund Light" pitchFamily="2" charset="-78"/>
                        </a:rPr>
                        <a:t>REPRESENTATIONS AND UNDERTAKINGS</a:t>
                      </a:r>
                      <a:r>
                        <a:rPr lang="en-US" sz="800" b="0" i="0">
                          <a:solidFill>
                            <a:srgbClr val="000000"/>
                          </a:solidFill>
                          <a:latin typeface="Fund Light" pitchFamily="2" charset="-78"/>
                          <a:cs typeface="Fund Light" pitchFamily="2" charset="-78"/>
                        </a:rPr>
                        <a:t> </a:t>
                      </a:r>
                    </a:p>
                  </a:txBody>
                  <a:tcPr marR="45720" marT="18288" marB="21328" anchor="ctr">
                    <a:lnL w="3175" cap="flat" cmpd="sng" algn="ctr">
                      <a:solidFill>
                        <a:schemeClr val="bg1">
                          <a:lumMod val="65000"/>
                        </a:schemeClr>
                      </a:solidFill>
                      <a:prstDash val="solid"/>
                      <a:round/>
                      <a:headEnd type="none" w="med" len="med"/>
                      <a:tailEnd type="none" w="med" len="med"/>
                    </a:lnL>
                    <a:lnR w="9525" cap="flat" cmpd="sng" algn="ctr">
                      <a:noFill/>
                      <a:prstDash val="sys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2.1.4</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7.2.1 (h)</a:t>
                      </a:r>
                      <a:br>
                        <a:rPr lang="en-US" sz="800" b="0" i="0">
                          <a:solidFill>
                            <a:srgbClr val="000000"/>
                          </a:solidFill>
                          <a:latin typeface="Fund Light" pitchFamily="2" charset="-78"/>
                          <a:cs typeface="Fund Light" pitchFamily="2" charset="-78"/>
                        </a:rPr>
                      </a:br>
                      <a:endParaRPr lang="en-US" sz="800" b="0" i="0">
                        <a:solidFill>
                          <a:srgbClr val="000000"/>
                        </a:solidFill>
                        <a:latin typeface="Fund Light" pitchFamily="2" charset="-78"/>
                        <a:cs typeface="Fund Light" pitchFamily="2" charset="-78"/>
                      </a:endParaRPr>
                    </a:p>
                  </a:txBody>
                  <a:tcPr marL="45720" marR="45720" marT="18288" marB="21328" anchor="ctr">
                    <a:lnL w="9525" cap="flat" cmpd="sng" algn="ctr">
                      <a:noFill/>
                      <a:prstDash val="sysDash"/>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8641501"/>
                  </a:ext>
                </a:extLst>
              </a:tr>
              <a:tr h="622822">
                <a:tc vMerge="1">
                  <a:txBody>
                    <a:bodyPr/>
                    <a:lstStyle/>
                    <a:p>
                      <a:endParaRPr lang="en-US"/>
                    </a:p>
                  </a:txBody>
                  <a:tcPr/>
                </a:tc>
                <a:tc vMerge="1">
                  <a:txBody>
                    <a:bodyPr/>
                    <a:lstStyle/>
                    <a:p>
                      <a:endParaRPr lang="en-US"/>
                    </a:p>
                  </a:txBody>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Changes and amendment </a:t>
                      </a:r>
                      <a:r>
                        <a:rPr lang="en-US" sz="800" b="0" i="0">
                          <a:solidFill>
                            <a:srgbClr val="000000"/>
                          </a:solidFill>
                          <a:latin typeface="Fund Light" pitchFamily="2" charset="-78"/>
                          <a:cs typeface="Fund Light" pitchFamily="2" charset="-78"/>
                        </a:rPr>
                        <a:t>can be requested for every purchase order (i.e., price, quantity, specs), and at the beginning of each contractual year</a:t>
                      </a:r>
                    </a:p>
                  </a:txBody>
                  <a:tcPr marT="18288" marB="21328" anchor="ctr">
                    <a:lnL w="571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p>
                  </a:txBody>
                  <a:tcPr marR="45720" marT="18288" marB="21328" anchor="ctr">
                    <a:lnL w="3175" cap="flat" cmpd="sng" algn="ctr">
                      <a:solidFill>
                        <a:schemeClr val="bg1">
                          <a:lumMod val="65000"/>
                        </a:schemeClr>
                      </a:solidFill>
                      <a:prstDash val="solid"/>
                      <a:round/>
                      <a:headEnd type="none" w="med" len="med"/>
                      <a:tailEnd type="none" w="med" len="med"/>
                    </a:lnL>
                    <a:lnR w="9525" cap="flat" cmpd="sng" algn="ctr">
                      <a:noFill/>
                      <a:prstDash val="sys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4.8, 4.9</a:t>
                      </a:r>
                    </a:p>
                  </a:txBody>
                  <a:tcPr marL="45720" marR="45720" marT="18288" marB="21328" anchor="ctr">
                    <a:lnL w="9525" cap="flat" cmpd="sng" algn="ctr">
                      <a:noFill/>
                      <a:prstDash val="sysDash"/>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9987782"/>
                  </a:ext>
                </a:extLst>
              </a:tr>
              <a:tr h="622822">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How to ensure the buyer is compensated in an adequate way?</a:t>
                      </a:r>
                    </a:p>
                  </a:txBody>
                  <a:tcPr marL="182880" marT="18288" marB="21328"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Performance bond </a:t>
                      </a:r>
                      <a:r>
                        <a:rPr lang="en-US" sz="800" b="0" i="0">
                          <a:solidFill>
                            <a:srgbClr val="000000"/>
                          </a:solidFill>
                          <a:latin typeface="Fund Light" pitchFamily="2" charset="-78"/>
                          <a:cs typeface="Fund Light" pitchFamily="2" charset="-78"/>
                        </a:rPr>
                        <a:t>issued every PO (5% of the PO value, provided by a reputable bank in KSA)</a:t>
                      </a:r>
                    </a:p>
                  </a:txBody>
                  <a:tcPr marT="18288" marB="21328" anchor="ctr">
                    <a:lnL w="571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p>
                  </a:txBody>
                  <a:tcPr marR="45720" marT="18288" marB="21328" anchor="ctr">
                    <a:lnL w="3175" cap="flat" cmpd="sng" algn="ctr">
                      <a:solidFill>
                        <a:schemeClr val="bg1">
                          <a:lumMod val="65000"/>
                        </a:schemeClr>
                      </a:solidFill>
                      <a:prstDash val="solid"/>
                      <a:round/>
                      <a:headEnd type="none" w="med" len="med"/>
                      <a:tailEnd type="none" w="med" len="med"/>
                    </a:lnL>
                    <a:lnR w="9525" cap="flat" cmpd="sng" algn="ctr">
                      <a:noFill/>
                      <a:prstDash val="sys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4.10</a:t>
                      </a:r>
                    </a:p>
                  </a:txBody>
                  <a:tcPr marL="45720" marR="45720" marT="18288" marB="21328" anchor="ctr">
                    <a:lnL w="9525" cap="flat" cmpd="sng" algn="ctr">
                      <a:noFill/>
                      <a:prstDash val="sysDash"/>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227"/>
                  </a:ext>
                </a:extLst>
              </a:tr>
              <a:tr h="622822">
                <a:tc vMerge="1">
                  <a:txBody>
                    <a:bodyPr/>
                    <a:lstStyle/>
                    <a:p>
                      <a:endParaRPr lang="en-US"/>
                    </a:p>
                  </a:txBody>
                  <a:tcPr/>
                </a:tc>
                <a:tc vMerge="1">
                  <a:txBody>
                    <a:bodyPr/>
                    <a:lstStyle/>
                    <a:p>
                      <a:endParaRPr lang="en-US"/>
                    </a:p>
                  </a:txBody>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Remedies </a:t>
                      </a:r>
                      <a:r>
                        <a:rPr lang="en-US" sz="800" b="0" i="0">
                          <a:solidFill>
                            <a:srgbClr val="000000"/>
                          </a:solidFill>
                          <a:latin typeface="Fund Light" pitchFamily="2" charset="-78"/>
                          <a:cs typeface="Fund Light" pitchFamily="2" charset="-78"/>
                        </a:rPr>
                        <a:t>to claim for compensation (i.e., liquidated damages, claw-back mechanism, invoke performance bond, termination contract)</a:t>
                      </a:r>
                      <a:endParaRPr lang="en-US" sz="800" b="1" i="0">
                        <a:solidFill>
                          <a:srgbClr val="000000"/>
                        </a:solidFill>
                        <a:latin typeface="Fund Light" pitchFamily="2" charset="-78"/>
                        <a:cs typeface="Fund Light" pitchFamily="2" charset="-78"/>
                      </a:endParaRPr>
                    </a:p>
                  </a:txBody>
                  <a:tcPr marT="18288" marB="21328" anchor="ctr">
                    <a:lnL w="571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CONSEQUENCES OF EVENTS OF DEFAULT AND TERMINATION</a:t>
                      </a:r>
                    </a:p>
                  </a:txBody>
                  <a:tcPr marR="45720" marT="18288" marB="21328" anchor="ctr">
                    <a:lnL w="3175" cap="flat" cmpd="sng" algn="ctr">
                      <a:solidFill>
                        <a:schemeClr val="bg1">
                          <a:lumMod val="65000"/>
                        </a:schemeClr>
                      </a:solidFill>
                      <a:prstDash val="solid"/>
                      <a:round/>
                      <a:headEnd type="none" w="med" len="med"/>
                      <a:tailEnd type="none" w="med" len="med"/>
                    </a:lnL>
                    <a:lnR w="9525" cap="flat" cmpd="sng" algn="ctr">
                      <a:noFill/>
                      <a:prstDash val="sys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10.1, 12.3</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schedule 2 (6.1)</a:t>
                      </a:r>
                    </a:p>
                  </a:txBody>
                  <a:tcPr marL="0" marR="0" marT="18288" marB="21328" anchor="ctr">
                    <a:lnL w="9525" cap="flat" cmpd="sng" algn="ctr">
                      <a:noFill/>
                      <a:prstDash val="sysDash"/>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4385608"/>
                  </a:ext>
                </a:extLst>
              </a:tr>
            </a:tbl>
          </a:graphicData>
        </a:graphic>
      </p:graphicFrame>
      <p:cxnSp>
        <p:nvCxnSpPr>
          <p:cNvPr id="37" name="Straight Connector 36">
            <a:extLst>
              <a:ext uri="{FF2B5EF4-FFF2-40B4-BE49-F238E27FC236}">
                <a16:creationId xmlns:a16="http://schemas.microsoft.com/office/drawing/2014/main" id="{0BBADE3E-862B-D2B5-558C-B68A0E51F840}"/>
              </a:ext>
            </a:extLst>
          </p:cNvPr>
          <p:cNvCxnSpPr>
            <a:cxnSpLocks/>
          </p:cNvCxnSpPr>
          <p:nvPr/>
        </p:nvCxnSpPr>
        <p:spPr>
          <a:xfrm>
            <a:off x="1083015" y="1120877"/>
            <a:ext cx="144617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FFD54B-62A2-AC8D-0786-F607819E2148}"/>
              </a:ext>
            </a:extLst>
          </p:cNvPr>
          <p:cNvSpPr txBox="1"/>
          <p:nvPr/>
        </p:nvSpPr>
        <p:spPr>
          <a:xfrm>
            <a:off x="1083014" y="898679"/>
            <a:ext cx="1446177"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Key questions</a:t>
            </a:r>
          </a:p>
        </p:txBody>
      </p:sp>
      <p:sp>
        <p:nvSpPr>
          <p:cNvPr id="45" name="Oval 44">
            <a:extLst>
              <a:ext uri="{FF2B5EF4-FFF2-40B4-BE49-F238E27FC236}">
                <a16:creationId xmlns:a16="http://schemas.microsoft.com/office/drawing/2014/main" id="{82FD7590-F68E-6C6C-92D4-29F73828C62A}"/>
              </a:ext>
            </a:extLst>
          </p:cNvPr>
          <p:cNvSpPr/>
          <p:nvPr/>
        </p:nvSpPr>
        <p:spPr>
          <a:xfrm>
            <a:off x="986422" y="2073216"/>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cxnSp>
        <p:nvCxnSpPr>
          <p:cNvPr id="7" name="Straight Connector 6">
            <a:extLst>
              <a:ext uri="{FF2B5EF4-FFF2-40B4-BE49-F238E27FC236}">
                <a16:creationId xmlns:a16="http://schemas.microsoft.com/office/drawing/2014/main" id="{91CF5076-0A76-C726-2DA3-72179B2DD7EF}"/>
              </a:ext>
            </a:extLst>
          </p:cNvPr>
          <p:cNvCxnSpPr>
            <a:cxnSpLocks/>
          </p:cNvCxnSpPr>
          <p:nvPr/>
        </p:nvCxnSpPr>
        <p:spPr>
          <a:xfrm>
            <a:off x="2602926" y="1120877"/>
            <a:ext cx="401188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3B0979-39F6-A6F4-616E-0F033C73D6EE}"/>
              </a:ext>
            </a:extLst>
          </p:cNvPr>
          <p:cNvSpPr txBox="1"/>
          <p:nvPr/>
        </p:nvSpPr>
        <p:spPr>
          <a:xfrm>
            <a:off x="2602924" y="898679"/>
            <a:ext cx="401188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Mitigation mechanism</a:t>
            </a:r>
          </a:p>
        </p:txBody>
      </p:sp>
      <p:sp>
        <p:nvSpPr>
          <p:cNvPr id="18" name="Oval 17">
            <a:extLst>
              <a:ext uri="{FF2B5EF4-FFF2-40B4-BE49-F238E27FC236}">
                <a16:creationId xmlns:a16="http://schemas.microsoft.com/office/drawing/2014/main" id="{E88C9671-0178-3E86-BE03-F10287D777FA}"/>
              </a:ext>
            </a:extLst>
          </p:cNvPr>
          <p:cNvSpPr/>
          <p:nvPr/>
        </p:nvSpPr>
        <p:spPr>
          <a:xfrm>
            <a:off x="986422" y="3707893"/>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b</a:t>
            </a:r>
          </a:p>
        </p:txBody>
      </p:sp>
      <p:sp>
        <p:nvSpPr>
          <p:cNvPr id="22" name="Oval 21">
            <a:extLst>
              <a:ext uri="{FF2B5EF4-FFF2-40B4-BE49-F238E27FC236}">
                <a16:creationId xmlns:a16="http://schemas.microsoft.com/office/drawing/2014/main" id="{37DD4C68-885E-F80D-4C64-BB3AD638C023}"/>
              </a:ext>
            </a:extLst>
          </p:cNvPr>
          <p:cNvSpPr/>
          <p:nvPr/>
        </p:nvSpPr>
        <p:spPr>
          <a:xfrm>
            <a:off x="211480" y="2672876"/>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a:t>
            </a:r>
          </a:p>
        </p:txBody>
      </p:sp>
      <p:cxnSp>
        <p:nvCxnSpPr>
          <p:cNvPr id="10" name="Straight Connector 9">
            <a:extLst>
              <a:ext uri="{FF2B5EF4-FFF2-40B4-BE49-F238E27FC236}">
                <a16:creationId xmlns:a16="http://schemas.microsoft.com/office/drawing/2014/main" id="{3AEE2868-0E73-CFFC-A392-7A9218ED5CA9}"/>
              </a:ext>
            </a:extLst>
          </p:cNvPr>
          <p:cNvCxnSpPr>
            <a:cxnSpLocks/>
          </p:cNvCxnSpPr>
          <p:nvPr/>
        </p:nvCxnSpPr>
        <p:spPr>
          <a:xfrm>
            <a:off x="324347" y="1120877"/>
            <a:ext cx="68493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6D86BE-A109-9773-6311-6A2189F9B81D}"/>
              </a:ext>
            </a:extLst>
          </p:cNvPr>
          <p:cNvSpPr txBox="1"/>
          <p:nvPr/>
        </p:nvSpPr>
        <p:spPr>
          <a:xfrm>
            <a:off x="324347" y="898679"/>
            <a:ext cx="68493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Risk</a:t>
            </a:r>
          </a:p>
        </p:txBody>
      </p:sp>
      <p:cxnSp>
        <p:nvCxnSpPr>
          <p:cNvPr id="13" name="Straight Connector 12">
            <a:extLst>
              <a:ext uri="{FF2B5EF4-FFF2-40B4-BE49-F238E27FC236}">
                <a16:creationId xmlns:a16="http://schemas.microsoft.com/office/drawing/2014/main" id="{569B5D3E-4BBB-9EAA-34A6-79541763C04B}"/>
              </a:ext>
            </a:extLst>
          </p:cNvPr>
          <p:cNvCxnSpPr>
            <a:cxnSpLocks/>
          </p:cNvCxnSpPr>
          <p:nvPr/>
        </p:nvCxnSpPr>
        <p:spPr>
          <a:xfrm>
            <a:off x="6688539" y="1120877"/>
            <a:ext cx="12044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31613D-BA34-0873-2F51-77360B668AAC}"/>
              </a:ext>
            </a:extLst>
          </p:cNvPr>
          <p:cNvSpPr txBox="1"/>
          <p:nvPr/>
        </p:nvSpPr>
        <p:spPr>
          <a:xfrm>
            <a:off x="6688538" y="898679"/>
            <a:ext cx="1204405"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Section(s)</a:t>
            </a:r>
          </a:p>
        </p:txBody>
      </p:sp>
      <p:cxnSp>
        <p:nvCxnSpPr>
          <p:cNvPr id="30" name="Straight Connector 29">
            <a:extLst>
              <a:ext uri="{FF2B5EF4-FFF2-40B4-BE49-F238E27FC236}">
                <a16:creationId xmlns:a16="http://schemas.microsoft.com/office/drawing/2014/main" id="{4F8DFAB0-7F17-B492-EEAD-DE7AD360E561}"/>
              </a:ext>
            </a:extLst>
          </p:cNvPr>
          <p:cNvCxnSpPr>
            <a:cxnSpLocks/>
          </p:cNvCxnSpPr>
          <p:nvPr/>
        </p:nvCxnSpPr>
        <p:spPr>
          <a:xfrm>
            <a:off x="7954592" y="1120877"/>
            <a:ext cx="78498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CC0EBA4-73F0-C440-18FF-DEC6550463B7}"/>
              </a:ext>
            </a:extLst>
          </p:cNvPr>
          <p:cNvSpPr txBox="1"/>
          <p:nvPr/>
        </p:nvSpPr>
        <p:spPr>
          <a:xfrm>
            <a:off x="7954592" y="898679"/>
            <a:ext cx="78498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Clause(s)</a:t>
            </a:r>
          </a:p>
        </p:txBody>
      </p:sp>
      <p:sp>
        <p:nvSpPr>
          <p:cNvPr id="20" name="Title 19">
            <a:extLst>
              <a:ext uri="{FF2B5EF4-FFF2-40B4-BE49-F238E27FC236}">
                <a16:creationId xmlns:a16="http://schemas.microsoft.com/office/drawing/2014/main" id="{713045D4-89BA-3DA6-5299-80EAF252C26F}"/>
              </a:ext>
            </a:extLst>
          </p:cNvPr>
          <p:cNvSpPr>
            <a:spLocks noGrp="1"/>
          </p:cNvSpPr>
          <p:nvPr>
            <p:ph type="title"/>
          </p:nvPr>
        </p:nvSpPr>
        <p:spPr/>
        <p:txBody>
          <a:bodyPr vert="horz"/>
          <a:lstStyle/>
          <a:p>
            <a:r>
              <a:rPr lang="en-GB"/>
              <a:t> Supply risk mitigation mechanisms</a:t>
            </a:r>
          </a:p>
        </p:txBody>
      </p:sp>
      <p:sp>
        <p:nvSpPr>
          <p:cNvPr id="23" name="Text Placeholder 6">
            <a:extLst>
              <a:ext uri="{FF2B5EF4-FFF2-40B4-BE49-F238E27FC236}">
                <a16:creationId xmlns:a16="http://schemas.microsoft.com/office/drawing/2014/main" id="{BB2699D9-96B0-805F-98B9-6726CCF8F79D}"/>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Preferred supplier agreement</a:t>
            </a:r>
          </a:p>
        </p:txBody>
      </p:sp>
      <p:sp>
        <p:nvSpPr>
          <p:cNvPr id="24" name="Oval 23">
            <a:extLst>
              <a:ext uri="{FF2B5EF4-FFF2-40B4-BE49-F238E27FC236}">
                <a16:creationId xmlns:a16="http://schemas.microsoft.com/office/drawing/2014/main" id="{67153E4D-F95A-E02D-29FB-CB108E3E388A}"/>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A</a:t>
            </a:r>
          </a:p>
        </p:txBody>
      </p:sp>
      <p:sp>
        <p:nvSpPr>
          <p:cNvPr id="41" name="Rectangle 40">
            <a:extLst>
              <a:ext uri="{FF2B5EF4-FFF2-40B4-BE49-F238E27FC236}">
                <a16:creationId xmlns:a16="http://schemas.microsoft.com/office/drawing/2014/main" id="{8CEF7350-647F-2BA6-1396-8C3E1AD6F5C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2" name="Oval 41">
            <a:extLst>
              <a:ext uri="{FF2B5EF4-FFF2-40B4-BE49-F238E27FC236}">
                <a16:creationId xmlns:a16="http://schemas.microsoft.com/office/drawing/2014/main" id="{1B31489D-1FB7-BC39-19F8-AF927FB73464}"/>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43" name="Text Placeholder 6">
            <a:extLst>
              <a:ext uri="{FF2B5EF4-FFF2-40B4-BE49-F238E27FC236}">
                <a16:creationId xmlns:a16="http://schemas.microsoft.com/office/drawing/2014/main" id="{BDBC713C-9CCC-A38C-CB48-FD97B4610418}"/>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Supply risk</a:t>
            </a:r>
          </a:p>
        </p:txBody>
      </p:sp>
      <p:sp>
        <p:nvSpPr>
          <p:cNvPr id="31" name="TextBox 30">
            <a:extLst>
              <a:ext uri="{FF2B5EF4-FFF2-40B4-BE49-F238E27FC236}">
                <a16:creationId xmlns:a16="http://schemas.microsoft.com/office/drawing/2014/main" id="{3DFDABB1-65E7-862F-9DAD-7B4898E54F0A}"/>
              </a:ext>
            </a:extLst>
          </p:cNvPr>
          <p:cNvSpPr txBox="1"/>
          <p:nvPr/>
        </p:nvSpPr>
        <p:spPr>
          <a:xfrm>
            <a:off x="1551727" y="4767025"/>
            <a:ext cx="6743016" cy="1846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332A"/>
              </a:buClr>
              <a:buSzTx/>
              <a:buFontTx/>
              <a:buNone/>
              <a:tabLst/>
              <a:defRPr/>
            </a:pPr>
            <a:r>
              <a:rPr kumimoji="0" lang="en-US" sz="600" b="0" i="0" u="none" strike="noStrike" kern="1200" cap="none" spc="0" normalizeH="0" baseline="0" noProof="0">
                <a:ln>
                  <a:noFill/>
                </a:ln>
                <a:solidFill>
                  <a:schemeClr val="bg1">
                    <a:lumMod val="50000"/>
                  </a:schemeClr>
                </a:solidFill>
                <a:effectLst/>
                <a:uLnTx/>
                <a:uFillTx/>
                <a:latin typeface="Fund Light" pitchFamily="2" charset="-78"/>
                <a:cs typeface="Fund Light" pitchFamily="2" charset="-78"/>
              </a:rPr>
              <a:t>1. In line with what the supplier has committed to during the contracting phase; 2. E.g., certificate of registration, certificate of payment of Zakat, registration in GOSI</a:t>
            </a:r>
          </a:p>
        </p:txBody>
      </p:sp>
    </p:spTree>
    <p:extLst>
      <p:ext uri="{BB962C8B-B14F-4D97-AF65-F5344CB8AC3E}">
        <p14:creationId xmlns:p14="http://schemas.microsoft.com/office/powerpoint/2010/main" val="42933851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 name="think-cell data - do not delete" hidden="1">
            <a:extLst>
              <a:ext uri="{FF2B5EF4-FFF2-40B4-BE49-F238E27FC236}">
                <a16:creationId xmlns:a16="http://schemas.microsoft.com/office/drawing/2014/main" id="{6737E65D-18B1-4BD4-4BE0-38FCDC7F987F}"/>
              </a:ext>
            </a:extLst>
          </p:cNvPr>
          <p:cNvGraphicFramePr>
            <a:graphicFrameLocks noChangeAspect="1"/>
          </p:cNvGraphicFramePr>
          <p:nvPr>
            <p:custDataLst>
              <p:tags r:id="rId1"/>
            </p:custDataLst>
            <p:extLst>
              <p:ext uri="{D42A27DB-BD31-4B8C-83A1-F6EECF244321}">
                <p14:modId xmlns:p14="http://schemas.microsoft.com/office/powerpoint/2010/main" val="33312174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98" name="think-cell data - do not delete" hidden="1">
                        <a:extLst>
                          <a:ext uri="{FF2B5EF4-FFF2-40B4-BE49-F238E27FC236}">
                            <a16:creationId xmlns:a16="http://schemas.microsoft.com/office/drawing/2014/main" id="{6737E65D-18B1-4BD4-4BE0-38FCDC7F98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56C87280-A082-88E3-6D97-4CF523B70F4C}"/>
              </a:ext>
            </a:extLst>
          </p:cNvPr>
          <p:cNvSpPr>
            <a:spLocks noGrp="1"/>
          </p:cNvSpPr>
          <p:nvPr>
            <p:ph type="body" sz="quarter" idx="4294967295"/>
          </p:nvPr>
        </p:nvSpPr>
        <p:spPr>
          <a:xfrm>
            <a:off x="11543" y="1325054"/>
            <a:ext cx="8674100" cy="187325"/>
          </a:xfrm>
        </p:spPr>
        <p:txBody>
          <a:bodyPr>
            <a:normAutofit/>
          </a:bodyPr>
          <a:lstStyle/>
          <a:p>
            <a:r>
              <a:rPr lang="en-US" sz="800"/>
              <a:t> </a:t>
            </a:r>
          </a:p>
        </p:txBody>
      </p:sp>
      <p:sp>
        <p:nvSpPr>
          <p:cNvPr id="3" name="Rectangle 2">
            <a:extLst>
              <a:ext uri="{FF2B5EF4-FFF2-40B4-BE49-F238E27FC236}">
                <a16:creationId xmlns:a16="http://schemas.microsoft.com/office/drawing/2014/main" id="{E289D168-0451-7813-0F6F-7378B709C8C8}"/>
              </a:ext>
            </a:extLst>
          </p:cNvPr>
          <p:cNvSpPr/>
          <p:nvPr/>
        </p:nvSpPr>
        <p:spPr>
          <a:xfrm>
            <a:off x="234814" y="1137184"/>
            <a:ext cx="929388" cy="435085"/>
          </a:xfrm>
          <a:prstGeom prst="rect">
            <a:avLst/>
          </a:prstGeom>
          <a:solidFill>
            <a:srgbClr val="F3EADB"/>
          </a:solidFill>
        </p:spPr>
        <p:txBody>
          <a:bodyPr wrap="square" rtlCol="0" anchor="ctr">
            <a:noAutofit/>
          </a:bodyPr>
          <a:lstStyle/>
          <a:p>
            <a:pPr algn="l">
              <a:spcBef>
                <a:spcPts val="300"/>
              </a:spcBef>
              <a:spcAft>
                <a:spcPts val="300"/>
              </a:spcAft>
            </a:pPr>
            <a:r>
              <a:rPr lang="en-US" sz="800" b="1">
                <a:solidFill>
                  <a:schemeClr val="bg2"/>
                </a:solidFill>
                <a:latin typeface="Fund Light" pitchFamily="2" charset="-78"/>
                <a:cs typeface="Fund Light" pitchFamily="2" charset="-78"/>
              </a:rPr>
              <a:t>Buyer</a:t>
            </a:r>
          </a:p>
        </p:txBody>
      </p:sp>
      <p:sp>
        <p:nvSpPr>
          <p:cNvPr id="6" name="Rectangle 5">
            <a:extLst>
              <a:ext uri="{FF2B5EF4-FFF2-40B4-BE49-F238E27FC236}">
                <a16:creationId xmlns:a16="http://schemas.microsoft.com/office/drawing/2014/main" id="{ED20ED5E-F9F1-C6B1-233E-F9252DAEBC97}"/>
              </a:ext>
            </a:extLst>
          </p:cNvPr>
          <p:cNvSpPr/>
          <p:nvPr/>
        </p:nvSpPr>
        <p:spPr>
          <a:xfrm>
            <a:off x="234814" y="1729900"/>
            <a:ext cx="929388" cy="1817458"/>
          </a:xfrm>
          <a:prstGeom prst="rect">
            <a:avLst/>
          </a:prstGeom>
          <a:solidFill>
            <a:srgbClr val="F3EADB"/>
          </a:solidFill>
        </p:spPr>
        <p:txBody>
          <a:bodyPr wrap="square" rtlCol="0" anchor="ctr">
            <a:noAutofit/>
          </a:bodyPr>
          <a:lstStyle/>
          <a:p>
            <a:pPr algn="l">
              <a:spcBef>
                <a:spcPts val="300"/>
              </a:spcBef>
              <a:spcAft>
                <a:spcPts val="300"/>
              </a:spcAft>
            </a:pPr>
            <a:r>
              <a:rPr lang="en-US" sz="800" b="1">
                <a:solidFill>
                  <a:schemeClr val="bg2"/>
                </a:solidFill>
                <a:latin typeface="Fund Light" pitchFamily="2" charset="-78"/>
                <a:cs typeface="Fund Light" pitchFamily="2" charset="-78"/>
              </a:rPr>
              <a:t>Supplier</a:t>
            </a:r>
          </a:p>
        </p:txBody>
      </p:sp>
      <p:grpSp>
        <p:nvGrpSpPr>
          <p:cNvPr id="114" name="Group 113">
            <a:extLst>
              <a:ext uri="{FF2B5EF4-FFF2-40B4-BE49-F238E27FC236}">
                <a16:creationId xmlns:a16="http://schemas.microsoft.com/office/drawing/2014/main" id="{4A7E2803-E388-62E4-064D-21DF12EDB482}"/>
              </a:ext>
            </a:extLst>
          </p:cNvPr>
          <p:cNvGrpSpPr/>
          <p:nvPr/>
        </p:nvGrpSpPr>
        <p:grpSpPr>
          <a:xfrm>
            <a:off x="234814" y="1651084"/>
            <a:ext cx="8674372" cy="1975090"/>
            <a:chOff x="223271" y="2030437"/>
            <a:chExt cx="8500057" cy="1975090"/>
          </a:xfrm>
        </p:grpSpPr>
        <p:cxnSp>
          <p:nvCxnSpPr>
            <p:cNvPr id="11" name="Straight Connector 10">
              <a:extLst>
                <a:ext uri="{FF2B5EF4-FFF2-40B4-BE49-F238E27FC236}">
                  <a16:creationId xmlns:a16="http://schemas.microsoft.com/office/drawing/2014/main" id="{065F9701-6C56-185E-1B08-51D91CA91BC2}"/>
                </a:ext>
              </a:extLst>
            </p:cNvPr>
            <p:cNvCxnSpPr>
              <a:cxnSpLocks/>
            </p:cNvCxnSpPr>
            <p:nvPr/>
          </p:nvCxnSpPr>
          <p:spPr>
            <a:xfrm>
              <a:off x="223271" y="2030437"/>
              <a:ext cx="85000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7EC4B8D-D727-49D5-40BE-77CF506F8D82}"/>
                </a:ext>
              </a:extLst>
            </p:cNvPr>
            <p:cNvCxnSpPr>
              <a:cxnSpLocks/>
            </p:cNvCxnSpPr>
            <p:nvPr/>
          </p:nvCxnSpPr>
          <p:spPr>
            <a:xfrm>
              <a:off x="223271" y="4005527"/>
              <a:ext cx="85000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FFC17BD3-C636-262A-35EB-D5BE08321EC2}"/>
              </a:ext>
            </a:extLst>
          </p:cNvPr>
          <p:cNvSpPr/>
          <p:nvPr/>
        </p:nvSpPr>
        <p:spPr>
          <a:xfrm>
            <a:off x="1271266" y="1214362"/>
            <a:ext cx="1063107"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Issue a PO</a:t>
            </a:r>
          </a:p>
        </p:txBody>
      </p:sp>
      <p:sp>
        <p:nvSpPr>
          <p:cNvPr id="31" name="Rectangle 30">
            <a:extLst>
              <a:ext uri="{FF2B5EF4-FFF2-40B4-BE49-F238E27FC236}">
                <a16:creationId xmlns:a16="http://schemas.microsoft.com/office/drawing/2014/main" id="{14342B50-3616-0CCB-4FAD-6E246F5A803A}"/>
              </a:ext>
            </a:extLst>
          </p:cNvPr>
          <p:cNvSpPr/>
          <p:nvPr/>
        </p:nvSpPr>
        <p:spPr>
          <a:xfrm>
            <a:off x="1271266" y="2016970"/>
            <a:ext cx="1063107" cy="377689"/>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Receive the PO</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and issue the PB</a:t>
            </a:r>
          </a:p>
        </p:txBody>
      </p:sp>
      <p:cxnSp>
        <p:nvCxnSpPr>
          <p:cNvPr id="34" name="Straight Arrow Connector 33">
            <a:extLst>
              <a:ext uri="{FF2B5EF4-FFF2-40B4-BE49-F238E27FC236}">
                <a16:creationId xmlns:a16="http://schemas.microsoft.com/office/drawing/2014/main" id="{30A9E2A7-2B91-8EFC-9DE4-F4C78A26860A}"/>
              </a:ext>
            </a:extLst>
          </p:cNvPr>
          <p:cNvCxnSpPr>
            <a:cxnSpLocks/>
          </p:cNvCxnSpPr>
          <p:nvPr/>
        </p:nvCxnSpPr>
        <p:spPr>
          <a:xfrm>
            <a:off x="1802819" y="1498126"/>
            <a:ext cx="0" cy="5188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70549D0-0B2E-79A3-BA9D-FBB315C4E775}"/>
              </a:ext>
            </a:extLst>
          </p:cNvPr>
          <p:cNvCxnSpPr>
            <a:cxnSpLocks/>
          </p:cNvCxnSpPr>
          <p:nvPr/>
        </p:nvCxnSpPr>
        <p:spPr>
          <a:xfrm flipH="1">
            <a:off x="1799716" y="2394659"/>
            <a:ext cx="2909" cy="2517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FA67A3FD-0DAD-DA28-8565-431F434B5B19}"/>
              </a:ext>
            </a:extLst>
          </p:cNvPr>
          <p:cNvSpPr/>
          <p:nvPr/>
        </p:nvSpPr>
        <p:spPr>
          <a:xfrm>
            <a:off x="1270876" y="2646409"/>
            <a:ext cx="1063887"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Start manufacturing</a:t>
            </a:r>
          </a:p>
        </p:txBody>
      </p:sp>
      <p:sp>
        <p:nvSpPr>
          <p:cNvPr id="48" name="Diamond 47">
            <a:extLst>
              <a:ext uri="{FF2B5EF4-FFF2-40B4-BE49-F238E27FC236}">
                <a16:creationId xmlns:a16="http://schemas.microsoft.com/office/drawing/2014/main" id="{01A01C18-3FA2-0A84-9633-67A23C462438}"/>
              </a:ext>
            </a:extLst>
          </p:cNvPr>
          <p:cNvSpPr/>
          <p:nvPr/>
        </p:nvSpPr>
        <p:spPr>
          <a:xfrm>
            <a:off x="2703069" y="2407361"/>
            <a:ext cx="1097280" cy="755703"/>
          </a:xfrm>
          <a:prstGeom prst="diamond">
            <a:avLst/>
          </a:prstGeom>
          <a:solidFill>
            <a:srgbClr val="F8F2E5"/>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Is there a </a:t>
            </a:r>
            <a:r>
              <a:rPr lang="en-US" sz="800" b="1">
                <a:solidFill>
                  <a:srgbClr val="000000"/>
                </a:solidFill>
                <a:latin typeface="Fund Light" pitchFamily="2" charset="-78"/>
                <a:cs typeface="Fund Light" pitchFamily="2" charset="-78"/>
              </a:rPr>
              <a:t>risk</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of default</a:t>
            </a:r>
            <a:r>
              <a:rPr lang="en-US" sz="800" baseline="30000">
                <a:solidFill>
                  <a:srgbClr val="000000"/>
                </a:solidFill>
                <a:latin typeface="Fund Light" pitchFamily="2" charset="-78"/>
                <a:cs typeface="Fund Light" pitchFamily="2" charset="-78"/>
              </a:rPr>
              <a:t>1</a:t>
            </a:r>
            <a:r>
              <a:rPr lang="en-US" sz="800">
                <a:solidFill>
                  <a:srgbClr val="000000"/>
                </a:solidFill>
                <a:latin typeface="Fund Light" pitchFamily="2" charset="-78"/>
                <a:cs typeface="Fund Light" pitchFamily="2" charset="-78"/>
              </a:rPr>
              <a:t>?</a:t>
            </a:r>
          </a:p>
        </p:txBody>
      </p:sp>
      <p:cxnSp>
        <p:nvCxnSpPr>
          <p:cNvPr id="50" name="Straight Arrow Connector 49">
            <a:extLst>
              <a:ext uri="{FF2B5EF4-FFF2-40B4-BE49-F238E27FC236}">
                <a16:creationId xmlns:a16="http://schemas.microsoft.com/office/drawing/2014/main" id="{7405D800-5B12-8C2A-ACA5-6A6384E73A59}"/>
              </a:ext>
            </a:extLst>
          </p:cNvPr>
          <p:cNvCxnSpPr>
            <a:cxnSpLocks/>
            <a:stCxn id="45" idx="3"/>
            <a:endCxn id="48" idx="1"/>
          </p:cNvCxnSpPr>
          <p:nvPr/>
        </p:nvCxnSpPr>
        <p:spPr>
          <a:xfrm flipV="1">
            <a:off x="2334763" y="2785213"/>
            <a:ext cx="368306" cy="3078"/>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5" name="Diamond 54">
            <a:extLst>
              <a:ext uri="{FF2B5EF4-FFF2-40B4-BE49-F238E27FC236}">
                <a16:creationId xmlns:a16="http://schemas.microsoft.com/office/drawing/2014/main" id="{64E88E4B-40C9-DFB6-9BC6-72D95B66075B}"/>
              </a:ext>
            </a:extLst>
          </p:cNvPr>
          <p:cNvSpPr/>
          <p:nvPr/>
        </p:nvSpPr>
        <p:spPr>
          <a:xfrm>
            <a:off x="4310630" y="2130306"/>
            <a:ext cx="1097280" cy="755703"/>
          </a:xfrm>
          <a:prstGeom prst="diamond">
            <a:avLst/>
          </a:prstGeom>
          <a:solidFill>
            <a:srgbClr val="F8F2E5"/>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Has the</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manufacturer</a:t>
            </a:r>
            <a:br>
              <a:rPr lang="en-US" sz="800">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mitigated</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the risks</a:t>
            </a:r>
            <a:r>
              <a:rPr lang="en-US" sz="800">
                <a:solidFill>
                  <a:srgbClr val="000000"/>
                </a:solidFill>
                <a:latin typeface="Fund Light" pitchFamily="2" charset="-78"/>
                <a:cs typeface="Fund Light" pitchFamily="2" charset="-78"/>
              </a:rPr>
              <a:t>?</a:t>
            </a:r>
          </a:p>
        </p:txBody>
      </p:sp>
      <p:cxnSp>
        <p:nvCxnSpPr>
          <p:cNvPr id="56" name="Straight Arrow Connector 55">
            <a:extLst>
              <a:ext uri="{FF2B5EF4-FFF2-40B4-BE49-F238E27FC236}">
                <a16:creationId xmlns:a16="http://schemas.microsoft.com/office/drawing/2014/main" id="{C58F691E-CEB7-18A1-6173-204AC76A144E}"/>
              </a:ext>
            </a:extLst>
          </p:cNvPr>
          <p:cNvCxnSpPr>
            <a:cxnSpLocks/>
            <a:stCxn id="48" idx="3"/>
            <a:endCxn id="55" idx="1"/>
          </p:cNvCxnSpPr>
          <p:nvPr/>
        </p:nvCxnSpPr>
        <p:spPr>
          <a:xfrm flipV="1">
            <a:off x="3800349" y="2508158"/>
            <a:ext cx="510281" cy="277055"/>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116BBF17-7FD5-190E-0A8A-AD8ABAE3FE33}"/>
              </a:ext>
            </a:extLst>
          </p:cNvPr>
          <p:cNvSpPr/>
          <p:nvPr/>
        </p:nvSpPr>
        <p:spPr>
          <a:xfrm>
            <a:off x="5918190" y="2983641"/>
            <a:ext cx="991696" cy="316365"/>
          </a:xfrm>
          <a:prstGeom prst="rect">
            <a:avLst/>
          </a:prstGeom>
          <a:solidFill>
            <a:srgbClr val="CCEFD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No</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event of default</a:t>
            </a:r>
          </a:p>
        </p:txBody>
      </p:sp>
      <p:sp>
        <p:nvSpPr>
          <p:cNvPr id="61" name="Rectangle 60">
            <a:extLst>
              <a:ext uri="{FF2B5EF4-FFF2-40B4-BE49-F238E27FC236}">
                <a16:creationId xmlns:a16="http://schemas.microsoft.com/office/drawing/2014/main" id="{C95A2FF1-26B5-6E0F-5B0A-DB379FE35A32}"/>
              </a:ext>
            </a:extLst>
          </p:cNvPr>
          <p:cNvSpPr/>
          <p:nvPr/>
        </p:nvSpPr>
        <p:spPr>
          <a:xfrm>
            <a:off x="5918190" y="2046638"/>
            <a:ext cx="991696" cy="316365"/>
          </a:xfrm>
          <a:prstGeom prst="rect">
            <a:avLst/>
          </a:prstGeom>
          <a:solidFill>
            <a:srgbClr val="FFCCC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Manufacturer</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event of default</a:t>
            </a:r>
          </a:p>
        </p:txBody>
      </p:sp>
      <p:cxnSp>
        <p:nvCxnSpPr>
          <p:cNvPr id="65" name="Straight Arrow Connector 55">
            <a:extLst>
              <a:ext uri="{FF2B5EF4-FFF2-40B4-BE49-F238E27FC236}">
                <a16:creationId xmlns:a16="http://schemas.microsoft.com/office/drawing/2014/main" id="{6CA74743-643B-E5CE-6893-15D1965EAD42}"/>
              </a:ext>
            </a:extLst>
          </p:cNvPr>
          <p:cNvCxnSpPr>
            <a:cxnSpLocks/>
            <a:stCxn id="55" idx="3"/>
            <a:endCxn id="61" idx="1"/>
          </p:cNvCxnSpPr>
          <p:nvPr/>
        </p:nvCxnSpPr>
        <p:spPr>
          <a:xfrm flipV="1">
            <a:off x="5407910" y="2204821"/>
            <a:ext cx="510280" cy="303337"/>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55">
            <a:extLst>
              <a:ext uri="{FF2B5EF4-FFF2-40B4-BE49-F238E27FC236}">
                <a16:creationId xmlns:a16="http://schemas.microsoft.com/office/drawing/2014/main" id="{07AAD6B7-8EC8-012E-7064-EA854372291C}"/>
              </a:ext>
            </a:extLst>
          </p:cNvPr>
          <p:cNvCxnSpPr>
            <a:cxnSpLocks/>
            <a:stCxn id="55" idx="3"/>
            <a:endCxn id="60" idx="1"/>
          </p:cNvCxnSpPr>
          <p:nvPr/>
        </p:nvCxnSpPr>
        <p:spPr>
          <a:xfrm>
            <a:off x="5407910" y="2508158"/>
            <a:ext cx="510280" cy="633666"/>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55">
            <a:extLst>
              <a:ext uri="{FF2B5EF4-FFF2-40B4-BE49-F238E27FC236}">
                <a16:creationId xmlns:a16="http://schemas.microsoft.com/office/drawing/2014/main" id="{084EE87D-1409-6D78-58AA-67AE59799B5F}"/>
              </a:ext>
            </a:extLst>
          </p:cNvPr>
          <p:cNvCxnSpPr>
            <a:cxnSpLocks/>
            <a:stCxn id="48" idx="3"/>
            <a:endCxn id="60" idx="1"/>
          </p:cNvCxnSpPr>
          <p:nvPr/>
        </p:nvCxnSpPr>
        <p:spPr>
          <a:xfrm>
            <a:off x="3800349" y="2785213"/>
            <a:ext cx="2117841" cy="356611"/>
          </a:xfrm>
          <a:prstGeom prst="bentConnector3">
            <a:avLst>
              <a:gd name="adj1" fmla="val 12005"/>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2ACAE1E-A4DB-DCCF-650C-CEE808A6E725}"/>
              </a:ext>
            </a:extLst>
          </p:cNvPr>
          <p:cNvSpPr/>
          <p:nvPr/>
        </p:nvSpPr>
        <p:spPr>
          <a:xfrm>
            <a:off x="3996960" y="2871555"/>
            <a:ext cx="120054" cy="134169"/>
          </a:xfrm>
          <a:prstGeom prst="rect">
            <a:avLst/>
          </a:prstGeom>
          <a:solidFill>
            <a:srgbClr val="FCFCFC"/>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N</a:t>
            </a:r>
          </a:p>
        </p:txBody>
      </p:sp>
      <p:sp>
        <p:nvSpPr>
          <p:cNvPr id="80" name="Rectangle 79">
            <a:extLst>
              <a:ext uri="{FF2B5EF4-FFF2-40B4-BE49-F238E27FC236}">
                <a16:creationId xmlns:a16="http://schemas.microsoft.com/office/drawing/2014/main" id="{83092FDC-4B69-5983-AEB1-AACC15654680}"/>
              </a:ext>
            </a:extLst>
          </p:cNvPr>
          <p:cNvSpPr/>
          <p:nvPr/>
        </p:nvSpPr>
        <p:spPr>
          <a:xfrm>
            <a:off x="5604521" y="2832385"/>
            <a:ext cx="120054" cy="134169"/>
          </a:xfrm>
          <a:prstGeom prst="rect">
            <a:avLst/>
          </a:prstGeom>
          <a:solidFill>
            <a:srgbClr val="F8F8F8"/>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Y</a:t>
            </a:r>
          </a:p>
        </p:txBody>
      </p:sp>
      <p:sp>
        <p:nvSpPr>
          <p:cNvPr id="83" name="Speech Bubble: Rectangle 82">
            <a:extLst>
              <a:ext uri="{FF2B5EF4-FFF2-40B4-BE49-F238E27FC236}">
                <a16:creationId xmlns:a16="http://schemas.microsoft.com/office/drawing/2014/main" id="{64AE6F34-4998-3A7F-0AA4-D1C7F7655651}"/>
              </a:ext>
            </a:extLst>
          </p:cNvPr>
          <p:cNvSpPr/>
          <p:nvPr/>
        </p:nvSpPr>
        <p:spPr>
          <a:xfrm>
            <a:off x="4079169" y="1214362"/>
            <a:ext cx="2313013" cy="693381"/>
          </a:xfrm>
          <a:prstGeom prst="wedgeRectCallout">
            <a:avLst>
              <a:gd name="adj1" fmla="val -18369"/>
              <a:gd name="adj2" fmla="val 69768"/>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Contractor obtains the material from a suitable </a:t>
            </a:r>
            <a:r>
              <a:rPr lang="en-US" sz="800" b="1">
                <a:solidFill>
                  <a:srgbClr val="C4984F"/>
                </a:solidFill>
                <a:latin typeface="Fund Light" pitchFamily="2" charset="-78"/>
                <a:cs typeface="Fund Light" pitchFamily="2" charset="-78"/>
              </a:rPr>
              <a:t>substitute third party </a:t>
            </a:r>
            <a:r>
              <a:rPr lang="en-US" sz="800">
                <a:solidFill>
                  <a:srgbClr val="C4984F"/>
                </a:solidFill>
                <a:latin typeface="Fund Light" pitchFamily="2" charset="-78"/>
                <a:cs typeface="Fund Light" pitchFamily="2" charset="-78"/>
              </a:rPr>
              <a:t>at the expense of the manufacturer</a:t>
            </a:r>
          </a:p>
          <a:p>
            <a:pPr marL="171450" indent="-171450">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Contractor and manufacturer </a:t>
            </a:r>
            <a:r>
              <a:rPr lang="en-US" sz="800" b="1">
                <a:solidFill>
                  <a:srgbClr val="C4984F"/>
                </a:solidFill>
                <a:latin typeface="Fund Light" pitchFamily="2" charset="-78"/>
                <a:cs typeface="Fund Light" pitchFamily="2" charset="-78"/>
              </a:rPr>
              <a:t>mutually agree on the delay</a:t>
            </a:r>
            <a:r>
              <a:rPr lang="en-US" sz="800">
                <a:solidFill>
                  <a:srgbClr val="C4984F"/>
                </a:solidFill>
                <a:latin typeface="Fund Light" pitchFamily="2" charset="-78"/>
                <a:cs typeface="Fund Light" pitchFamily="2" charset="-78"/>
              </a:rPr>
              <a:t> of the material</a:t>
            </a:r>
          </a:p>
        </p:txBody>
      </p:sp>
      <p:sp>
        <p:nvSpPr>
          <p:cNvPr id="84" name="Rectangle 83">
            <a:extLst>
              <a:ext uri="{FF2B5EF4-FFF2-40B4-BE49-F238E27FC236}">
                <a16:creationId xmlns:a16="http://schemas.microsoft.com/office/drawing/2014/main" id="{EC78B21F-D34E-11F2-549E-792013296C91}"/>
              </a:ext>
            </a:extLst>
          </p:cNvPr>
          <p:cNvSpPr/>
          <p:nvPr/>
        </p:nvSpPr>
        <p:spPr>
          <a:xfrm>
            <a:off x="5604521" y="2292961"/>
            <a:ext cx="120054" cy="134169"/>
          </a:xfrm>
          <a:prstGeom prst="rect">
            <a:avLst/>
          </a:prstGeom>
          <a:solidFill>
            <a:schemeClr val="bg1"/>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N</a:t>
            </a:r>
          </a:p>
        </p:txBody>
      </p:sp>
      <p:sp>
        <p:nvSpPr>
          <p:cNvPr id="59" name="Rectangle 58">
            <a:extLst>
              <a:ext uri="{FF2B5EF4-FFF2-40B4-BE49-F238E27FC236}">
                <a16:creationId xmlns:a16="http://schemas.microsoft.com/office/drawing/2014/main" id="{993E0F50-CCF8-DC2D-2EF5-B279D527D9C7}"/>
              </a:ext>
            </a:extLst>
          </p:cNvPr>
          <p:cNvSpPr/>
          <p:nvPr/>
        </p:nvSpPr>
        <p:spPr>
          <a:xfrm>
            <a:off x="3996960" y="2568561"/>
            <a:ext cx="120054" cy="134169"/>
          </a:xfrm>
          <a:prstGeom prst="rect">
            <a:avLst/>
          </a:prstGeom>
          <a:solidFill>
            <a:srgbClr val="FCFCFC"/>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Y</a:t>
            </a:r>
          </a:p>
        </p:txBody>
      </p:sp>
      <p:sp>
        <p:nvSpPr>
          <p:cNvPr id="100" name="Rectangle 99">
            <a:extLst>
              <a:ext uri="{FF2B5EF4-FFF2-40B4-BE49-F238E27FC236}">
                <a16:creationId xmlns:a16="http://schemas.microsoft.com/office/drawing/2014/main" id="{B2F4F3A4-D796-9F0E-4320-081740F386DD}"/>
              </a:ext>
            </a:extLst>
          </p:cNvPr>
          <p:cNvSpPr/>
          <p:nvPr/>
        </p:nvSpPr>
        <p:spPr>
          <a:xfrm>
            <a:off x="7579113" y="1214362"/>
            <a:ext cx="1128905"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Get compensated</a:t>
            </a:r>
          </a:p>
        </p:txBody>
      </p:sp>
      <p:cxnSp>
        <p:nvCxnSpPr>
          <p:cNvPr id="102" name="Straight Arrow Connector 55">
            <a:extLst>
              <a:ext uri="{FF2B5EF4-FFF2-40B4-BE49-F238E27FC236}">
                <a16:creationId xmlns:a16="http://schemas.microsoft.com/office/drawing/2014/main" id="{6EF27F9F-5337-F6BD-472C-A8A1D900ACF8}"/>
              </a:ext>
            </a:extLst>
          </p:cNvPr>
          <p:cNvCxnSpPr>
            <a:cxnSpLocks/>
            <a:stCxn id="61" idx="3"/>
            <a:endCxn id="100" idx="1"/>
          </p:cNvCxnSpPr>
          <p:nvPr/>
        </p:nvCxnSpPr>
        <p:spPr>
          <a:xfrm flipV="1">
            <a:off x="6909886" y="1356244"/>
            <a:ext cx="669227" cy="848577"/>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15" name="Speech Bubble: Rectangle 114">
            <a:extLst>
              <a:ext uri="{FF2B5EF4-FFF2-40B4-BE49-F238E27FC236}">
                <a16:creationId xmlns:a16="http://schemas.microsoft.com/office/drawing/2014/main" id="{59346002-F1D9-1C01-0E3C-F1FC8D1BBBCF}"/>
              </a:ext>
            </a:extLst>
          </p:cNvPr>
          <p:cNvSpPr/>
          <p:nvPr/>
        </p:nvSpPr>
        <p:spPr>
          <a:xfrm>
            <a:off x="7373537" y="1696662"/>
            <a:ext cx="1707071" cy="498526"/>
          </a:xfrm>
          <a:prstGeom prst="wedgeRectCallout">
            <a:avLst>
              <a:gd name="adj1" fmla="val -20190"/>
              <a:gd name="adj2" fmla="val -81860"/>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115888" indent="-115888">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Is entitled to l</a:t>
            </a:r>
            <a:r>
              <a:rPr lang="en-US" sz="800" b="1">
                <a:solidFill>
                  <a:srgbClr val="C4984F"/>
                </a:solidFill>
                <a:latin typeface="Fund Light" pitchFamily="2" charset="-78"/>
                <a:cs typeface="Fund Light" pitchFamily="2" charset="-78"/>
              </a:rPr>
              <a:t>iquidated damages </a:t>
            </a:r>
            <a:r>
              <a:rPr lang="en-US" sz="800">
                <a:solidFill>
                  <a:srgbClr val="C4984F"/>
                </a:solidFill>
                <a:latin typeface="Fund Light" pitchFamily="2" charset="-78"/>
                <a:cs typeface="Fund Light" pitchFamily="2" charset="-78"/>
              </a:rPr>
              <a:t>(in case of delay)</a:t>
            </a:r>
            <a:endParaRPr lang="en-US" sz="800" b="1">
              <a:solidFill>
                <a:srgbClr val="C4984F"/>
              </a:solidFill>
              <a:latin typeface="Fund Light" pitchFamily="2" charset="-78"/>
              <a:cs typeface="Fund Light" pitchFamily="2" charset="-78"/>
            </a:endParaRPr>
          </a:p>
          <a:p>
            <a:pPr marL="115888" indent="-115888">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Calls upon </a:t>
            </a:r>
            <a:r>
              <a:rPr lang="en-US" sz="800" b="1">
                <a:solidFill>
                  <a:srgbClr val="C4984F"/>
                </a:solidFill>
                <a:latin typeface="Fund Light" pitchFamily="2" charset="-78"/>
                <a:cs typeface="Fund Light" pitchFamily="2" charset="-78"/>
              </a:rPr>
              <a:t>PB</a:t>
            </a:r>
          </a:p>
        </p:txBody>
      </p:sp>
      <p:sp>
        <p:nvSpPr>
          <p:cNvPr id="9" name="Title 8">
            <a:extLst>
              <a:ext uri="{FF2B5EF4-FFF2-40B4-BE49-F238E27FC236}">
                <a16:creationId xmlns:a16="http://schemas.microsoft.com/office/drawing/2014/main" id="{1E90663C-1DE0-EA97-6A7D-5AB51EE4221F}"/>
              </a:ext>
            </a:extLst>
          </p:cNvPr>
          <p:cNvSpPr>
            <a:spLocks noGrp="1"/>
          </p:cNvSpPr>
          <p:nvPr>
            <p:ph type="title"/>
          </p:nvPr>
        </p:nvSpPr>
        <p:spPr/>
        <p:txBody>
          <a:bodyPr vert="horz"/>
          <a:lstStyle/>
          <a:p>
            <a:r>
              <a:rPr lang="en-US"/>
              <a:t> Supply risk mitigation mechanisms – buyer and supplier compensation</a:t>
            </a:r>
          </a:p>
        </p:txBody>
      </p:sp>
      <p:sp>
        <p:nvSpPr>
          <p:cNvPr id="23" name="Text Placeholder 6">
            <a:extLst>
              <a:ext uri="{FF2B5EF4-FFF2-40B4-BE49-F238E27FC236}">
                <a16:creationId xmlns:a16="http://schemas.microsoft.com/office/drawing/2014/main" id="{7FAD403B-BE43-ACDD-D993-23EC41FC34AD}"/>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Preferred supplier agreement</a:t>
            </a:r>
          </a:p>
        </p:txBody>
      </p:sp>
      <p:sp>
        <p:nvSpPr>
          <p:cNvPr id="24" name="Oval 23">
            <a:extLst>
              <a:ext uri="{FF2B5EF4-FFF2-40B4-BE49-F238E27FC236}">
                <a16:creationId xmlns:a16="http://schemas.microsoft.com/office/drawing/2014/main" id="{76FD7A57-EE82-DC80-D125-C297CB8CA4C1}"/>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A</a:t>
            </a:r>
          </a:p>
        </p:txBody>
      </p:sp>
      <p:sp>
        <p:nvSpPr>
          <p:cNvPr id="25" name="Rectangle 24">
            <a:extLst>
              <a:ext uri="{FF2B5EF4-FFF2-40B4-BE49-F238E27FC236}">
                <a16:creationId xmlns:a16="http://schemas.microsoft.com/office/drawing/2014/main" id="{6F1695A5-0663-741B-9238-A87F47107A86}"/>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26" name="Oval 25">
            <a:extLst>
              <a:ext uri="{FF2B5EF4-FFF2-40B4-BE49-F238E27FC236}">
                <a16:creationId xmlns:a16="http://schemas.microsoft.com/office/drawing/2014/main" id="{50EFAEA5-401E-713A-CDAA-486B96B90FE6}"/>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27" name="Text Placeholder 6">
            <a:extLst>
              <a:ext uri="{FF2B5EF4-FFF2-40B4-BE49-F238E27FC236}">
                <a16:creationId xmlns:a16="http://schemas.microsoft.com/office/drawing/2014/main" id="{2B5919F9-1958-70A4-BC5B-1B8DA82A5021}"/>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Supply risk</a:t>
            </a:r>
          </a:p>
        </p:txBody>
      </p:sp>
      <p:sp>
        <p:nvSpPr>
          <p:cNvPr id="4" name="Text Placeholder 1">
            <a:extLst>
              <a:ext uri="{FF2B5EF4-FFF2-40B4-BE49-F238E27FC236}">
                <a16:creationId xmlns:a16="http://schemas.microsoft.com/office/drawing/2014/main" id="{50C14E60-21B9-BA0A-0933-76FBE9066A37}"/>
              </a:ext>
            </a:extLst>
          </p:cNvPr>
          <p:cNvSpPr txBox="1">
            <a:spLocks/>
          </p:cNvSpPr>
          <p:nvPr/>
        </p:nvSpPr>
        <p:spPr>
          <a:xfrm>
            <a:off x="234814" y="3783702"/>
            <a:ext cx="7112000" cy="274637"/>
          </a:xfrm>
          <a:prstGeom prst="rect">
            <a:avLst/>
          </a:prstGeom>
        </p:spPr>
        <p:txBody>
          <a:bodyPr vert="horz" wrap="none" lIns="0" tIns="0" rIns="0" bIns="0" rtlCol="0">
            <a:normAutofit/>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Notes: PB = Performance Bond, PO = Purchase Order; 1. I.e., a risk for the manufacturer of not being able to deliver the materials on time with the right quantity or the right specs</a:t>
            </a:r>
          </a:p>
        </p:txBody>
      </p:sp>
      <p:sp>
        <p:nvSpPr>
          <p:cNvPr id="7" name="Rectangle: Rounded Corners 6">
            <a:extLst>
              <a:ext uri="{FF2B5EF4-FFF2-40B4-BE49-F238E27FC236}">
                <a16:creationId xmlns:a16="http://schemas.microsoft.com/office/drawing/2014/main" id="{7EC3E195-4E5A-7012-D66D-4D69E8B83D76}"/>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6" action="ppaction://hlinksldjump"/>
              </a:rPr>
              <a:t>Contacts</a:t>
            </a:r>
            <a:r>
              <a:rPr lang="en-US" sz="1000">
                <a:solidFill>
                  <a:srgbClr val="000000"/>
                </a:solidFill>
                <a:latin typeface="Fund Light" pitchFamily="2" charset="-78"/>
                <a:cs typeface="Fund Light" pitchFamily="2" charset="-78"/>
              </a:rPr>
              <a:t>)</a:t>
            </a:r>
          </a:p>
        </p:txBody>
      </p:sp>
      <p:grpSp>
        <p:nvGrpSpPr>
          <p:cNvPr id="8" name="Group 7">
            <a:extLst>
              <a:ext uri="{FF2B5EF4-FFF2-40B4-BE49-F238E27FC236}">
                <a16:creationId xmlns:a16="http://schemas.microsoft.com/office/drawing/2014/main" id="{CD530C5D-28A4-E514-E9F4-AF15765D49FA}"/>
              </a:ext>
            </a:extLst>
          </p:cNvPr>
          <p:cNvGrpSpPr/>
          <p:nvPr/>
        </p:nvGrpSpPr>
        <p:grpSpPr>
          <a:xfrm>
            <a:off x="3004029" y="4817276"/>
            <a:ext cx="303559" cy="303559"/>
            <a:chOff x="-577629" y="2311332"/>
            <a:chExt cx="404038" cy="404037"/>
          </a:xfrm>
        </p:grpSpPr>
        <p:sp>
          <p:nvSpPr>
            <p:cNvPr id="10" name="Oval 9">
              <a:extLst>
                <a:ext uri="{FF2B5EF4-FFF2-40B4-BE49-F238E27FC236}">
                  <a16:creationId xmlns:a16="http://schemas.microsoft.com/office/drawing/2014/main" id="{7C362A81-A99B-7EDD-1413-72A1CC0724C6}"/>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AFF5E241-D00B-D5F6-3367-35A7DF7B535A}"/>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14" name="Group 13">
            <a:extLst>
              <a:ext uri="{FF2B5EF4-FFF2-40B4-BE49-F238E27FC236}">
                <a16:creationId xmlns:a16="http://schemas.microsoft.com/office/drawing/2014/main" id="{323BFD63-A5CB-6238-9E5B-95ABA72A3EB0}"/>
              </a:ext>
            </a:extLst>
          </p:cNvPr>
          <p:cNvGrpSpPr/>
          <p:nvPr/>
        </p:nvGrpSpPr>
        <p:grpSpPr>
          <a:xfrm>
            <a:off x="6211995" y="4883810"/>
            <a:ext cx="168686" cy="161455"/>
            <a:chOff x="11260138" y="4194175"/>
            <a:chExt cx="360363" cy="379413"/>
          </a:xfrm>
        </p:grpSpPr>
        <p:sp>
          <p:nvSpPr>
            <p:cNvPr id="15" name="Freeform 289">
              <a:extLst>
                <a:ext uri="{FF2B5EF4-FFF2-40B4-BE49-F238E27FC236}">
                  <a16:creationId xmlns:a16="http://schemas.microsoft.com/office/drawing/2014/main" id="{FAED1DCF-00C8-5EF7-3C25-303E4725CC40}"/>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0">
              <a:extLst>
                <a:ext uri="{FF2B5EF4-FFF2-40B4-BE49-F238E27FC236}">
                  <a16:creationId xmlns:a16="http://schemas.microsoft.com/office/drawing/2014/main" id="{A3FB75A9-A30F-6ADA-D085-BCDAAC74B696}"/>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291">
              <a:extLst>
                <a:ext uri="{FF2B5EF4-FFF2-40B4-BE49-F238E27FC236}">
                  <a16:creationId xmlns:a16="http://schemas.microsoft.com/office/drawing/2014/main" id="{EFFAB8DA-D6DC-4D89-B664-25DF84C7F269}"/>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52578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9A1DD965-C719-40DE-DEA7-F34CE3A46C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42" name="think-cell data - do not delete" hidden="1">
                        <a:extLst>
                          <a:ext uri="{FF2B5EF4-FFF2-40B4-BE49-F238E27FC236}">
                            <a16:creationId xmlns:a16="http://schemas.microsoft.com/office/drawing/2014/main" id="{9A1DD965-C719-40DE-DEA7-F34CE3A46C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D72D1CAA-47EB-DDC9-5B56-AD2D6178517A}"/>
              </a:ext>
            </a:extLst>
          </p:cNvPr>
          <p:cNvSpPr>
            <a:spLocks noGrp="1"/>
          </p:cNvSpPr>
          <p:nvPr>
            <p:ph type="body" sz="quarter" idx="4294967295"/>
          </p:nvPr>
        </p:nvSpPr>
        <p:spPr>
          <a:xfrm>
            <a:off x="0" y="1179513"/>
            <a:ext cx="8674100" cy="187325"/>
          </a:xfrm>
        </p:spPr>
        <p:txBody>
          <a:bodyPr/>
          <a:lstStyle/>
          <a:p>
            <a:r>
              <a:rPr lang="en-US"/>
              <a:t> </a:t>
            </a:r>
          </a:p>
        </p:txBody>
      </p:sp>
      <p:graphicFrame>
        <p:nvGraphicFramePr>
          <p:cNvPr id="35" name="Table 141">
            <a:extLst>
              <a:ext uri="{FF2B5EF4-FFF2-40B4-BE49-F238E27FC236}">
                <a16:creationId xmlns:a16="http://schemas.microsoft.com/office/drawing/2014/main" id="{4E6F99EA-925F-DB17-CA0D-F9AF51267B20}"/>
              </a:ext>
            </a:extLst>
          </p:cNvPr>
          <p:cNvGraphicFramePr>
            <a:graphicFrameLocks noGrp="1"/>
          </p:cNvGraphicFramePr>
          <p:nvPr>
            <p:extLst>
              <p:ext uri="{D42A27DB-BD31-4B8C-83A1-F6EECF244321}">
                <p14:modId xmlns:p14="http://schemas.microsoft.com/office/powerpoint/2010/main" val="2505192962"/>
              </p:ext>
            </p:extLst>
          </p:nvPr>
        </p:nvGraphicFramePr>
        <p:xfrm>
          <a:off x="298408" y="1426060"/>
          <a:ext cx="8482420" cy="2475381"/>
        </p:xfrm>
        <a:graphic>
          <a:graphicData uri="http://schemas.openxmlformats.org/drawingml/2006/table">
            <a:tbl>
              <a:tblPr firstRow="1" bandRow="1">
                <a:tableStyleId>{5C22544A-7EE6-4342-B048-85BDC9FD1C3A}</a:tableStyleId>
              </a:tblPr>
              <a:tblGrid>
                <a:gridCol w="929259">
                  <a:extLst>
                    <a:ext uri="{9D8B030D-6E8A-4147-A177-3AD203B41FA5}">
                      <a16:colId xmlns:a16="http://schemas.microsoft.com/office/drawing/2014/main" val="522316640"/>
                    </a:ext>
                  </a:extLst>
                </a:gridCol>
                <a:gridCol w="1346920">
                  <a:extLst>
                    <a:ext uri="{9D8B030D-6E8A-4147-A177-3AD203B41FA5}">
                      <a16:colId xmlns:a16="http://schemas.microsoft.com/office/drawing/2014/main" val="3633553993"/>
                    </a:ext>
                  </a:extLst>
                </a:gridCol>
                <a:gridCol w="4072647">
                  <a:extLst>
                    <a:ext uri="{9D8B030D-6E8A-4147-A177-3AD203B41FA5}">
                      <a16:colId xmlns:a16="http://schemas.microsoft.com/office/drawing/2014/main" val="1585286637"/>
                    </a:ext>
                  </a:extLst>
                </a:gridCol>
                <a:gridCol w="1300483">
                  <a:extLst>
                    <a:ext uri="{9D8B030D-6E8A-4147-A177-3AD203B41FA5}">
                      <a16:colId xmlns:a16="http://schemas.microsoft.com/office/drawing/2014/main" val="4212489912"/>
                    </a:ext>
                  </a:extLst>
                </a:gridCol>
                <a:gridCol w="833111">
                  <a:extLst>
                    <a:ext uri="{9D8B030D-6E8A-4147-A177-3AD203B41FA5}">
                      <a16:colId xmlns:a16="http://schemas.microsoft.com/office/drawing/2014/main" val="1515870065"/>
                    </a:ext>
                  </a:extLst>
                </a:gridCol>
              </a:tblGrid>
              <a:tr h="825127">
                <a:tc rowSpan="2">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Price</a:t>
                      </a:r>
                      <a:b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br>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How to ensure the buyer is not paying prices higher than market prices?</a:t>
                      </a:r>
                      <a:endParaRPr lang="en-GB" sz="800" b="1">
                        <a:solidFill>
                          <a:srgbClr val="C4984F"/>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GB" sz="800" b="0" i="0">
                          <a:solidFill>
                            <a:srgbClr val="000000"/>
                          </a:solidFill>
                          <a:latin typeface="Fund Light" pitchFamily="2" charset="-78"/>
                          <a:cs typeface="Fund Light" pitchFamily="2" charset="-78"/>
                        </a:rPr>
                        <a:t>Price defined in line with </a:t>
                      </a:r>
                      <a:r>
                        <a:rPr lang="en-GB" sz="800" b="1" i="0">
                          <a:solidFill>
                            <a:srgbClr val="000000"/>
                          </a:solidFill>
                          <a:latin typeface="Fund Light" pitchFamily="2" charset="-78"/>
                          <a:cs typeface="Fund Light" pitchFamily="2" charset="-78"/>
                        </a:rPr>
                        <a:t>market conditions</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r>
                        <a:rPr lang="en-US" sz="800" b="0" i="0">
                          <a:solidFill>
                            <a:srgbClr val="000000"/>
                          </a:solidFill>
                          <a:latin typeface="Fund Light" pitchFamily="2" charset="-78"/>
                          <a:cs typeface="Fund Light" pitchFamily="2" charset="-78"/>
                        </a:rPr>
                        <a:t> </a:t>
                      </a:r>
                      <a:r>
                        <a:rPr lang="en-US" sz="800" b="1" i="0">
                          <a:solidFill>
                            <a:srgbClr val="000000"/>
                          </a:solidFill>
                          <a:latin typeface="Fund Light" pitchFamily="2" charset="-78"/>
                          <a:cs typeface="Fund Light" pitchFamily="2" charset="-78"/>
                        </a:rPr>
                        <a:t>PRICE AND PAYMENTS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4.3 (g)</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6.2.1 (c), (d)</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87678"/>
                  </a:ext>
                </a:extLst>
              </a:tr>
              <a:tr h="825127">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When does price review get triggered?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Prices to be </a:t>
                      </a:r>
                      <a:r>
                        <a:rPr lang="en-GB" sz="800" b="1" i="0">
                          <a:solidFill>
                            <a:srgbClr val="000000"/>
                          </a:solidFill>
                          <a:latin typeface="Fund Light" pitchFamily="2" charset="-78"/>
                          <a:cs typeface="Fund Light" pitchFamily="2" charset="-78"/>
                        </a:rPr>
                        <a:t>reviewed on a continual basis </a:t>
                      </a:r>
                      <a:r>
                        <a:rPr lang="en-GB" sz="800" b="0" i="0">
                          <a:solidFill>
                            <a:srgbClr val="000000"/>
                          </a:solidFill>
                          <a:latin typeface="Fund Light" pitchFamily="2" charset="-78"/>
                          <a:cs typeface="Fund Light" pitchFamily="2" charset="-78"/>
                        </a:rPr>
                        <a:t>(at the beginning of every contractual year) and potentially </a:t>
                      </a:r>
                      <a:r>
                        <a:rPr lang="en-GB" sz="800" b="1" i="0">
                          <a:solidFill>
                            <a:srgbClr val="000000"/>
                          </a:solidFill>
                          <a:latin typeface="Fund Light" pitchFamily="2" charset="-78"/>
                          <a:cs typeface="Fund Light" pitchFamily="2" charset="-78"/>
                        </a:rPr>
                        <a:t>for each PO </a:t>
                      </a: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(based on separate contractor-supplier negotiation)</a:t>
                      </a:r>
                      <a:endParaRPr lang="en-GB" sz="800" b="1"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PURCHASE ORDER, PRICE AND PAYMENTS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4.8.1, 4.8.5</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6.2</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227"/>
                  </a:ext>
                </a:extLst>
              </a:tr>
              <a:tr h="825127">
                <a:tc>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Technology 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How to ensure that the buyer is able to procure products in line with its requirements?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Technology change requests </a:t>
                      </a:r>
                      <a:r>
                        <a:rPr lang="en-US" sz="800" b="0" i="0">
                          <a:solidFill>
                            <a:srgbClr val="000000"/>
                          </a:solidFill>
                          <a:latin typeface="Fund Light" pitchFamily="2" charset="-78"/>
                          <a:cs typeface="Fund Light" pitchFamily="2" charset="-78"/>
                        </a:rPr>
                        <a:t>to be incorporated by the manufacturer if technologically and commercially feasible</a:t>
                      </a:r>
                      <a:endParaRPr lang="en-GB" sz="8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r>
                        <a:rPr lang="en-US" sz="800" b="0" i="0">
                          <a:solidFill>
                            <a:srgbClr val="000000"/>
                          </a:solidFill>
                          <a:latin typeface="Fund Light" pitchFamily="2" charset="-78"/>
                          <a:cs typeface="Fund Light" pitchFamily="2" charset="-78"/>
                        </a:rPr>
                        <a:t>,</a:t>
                      </a:r>
                      <a:r>
                        <a:rPr lang="en-US" sz="800" b="1" i="0">
                          <a:solidFill>
                            <a:srgbClr val="000000"/>
                          </a:solidFill>
                          <a:latin typeface="Fund Light" pitchFamily="2" charset="-78"/>
                          <a:cs typeface="Fund Light" pitchFamily="2" charset="-78"/>
                        </a:rPr>
                        <a:t> INSPECTION OF MATERIALS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4.8.1 (c),</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5.1.3</a:t>
                      </a:r>
                      <a:br>
                        <a:rPr lang="en-US" sz="800" b="0" i="0">
                          <a:solidFill>
                            <a:srgbClr val="000000"/>
                          </a:solidFill>
                          <a:latin typeface="Fund Light" pitchFamily="2" charset="-78"/>
                          <a:cs typeface="Fund Light" pitchFamily="2" charset="-78"/>
                        </a:rPr>
                      </a:br>
                      <a:endParaRPr lang="en-US" sz="800" b="0" i="0">
                        <a:solidFill>
                          <a:srgbClr val="000000"/>
                        </a:solidFill>
                        <a:latin typeface="Fund Light" pitchFamily="2" charset="-78"/>
                        <a:cs typeface="Fund Light" pitchFamily="2" charset="-78"/>
                      </a:endParaRP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990217"/>
                  </a:ext>
                </a:extLst>
              </a:tr>
            </a:tbl>
          </a:graphicData>
        </a:graphic>
      </p:graphicFrame>
      <p:cxnSp>
        <p:nvCxnSpPr>
          <p:cNvPr id="37" name="Straight Connector 36">
            <a:extLst>
              <a:ext uri="{FF2B5EF4-FFF2-40B4-BE49-F238E27FC236}">
                <a16:creationId xmlns:a16="http://schemas.microsoft.com/office/drawing/2014/main" id="{0BBADE3E-862B-D2B5-558C-B68A0E51F840}"/>
              </a:ext>
            </a:extLst>
          </p:cNvPr>
          <p:cNvCxnSpPr>
            <a:cxnSpLocks/>
          </p:cNvCxnSpPr>
          <p:nvPr/>
        </p:nvCxnSpPr>
        <p:spPr>
          <a:xfrm>
            <a:off x="1251058" y="1378510"/>
            <a:ext cx="127813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FFD54B-62A2-AC8D-0786-F607819E2148}"/>
              </a:ext>
            </a:extLst>
          </p:cNvPr>
          <p:cNvSpPr txBox="1"/>
          <p:nvPr/>
        </p:nvSpPr>
        <p:spPr>
          <a:xfrm>
            <a:off x="1251057" y="1156312"/>
            <a:ext cx="127813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Key questions</a:t>
            </a:r>
          </a:p>
        </p:txBody>
      </p:sp>
      <p:sp>
        <p:nvSpPr>
          <p:cNvPr id="45" name="Oval 44">
            <a:extLst>
              <a:ext uri="{FF2B5EF4-FFF2-40B4-BE49-F238E27FC236}">
                <a16:creationId xmlns:a16="http://schemas.microsoft.com/office/drawing/2014/main" id="{82FD7590-F68E-6C6C-92D4-29F73828C62A}"/>
              </a:ext>
            </a:extLst>
          </p:cNvPr>
          <p:cNvSpPr/>
          <p:nvPr/>
        </p:nvSpPr>
        <p:spPr>
          <a:xfrm>
            <a:off x="1140778" y="1724905"/>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cxnSp>
        <p:nvCxnSpPr>
          <p:cNvPr id="7" name="Straight Connector 6">
            <a:extLst>
              <a:ext uri="{FF2B5EF4-FFF2-40B4-BE49-F238E27FC236}">
                <a16:creationId xmlns:a16="http://schemas.microsoft.com/office/drawing/2014/main" id="{91CF5076-0A76-C726-2DA3-72179B2DD7EF}"/>
              </a:ext>
            </a:extLst>
          </p:cNvPr>
          <p:cNvCxnSpPr>
            <a:cxnSpLocks/>
          </p:cNvCxnSpPr>
          <p:nvPr/>
        </p:nvCxnSpPr>
        <p:spPr>
          <a:xfrm>
            <a:off x="2602926" y="1378510"/>
            <a:ext cx="401188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3B0979-39F6-A6F4-616E-0F033C73D6EE}"/>
              </a:ext>
            </a:extLst>
          </p:cNvPr>
          <p:cNvSpPr txBox="1"/>
          <p:nvPr/>
        </p:nvSpPr>
        <p:spPr>
          <a:xfrm>
            <a:off x="2602924" y="1156312"/>
            <a:ext cx="401188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Mitigation mechanism</a:t>
            </a:r>
          </a:p>
        </p:txBody>
      </p:sp>
      <p:sp>
        <p:nvSpPr>
          <p:cNvPr id="18" name="Oval 17">
            <a:extLst>
              <a:ext uri="{FF2B5EF4-FFF2-40B4-BE49-F238E27FC236}">
                <a16:creationId xmlns:a16="http://schemas.microsoft.com/office/drawing/2014/main" id="{E88C9671-0178-3E86-BE03-F10287D777FA}"/>
              </a:ext>
            </a:extLst>
          </p:cNvPr>
          <p:cNvSpPr/>
          <p:nvPr/>
        </p:nvSpPr>
        <p:spPr>
          <a:xfrm>
            <a:off x="1140778" y="2551862"/>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b</a:t>
            </a:r>
          </a:p>
        </p:txBody>
      </p:sp>
      <p:sp>
        <p:nvSpPr>
          <p:cNvPr id="22" name="Oval 21">
            <a:extLst>
              <a:ext uri="{FF2B5EF4-FFF2-40B4-BE49-F238E27FC236}">
                <a16:creationId xmlns:a16="http://schemas.microsoft.com/office/drawing/2014/main" id="{37DD4C68-885E-F80D-4C64-BB3AD638C023}"/>
              </a:ext>
            </a:extLst>
          </p:cNvPr>
          <p:cNvSpPr/>
          <p:nvPr/>
        </p:nvSpPr>
        <p:spPr>
          <a:xfrm>
            <a:off x="211480" y="213802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2</a:t>
            </a:r>
          </a:p>
        </p:txBody>
      </p:sp>
      <p:cxnSp>
        <p:nvCxnSpPr>
          <p:cNvPr id="10" name="Straight Connector 9">
            <a:extLst>
              <a:ext uri="{FF2B5EF4-FFF2-40B4-BE49-F238E27FC236}">
                <a16:creationId xmlns:a16="http://schemas.microsoft.com/office/drawing/2014/main" id="{3AEE2868-0E73-CFFC-A392-7A9218ED5CA9}"/>
              </a:ext>
            </a:extLst>
          </p:cNvPr>
          <p:cNvCxnSpPr>
            <a:cxnSpLocks/>
          </p:cNvCxnSpPr>
          <p:nvPr/>
        </p:nvCxnSpPr>
        <p:spPr>
          <a:xfrm>
            <a:off x="324347" y="1378510"/>
            <a:ext cx="852978"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6D86BE-A109-9773-6311-6A2189F9B81D}"/>
              </a:ext>
            </a:extLst>
          </p:cNvPr>
          <p:cNvSpPr txBox="1"/>
          <p:nvPr/>
        </p:nvSpPr>
        <p:spPr>
          <a:xfrm>
            <a:off x="324346" y="1156312"/>
            <a:ext cx="852977"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Risk</a:t>
            </a:r>
          </a:p>
        </p:txBody>
      </p:sp>
      <p:cxnSp>
        <p:nvCxnSpPr>
          <p:cNvPr id="13" name="Straight Connector 12">
            <a:extLst>
              <a:ext uri="{FF2B5EF4-FFF2-40B4-BE49-F238E27FC236}">
                <a16:creationId xmlns:a16="http://schemas.microsoft.com/office/drawing/2014/main" id="{569B5D3E-4BBB-9EAA-34A6-79541763C04B}"/>
              </a:ext>
            </a:extLst>
          </p:cNvPr>
          <p:cNvCxnSpPr>
            <a:cxnSpLocks/>
          </p:cNvCxnSpPr>
          <p:nvPr/>
        </p:nvCxnSpPr>
        <p:spPr>
          <a:xfrm>
            <a:off x="6688539" y="1378510"/>
            <a:ext cx="12044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31613D-BA34-0873-2F51-77360B668AAC}"/>
              </a:ext>
            </a:extLst>
          </p:cNvPr>
          <p:cNvSpPr txBox="1"/>
          <p:nvPr/>
        </p:nvSpPr>
        <p:spPr>
          <a:xfrm>
            <a:off x="6688538" y="1156312"/>
            <a:ext cx="1204405"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Section(s)</a:t>
            </a:r>
          </a:p>
        </p:txBody>
      </p:sp>
      <p:cxnSp>
        <p:nvCxnSpPr>
          <p:cNvPr id="30" name="Straight Connector 29">
            <a:extLst>
              <a:ext uri="{FF2B5EF4-FFF2-40B4-BE49-F238E27FC236}">
                <a16:creationId xmlns:a16="http://schemas.microsoft.com/office/drawing/2014/main" id="{4F8DFAB0-7F17-B492-EEAD-DE7AD360E561}"/>
              </a:ext>
            </a:extLst>
          </p:cNvPr>
          <p:cNvCxnSpPr>
            <a:cxnSpLocks/>
          </p:cNvCxnSpPr>
          <p:nvPr/>
        </p:nvCxnSpPr>
        <p:spPr>
          <a:xfrm>
            <a:off x="7954592" y="1378510"/>
            <a:ext cx="78498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CC0EBA4-73F0-C440-18FF-DEC6550463B7}"/>
              </a:ext>
            </a:extLst>
          </p:cNvPr>
          <p:cNvSpPr txBox="1"/>
          <p:nvPr/>
        </p:nvSpPr>
        <p:spPr>
          <a:xfrm>
            <a:off x="7954592" y="1156312"/>
            <a:ext cx="78498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Clause(s)</a:t>
            </a:r>
          </a:p>
        </p:txBody>
      </p:sp>
      <p:sp>
        <p:nvSpPr>
          <p:cNvPr id="19" name="Oval 18">
            <a:extLst>
              <a:ext uri="{FF2B5EF4-FFF2-40B4-BE49-F238E27FC236}">
                <a16:creationId xmlns:a16="http://schemas.microsoft.com/office/drawing/2014/main" id="{C99F9A50-5AA4-D087-D33F-C3105878739C}"/>
              </a:ext>
            </a:extLst>
          </p:cNvPr>
          <p:cNvSpPr/>
          <p:nvPr/>
        </p:nvSpPr>
        <p:spPr>
          <a:xfrm>
            <a:off x="1140778" y="337881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sp>
        <p:nvSpPr>
          <p:cNvPr id="20" name="Oval 19">
            <a:extLst>
              <a:ext uri="{FF2B5EF4-FFF2-40B4-BE49-F238E27FC236}">
                <a16:creationId xmlns:a16="http://schemas.microsoft.com/office/drawing/2014/main" id="{3C186D83-52DE-30D2-D79A-50CDE61CB6BB}"/>
              </a:ext>
            </a:extLst>
          </p:cNvPr>
          <p:cNvSpPr/>
          <p:nvPr/>
        </p:nvSpPr>
        <p:spPr>
          <a:xfrm>
            <a:off x="211480" y="337881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3</a:t>
            </a:r>
          </a:p>
        </p:txBody>
      </p:sp>
      <p:sp>
        <p:nvSpPr>
          <p:cNvPr id="16" name="Rectangle 15">
            <a:hlinkClick r:id="rId6" action="ppaction://hlinksldjump"/>
            <a:extLst>
              <a:ext uri="{FF2B5EF4-FFF2-40B4-BE49-F238E27FC236}">
                <a16:creationId xmlns:a16="http://schemas.microsoft.com/office/drawing/2014/main" id="{5D749A7A-7703-54B7-F31C-6C712FB53181}"/>
              </a:ext>
            </a:extLst>
          </p:cNvPr>
          <p:cNvSpPr/>
          <p:nvPr/>
        </p:nvSpPr>
        <p:spPr>
          <a:xfrm>
            <a:off x="8448639" y="4665788"/>
            <a:ext cx="468696" cy="124042"/>
          </a:xfrm>
          <a:prstGeom prst="rect">
            <a:avLst/>
          </a:prstGeom>
          <a:solidFill>
            <a:schemeClr val="bg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30" normalizeH="0" baseline="0" noProof="0">
                <a:ln>
                  <a:noFill/>
                </a:ln>
                <a:solidFill>
                  <a:srgbClr val="1A1918"/>
                </a:solidFill>
                <a:effectLst/>
                <a:uLnTx/>
                <a:uFillTx/>
                <a:latin typeface="Fund Light" pitchFamily="2" charset="-78"/>
                <a:cs typeface="Fund Light" pitchFamily="2" charset="-78"/>
              </a:rPr>
              <a:t>Back</a:t>
            </a:r>
          </a:p>
        </p:txBody>
      </p:sp>
      <p:sp>
        <p:nvSpPr>
          <p:cNvPr id="4" name="Text Placeholder 6">
            <a:extLst>
              <a:ext uri="{FF2B5EF4-FFF2-40B4-BE49-F238E27FC236}">
                <a16:creationId xmlns:a16="http://schemas.microsoft.com/office/drawing/2014/main" id="{B3952F54-462A-72AB-A460-4FE904BFEBA1}"/>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Preferred supplier agreement</a:t>
            </a:r>
          </a:p>
        </p:txBody>
      </p:sp>
      <p:sp>
        <p:nvSpPr>
          <p:cNvPr id="24" name="Oval 23">
            <a:extLst>
              <a:ext uri="{FF2B5EF4-FFF2-40B4-BE49-F238E27FC236}">
                <a16:creationId xmlns:a16="http://schemas.microsoft.com/office/drawing/2014/main" id="{CF13164C-D82D-3E52-3C44-41BB289BF44C}"/>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A</a:t>
            </a:r>
          </a:p>
        </p:txBody>
      </p:sp>
      <p:sp>
        <p:nvSpPr>
          <p:cNvPr id="26" name="Title 25">
            <a:extLst>
              <a:ext uri="{FF2B5EF4-FFF2-40B4-BE49-F238E27FC236}">
                <a16:creationId xmlns:a16="http://schemas.microsoft.com/office/drawing/2014/main" id="{5A6B819F-42C0-6D7D-C917-57A4AAACD779}"/>
              </a:ext>
            </a:extLst>
          </p:cNvPr>
          <p:cNvSpPr>
            <a:spLocks noGrp="1"/>
          </p:cNvSpPr>
          <p:nvPr>
            <p:ph type="title"/>
          </p:nvPr>
        </p:nvSpPr>
        <p:spPr/>
        <p:txBody>
          <a:bodyPr vert="horz"/>
          <a:lstStyle/>
          <a:p>
            <a:r>
              <a:rPr lang="en-US"/>
              <a:t> Price and technology risks mitigation mechanisms</a:t>
            </a:r>
            <a:endParaRPr lang="en-GB"/>
          </a:p>
        </p:txBody>
      </p:sp>
      <p:sp>
        <p:nvSpPr>
          <p:cNvPr id="40" name="Rectangle 39">
            <a:extLst>
              <a:ext uri="{FF2B5EF4-FFF2-40B4-BE49-F238E27FC236}">
                <a16:creationId xmlns:a16="http://schemas.microsoft.com/office/drawing/2014/main" id="{896961B3-C9ED-A8D8-C4B7-CA21870DDB3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1" name="Oval 40">
            <a:extLst>
              <a:ext uri="{FF2B5EF4-FFF2-40B4-BE49-F238E27FC236}">
                <a16:creationId xmlns:a16="http://schemas.microsoft.com/office/drawing/2014/main" id="{EFA22BB6-1856-C050-E7DE-BB4BC9804689}"/>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49" name="Text Placeholder 6">
            <a:extLst>
              <a:ext uri="{FF2B5EF4-FFF2-40B4-BE49-F238E27FC236}">
                <a16:creationId xmlns:a16="http://schemas.microsoft.com/office/drawing/2014/main" id="{509FACBA-0635-9B83-2B99-518DC21E7832}"/>
              </a:ext>
            </a:extLst>
          </p:cNvPr>
          <p:cNvSpPr txBox="1">
            <a:spLocks/>
          </p:cNvSpPr>
          <p:nvPr/>
        </p:nvSpPr>
        <p:spPr>
          <a:xfrm>
            <a:off x="7888921" y="194048"/>
            <a:ext cx="113511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  Price and tech risk</a:t>
            </a:r>
          </a:p>
        </p:txBody>
      </p:sp>
      <p:sp>
        <p:nvSpPr>
          <p:cNvPr id="50" name="Oval 49">
            <a:extLst>
              <a:ext uri="{FF2B5EF4-FFF2-40B4-BE49-F238E27FC236}">
                <a16:creationId xmlns:a16="http://schemas.microsoft.com/office/drawing/2014/main" id="{4E5B1D34-79CA-6081-0E70-FB35FC0685A2}"/>
              </a:ext>
            </a:extLst>
          </p:cNvPr>
          <p:cNvSpPr/>
          <p:nvPr/>
        </p:nvSpPr>
        <p:spPr>
          <a:xfrm>
            <a:off x="7854064"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12210938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6193297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7" progId="TCLayout.ActiveDocument.1">
                  <p:embed/>
                </p:oleObj>
              </mc:Choice>
              <mc:Fallback>
                <p:oleObj name="think-cell Slide" r:id="rId6"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8" y="255973"/>
            <a:ext cx="5785802" cy="241824"/>
          </a:xfrm>
        </p:spPr>
        <p:txBody>
          <a:bodyPr vert="horz"/>
          <a:lstStyle/>
          <a:p>
            <a:r>
              <a:rPr lang="en-US"/>
              <a:t>Defining terms and conditions helps structure the optimal agreement</a:t>
            </a:r>
          </a:p>
        </p:txBody>
      </p:sp>
      <p:sp>
        <p:nvSpPr>
          <p:cNvPr id="7" name="Rectangle 6">
            <a:extLst>
              <a:ext uri="{FF2B5EF4-FFF2-40B4-BE49-F238E27FC236}">
                <a16:creationId xmlns:a16="http://schemas.microsoft.com/office/drawing/2014/main" id="{0214B694-0303-C235-5CAB-0E2DC4B45854}"/>
              </a:ext>
            </a:extLst>
          </p:cNvPr>
          <p:cNvSpPr/>
          <p:nvPr/>
        </p:nvSpPr>
        <p:spPr>
          <a:xfrm>
            <a:off x="326229" y="1371530"/>
            <a:ext cx="1071121" cy="759060"/>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Description</a:t>
            </a:r>
          </a:p>
        </p:txBody>
      </p:sp>
      <p:cxnSp>
        <p:nvCxnSpPr>
          <p:cNvPr id="8" name="Straight Connector 7">
            <a:extLst>
              <a:ext uri="{FF2B5EF4-FFF2-40B4-BE49-F238E27FC236}">
                <a16:creationId xmlns:a16="http://schemas.microsoft.com/office/drawing/2014/main" id="{D69664FD-2425-D8E1-CA04-4D6A519B4C0E}"/>
              </a:ext>
            </a:extLst>
          </p:cNvPr>
          <p:cNvCxnSpPr>
            <a:cxnSpLocks/>
          </p:cNvCxnSpPr>
          <p:nvPr/>
        </p:nvCxnSpPr>
        <p:spPr>
          <a:xfrm>
            <a:off x="332923" y="2164347"/>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C3FD979-F851-554B-34F6-3499B75C0F2C}"/>
              </a:ext>
            </a:extLst>
          </p:cNvPr>
          <p:cNvSpPr/>
          <p:nvPr/>
        </p:nvSpPr>
        <p:spPr>
          <a:xfrm>
            <a:off x="332923" y="2189664"/>
            <a:ext cx="1071121" cy="383386"/>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Demand commitment</a:t>
            </a:r>
          </a:p>
        </p:txBody>
      </p:sp>
      <p:sp>
        <p:nvSpPr>
          <p:cNvPr id="10" name="ee4pHeader1">
            <a:extLst>
              <a:ext uri="{FF2B5EF4-FFF2-40B4-BE49-F238E27FC236}">
                <a16:creationId xmlns:a16="http://schemas.microsoft.com/office/drawing/2014/main" id="{D3DF6D3C-AC9F-3853-D510-42257A7A87CA}"/>
              </a:ext>
            </a:extLst>
          </p:cNvPr>
          <p:cNvSpPr/>
          <p:nvPr>
            <p:custDataLst>
              <p:tags r:id="rId2"/>
            </p:custDataLst>
          </p:nvPr>
        </p:nvSpPr>
        <p:spPr bwMode="auto">
          <a:xfrm>
            <a:off x="1520607" y="906892"/>
            <a:ext cx="3593873" cy="418504"/>
          </a:xfrm>
          <a:prstGeom prst="homePlate">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2">
                    <a:lumMod val="60000"/>
                    <a:lumOff val="40000"/>
                  </a:schemeClr>
                </a:solidFill>
                <a:effectLst/>
                <a:uLnTx/>
                <a:uFillTx/>
                <a:latin typeface="Fund Light" pitchFamily="2" charset="-78"/>
                <a:ea typeface="+mn-ea"/>
                <a:cs typeface="Fund Light" pitchFamily="2" charset="-78"/>
              </a:rPr>
              <a:t>Preferred supplier agreement (PSA)</a:t>
            </a:r>
          </a:p>
        </p:txBody>
      </p:sp>
      <p:sp>
        <p:nvSpPr>
          <p:cNvPr id="11" name="ee4pHeader2">
            <a:extLst>
              <a:ext uri="{FF2B5EF4-FFF2-40B4-BE49-F238E27FC236}">
                <a16:creationId xmlns:a16="http://schemas.microsoft.com/office/drawing/2014/main" id="{CA9DFC82-91E0-96F0-0E04-102987A13E0C}"/>
              </a:ext>
            </a:extLst>
          </p:cNvPr>
          <p:cNvSpPr/>
          <p:nvPr>
            <p:custDataLst>
              <p:tags r:id="rId3"/>
            </p:custDataLst>
          </p:nvPr>
        </p:nvSpPr>
        <p:spPr bwMode="auto">
          <a:xfrm>
            <a:off x="5226276" y="906892"/>
            <a:ext cx="3593873" cy="418504"/>
          </a:xfrm>
          <a:prstGeom prst="chevron">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189" rtl="0" eaLnBrk="1" fontAlgn="auto" latinLnBrk="0" hangingPunct="1">
              <a:lnSpc>
                <a:spcPct val="100000"/>
              </a:lnSpc>
              <a:spcBef>
                <a:spcPts val="300"/>
              </a:spcBef>
              <a:spcAft>
                <a:spcPts val="300"/>
              </a:spcAft>
              <a:buClrTx/>
              <a:buSzTx/>
              <a:buFontTx/>
              <a:buNone/>
              <a:tabLst/>
              <a:defRPr/>
            </a:pPr>
            <a:r>
              <a:rPr kumimoji="0" lang="en-GB" sz="1050" b="1" i="0" u="none" strike="noStrike" kern="1200" cap="none" spc="0" normalizeH="0" baseline="0" noProof="0">
                <a:ln>
                  <a:noFill/>
                </a:ln>
                <a:solidFill>
                  <a:schemeClr val="bg1"/>
                </a:solidFill>
                <a:effectLst/>
                <a:uLnTx/>
                <a:uFillTx/>
                <a:latin typeface="Fund Light" pitchFamily="2" charset="-78"/>
                <a:ea typeface="+mn-ea"/>
                <a:cs typeface="Fund Light" pitchFamily="2" charset="-78"/>
              </a:rPr>
              <a:t>Take-or-pay Agreement</a:t>
            </a:r>
          </a:p>
        </p:txBody>
      </p:sp>
      <p:sp>
        <p:nvSpPr>
          <p:cNvPr id="12" name="Oval 11">
            <a:extLst>
              <a:ext uri="{FF2B5EF4-FFF2-40B4-BE49-F238E27FC236}">
                <a16:creationId xmlns:a16="http://schemas.microsoft.com/office/drawing/2014/main" id="{7B5349C8-0FCF-2375-83A2-1C272C8BC6CF}"/>
              </a:ext>
            </a:extLst>
          </p:cNvPr>
          <p:cNvSpPr/>
          <p:nvPr/>
        </p:nvSpPr>
        <p:spPr>
          <a:xfrm>
            <a:off x="1397351"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A</a:t>
            </a:r>
          </a:p>
        </p:txBody>
      </p:sp>
      <p:sp>
        <p:nvSpPr>
          <p:cNvPr id="13" name="Rectangle 12">
            <a:extLst>
              <a:ext uri="{FF2B5EF4-FFF2-40B4-BE49-F238E27FC236}">
                <a16:creationId xmlns:a16="http://schemas.microsoft.com/office/drawing/2014/main" id="{25DED39D-080A-5FDB-E32F-CC4C1D0FF256}"/>
              </a:ext>
            </a:extLst>
          </p:cNvPr>
          <p:cNvSpPr/>
          <p:nvPr/>
        </p:nvSpPr>
        <p:spPr>
          <a:xfrm>
            <a:off x="1520607" y="1389052"/>
            <a:ext cx="3593872"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chemeClr val="bg1">
                    <a:lumMod val="85000"/>
                  </a:schemeClr>
                </a:solidFill>
                <a:effectLst/>
                <a:uLnTx/>
                <a:uFillTx/>
                <a:latin typeface="Fund Light" pitchFamily="2" charset="-78"/>
                <a:ea typeface="+mn-ea"/>
                <a:cs typeface="Fund Light" pitchFamily="2" charset="-78"/>
              </a:rPr>
              <a:t>Prioritization of a preferred local supplier</a:t>
            </a:r>
            <a:br>
              <a:rPr kumimoji="0" lang="en-US" sz="1050" b="0" i="0" u="none" strike="noStrike" kern="1200" cap="none" spc="0" normalizeH="0" baseline="0" noProof="0">
                <a:ln>
                  <a:noFill/>
                </a:ln>
                <a:solidFill>
                  <a:schemeClr val="bg1">
                    <a:lumMod val="85000"/>
                  </a:schemeClr>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chemeClr val="bg1">
                    <a:lumMod val="85000"/>
                  </a:schemeClr>
                </a:solidFill>
                <a:effectLst/>
                <a:uLnTx/>
                <a:uFillTx/>
                <a:latin typeface="Fund Light" pitchFamily="2" charset="-78"/>
                <a:ea typeface="+mn-ea"/>
                <a:cs typeface="Fund Light" pitchFamily="2" charset="-78"/>
              </a:rPr>
              <a:t>up to a certain annual quantity at an agreed-</a:t>
            </a:r>
            <a:r>
              <a:rPr lang="en-US" sz="1050">
                <a:solidFill>
                  <a:schemeClr val="bg1">
                    <a:lumMod val="85000"/>
                  </a:schemeClr>
                </a:solidFill>
                <a:latin typeface="Fund Light" pitchFamily="2" charset="-78"/>
                <a:cs typeface="Fund Light" pitchFamily="2" charset="-78"/>
              </a:rPr>
              <a:t>upon</a:t>
            </a:r>
            <a:r>
              <a:rPr kumimoji="0" lang="en-US" sz="1050" b="0" i="0" u="none" strike="noStrike" kern="1200" cap="none" spc="0" normalizeH="0" baseline="0" noProof="0">
                <a:ln>
                  <a:noFill/>
                </a:ln>
                <a:solidFill>
                  <a:schemeClr val="bg1">
                    <a:lumMod val="85000"/>
                  </a:schemeClr>
                </a:solidFill>
                <a:effectLst/>
                <a:uLnTx/>
                <a:uFillTx/>
                <a:latin typeface="Fund Light" pitchFamily="2" charset="-78"/>
                <a:ea typeface="+mn-ea"/>
                <a:cs typeface="Fund Light" pitchFamily="2" charset="-78"/>
              </a:rPr>
              <a:t> price</a:t>
            </a:r>
          </a:p>
        </p:txBody>
      </p:sp>
      <p:sp>
        <p:nvSpPr>
          <p:cNvPr id="14" name="Rectangle 13">
            <a:extLst>
              <a:ext uri="{FF2B5EF4-FFF2-40B4-BE49-F238E27FC236}">
                <a16:creationId xmlns:a16="http://schemas.microsoft.com/office/drawing/2014/main" id="{71B83C42-0862-7965-DDEE-8AA0EF04C88D}"/>
              </a:ext>
            </a:extLst>
          </p:cNvPr>
          <p:cNvSpPr/>
          <p:nvPr/>
        </p:nvSpPr>
        <p:spPr>
          <a:xfrm>
            <a:off x="5226276" y="1389052"/>
            <a:ext cx="3509785" cy="75906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Demand commitments with purchase obligations </a:t>
            </a:r>
            <a:b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set at a minimum annual quantity at an agreed-upon price</a:t>
            </a:r>
          </a:p>
        </p:txBody>
      </p:sp>
      <p:sp>
        <p:nvSpPr>
          <p:cNvPr id="15" name="Oval 14">
            <a:extLst>
              <a:ext uri="{FF2B5EF4-FFF2-40B4-BE49-F238E27FC236}">
                <a16:creationId xmlns:a16="http://schemas.microsoft.com/office/drawing/2014/main" id="{D69C5144-125E-9431-7C23-6DCF183F8A6C}"/>
              </a:ext>
            </a:extLst>
          </p:cNvPr>
          <p:cNvSpPr/>
          <p:nvPr/>
        </p:nvSpPr>
        <p:spPr>
          <a:xfrm>
            <a:off x="5121173" y="771525"/>
            <a:ext cx="269523" cy="270733"/>
          </a:xfrm>
          <a:prstGeom prst="ellipse">
            <a:avLst/>
          </a:prstGeom>
          <a:solidFill>
            <a:schemeClr val="bg2"/>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pPr>
            <a:r>
              <a:rPr lang="en-GB" sz="1050">
                <a:solidFill>
                  <a:schemeClr val="bg1"/>
                </a:solidFill>
                <a:latin typeface="Fund Light" pitchFamily="2" charset="-78"/>
                <a:cs typeface="Fund Light" pitchFamily="2" charset="-78"/>
              </a:rPr>
              <a:t>B</a:t>
            </a:r>
          </a:p>
        </p:txBody>
      </p:sp>
      <p:cxnSp>
        <p:nvCxnSpPr>
          <p:cNvPr id="17" name="Straight Connector 16">
            <a:extLst>
              <a:ext uri="{FF2B5EF4-FFF2-40B4-BE49-F238E27FC236}">
                <a16:creationId xmlns:a16="http://schemas.microsoft.com/office/drawing/2014/main" id="{CC8F96EE-BB6E-4241-6575-6B5BF385AEB7}"/>
              </a:ext>
            </a:extLst>
          </p:cNvPr>
          <p:cNvCxnSpPr>
            <a:cxnSpLocks/>
          </p:cNvCxnSpPr>
          <p:nvPr/>
        </p:nvCxnSpPr>
        <p:spPr>
          <a:xfrm>
            <a:off x="1455629" y="1389051"/>
            <a:ext cx="0" cy="73152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7DB4EDF-8848-EF83-EDDC-75B46189668C}"/>
              </a:ext>
            </a:extLst>
          </p:cNvPr>
          <p:cNvCxnSpPr>
            <a:cxnSpLocks/>
          </p:cNvCxnSpPr>
          <p:nvPr/>
        </p:nvCxnSpPr>
        <p:spPr>
          <a:xfrm>
            <a:off x="1462323" y="2189664"/>
            <a:ext cx="0" cy="37704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0D27B95-F186-6ABD-5147-54F7591B447A}"/>
              </a:ext>
            </a:extLst>
          </p:cNvPr>
          <p:cNvSpPr/>
          <p:nvPr/>
        </p:nvSpPr>
        <p:spPr>
          <a:xfrm>
            <a:off x="1527301" y="2203144"/>
            <a:ext cx="3593872"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chemeClr val="bg1">
                    <a:lumMod val="85000"/>
                  </a:schemeClr>
                </a:solidFill>
                <a:effectLst/>
                <a:uLnTx/>
                <a:uFillTx/>
                <a:latin typeface="Fund Light" pitchFamily="2" charset="-78"/>
                <a:ea typeface="+mn-ea"/>
                <a:cs typeface="Fund Light" pitchFamily="2" charset="-78"/>
              </a:rPr>
              <a:t>Only if business needs arise</a:t>
            </a:r>
          </a:p>
        </p:txBody>
      </p:sp>
      <p:sp>
        <p:nvSpPr>
          <p:cNvPr id="27" name="Rectangle 26">
            <a:extLst>
              <a:ext uri="{FF2B5EF4-FFF2-40B4-BE49-F238E27FC236}">
                <a16:creationId xmlns:a16="http://schemas.microsoft.com/office/drawing/2014/main" id="{CC3AC5B1-49F1-3FCA-D137-216B05E269F2}"/>
              </a:ext>
            </a:extLst>
          </p:cNvPr>
          <p:cNvSpPr/>
          <p:nvPr/>
        </p:nvSpPr>
        <p:spPr>
          <a:xfrm>
            <a:off x="5232970" y="2203144"/>
            <a:ext cx="3509785" cy="368606"/>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R="0" lvl="0" algn="l" defTabSz="685800" rtl="0" eaLnBrk="1" fontAlgn="auto" latinLnBrk="0" hangingPunct="1">
              <a:lnSpc>
                <a:spcPct val="100000"/>
              </a:lnSpc>
              <a:spcBef>
                <a:spcPct val="50000"/>
              </a:spcBef>
              <a:spcAft>
                <a:spcPts val="0"/>
              </a:spcAft>
              <a:buClrTx/>
              <a:buSzTx/>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Yes</a:t>
            </a:r>
          </a:p>
        </p:txBody>
      </p:sp>
      <p:cxnSp>
        <p:nvCxnSpPr>
          <p:cNvPr id="29" name="Straight Connector 28">
            <a:extLst>
              <a:ext uri="{FF2B5EF4-FFF2-40B4-BE49-F238E27FC236}">
                <a16:creationId xmlns:a16="http://schemas.microsoft.com/office/drawing/2014/main" id="{41B02281-2EE7-4648-EB82-55F1570342B1}"/>
              </a:ext>
            </a:extLst>
          </p:cNvPr>
          <p:cNvCxnSpPr>
            <a:cxnSpLocks/>
          </p:cNvCxnSpPr>
          <p:nvPr/>
        </p:nvCxnSpPr>
        <p:spPr>
          <a:xfrm>
            <a:off x="359587" y="259237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112947B-3BFD-7E66-45E8-EAB9E44773C6}"/>
              </a:ext>
            </a:extLst>
          </p:cNvPr>
          <p:cNvSpPr/>
          <p:nvPr/>
        </p:nvSpPr>
        <p:spPr>
          <a:xfrm>
            <a:off x="326229" y="2628884"/>
            <a:ext cx="1071121" cy="1230472"/>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Risks to the buyer </a:t>
            </a:r>
            <a:r>
              <a:rPr lang="en-US" sz="700" i="1" spc="-20">
                <a:solidFill>
                  <a:schemeClr val="bg2"/>
                </a:solidFill>
                <a:latin typeface="Fund Light" pitchFamily="2" charset="-78"/>
                <a:cs typeface="Fund Light" pitchFamily="2" charset="-78"/>
              </a:rPr>
              <a:t>(agreements to have equivalent clauses to mitigate them)</a:t>
            </a:r>
            <a:endParaRPr lang="en-US" sz="900" i="1" spc="-20">
              <a:solidFill>
                <a:schemeClr val="bg2"/>
              </a:solidFill>
              <a:latin typeface="Fund Light" pitchFamily="2" charset="-78"/>
              <a:cs typeface="Fund Light" pitchFamily="2" charset="-78"/>
            </a:endParaRPr>
          </a:p>
        </p:txBody>
      </p:sp>
      <p:cxnSp>
        <p:nvCxnSpPr>
          <p:cNvPr id="31" name="Straight Connector 30">
            <a:extLst>
              <a:ext uri="{FF2B5EF4-FFF2-40B4-BE49-F238E27FC236}">
                <a16:creationId xmlns:a16="http://schemas.microsoft.com/office/drawing/2014/main" id="{48E2038B-1176-AA20-7B75-E3C253CF9E43}"/>
              </a:ext>
            </a:extLst>
          </p:cNvPr>
          <p:cNvCxnSpPr>
            <a:cxnSpLocks/>
          </p:cNvCxnSpPr>
          <p:nvPr/>
        </p:nvCxnSpPr>
        <p:spPr>
          <a:xfrm>
            <a:off x="1455629" y="2628884"/>
            <a:ext cx="0" cy="12101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0717446-30A3-C3A3-81C6-E05462EA3F56}"/>
              </a:ext>
            </a:extLst>
          </p:cNvPr>
          <p:cNvSpPr/>
          <p:nvPr/>
        </p:nvSpPr>
        <p:spPr>
          <a:xfrm>
            <a:off x="5232970" y="2635099"/>
            <a:ext cx="3561777"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Liability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rgbClr val="000000"/>
                </a:solidFill>
                <a:latin typeface="Fund Light" pitchFamily="2" charset="-78"/>
                <a:cs typeface="Fund Light" pitchFamily="2" charset="-78"/>
              </a:rPr>
              <a:t>Technology risk</a:t>
            </a:r>
          </a:p>
        </p:txBody>
      </p:sp>
      <p:cxnSp>
        <p:nvCxnSpPr>
          <p:cNvPr id="6" name="Straight Connector 5">
            <a:extLst>
              <a:ext uri="{FF2B5EF4-FFF2-40B4-BE49-F238E27FC236}">
                <a16:creationId xmlns:a16="http://schemas.microsoft.com/office/drawing/2014/main" id="{1D7C885D-870B-C396-6726-BEC3B5B1B7B2}"/>
              </a:ext>
            </a:extLst>
          </p:cNvPr>
          <p:cNvCxnSpPr>
            <a:cxnSpLocks/>
          </p:cNvCxnSpPr>
          <p:nvPr/>
        </p:nvCxnSpPr>
        <p:spPr>
          <a:xfrm>
            <a:off x="359587" y="3872645"/>
            <a:ext cx="843516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ED3F57D-11A3-3D31-A7B4-C7B4401DCDB0}"/>
              </a:ext>
            </a:extLst>
          </p:cNvPr>
          <p:cNvSpPr/>
          <p:nvPr/>
        </p:nvSpPr>
        <p:spPr>
          <a:xfrm>
            <a:off x="326229" y="3909154"/>
            <a:ext cx="1071121" cy="764445"/>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050" b="1" spc="-20">
                <a:solidFill>
                  <a:schemeClr val="bg2"/>
                </a:solidFill>
                <a:latin typeface="Fund Light" pitchFamily="2" charset="-78"/>
                <a:cs typeface="Fund Light" pitchFamily="2" charset="-78"/>
              </a:rPr>
              <a:t>Ready-to-plug template</a:t>
            </a:r>
          </a:p>
        </p:txBody>
      </p:sp>
      <p:cxnSp>
        <p:nvCxnSpPr>
          <p:cNvPr id="19" name="Straight Connector 18">
            <a:extLst>
              <a:ext uri="{FF2B5EF4-FFF2-40B4-BE49-F238E27FC236}">
                <a16:creationId xmlns:a16="http://schemas.microsoft.com/office/drawing/2014/main" id="{19568D45-4B97-92A7-3F7A-AE4EC604DBEF}"/>
              </a:ext>
            </a:extLst>
          </p:cNvPr>
          <p:cNvCxnSpPr>
            <a:cxnSpLocks/>
          </p:cNvCxnSpPr>
          <p:nvPr/>
        </p:nvCxnSpPr>
        <p:spPr>
          <a:xfrm>
            <a:off x="1455629" y="3909154"/>
            <a:ext cx="0" cy="75179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9701FAA-7F00-E014-4DB8-55A8085EF2AF}"/>
              </a:ext>
            </a:extLst>
          </p:cNvPr>
          <p:cNvSpPr/>
          <p:nvPr/>
        </p:nvSpPr>
        <p:spPr>
          <a:xfrm>
            <a:off x="2849909" y="4067481"/>
            <a:ext cx="2264570" cy="5921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PSA template provided as </a:t>
            </a:r>
            <a:br>
              <a:rPr kumimoji="0" lang="en-US" sz="1050" b="0" i="0"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br>
            <a:r>
              <a:rPr kumimoji="0" lang="en-US" sz="1050" b="0" i="0"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separate document as part of this implementation guide</a:t>
            </a:r>
          </a:p>
        </p:txBody>
      </p:sp>
      <p:sp>
        <p:nvSpPr>
          <p:cNvPr id="23" name="Rectangle 22">
            <a:extLst>
              <a:ext uri="{FF2B5EF4-FFF2-40B4-BE49-F238E27FC236}">
                <a16:creationId xmlns:a16="http://schemas.microsoft.com/office/drawing/2014/main" id="{911E7452-92B8-2959-7771-8CDAB33D5426}"/>
              </a:ext>
            </a:extLst>
          </p:cNvPr>
          <p:cNvSpPr/>
          <p:nvPr/>
        </p:nvSpPr>
        <p:spPr>
          <a:xfrm>
            <a:off x="6556086" y="4067481"/>
            <a:ext cx="2264570" cy="59213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05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Take-or-pay template provided as separate document as part of this implementation guide</a:t>
            </a:r>
          </a:p>
        </p:txBody>
      </p:sp>
      <p:sp>
        <p:nvSpPr>
          <p:cNvPr id="2" name="Rectangle 1">
            <a:extLst>
              <a:ext uri="{FF2B5EF4-FFF2-40B4-BE49-F238E27FC236}">
                <a16:creationId xmlns:a16="http://schemas.microsoft.com/office/drawing/2014/main" id="{1EF5859B-FD70-B4D2-E56A-1E88532ACD31}"/>
              </a:ext>
            </a:extLst>
          </p:cNvPr>
          <p:cNvSpPr/>
          <p:nvPr/>
        </p:nvSpPr>
        <p:spPr>
          <a:xfrm>
            <a:off x="1520607" y="2641692"/>
            <a:ext cx="3561777" cy="1042711"/>
          </a:xfrm>
          <a:prstGeom prst="rect">
            <a:avLst/>
          </a:prstGeom>
          <a:noFill/>
          <a:ln w="6350" cap="sq" cmpd="sng" algn="ctr">
            <a:noFill/>
            <a:prstDash val="solid"/>
            <a:miter lim="800000"/>
          </a:ln>
          <a:effectLst/>
        </p:spPr>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chemeClr val="bg1">
                    <a:lumMod val="95000"/>
                  </a:schemeClr>
                </a:solidFill>
                <a:latin typeface="Fund Light" pitchFamily="2" charset="-78"/>
                <a:cs typeface="Fund Light" pitchFamily="2" charset="-78"/>
              </a:rPr>
              <a:t>Supply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kumimoji="0" lang="en-US" sz="1050" b="0" i="0" u="none" strike="noStrike" kern="1200" cap="none" spc="0" normalizeH="0" baseline="0" noProof="0">
                <a:ln>
                  <a:noFill/>
                </a:ln>
                <a:solidFill>
                  <a:schemeClr val="bg1">
                    <a:lumMod val="95000"/>
                  </a:schemeClr>
                </a:solidFill>
                <a:effectLst/>
                <a:uLnTx/>
                <a:uFillTx/>
                <a:latin typeface="Fund Light" pitchFamily="2" charset="-78"/>
                <a:ea typeface="+mn-ea"/>
                <a:cs typeface="Fund Light" pitchFamily="2" charset="-78"/>
              </a:rPr>
              <a:t>Price risk</a:t>
            </a:r>
          </a:p>
          <a:p>
            <a:pPr marL="228600" marR="0" lvl="0" indent="-228600" algn="l" defTabSz="685800" rtl="0" eaLnBrk="1" fontAlgn="auto" latinLnBrk="0" hangingPunct="1">
              <a:lnSpc>
                <a:spcPct val="100000"/>
              </a:lnSpc>
              <a:spcBef>
                <a:spcPts val="300"/>
              </a:spcBef>
              <a:spcAft>
                <a:spcPts val="0"/>
              </a:spcAft>
              <a:buClrTx/>
              <a:buSzTx/>
              <a:buFont typeface="+mj-lt"/>
              <a:buAutoNum type="arabicPeriod"/>
              <a:tabLst/>
              <a:defRPr/>
            </a:pPr>
            <a:r>
              <a:rPr lang="en-US" sz="1050">
                <a:solidFill>
                  <a:schemeClr val="bg1">
                    <a:lumMod val="95000"/>
                  </a:schemeClr>
                </a:solidFill>
                <a:latin typeface="Fund Light" pitchFamily="2" charset="-78"/>
                <a:cs typeface="Fund Light" pitchFamily="2" charset="-78"/>
              </a:rPr>
              <a:t>Technology risk</a:t>
            </a:r>
          </a:p>
        </p:txBody>
      </p:sp>
      <p:pic>
        <p:nvPicPr>
          <p:cNvPr id="20" name="Picture 19">
            <a:extLst>
              <a:ext uri="{FF2B5EF4-FFF2-40B4-BE49-F238E27FC236}">
                <a16:creationId xmlns:a16="http://schemas.microsoft.com/office/drawing/2014/main" id="{4D47E5D1-F596-F8D2-BC97-F494780C7CBC}"/>
              </a:ext>
            </a:extLst>
          </p:cNvPr>
          <p:cNvPicPr>
            <a:picLocks noChangeAspect="1"/>
          </p:cNvPicPr>
          <p:nvPr/>
        </p:nvPicPr>
        <p:blipFill>
          <a:blip r:embed="rId8"/>
          <a:stretch>
            <a:fillRect/>
          </a:stretch>
        </p:blipFill>
        <p:spPr>
          <a:xfrm>
            <a:off x="5363891" y="4033519"/>
            <a:ext cx="1059823" cy="640080"/>
          </a:xfrm>
          <a:prstGeom prst="rect">
            <a:avLst/>
          </a:prstGeom>
          <a:effectLst>
            <a:outerShdw blurRad="50800" dist="38100" dir="2700000" algn="tl" rotWithShape="0">
              <a:prstClr val="black">
                <a:alpha val="40000"/>
              </a:prstClr>
            </a:outerShdw>
          </a:effectLst>
        </p:spPr>
      </p:pic>
      <p:sp>
        <p:nvSpPr>
          <p:cNvPr id="3" name="Text Placeholder 6">
            <a:extLst>
              <a:ext uri="{FF2B5EF4-FFF2-40B4-BE49-F238E27FC236}">
                <a16:creationId xmlns:a16="http://schemas.microsoft.com/office/drawing/2014/main" id="{4486FB43-5FB8-E781-91CE-F66D45F00229}"/>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Terms and conditions</a:t>
            </a:r>
          </a:p>
        </p:txBody>
      </p:sp>
    </p:spTree>
    <p:extLst>
      <p:ext uri="{BB962C8B-B14F-4D97-AF65-F5344CB8AC3E}">
        <p14:creationId xmlns:p14="http://schemas.microsoft.com/office/powerpoint/2010/main" val="11352699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B8D64CBC-C36F-8144-DE8B-93D45A9142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17" name="think-cell data - do not delete" hidden="1">
                        <a:extLst>
                          <a:ext uri="{FF2B5EF4-FFF2-40B4-BE49-F238E27FC236}">
                            <a16:creationId xmlns:a16="http://schemas.microsoft.com/office/drawing/2014/main" id="{B8D64CBC-C36F-8144-DE8B-93D45A9142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141">
            <a:extLst>
              <a:ext uri="{FF2B5EF4-FFF2-40B4-BE49-F238E27FC236}">
                <a16:creationId xmlns:a16="http://schemas.microsoft.com/office/drawing/2014/main" id="{4F487DD1-CFA8-C6E6-FF73-7D42CE473391}"/>
              </a:ext>
            </a:extLst>
          </p:cNvPr>
          <p:cNvGraphicFramePr>
            <a:graphicFrameLocks noGrp="1"/>
          </p:cNvGraphicFramePr>
          <p:nvPr>
            <p:extLst>
              <p:ext uri="{D42A27DB-BD31-4B8C-83A1-F6EECF244321}">
                <p14:modId xmlns:p14="http://schemas.microsoft.com/office/powerpoint/2010/main" val="2981695493"/>
              </p:ext>
            </p:extLst>
          </p:nvPr>
        </p:nvGraphicFramePr>
        <p:xfrm>
          <a:off x="298407" y="995815"/>
          <a:ext cx="8674100" cy="3366298"/>
        </p:xfrm>
        <a:graphic>
          <a:graphicData uri="http://schemas.openxmlformats.org/drawingml/2006/table">
            <a:tbl>
              <a:tblPr firstRow="1" bandRow="1">
                <a:tableStyleId>{5C22544A-7EE6-4342-B048-85BDC9FD1C3A}</a:tableStyleId>
              </a:tblPr>
              <a:tblGrid>
                <a:gridCol w="2387444">
                  <a:extLst>
                    <a:ext uri="{9D8B030D-6E8A-4147-A177-3AD203B41FA5}">
                      <a16:colId xmlns:a16="http://schemas.microsoft.com/office/drawing/2014/main" val="3633553993"/>
                    </a:ext>
                  </a:extLst>
                </a:gridCol>
                <a:gridCol w="6286656">
                  <a:extLst>
                    <a:ext uri="{9D8B030D-6E8A-4147-A177-3AD203B41FA5}">
                      <a16:colId xmlns:a16="http://schemas.microsoft.com/office/drawing/2014/main" val="1585286637"/>
                    </a:ext>
                  </a:extLst>
                </a:gridCol>
              </a:tblGrid>
              <a:tr h="258946">
                <a:tc>
                  <a:txBody>
                    <a:bodyPr/>
                    <a:lstStyle/>
                    <a:p>
                      <a:pPr rtl="0"/>
                      <a:r>
                        <a:rPr lang="en-GB" sz="800" b="1">
                          <a:solidFill>
                            <a:schemeClr val="bg2"/>
                          </a:solidFill>
                          <a:latin typeface="Fund Light" pitchFamily="2" charset="-78"/>
                          <a:cs typeface="Fund Light" pitchFamily="2" charset="-78"/>
                        </a:rPr>
                        <a:t>Definitions and interpretation</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0" i="0">
                          <a:solidFill>
                            <a:srgbClr val="000000"/>
                          </a:solidFill>
                          <a:latin typeface="Fund Light" pitchFamily="2" charset="-78"/>
                          <a:cs typeface="Fund Light" pitchFamily="2" charset="-78"/>
                        </a:rPr>
                        <a:t>Definition of key terminologies used throughout the contract and rules of interpretation</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0957718"/>
                  </a:ext>
                </a:extLst>
              </a:tr>
              <a:tr h="258946">
                <a:tc>
                  <a:txBody>
                    <a:bodyPr/>
                    <a:lstStyle/>
                    <a:p>
                      <a:pPr rtl="0"/>
                      <a:r>
                        <a:rPr lang="en-US" sz="800" b="1">
                          <a:solidFill>
                            <a:schemeClr val="bg2"/>
                          </a:solidFill>
                          <a:latin typeface="Fund Light" pitchFamily="2" charset="-78"/>
                          <a:cs typeface="Fund Light" pitchFamily="2" charset="-78"/>
                        </a:rPr>
                        <a:t>Factory readiness</a:t>
                      </a:r>
                      <a:endParaRPr lang="en-GB" sz="800" b="1">
                        <a:solidFill>
                          <a:schemeClr val="bg2"/>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A general section setting out the commencement of the agreement and its purpose (e.g., supplier / buyer obligations)</a:t>
                      </a:r>
                      <a:endPar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246559"/>
                  </a:ext>
                </a:extLst>
              </a:tr>
              <a:tr h="258946">
                <a:tc>
                  <a:txBody>
                    <a:bodyPr/>
                    <a:lstStyle/>
                    <a:p>
                      <a:pPr rtl="0"/>
                      <a:r>
                        <a:rPr lang="en-US" sz="800" b="1">
                          <a:solidFill>
                            <a:schemeClr val="bg2"/>
                          </a:solidFill>
                          <a:latin typeface="Fund Light" pitchFamily="2" charset="-78"/>
                          <a:cs typeface="Fund Light" pitchFamily="2" charset="-78"/>
                        </a:rPr>
                        <a:t>Conditions precedents</a:t>
                      </a:r>
                      <a:endParaRPr lang="en-GB" sz="800" b="1">
                        <a:solidFill>
                          <a:schemeClr val="bg2"/>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0" i="0">
                          <a:solidFill>
                            <a:srgbClr val="000000"/>
                          </a:solidFill>
                          <a:latin typeface="Fund Light" pitchFamily="2" charset="-78"/>
                          <a:cs typeface="Fund Light" pitchFamily="2" charset="-78"/>
                        </a:rPr>
                        <a:t>Descriptions of conditions that must be met before the contractors’ purchase obligation begins (e.g., factory setup)</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1003580"/>
                  </a:ext>
                </a:extLst>
              </a:tr>
              <a:tr h="25894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chemeClr val="bg2"/>
                          </a:solidFill>
                          <a:latin typeface="Fund Light" pitchFamily="2" charset="-78"/>
                          <a:cs typeface="Fund Light" pitchFamily="2" charset="-78"/>
                        </a:rPr>
                        <a:t>Inventory</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on supplier to maintain certain level of inventory (e.g., per months or per year requirements)</a:t>
                      </a:r>
                      <a:r>
                        <a:rPr lang="en-GB" sz="800" b="0" i="0" baseline="30000">
                          <a:solidFill>
                            <a:srgbClr val="000000"/>
                          </a:solidFill>
                          <a:latin typeface="Fund Light" pitchFamily="2" charset="-78"/>
                          <a:cs typeface="Fund Light" pitchFamily="2" charset="-78"/>
                        </a:rPr>
                        <a:t>1</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584514"/>
                  </a:ext>
                </a:extLst>
              </a:tr>
              <a:tr h="258946">
                <a:tc>
                  <a:txBody>
                    <a:bodyPr/>
                    <a:lstStyle/>
                    <a:p>
                      <a:pPr rtl="0"/>
                      <a:r>
                        <a:rPr lang="en-GB" sz="800" b="1">
                          <a:solidFill>
                            <a:schemeClr val="bg2"/>
                          </a:solidFill>
                          <a:latin typeface="Fund Light" pitchFamily="2" charset="-78"/>
                          <a:cs typeface="Fund Light" pitchFamily="2" charset="-78"/>
                        </a:rPr>
                        <a:t>Purchase order (PO)</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detailing products’ PO (e.g., quantity, quality, specs) and consequence of non-payment by contractor</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552264"/>
                  </a:ext>
                </a:extLst>
              </a:tr>
              <a:tr h="258946">
                <a:tc>
                  <a:txBody>
                    <a:bodyPr/>
                    <a:lstStyle/>
                    <a:p>
                      <a:pPr rtl="0"/>
                      <a:r>
                        <a:rPr lang="en-GB" sz="800" b="1">
                          <a:solidFill>
                            <a:schemeClr val="bg2"/>
                          </a:solidFill>
                          <a:latin typeface="Fund Light" pitchFamily="2" charset="-78"/>
                          <a:cs typeface="Fund Light" pitchFamily="2" charset="-78"/>
                        </a:rPr>
                        <a:t>Inspection of materials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detailing products’ quality check mechanism of buyer</a:t>
                      </a:r>
                      <a:r>
                        <a:rPr lang="en-GB" sz="800" b="0" i="0" baseline="30000">
                          <a:solidFill>
                            <a:srgbClr val="000000"/>
                          </a:solidFill>
                          <a:latin typeface="Fund Light" pitchFamily="2" charset="-78"/>
                          <a:cs typeface="Fund Light" pitchFamily="2" charset="-78"/>
                        </a:rPr>
                        <a:t>2</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6041668"/>
                  </a:ext>
                </a:extLst>
              </a:tr>
              <a:tr h="258946">
                <a:tc>
                  <a:txBody>
                    <a:bodyPr/>
                    <a:lstStyle/>
                    <a:p>
                      <a:pPr rtl="0"/>
                      <a:r>
                        <a:rPr lang="en-GB" sz="800" b="1">
                          <a:solidFill>
                            <a:schemeClr val="bg2"/>
                          </a:solidFill>
                          <a:latin typeface="Fund Light" pitchFamily="2" charset="-78"/>
                          <a:cs typeface="Fund Light" pitchFamily="2" charset="-78"/>
                        </a:rPr>
                        <a:t>Price and payments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detailing price calculation, price review mechanisms and change requests, and payment terms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2989402"/>
                  </a:ext>
                </a:extLst>
              </a:tr>
              <a:tr h="25894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800" b="1">
                          <a:solidFill>
                            <a:schemeClr val="bg2"/>
                          </a:solidFill>
                          <a:latin typeface="Fund Light" pitchFamily="2" charset="-78"/>
                          <a:cs typeface="Fund Light" pitchFamily="2" charset="-78"/>
                        </a:rPr>
                        <a:t>Representations and undertakings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0" i="0">
                          <a:solidFill>
                            <a:srgbClr val="000000"/>
                          </a:solidFill>
                          <a:latin typeface="Fund Light" pitchFamily="2" charset="-78"/>
                          <a:cs typeface="Fund Light" pitchFamily="2" charset="-78"/>
                        </a:rPr>
                        <a:t>Provisions detailing the party representative and undertakings</a:t>
                      </a: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39011"/>
                  </a:ext>
                </a:extLst>
              </a:tr>
              <a:tr h="258946">
                <a:tc>
                  <a:txBody>
                    <a:bodyPr/>
                    <a:lstStyle/>
                    <a:p>
                      <a:pPr rtl="0"/>
                      <a:r>
                        <a:rPr lang="en-GB" sz="800" b="1">
                          <a:solidFill>
                            <a:schemeClr val="bg2"/>
                          </a:solidFill>
                          <a:latin typeface="Fund Light" pitchFamily="2" charset="-78"/>
                          <a:cs typeface="Fund Light" pitchFamily="2" charset="-78"/>
                        </a:rPr>
                        <a:t>Indemnification and limitation of liability</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0" i="0">
                          <a:solidFill>
                            <a:srgbClr val="000000"/>
                          </a:solidFill>
                          <a:latin typeface="Fund Light" pitchFamily="2" charset="-78"/>
                          <a:cs typeface="Fund Light" pitchFamily="2" charset="-78"/>
                        </a:rPr>
                        <a:t>Provisions on indemnification and limitation of liability (e.g., conditions triggering guarantee payments, maximum liability)</a:t>
                      </a:r>
                      <a:endPar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263137"/>
                  </a:ext>
                </a:extLst>
              </a:tr>
              <a:tr h="258946">
                <a:tc>
                  <a:txBody>
                    <a:bodyPr/>
                    <a:lstStyle/>
                    <a:p>
                      <a:pPr rtl="0"/>
                      <a:r>
                        <a:rPr lang="en-GB" sz="800" b="1">
                          <a:solidFill>
                            <a:schemeClr val="bg2"/>
                          </a:solidFill>
                          <a:latin typeface="Fund Light" pitchFamily="2" charset="-78"/>
                          <a:cs typeface="Fund Light" pitchFamily="2" charset="-78"/>
                        </a:rPr>
                        <a:t>Quarterly and annual assessment</a:t>
                      </a:r>
                      <a:endParaRPr lang="en-GB" sz="800" b="1" baseline="0">
                        <a:solidFill>
                          <a:schemeClr val="bg2"/>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describing the risk assessment process and the related mitigation measures</a:t>
                      </a:r>
                      <a:endPar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7893861"/>
                  </a:ext>
                </a:extLst>
              </a:tr>
              <a:tr h="258946">
                <a:tc>
                  <a:txBody>
                    <a:bodyPr/>
                    <a:lstStyle/>
                    <a:p>
                      <a:pPr rtl="0"/>
                      <a:r>
                        <a:rPr lang="en-GB" sz="800" b="1">
                          <a:solidFill>
                            <a:schemeClr val="bg2"/>
                          </a:solidFill>
                          <a:latin typeface="Fund Light" pitchFamily="2" charset="-78"/>
                          <a:cs typeface="Fund Light" pitchFamily="2" charset="-78"/>
                        </a:rPr>
                        <a:t>Events of default</a:t>
                      </a:r>
                      <a:r>
                        <a:rPr lang="en-GB" sz="800" b="1" baseline="30000">
                          <a:solidFill>
                            <a:schemeClr val="bg2"/>
                          </a:solidFill>
                          <a:latin typeface="Fund Light" pitchFamily="2" charset="-78"/>
                          <a:cs typeface="Fund Light" pitchFamily="2" charset="-78"/>
                        </a:rPr>
                        <a:t> </a:t>
                      </a:r>
                      <a:r>
                        <a:rPr lang="en-GB" sz="800" b="1" baseline="0">
                          <a:solidFill>
                            <a:schemeClr val="bg2"/>
                          </a:solidFill>
                          <a:latin typeface="Fund Light" pitchFamily="2" charset="-78"/>
                          <a:cs typeface="Fund Light" pitchFamily="2" charset="-78"/>
                        </a:rPr>
                        <a:t>(EoD)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Provisions describing the supplier and buyers’ failure to fulfil obligations</a:t>
                      </a:r>
                      <a:endPar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7782404"/>
                  </a:ext>
                </a:extLst>
              </a:tr>
              <a:tr h="258946">
                <a:tc>
                  <a:txBody>
                    <a:bodyPr/>
                    <a:lstStyle/>
                    <a:p>
                      <a:pPr rtl="0"/>
                      <a:r>
                        <a:rPr lang="en-GB" sz="800" b="1">
                          <a:solidFill>
                            <a:schemeClr val="bg2"/>
                          </a:solidFill>
                          <a:latin typeface="Fund Light" pitchFamily="2" charset="-78"/>
                          <a:cs typeface="Fund Light" pitchFamily="2" charset="-78"/>
                        </a:rPr>
                        <a:t>Consequences of EoD and termination</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0" i="0">
                          <a:solidFill>
                            <a:srgbClr val="000000"/>
                          </a:solidFill>
                          <a:latin typeface="Fund Light" pitchFamily="2" charset="-78"/>
                          <a:cs typeface="Fund Light" pitchFamily="2" charset="-78"/>
                        </a:rPr>
                        <a:t>Provisions detailing the compensation mechanisms (i.e., remedies) and the termination of the agreement</a:t>
                      </a:r>
                      <a:endParaRPr lang="en-GB" sz="8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567837"/>
                  </a:ext>
                </a:extLst>
              </a:tr>
              <a:tr h="258946">
                <a:tc>
                  <a:txBody>
                    <a:bodyPr/>
                    <a:lstStyle/>
                    <a:p>
                      <a:pPr rtl="0"/>
                      <a:r>
                        <a:rPr lang="en-GB" sz="800" b="1">
                          <a:solidFill>
                            <a:schemeClr val="bg2"/>
                          </a:solidFill>
                          <a:latin typeface="Fund Light" pitchFamily="2" charset="-78"/>
                          <a:cs typeface="Fund Light" pitchFamily="2" charset="-78"/>
                        </a:rPr>
                        <a:t>Other boilerplate provisions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E.g., expert determination, force majeure, intellectual property, confidentiality, assignment, </a:t>
                      </a:r>
                      <a:r>
                        <a:rPr lang="en-US" sz="800" b="0" i="0">
                          <a:solidFill>
                            <a:srgbClr val="000000"/>
                          </a:solidFill>
                          <a:latin typeface="Fund Light" pitchFamily="2" charset="-78"/>
                          <a:cs typeface="Fund Light" pitchFamily="2" charset="-78"/>
                        </a:rPr>
                        <a:t>waivers</a:t>
                      </a:r>
                      <a:endParaRPr lang="en-GB" sz="8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305275"/>
                  </a:ext>
                </a:extLst>
              </a:tr>
            </a:tbl>
          </a:graphicData>
        </a:graphic>
      </p:graphicFrame>
      <p:sp>
        <p:nvSpPr>
          <p:cNvPr id="2" name="Text Placeholder 1">
            <a:extLst>
              <a:ext uri="{FF2B5EF4-FFF2-40B4-BE49-F238E27FC236}">
                <a16:creationId xmlns:a16="http://schemas.microsoft.com/office/drawing/2014/main" id="{1B161FB1-CA4F-D2A8-DC3B-6FA57FF85EF7}"/>
              </a:ext>
            </a:extLst>
          </p:cNvPr>
          <p:cNvSpPr>
            <a:spLocks noGrp="1"/>
          </p:cNvSpPr>
          <p:nvPr>
            <p:ph type="body" idx="4294967295"/>
          </p:nvPr>
        </p:nvSpPr>
        <p:spPr>
          <a:xfrm>
            <a:off x="1551727" y="4767025"/>
            <a:ext cx="7112000" cy="274637"/>
          </a:xfrm>
        </p:spPr>
        <p:txBody>
          <a:bodyPr>
            <a:normAutofit/>
          </a:bodyPr>
          <a:lstStyle/>
          <a:p>
            <a:r>
              <a:rPr lang="en-US" sz="600"/>
              <a:t>1. To include optionality based on the product type (e.g., short supply vs. large supply), 2. In case the buyer wants to have the right to inspect the materials</a:t>
            </a:r>
          </a:p>
          <a:p>
            <a:endParaRPr lang="en-US" sz="600"/>
          </a:p>
        </p:txBody>
      </p:sp>
      <p:sp>
        <p:nvSpPr>
          <p:cNvPr id="5" name="Text Placeholder 4">
            <a:extLst>
              <a:ext uri="{FF2B5EF4-FFF2-40B4-BE49-F238E27FC236}">
                <a16:creationId xmlns:a16="http://schemas.microsoft.com/office/drawing/2014/main" id="{25E20482-5469-1919-D5B2-F40A478482D2}"/>
              </a:ext>
            </a:extLst>
          </p:cNvPr>
          <p:cNvSpPr>
            <a:spLocks noGrp="1"/>
          </p:cNvSpPr>
          <p:nvPr>
            <p:ph type="body" sz="quarter" idx="4294967295"/>
          </p:nvPr>
        </p:nvSpPr>
        <p:spPr>
          <a:xfrm>
            <a:off x="0" y="1179513"/>
            <a:ext cx="8674100" cy="187325"/>
          </a:xfrm>
        </p:spPr>
        <p:txBody>
          <a:bodyPr/>
          <a:lstStyle/>
          <a:p>
            <a:r>
              <a:rPr lang="en-US"/>
              <a:t> </a:t>
            </a:r>
          </a:p>
        </p:txBody>
      </p:sp>
      <p:sp>
        <p:nvSpPr>
          <p:cNvPr id="18" name="Oval 17">
            <a:extLst>
              <a:ext uri="{FF2B5EF4-FFF2-40B4-BE49-F238E27FC236}">
                <a16:creationId xmlns:a16="http://schemas.microsoft.com/office/drawing/2014/main" id="{75621A6B-DC60-9C38-CE91-CAC89B2C7B7B}"/>
              </a:ext>
            </a:extLst>
          </p:cNvPr>
          <p:cNvSpPr/>
          <p:nvPr/>
        </p:nvSpPr>
        <p:spPr>
          <a:xfrm>
            <a:off x="231069" y="1292762"/>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2</a:t>
            </a:r>
          </a:p>
        </p:txBody>
      </p:sp>
      <p:sp>
        <p:nvSpPr>
          <p:cNvPr id="19" name="Oval 18">
            <a:extLst>
              <a:ext uri="{FF2B5EF4-FFF2-40B4-BE49-F238E27FC236}">
                <a16:creationId xmlns:a16="http://schemas.microsoft.com/office/drawing/2014/main" id="{BEE38816-EC7B-FD42-1D32-2F698313421F}"/>
              </a:ext>
            </a:extLst>
          </p:cNvPr>
          <p:cNvSpPr/>
          <p:nvPr/>
        </p:nvSpPr>
        <p:spPr>
          <a:xfrm>
            <a:off x="231069" y="1552137"/>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3</a:t>
            </a:r>
          </a:p>
        </p:txBody>
      </p:sp>
      <p:sp>
        <p:nvSpPr>
          <p:cNvPr id="20" name="Oval 19">
            <a:extLst>
              <a:ext uri="{FF2B5EF4-FFF2-40B4-BE49-F238E27FC236}">
                <a16:creationId xmlns:a16="http://schemas.microsoft.com/office/drawing/2014/main" id="{F0E84B82-4474-D953-6CF2-A8F48BBEA87D}"/>
              </a:ext>
            </a:extLst>
          </p:cNvPr>
          <p:cNvSpPr/>
          <p:nvPr/>
        </p:nvSpPr>
        <p:spPr>
          <a:xfrm>
            <a:off x="231069" y="1811512"/>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4</a:t>
            </a:r>
          </a:p>
        </p:txBody>
      </p:sp>
      <p:cxnSp>
        <p:nvCxnSpPr>
          <p:cNvPr id="37" name="Straight Connector 36">
            <a:extLst>
              <a:ext uri="{FF2B5EF4-FFF2-40B4-BE49-F238E27FC236}">
                <a16:creationId xmlns:a16="http://schemas.microsoft.com/office/drawing/2014/main" id="{F718A762-3AD7-7C38-638E-ED72B558D226}"/>
              </a:ext>
            </a:extLst>
          </p:cNvPr>
          <p:cNvCxnSpPr>
            <a:cxnSpLocks/>
          </p:cNvCxnSpPr>
          <p:nvPr/>
        </p:nvCxnSpPr>
        <p:spPr>
          <a:xfrm>
            <a:off x="2663955" y="948262"/>
            <a:ext cx="615569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84287EF-E0C4-903D-2374-B715F3673EB6}"/>
              </a:ext>
            </a:extLst>
          </p:cNvPr>
          <p:cNvSpPr txBox="1"/>
          <p:nvPr/>
        </p:nvSpPr>
        <p:spPr>
          <a:xfrm>
            <a:off x="2663952" y="726064"/>
            <a:ext cx="615569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What is included </a:t>
            </a:r>
            <a:r>
              <a:rPr lang="en-US" sz="800">
                <a:solidFill>
                  <a:schemeClr val="bg2"/>
                </a:solidFill>
                <a:latin typeface="Fund Light" pitchFamily="2" charset="-78"/>
                <a:cs typeface="Fund Light" pitchFamily="2" charset="-78"/>
              </a:rPr>
              <a:t>(non-exhaustive)</a:t>
            </a:r>
          </a:p>
        </p:txBody>
      </p:sp>
      <p:cxnSp>
        <p:nvCxnSpPr>
          <p:cNvPr id="40" name="Straight Connector 39">
            <a:extLst>
              <a:ext uri="{FF2B5EF4-FFF2-40B4-BE49-F238E27FC236}">
                <a16:creationId xmlns:a16="http://schemas.microsoft.com/office/drawing/2014/main" id="{3BE438BD-2B75-F263-550A-BC6644415010}"/>
              </a:ext>
            </a:extLst>
          </p:cNvPr>
          <p:cNvCxnSpPr>
            <a:cxnSpLocks/>
          </p:cNvCxnSpPr>
          <p:nvPr/>
        </p:nvCxnSpPr>
        <p:spPr>
          <a:xfrm>
            <a:off x="324348" y="948262"/>
            <a:ext cx="2293223"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1BD44E3-0166-3D9A-14D4-15826F025B48}"/>
              </a:ext>
            </a:extLst>
          </p:cNvPr>
          <p:cNvSpPr txBox="1"/>
          <p:nvPr/>
        </p:nvSpPr>
        <p:spPr>
          <a:xfrm>
            <a:off x="324347" y="726064"/>
            <a:ext cx="229322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a:t>
            </a:r>
          </a:p>
        </p:txBody>
      </p:sp>
      <p:sp>
        <p:nvSpPr>
          <p:cNvPr id="3" name="Oval 2">
            <a:extLst>
              <a:ext uri="{FF2B5EF4-FFF2-40B4-BE49-F238E27FC236}">
                <a16:creationId xmlns:a16="http://schemas.microsoft.com/office/drawing/2014/main" id="{F53440C5-398A-A013-3D07-5B5FC0498F0E}"/>
              </a:ext>
            </a:extLst>
          </p:cNvPr>
          <p:cNvSpPr/>
          <p:nvPr/>
        </p:nvSpPr>
        <p:spPr>
          <a:xfrm>
            <a:off x="231069" y="1033386"/>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a:t>
            </a:r>
          </a:p>
        </p:txBody>
      </p:sp>
      <p:sp>
        <p:nvSpPr>
          <p:cNvPr id="23" name="Oval 22">
            <a:extLst>
              <a:ext uri="{FF2B5EF4-FFF2-40B4-BE49-F238E27FC236}">
                <a16:creationId xmlns:a16="http://schemas.microsoft.com/office/drawing/2014/main" id="{585E86FA-6DAD-EDA9-15A5-213331698E3C}"/>
              </a:ext>
            </a:extLst>
          </p:cNvPr>
          <p:cNvSpPr/>
          <p:nvPr/>
        </p:nvSpPr>
        <p:spPr>
          <a:xfrm>
            <a:off x="231069" y="2070887"/>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5</a:t>
            </a:r>
          </a:p>
        </p:txBody>
      </p:sp>
      <p:sp>
        <p:nvSpPr>
          <p:cNvPr id="24" name="Oval 23">
            <a:extLst>
              <a:ext uri="{FF2B5EF4-FFF2-40B4-BE49-F238E27FC236}">
                <a16:creationId xmlns:a16="http://schemas.microsoft.com/office/drawing/2014/main" id="{AF74A971-1D35-4249-6CDA-5307B2F92488}"/>
              </a:ext>
            </a:extLst>
          </p:cNvPr>
          <p:cNvSpPr/>
          <p:nvPr/>
        </p:nvSpPr>
        <p:spPr>
          <a:xfrm>
            <a:off x="231069" y="2330262"/>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6</a:t>
            </a:r>
          </a:p>
        </p:txBody>
      </p:sp>
      <p:sp>
        <p:nvSpPr>
          <p:cNvPr id="25" name="Oval 24">
            <a:extLst>
              <a:ext uri="{FF2B5EF4-FFF2-40B4-BE49-F238E27FC236}">
                <a16:creationId xmlns:a16="http://schemas.microsoft.com/office/drawing/2014/main" id="{7F665408-9C48-67E6-9C9B-E74C8F995FC4}"/>
              </a:ext>
            </a:extLst>
          </p:cNvPr>
          <p:cNvSpPr/>
          <p:nvPr/>
        </p:nvSpPr>
        <p:spPr>
          <a:xfrm>
            <a:off x="231069" y="2589637"/>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7</a:t>
            </a:r>
          </a:p>
        </p:txBody>
      </p:sp>
      <p:sp>
        <p:nvSpPr>
          <p:cNvPr id="26" name="Oval 25">
            <a:extLst>
              <a:ext uri="{FF2B5EF4-FFF2-40B4-BE49-F238E27FC236}">
                <a16:creationId xmlns:a16="http://schemas.microsoft.com/office/drawing/2014/main" id="{4E4A1A90-2B6C-C086-501D-7BAB29BA1E5F}"/>
              </a:ext>
            </a:extLst>
          </p:cNvPr>
          <p:cNvSpPr/>
          <p:nvPr/>
        </p:nvSpPr>
        <p:spPr>
          <a:xfrm>
            <a:off x="231069" y="2849012"/>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8</a:t>
            </a:r>
          </a:p>
        </p:txBody>
      </p:sp>
      <p:sp>
        <p:nvSpPr>
          <p:cNvPr id="27" name="Oval 26">
            <a:extLst>
              <a:ext uri="{FF2B5EF4-FFF2-40B4-BE49-F238E27FC236}">
                <a16:creationId xmlns:a16="http://schemas.microsoft.com/office/drawing/2014/main" id="{A61EDE9C-4C58-B13C-E2E3-ACD7C2A23D3C}"/>
              </a:ext>
            </a:extLst>
          </p:cNvPr>
          <p:cNvSpPr/>
          <p:nvPr/>
        </p:nvSpPr>
        <p:spPr>
          <a:xfrm>
            <a:off x="231069" y="3108387"/>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9</a:t>
            </a:r>
          </a:p>
        </p:txBody>
      </p:sp>
      <p:sp>
        <p:nvSpPr>
          <p:cNvPr id="28" name="Oval 27">
            <a:extLst>
              <a:ext uri="{FF2B5EF4-FFF2-40B4-BE49-F238E27FC236}">
                <a16:creationId xmlns:a16="http://schemas.microsoft.com/office/drawing/2014/main" id="{E8828F8F-48F9-633B-3F08-C51B773CD0FB}"/>
              </a:ext>
            </a:extLst>
          </p:cNvPr>
          <p:cNvSpPr/>
          <p:nvPr/>
        </p:nvSpPr>
        <p:spPr>
          <a:xfrm>
            <a:off x="231069" y="3367762"/>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10</a:t>
            </a:r>
          </a:p>
        </p:txBody>
      </p:sp>
      <p:sp>
        <p:nvSpPr>
          <p:cNvPr id="29" name="Oval 28">
            <a:extLst>
              <a:ext uri="{FF2B5EF4-FFF2-40B4-BE49-F238E27FC236}">
                <a16:creationId xmlns:a16="http://schemas.microsoft.com/office/drawing/2014/main" id="{7D439B68-6547-B95F-25E9-B04C0D0E9367}"/>
              </a:ext>
            </a:extLst>
          </p:cNvPr>
          <p:cNvSpPr/>
          <p:nvPr/>
        </p:nvSpPr>
        <p:spPr>
          <a:xfrm>
            <a:off x="231069" y="3627137"/>
            <a:ext cx="186556" cy="182880"/>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11</a:t>
            </a:r>
          </a:p>
        </p:txBody>
      </p:sp>
      <p:sp>
        <p:nvSpPr>
          <p:cNvPr id="30" name="Oval 29">
            <a:extLst>
              <a:ext uri="{FF2B5EF4-FFF2-40B4-BE49-F238E27FC236}">
                <a16:creationId xmlns:a16="http://schemas.microsoft.com/office/drawing/2014/main" id="{04DA49B6-81C3-E659-4ED4-983A0C8C560C}"/>
              </a:ext>
            </a:extLst>
          </p:cNvPr>
          <p:cNvSpPr/>
          <p:nvPr/>
        </p:nvSpPr>
        <p:spPr>
          <a:xfrm>
            <a:off x="231069" y="3886513"/>
            <a:ext cx="186556" cy="182880"/>
          </a:xfrm>
          <a:prstGeom prst="ellipse">
            <a:avLst/>
          </a:prstGeom>
          <a:solidFill>
            <a:schemeClr val="bg2"/>
          </a:solidFill>
        </p:spPr>
        <p:txBody>
          <a:bodyPr wrap="non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12+</a:t>
            </a:r>
          </a:p>
        </p:txBody>
      </p:sp>
      <p:sp>
        <p:nvSpPr>
          <p:cNvPr id="6" name="Oval 5">
            <a:extLst>
              <a:ext uri="{FF2B5EF4-FFF2-40B4-BE49-F238E27FC236}">
                <a16:creationId xmlns:a16="http://schemas.microsoft.com/office/drawing/2014/main" id="{1BAC247A-F260-E468-6057-509F06E046C3}"/>
              </a:ext>
            </a:extLst>
          </p:cNvPr>
          <p:cNvSpPr/>
          <p:nvPr/>
        </p:nvSpPr>
        <p:spPr>
          <a:xfrm>
            <a:off x="231069" y="4145892"/>
            <a:ext cx="186556" cy="182880"/>
          </a:xfrm>
          <a:prstGeom prst="ellipse">
            <a:avLst/>
          </a:prstGeom>
          <a:solidFill>
            <a:schemeClr val="bg2"/>
          </a:solidFill>
        </p:spPr>
        <p:txBody>
          <a:bodyPr wrap="non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13+</a:t>
            </a:r>
          </a:p>
        </p:txBody>
      </p:sp>
      <p:sp>
        <p:nvSpPr>
          <p:cNvPr id="4" name="Text Placeholder 6">
            <a:extLst>
              <a:ext uri="{FF2B5EF4-FFF2-40B4-BE49-F238E27FC236}">
                <a16:creationId xmlns:a16="http://schemas.microsoft.com/office/drawing/2014/main" id="{D6412E59-CC4A-6E51-C31F-8CD9D9BAB70C}"/>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7" name="Oval 6">
            <a:extLst>
              <a:ext uri="{FF2B5EF4-FFF2-40B4-BE49-F238E27FC236}">
                <a16:creationId xmlns:a16="http://schemas.microsoft.com/office/drawing/2014/main" id="{BF9EA6EC-3167-8254-DC83-B5F35E1E65E9}"/>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
        <p:nvSpPr>
          <p:cNvPr id="31" name="Title 30">
            <a:extLst>
              <a:ext uri="{FF2B5EF4-FFF2-40B4-BE49-F238E27FC236}">
                <a16:creationId xmlns:a16="http://schemas.microsoft.com/office/drawing/2014/main" id="{754095C6-E79D-9EFD-3276-21A093AD41BC}"/>
              </a:ext>
            </a:extLst>
          </p:cNvPr>
          <p:cNvSpPr>
            <a:spLocks noGrp="1"/>
          </p:cNvSpPr>
          <p:nvPr>
            <p:ph type="title"/>
          </p:nvPr>
        </p:nvSpPr>
        <p:spPr/>
        <p:txBody>
          <a:bodyPr vert="horz"/>
          <a:lstStyle/>
          <a:p>
            <a:r>
              <a:rPr lang="en-US"/>
              <a:t>Take-or-pay draft agreement structured around 13+ sections</a:t>
            </a:r>
          </a:p>
        </p:txBody>
      </p:sp>
      <p:sp>
        <p:nvSpPr>
          <p:cNvPr id="35" name="Rectangle 34">
            <a:extLst>
              <a:ext uri="{FF2B5EF4-FFF2-40B4-BE49-F238E27FC236}">
                <a16:creationId xmlns:a16="http://schemas.microsoft.com/office/drawing/2014/main" id="{DB5F9BB3-7F7D-8FB4-803D-160D1D17EDDC}"/>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2" name="Rectangle 41">
            <a:extLst>
              <a:ext uri="{FF2B5EF4-FFF2-40B4-BE49-F238E27FC236}">
                <a16:creationId xmlns:a16="http://schemas.microsoft.com/office/drawing/2014/main" id="{EA1863ED-0D01-DC72-7608-BA02B4675395}"/>
              </a:ext>
            </a:extLst>
          </p:cNvPr>
          <p:cNvSpPr/>
          <p:nvPr/>
        </p:nvSpPr>
        <p:spPr>
          <a:xfrm>
            <a:off x="231069" y="4485378"/>
            <a:ext cx="1132064" cy="1968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a:solidFill>
                  <a:schemeClr val="bg2"/>
                </a:solidFill>
                <a:latin typeface="Fund Light" pitchFamily="2" charset="-78"/>
                <a:cs typeface="Fund Light" pitchFamily="2" charset="-78"/>
              </a:rPr>
              <a:t>…………….</a:t>
            </a:r>
          </a:p>
        </p:txBody>
      </p:sp>
    </p:spTree>
    <p:extLst>
      <p:ext uri="{BB962C8B-B14F-4D97-AF65-F5344CB8AC3E}">
        <p14:creationId xmlns:p14="http://schemas.microsoft.com/office/powerpoint/2010/main" val="2062149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hink-cell data - do not delete" hidden="1">
            <a:extLst>
              <a:ext uri="{FF2B5EF4-FFF2-40B4-BE49-F238E27FC236}">
                <a16:creationId xmlns:a16="http://schemas.microsoft.com/office/drawing/2014/main" id="{9D86E930-84AD-8C5C-3110-72BD1D32B1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39" name="think-cell data - do not delete" hidden="1">
                        <a:extLst>
                          <a:ext uri="{FF2B5EF4-FFF2-40B4-BE49-F238E27FC236}">
                            <a16:creationId xmlns:a16="http://schemas.microsoft.com/office/drawing/2014/main" id="{9D86E930-84AD-8C5C-3110-72BD1D32B1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5" name="Table 141">
            <a:extLst>
              <a:ext uri="{FF2B5EF4-FFF2-40B4-BE49-F238E27FC236}">
                <a16:creationId xmlns:a16="http://schemas.microsoft.com/office/drawing/2014/main" id="{4E6F99EA-925F-DB17-CA0D-F9AF51267B20}"/>
              </a:ext>
            </a:extLst>
          </p:cNvPr>
          <p:cNvGraphicFramePr>
            <a:graphicFrameLocks noGrp="1"/>
          </p:cNvGraphicFramePr>
          <p:nvPr>
            <p:extLst>
              <p:ext uri="{D42A27DB-BD31-4B8C-83A1-F6EECF244321}">
                <p14:modId xmlns:p14="http://schemas.microsoft.com/office/powerpoint/2010/main" val="2054537410"/>
              </p:ext>
            </p:extLst>
          </p:nvPr>
        </p:nvGraphicFramePr>
        <p:xfrm>
          <a:off x="298408" y="1098850"/>
          <a:ext cx="8482420" cy="2668269"/>
        </p:xfrm>
        <a:graphic>
          <a:graphicData uri="http://schemas.openxmlformats.org/drawingml/2006/table">
            <a:tbl>
              <a:tblPr firstRow="1" bandRow="1">
                <a:tableStyleId>{5C22544A-7EE6-4342-B048-85BDC9FD1C3A}</a:tableStyleId>
              </a:tblPr>
              <a:tblGrid>
                <a:gridCol w="737155">
                  <a:extLst>
                    <a:ext uri="{9D8B030D-6E8A-4147-A177-3AD203B41FA5}">
                      <a16:colId xmlns:a16="http://schemas.microsoft.com/office/drawing/2014/main" val="522316640"/>
                    </a:ext>
                  </a:extLst>
                </a:gridCol>
                <a:gridCol w="1539024">
                  <a:extLst>
                    <a:ext uri="{9D8B030D-6E8A-4147-A177-3AD203B41FA5}">
                      <a16:colId xmlns:a16="http://schemas.microsoft.com/office/drawing/2014/main" val="3633553993"/>
                    </a:ext>
                  </a:extLst>
                </a:gridCol>
                <a:gridCol w="4072647">
                  <a:extLst>
                    <a:ext uri="{9D8B030D-6E8A-4147-A177-3AD203B41FA5}">
                      <a16:colId xmlns:a16="http://schemas.microsoft.com/office/drawing/2014/main" val="1585286637"/>
                    </a:ext>
                  </a:extLst>
                </a:gridCol>
                <a:gridCol w="1300483">
                  <a:extLst>
                    <a:ext uri="{9D8B030D-6E8A-4147-A177-3AD203B41FA5}">
                      <a16:colId xmlns:a16="http://schemas.microsoft.com/office/drawing/2014/main" val="4212489912"/>
                    </a:ext>
                  </a:extLst>
                </a:gridCol>
                <a:gridCol w="833111">
                  <a:extLst>
                    <a:ext uri="{9D8B030D-6E8A-4147-A177-3AD203B41FA5}">
                      <a16:colId xmlns:a16="http://schemas.microsoft.com/office/drawing/2014/main" val="1515870065"/>
                    </a:ext>
                  </a:extLst>
                </a:gridCol>
              </a:tblGrid>
              <a:tr h="889423">
                <a:tc rowSpan="3">
                  <a:txBody>
                    <a:bodyPr/>
                    <a:lstStyle/>
                    <a:p>
                      <a:pPr rtl="0"/>
                      <a:r>
                        <a:rPr kumimoji="0" lang="en-US" sz="9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Liability 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rtl="0"/>
                      <a:r>
                        <a:rPr lang="en-US" sz="900" b="1">
                          <a:solidFill>
                            <a:srgbClr val="C4984F"/>
                          </a:solidFill>
                          <a:latin typeface="Fund Light" pitchFamily="2" charset="-78"/>
                          <a:cs typeface="Fund Light" pitchFamily="2" charset="-78"/>
                        </a:rPr>
                        <a:t>When does the liability get triggered?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900" b="0" i="0">
                          <a:solidFill>
                            <a:srgbClr val="000000"/>
                          </a:solidFill>
                          <a:latin typeface="Fund Light" pitchFamily="2" charset="-78"/>
                          <a:cs typeface="Fund Light" pitchFamily="2" charset="-78"/>
                        </a:rPr>
                        <a:t>Liability to get triggered when the buyer fails to meet their </a:t>
                      </a:r>
                      <a:r>
                        <a:rPr lang="en-GB" sz="900" b="1" i="0">
                          <a:solidFill>
                            <a:srgbClr val="000000"/>
                          </a:solidFill>
                          <a:latin typeface="Fund Light" pitchFamily="2" charset="-78"/>
                          <a:cs typeface="Fund Light" pitchFamily="2" charset="-78"/>
                        </a:rPr>
                        <a:t>purchase obligations,</a:t>
                      </a:r>
                      <a:r>
                        <a:rPr lang="en-GB" sz="900" b="0" i="0">
                          <a:solidFill>
                            <a:srgbClr val="000000"/>
                          </a:solidFill>
                          <a:latin typeface="Fund Light" pitchFamily="2" charset="-78"/>
                          <a:cs typeface="Fund Light" pitchFamily="2" charset="-78"/>
                        </a:rPr>
                        <a:t> </a:t>
                      </a:r>
                      <a:r>
                        <a:rPr lang="en-GB" sz="900" b="0" i="0" u="sng">
                          <a:solidFill>
                            <a:srgbClr val="000000"/>
                          </a:solidFill>
                          <a:latin typeface="Fund Light" pitchFamily="2" charset="-78"/>
                          <a:cs typeface="Fund Light" pitchFamily="2" charset="-78"/>
                        </a:rPr>
                        <a:t>and</a:t>
                      </a:r>
                      <a:r>
                        <a:rPr lang="en-GB" sz="900" b="0" i="0" u="none">
                          <a:solidFill>
                            <a:srgbClr val="000000"/>
                          </a:solidFill>
                          <a:latin typeface="Fund Light" pitchFamily="2" charset="-78"/>
                          <a:cs typeface="Fund Light" pitchFamily="2" charset="-78"/>
                        </a:rPr>
                        <a:t> </a:t>
                      </a:r>
                      <a:r>
                        <a:rPr lang="en-GB" sz="900" b="1" i="0" u="none">
                          <a:solidFill>
                            <a:srgbClr val="000000"/>
                          </a:solidFill>
                          <a:latin typeface="Fund Light" pitchFamily="2" charset="-78"/>
                          <a:cs typeface="Fund Light" pitchFamily="2" charset="-78"/>
                        </a:rPr>
                        <a:t>manufacturer</a:t>
                      </a:r>
                      <a:r>
                        <a:rPr lang="en-GB" sz="900" b="0" i="0" u="none">
                          <a:solidFill>
                            <a:srgbClr val="000000"/>
                          </a:solidFill>
                          <a:latin typeface="Fund Light" pitchFamily="2" charset="-78"/>
                          <a:cs typeface="Fund Light" pitchFamily="2" charset="-78"/>
                        </a:rPr>
                        <a:t> has not committed any </a:t>
                      </a:r>
                      <a:r>
                        <a:rPr lang="en-GB" sz="900" b="1" i="0" u="none">
                          <a:solidFill>
                            <a:srgbClr val="000000"/>
                          </a:solidFill>
                          <a:latin typeface="Fund Light" pitchFamily="2" charset="-78"/>
                          <a:cs typeface="Fund Light" pitchFamily="2" charset="-78"/>
                        </a:rPr>
                        <a:t>event of default</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900" b="1" i="0">
                          <a:solidFill>
                            <a:srgbClr val="000000"/>
                          </a:solidFill>
                          <a:latin typeface="Fund Light" pitchFamily="2" charset="-78"/>
                          <a:cs typeface="Fund Light" pitchFamily="2" charset="-78"/>
                        </a:rPr>
                        <a:t>EVENTS OF DEFAULTS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900" b="0" i="0">
                          <a:solidFill>
                            <a:srgbClr val="000000"/>
                          </a:solidFill>
                          <a:latin typeface="Fund Light" pitchFamily="2" charset="-78"/>
                          <a:cs typeface="Fund Light" pitchFamily="2" charset="-78"/>
                        </a:rPr>
                        <a:t>11.1, 11.2</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87678"/>
                  </a:ext>
                </a:extLst>
              </a:tr>
              <a:tr h="88942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How to ensure the liability is the “last-resort”?</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GB" sz="900" b="0" i="0">
                          <a:solidFill>
                            <a:srgbClr val="000000"/>
                          </a:solidFill>
                          <a:latin typeface="Fund Light" pitchFamily="2" charset="-78"/>
                          <a:cs typeface="Fund Light" pitchFamily="2" charset="-78"/>
                        </a:rPr>
                        <a:t>Guarantee payment </a:t>
                      </a:r>
                      <a:r>
                        <a:rPr lang="en-GB" sz="900" b="1" i="0">
                          <a:solidFill>
                            <a:srgbClr val="000000"/>
                          </a:solidFill>
                          <a:latin typeface="Fund Light" pitchFamily="2" charset="-78"/>
                          <a:cs typeface="Fund Light" pitchFamily="2" charset="-78"/>
                        </a:rPr>
                        <a:t>to be activated only if </a:t>
                      </a:r>
                      <a:r>
                        <a:rPr lang="en-GB" sz="900" b="0" i="0">
                          <a:solidFill>
                            <a:srgbClr val="000000"/>
                          </a:solidFill>
                          <a:latin typeface="Fund Light" pitchFamily="2" charset="-78"/>
                          <a:cs typeface="Fund Light" pitchFamily="2" charset="-78"/>
                        </a:rPr>
                        <a:t>the buyer fails to meet his purchase obligations, </a:t>
                      </a:r>
                      <a:r>
                        <a:rPr lang="en-GB" sz="900" b="0" i="0" u="sng">
                          <a:solidFill>
                            <a:srgbClr val="000000"/>
                          </a:solidFill>
                          <a:latin typeface="Fund Light" pitchFamily="2" charset="-78"/>
                          <a:cs typeface="Fund Light" pitchFamily="2" charset="-78"/>
                        </a:rPr>
                        <a:t>and</a:t>
                      </a:r>
                      <a:r>
                        <a:rPr lang="en-GB" sz="900" b="0" i="0">
                          <a:solidFill>
                            <a:srgbClr val="000000"/>
                          </a:solidFill>
                          <a:latin typeface="Fund Light" pitchFamily="2" charset="-78"/>
                          <a:cs typeface="Fund Light" pitchFamily="2" charset="-78"/>
                        </a:rPr>
                        <a:t> no mitigation actions (e.g., Commitment to another period, purchase by another contractor or buyer, sale on the market) have been implemented </a:t>
                      </a:r>
                      <a:r>
                        <a:rPr lang="en-GB" sz="900" b="0" i="1">
                          <a:solidFill>
                            <a:srgbClr val="000000"/>
                          </a:solidFill>
                          <a:latin typeface="Fund Light" pitchFamily="2" charset="-78"/>
                          <a:cs typeface="Fund Light" pitchFamily="2" charset="-78"/>
                        </a:rPr>
                        <a:t>– details in next slide</a:t>
                      </a:r>
                      <a:endParaRPr lang="en-US" sz="900" b="0" i="1">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900" b="1" i="0">
                          <a:solidFill>
                            <a:srgbClr val="000000"/>
                          </a:solidFill>
                          <a:latin typeface="Fund Light" pitchFamily="2" charset="-78"/>
                          <a:cs typeface="Fund Light" pitchFamily="2" charset="-78"/>
                        </a:rPr>
                        <a:t>EVENTS OF DEFAULTS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900" b="0" i="0">
                          <a:solidFill>
                            <a:srgbClr val="000000"/>
                          </a:solidFill>
                          <a:latin typeface="Fund Light" pitchFamily="2" charset="-78"/>
                          <a:cs typeface="Fund Light" pitchFamily="2" charset="-78"/>
                        </a:rPr>
                        <a:t>11.2 (a)</a:t>
                      </a:r>
                    </a:p>
                    <a:p>
                      <a:pPr marL="0" indent="0" algn="ctr" rtl="0">
                        <a:lnSpc>
                          <a:spcPct val="150000"/>
                        </a:lnSpc>
                        <a:buFont typeface="+mj-lt"/>
                        <a:buNone/>
                      </a:pPr>
                      <a:r>
                        <a:rPr lang="en-US" sz="900" b="0" i="0">
                          <a:solidFill>
                            <a:srgbClr val="000000"/>
                          </a:solidFill>
                          <a:latin typeface="Fund Light" pitchFamily="2" charset="-78"/>
                          <a:cs typeface="Fund Light" pitchFamily="2" charset="-78"/>
                        </a:rPr>
                        <a:t>(and 5.1.2, 10)</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227"/>
                  </a:ext>
                </a:extLst>
              </a:tr>
              <a:tr h="889423">
                <a:tc vMerge="1">
                  <a:txBody>
                    <a:bodyPr/>
                    <a:lstStyle/>
                    <a:p>
                      <a:pPr rtl="0"/>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900" b="1">
                          <a:solidFill>
                            <a:srgbClr val="C4984F"/>
                          </a:solidFill>
                          <a:latin typeface="Fund Light" pitchFamily="2" charset="-78"/>
                          <a:cs typeface="Fund Light" pitchFamily="2" charset="-78"/>
                        </a:rPr>
                        <a:t>How is the maximum liability calculated?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227013" indent="-227013" rtl="0">
                        <a:lnSpc>
                          <a:spcPct val="150000"/>
                        </a:lnSpc>
                        <a:buFont typeface="+mj-lt"/>
                        <a:buAutoNum type="romanLcPeriod"/>
                      </a:pPr>
                      <a:r>
                        <a:rPr lang="en-US" sz="900" b="0" i="0">
                          <a:solidFill>
                            <a:srgbClr val="000000"/>
                          </a:solidFill>
                          <a:latin typeface="Fund Light" pitchFamily="2" charset="-78"/>
                          <a:cs typeface="Fund Light" pitchFamily="2" charset="-78"/>
                        </a:rPr>
                        <a:t>Maximum annual </a:t>
                      </a:r>
                      <a:r>
                        <a:rPr lang="en-US" sz="900" b="1" i="0">
                          <a:solidFill>
                            <a:srgbClr val="000000"/>
                          </a:solidFill>
                          <a:latin typeface="Fund Light" pitchFamily="2" charset="-78"/>
                          <a:cs typeface="Fund Light" pitchFamily="2" charset="-78"/>
                        </a:rPr>
                        <a:t>liability</a:t>
                      </a:r>
                      <a:r>
                        <a:rPr lang="en-US" sz="900" b="0" i="0">
                          <a:solidFill>
                            <a:srgbClr val="000000"/>
                          </a:solidFill>
                          <a:latin typeface="Fund Light" pitchFamily="2" charset="-78"/>
                          <a:cs typeface="Fund Light" pitchFamily="2" charset="-78"/>
                        </a:rPr>
                        <a:t> to cover </a:t>
                      </a:r>
                      <a:r>
                        <a:rPr lang="en-US" sz="900" b="1" i="0">
                          <a:solidFill>
                            <a:srgbClr val="000000"/>
                          </a:solidFill>
                          <a:latin typeface="Fund Light" pitchFamily="2" charset="-78"/>
                          <a:cs typeface="Fund Light" pitchFamily="2" charset="-78"/>
                        </a:rPr>
                        <a:t>only for fixed costs of shortfall units</a:t>
                      </a:r>
                    </a:p>
                    <a:p>
                      <a:pPr marL="227013" indent="-227013" rtl="0">
                        <a:lnSpc>
                          <a:spcPct val="150000"/>
                        </a:lnSpc>
                        <a:buFont typeface="+mj-lt"/>
                        <a:buAutoNum type="romanLcPeriod"/>
                      </a:pPr>
                      <a:r>
                        <a:rPr lang="en-US" sz="900" b="1" i="0">
                          <a:solidFill>
                            <a:srgbClr val="000000"/>
                          </a:solidFill>
                          <a:latin typeface="Fund Light" pitchFamily="2" charset="-78"/>
                          <a:cs typeface="Fund Light" pitchFamily="2" charset="-78"/>
                        </a:rPr>
                        <a:t>Termination payment </a:t>
                      </a:r>
                      <a:r>
                        <a:rPr lang="en-US" sz="900" b="0" i="0">
                          <a:solidFill>
                            <a:srgbClr val="000000"/>
                          </a:solidFill>
                          <a:latin typeface="Fund Light" pitchFamily="2" charset="-78"/>
                          <a:cs typeface="Fund Light" pitchFamily="2" charset="-78"/>
                        </a:rPr>
                        <a:t>to be </a:t>
                      </a:r>
                      <a:r>
                        <a:rPr lang="en-US" sz="900" b="1" i="0">
                          <a:solidFill>
                            <a:srgbClr val="000000"/>
                          </a:solidFill>
                          <a:latin typeface="Fund Light" pitchFamily="2" charset="-78"/>
                          <a:cs typeface="Fund Light" pitchFamily="2" charset="-78"/>
                        </a:rPr>
                        <a:t>capped</a:t>
                      </a:r>
                      <a:r>
                        <a:rPr lang="en-US" sz="900" b="0" i="0">
                          <a:solidFill>
                            <a:srgbClr val="000000"/>
                          </a:solidFill>
                          <a:latin typeface="Fund Light" pitchFamily="2" charset="-78"/>
                          <a:cs typeface="Fund Light" pitchFamily="2" charset="-78"/>
                        </a:rPr>
                        <a:t> and </a:t>
                      </a:r>
                      <a:r>
                        <a:rPr lang="en-US" sz="900" b="1" i="0">
                          <a:solidFill>
                            <a:srgbClr val="000000"/>
                          </a:solidFill>
                          <a:latin typeface="Fund Light" pitchFamily="2" charset="-78"/>
                          <a:cs typeface="Fund Light" pitchFamily="2" charset="-78"/>
                        </a:rPr>
                        <a:t>minimized</a:t>
                      </a:r>
                      <a:r>
                        <a:rPr lang="en-US" sz="900" b="0" i="0">
                          <a:solidFill>
                            <a:srgbClr val="000000"/>
                          </a:solidFill>
                          <a:latin typeface="Fund Light" pitchFamily="2" charset="-78"/>
                          <a:cs typeface="Fund Light" pitchFamily="2" charset="-78"/>
                        </a:rPr>
                        <a:t> (among different options)</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900" b="1" i="0">
                          <a:solidFill>
                            <a:srgbClr val="000000"/>
                          </a:solidFill>
                          <a:latin typeface="Fund Light" pitchFamily="2" charset="-78"/>
                          <a:cs typeface="Fund Light" pitchFamily="2" charset="-78"/>
                        </a:rPr>
                        <a:t>CONSEQUENCES OF EVENTS OF DEFAULT AND TERMINATION</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50000"/>
                        </a:lnSpc>
                        <a:spcBef>
                          <a:spcPts val="0"/>
                        </a:spcBef>
                        <a:spcAft>
                          <a:spcPts val="0"/>
                        </a:spcAft>
                        <a:buClrTx/>
                        <a:buSzTx/>
                        <a:buFont typeface="+mj-lt"/>
                        <a:buNone/>
                        <a:tabLst/>
                        <a:defRPr/>
                      </a:pPr>
                      <a:r>
                        <a:rPr lang="en-US" sz="900" b="0" i="0">
                          <a:solidFill>
                            <a:srgbClr val="000000"/>
                          </a:solidFill>
                          <a:latin typeface="Fund Light" pitchFamily="2" charset="-78"/>
                          <a:cs typeface="Fund Light" pitchFamily="2" charset="-78"/>
                        </a:rPr>
                        <a:t>12.2, 12.4.1</a:t>
                      </a:r>
                      <a:br>
                        <a:rPr lang="en-US" sz="900" b="0" i="0">
                          <a:solidFill>
                            <a:srgbClr val="000000"/>
                          </a:solidFill>
                          <a:latin typeface="Fund Light" pitchFamily="2" charset="-78"/>
                          <a:cs typeface="Fund Light" pitchFamily="2" charset="-78"/>
                        </a:rPr>
                      </a:br>
                      <a:r>
                        <a:rPr lang="en-US" sz="900" b="0" i="0">
                          <a:solidFill>
                            <a:srgbClr val="000000"/>
                          </a:solidFill>
                          <a:latin typeface="Fund Light" pitchFamily="2" charset="-78"/>
                          <a:cs typeface="Fund Light" pitchFamily="2" charset="-78"/>
                        </a:rPr>
                        <a:t>(and 9.2.3)</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118053"/>
                  </a:ext>
                </a:extLst>
              </a:tr>
            </a:tbl>
          </a:graphicData>
        </a:graphic>
      </p:graphicFrame>
      <p:cxnSp>
        <p:nvCxnSpPr>
          <p:cNvPr id="37" name="Straight Connector 36">
            <a:extLst>
              <a:ext uri="{FF2B5EF4-FFF2-40B4-BE49-F238E27FC236}">
                <a16:creationId xmlns:a16="http://schemas.microsoft.com/office/drawing/2014/main" id="{0BBADE3E-862B-D2B5-558C-B68A0E51F840}"/>
              </a:ext>
            </a:extLst>
          </p:cNvPr>
          <p:cNvCxnSpPr>
            <a:cxnSpLocks/>
          </p:cNvCxnSpPr>
          <p:nvPr/>
        </p:nvCxnSpPr>
        <p:spPr>
          <a:xfrm>
            <a:off x="1083015" y="1051300"/>
            <a:ext cx="144617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FFD54B-62A2-AC8D-0786-F607819E2148}"/>
              </a:ext>
            </a:extLst>
          </p:cNvPr>
          <p:cNvSpPr txBox="1"/>
          <p:nvPr/>
        </p:nvSpPr>
        <p:spPr>
          <a:xfrm>
            <a:off x="1083014" y="813714"/>
            <a:ext cx="1446177"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Key questions</a:t>
            </a:r>
          </a:p>
        </p:txBody>
      </p:sp>
      <p:sp>
        <p:nvSpPr>
          <p:cNvPr id="45" name="Oval 44">
            <a:extLst>
              <a:ext uri="{FF2B5EF4-FFF2-40B4-BE49-F238E27FC236}">
                <a16:creationId xmlns:a16="http://schemas.microsoft.com/office/drawing/2014/main" id="{82FD7590-F68E-6C6C-92D4-29F73828C62A}"/>
              </a:ext>
            </a:extLst>
          </p:cNvPr>
          <p:cNvSpPr/>
          <p:nvPr/>
        </p:nvSpPr>
        <p:spPr>
          <a:xfrm>
            <a:off x="952554" y="1444077"/>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a</a:t>
            </a:r>
          </a:p>
        </p:txBody>
      </p:sp>
      <p:cxnSp>
        <p:nvCxnSpPr>
          <p:cNvPr id="7" name="Straight Connector 6">
            <a:extLst>
              <a:ext uri="{FF2B5EF4-FFF2-40B4-BE49-F238E27FC236}">
                <a16:creationId xmlns:a16="http://schemas.microsoft.com/office/drawing/2014/main" id="{91CF5076-0A76-C726-2DA3-72179B2DD7EF}"/>
              </a:ext>
            </a:extLst>
          </p:cNvPr>
          <p:cNvCxnSpPr>
            <a:cxnSpLocks/>
          </p:cNvCxnSpPr>
          <p:nvPr/>
        </p:nvCxnSpPr>
        <p:spPr>
          <a:xfrm>
            <a:off x="2602926" y="1051300"/>
            <a:ext cx="401188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3B0979-39F6-A6F4-616E-0F033C73D6EE}"/>
              </a:ext>
            </a:extLst>
          </p:cNvPr>
          <p:cNvSpPr txBox="1"/>
          <p:nvPr/>
        </p:nvSpPr>
        <p:spPr>
          <a:xfrm>
            <a:off x="2602924" y="813714"/>
            <a:ext cx="4011882"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Mitigation mechanism</a:t>
            </a:r>
          </a:p>
        </p:txBody>
      </p:sp>
      <p:sp>
        <p:nvSpPr>
          <p:cNvPr id="18" name="Oval 17">
            <a:extLst>
              <a:ext uri="{FF2B5EF4-FFF2-40B4-BE49-F238E27FC236}">
                <a16:creationId xmlns:a16="http://schemas.microsoft.com/office/drawing/2014/main" id="{E88C9671-0178-3E86-BE03-F10287D777FA}"/>
              </a:ext>
            </a:extLst>
          </p:cNvPr>
          <p:cNvSpPr/>
          <p:nvPr/>
        </p:nvSpPr>
        <p:spPr>
          <a:xfrm>
            <a:off x="952554" y="3235704"/>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c</a:t>
            </a:r>
          </a:p>
        </p:txBody>
      </p:sp>
      <p:sp>
        <p:nvSpPr>
          <p:cNvPr id="22" name="Oval 21">
            <a:extLst>
              <a:ext uri="{FF2B5EF4-FFF2-40B4-BE49-F238E27FC236}">
                <a16:creationId xmlns:a16="http://schemas.microsoft.com/office/drawing/2014/main" id="{37DD4C68-885E-F80D-4C64-BB3AD638C023}"/>
              </a:ext>
            </a:extLst>
          </p:cNvPr>
          <p:cNvSpPr/>
          <p:nvPr/>
        </p:nvSpPr>
        <p:spPr>
          <a:xfrm>
            <a:off x="211480" y="2303044"/>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1</a:t>
            </a:r>
          </a:p>
        </p:txBody>
      </p:sp>
      <p:cxnSp>
        <p:nvCxnSpPr>
          <p:cNvPr id="10" name="Straight Connector 9">
            <a:extLst>
              <a:ext uri="{FF2B5EF4-FFF2-40B4-BE49-F238E27FC236}">
                <a16:creationId xmlns:a16="http://schemas.microsoft.com/office/drawing/2014/main" id="{3AEE2868-0E73-CFFC-A392-7A9218ED5CA9}"/>
              </a:ext>
            </a:extLst>
          </p:cNvPr>
          <p:cNvCxnSpPr>
            <a:cxnSpLocks/>
          </p:cNvCxnSpPr>
          <p:nvPr/>
        </p:nvCxnSpPr>
        <p:spPr>
          <a:xfrm>
            <a:off x="324347" y="1051300"/>
            <a:ext cx="68493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6D86BE-A109-9773-6311-6A2189F9B81D}"/>
              </a:ext>
            </a:extLst>
          </p:cNvPr>
          <p:cNvSpPr txBox="1"/>
          <p:nvPr/>
        </p:nvSpPr>
        <p:spPr>
          <a:xfrm>
            <a:off x="324347" y="813714"/>
            <a:ext cx="684934"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Risk</a:t>
            </a:r>
          </a:p>
        </p:txBody>
      </p:sp>
      <p:cxnSp>
        <p:nvCxnSpPr>
          <p:cNvPr id="13" name="Straight Connector 12">
            <a:extLst>
              <a:ext uri="{FF2B5EF4-FFF2-40B4-BE49-F238E27FC236}">
                <a16:creationId xmlns:a16="http://schemas.microsoft.com/office/drawing/2014/main" id="{569B5D3E-4BBB-9EAA-34A6-79541763C04B}"/>
              </a:ext>
            </a:extLst>
          </p:cNvPr>
          <p:cNvCxnSpPr>
            <a:cxnSpLocks/>
          </p:cNvCxnSpPr>
          <p:nvPr/>
        </p:nvCxnSpPr>
        <p:spPr>
          <a:xfrm>
            <a:off x="6688539" y="1051300"/>
            <a:ext cx="12044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31613D-BA34-0873-2F51-77360B668AAC}"/>
              </a:ext>
            </a:extLst>
          </p:cNvPr>
          <p:cNvSpPr txBox="1"/>
          <p:nvPr/>
        </p:nvSpPr>
        <p:spPr>
          <a:xfrm>
            <a:off x="6688538" y="813714"/>
            <a:ext cx="1204405"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Section(s)</a:t>
            </a:r>
          </a:p>
        </p:txBody>
      </p:sp>
      <p:cxnSp>
        <p:nvCxnSpPr>
          <p:cNvPr id="30" name="Straight Connector 29">
            <a:extLst>
              <a:ext uri="{FF2B5EF4-FFF2-40B4-BE49-F238E27FC236}">
                <a16:creationId xmlns:a16="http://schemas.microsoft.com/office/drawing/2014/main" id="{4F8DFAB0-7F17-B492-EEAD-DE7AD360E561}"/>
              </a:ext>
            </a:extLst>
          </p:cNvPr>
          <p:cNvCxnSpPr>
            <a:cxnSpLocks/>
          </p:cNvCxnSpPr>
          <p:nvPr/>
        </p:nvCxnSpPr>
        <p:spPr>
          <a:xfrm>
            <a:off x="7954592" y="1051300"/>
            <a:ext cx="78498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CC0EBA4-73F0-C440-18FF-DEC6550463B7}"/>
              </a:ext>
            </a:extLst>
          </p:cNvPr>
          <p:cNvSpPr txBox="1"/>
          <p:nvPr/>
        </p:nvSpPr>
        <p:spPr>
          <a:xfrm>
            <a:off x="7954592" y="813714"/>
            <a:ext cx="784984"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Clause(s)</a:t>
            </a:r>
          </a:p>
        </p:txBody>
      </p:sp>
      <p:sp>
        <p:nvSpPr>
          <p:cNvPr id="49" name="Oval 48">
            <a:extLst>
              <a:ext uri="{FF2B5EF4-FFF2-40B4-BE49-F238E27FC236}">
                <a16:creationId xmlns:a16="http://schemas.microsoft.com/office/drawing/2014/main" id="{F83F4E31-ADCF-70C6-BE33-5124368A1510}"/>
              </a:ext>
            </a:extLst>
          </p:cNvPr>
          <p:cNvSpPr/>
          <p:nvPr/>
        </p:nvSpPr>
        <p:spPr>
          <a:xfrm>
            <a:off x="952554" y="233103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b</a:t>
            </a:r>
          </a:p>
        </p:txBody>
      </p:sp>
      <p:sp>
        <p:nvSpPr>
          <p:cNvPr id="16" name="Title 15">
            <a:extLst>
              <a:ext uri="{FF2B5EF4-FFF2-40B4-BE49-F238E27FC236}">
                <a16:creationId xmlns:a16="http://schemas.microsoft.com/office/drawing/2014/main" id="{7E839520-9FDD-3CBA-2D38-BB7EE03F011A}"/>
              </a:ext>
            </a:extLst>
          </p:cNvPr>
          <p:cNvSpPr>
            <a:spLocks noGrp="1"/>
          </p:cNvSpPr>
          <p:nvPr>
            <p:ph type="title"/>
          </p:nvPr>
        </p:nvSpPr>
        <p:spPr/>
        <p:txBody>
          <a:bodyPr vert="horz"/>
          <a:lstStyle/>
          <a:p>
            <a:r>
              <a:rPr lang="en-GB"/>
              <a:t> Liability risk mitigation mechanisms</a:t>
            </a:r>
          </a:p>
        </p:txBody>
      </p:sp>
      <p:sp>
        <p:nvSpPr>
          <p:cNvPr id="34" name="Rectangle 33">
            <a:extLst>
              <a:ext uri="{FF2B5EF4-FFF2-40B4-BE49-F238E27FC236}">
                <a16:creationId xmlns:a16="http://schemas.microsoft.com/office/drawing/2014/main" id="{9B4EAFAD-F070-1366-CE0C-06609F09A20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3" name="Oval 42">
            <a:extLst>
              <a:ext uri="{FF2B5EF4-FFF2-40B4-BE49-F238E27FC236}">
                <a16:creationId xmlns:a16="http://schemas.microsoft.com/office/drawing/2014/main" id="{821EAE1B-E030-D80A-E8E0-05F01BCD67C6}"/>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41" name="Text Placeholder 6">
            <a:extLst>
              <a:ext uri="{FF2B5EF4-FFF2-40B4-BE49-F238E27FC236}">
                <a16:creationId xmlns:a16="http://schemas.microsoft.com/office/drawing/2014/main" id="{66E49595-9EEB-AF4F-F7E3-E0DDAD71E5BA}"/>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Liability risk</a:t>
            </a:r>
          </a:p>
        </p:txBody>
      </p:sp>
      <p:sp>
        <p:nvSpPr>
          <p:cNvPr id="42" name="Text Placeholder 6">
            <a:extLst>
              <a:ext uri="{FF2B5EF4-FFF2-40B4-BE49-F238E27FC236}">
                <a16:creationId xmlns:a16="http://schemas.microsoft.com/office/drawing/2014/main" id="{72284E90-6286-E72C-2EBD-E49AD8ACFE0E}"/>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46" name="Oval 45">
            <a:extLst>
              <a:ext uri="{FF2B5EF4-FFF2-40B4-BE49-F238E27FC236}">
                <a16:creationId xmlns:a16="http://schemas.microsoft.com/office/drawing/2014/main" id="{CF5DD752-6E7C-0100-C1BB-72A6A44D32E7}"/>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Tree>
    <p:extLst>
      <p:ext uri="{BB962C8B-B14F-4D97-AF65-F5344CB8AC3E}">
        <p14:creationId xmlns:p14="http://schemas.microsoft.com/office/powerpoint/2010/main" val="34401064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 name="think-cell data - do not delete" hidden="1">
            <a:extLst>
              <a:ext uri="{FF2B5EF4-FFF2-40B4-BE49-F238E27FC236}">
                <a16:creationId xmlns:a16="http://schemas.microsoft.com/office/drawing/2014/main" id="{C4C67CE6-D3DB-3EE6-0DEB-01A09B058814}"/>
              </a:ext>
            </a:extLst>
          </p:cNvPr>
          <p:cNvGraphicFramePr>
            <a:graphicFrameLocks noChangeAspect="1"/>
          </p:cNvGraphicFramePr>
          <p:nvPr>
            <p:custDataLst>
              <p:tags r:id="rId1"/>
            </p:custDataLst>
            <p:extLst>
              <p:ext uri="{D42A27DB-BD31-4B8C-83A1-F6EECF244321}">
                <p14:modId xmlns:p14="http://schemas.microsoft.com/office/powerpoint/2010/main" val="1812003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88" name="think-cell data - do not delete" hidden="1">
                        <a:extLst>
                          <a:ext uri="{FF2B5EF4-FFF2-40B4-BE49-F238E27FC236}">
                            <a16:creationId xmlns:a16="http://schemas.microsoft.com/office/drawing/2014/main" id="{C4C67CE6-D3DB-3EE6-0DEB-01A09B0588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7FC46D1-5B6C-2519-17E9-207DF9419099}"/>
              </a:ext>
            </a:extLst>
          </p:cNvPr>
          <p:cNvSpPr>
            <a:spLocks noGrp="1"/>
          </p:cNvSpPr>
          <p:nvPr>
            <p:ph type="body" idx="4294967295"/>
          </p:nvPr>
        </p:nvSpPr>
        <p:spPr>
          <a:xfrm>
            <a:off x="1551727" y="4767025"/>
            <a:ext cx="6906260" cy="274637"/>
          </a:xfrm>
        </p:spPr>
        <p:txBody>
          <a:bodyPr>
            <a:normAutofit fontScale="62500" lnSpcReduction="20000"/>
          </a:bodyPr>
          <a:lstStyle/>
          <a:p>
            <a:r>
              <a:rPr lang="en-US"/>
              <a:t>1. I.e., a risk for the buyer of not being able to purchase the minimum annual quantity; 2. To be mutually agreed upon between the parties; 3. Minimum annual LDC quantity – purchased quantity – quantity for which a PO has been raised</a:t>
            </a:r>
          </a:p>
        </p:txBody>
      </p:sp>
      <p:sp>
        <p:nvSpPr>
          <p:cNvPr id="87" name="Arrow: Pentagon 86">
            <a:extLst>
              <a:ext uri="{FF2B5EF4-FFF2-40B4-BE49-F238E27FC236}">
                <a16:creationId xmlns:a16="http://schemas.microsoft.com/office/drawing/2014/main" id="{9650DB26-BF54-CD0C-E15D-A74294EE1260}"/>
              </a:ext>
            </a:extLst>
          </p:cNvPr>
          <p:cNvSpPr/>
          <p:nvPr/>
        </p:nvSpPr>
        <p:spPr>
          <a:xfrm>
            <a:off x="6121022" y="809928"/>
            <a:ext cx="2854822" cy="300901"/>
          </a:xfrm>
          <a:prstGeom prst="homePlate">
            <a:avLst/>
          </a:prstGeom>
          <a:solidFill>
            <a:schemeClr val="bg2"/>
          </a:solidFill>
          <a:ln>
            <a:solidFill>
              <a:schemeClr val="bg1"/>
            </a:solidFill>
          </a:ln>
        </p:spPr>
        <p:txBody>
          <a:bodyPr wrap="square" lIns="0" rIns="0" rtlCol="0" anchor="ctr">
            <a:noAutofit/>
          </a:bodyPr>
          <a:lstStyle/>
          <a:p>
            <a:pPr algn="ctr">
              <a:spcBef>
                <a:spcPts val="300"/>
              </a:spcBef>
              <a:spcAft>
                <a:spcPts val="300"/>
              </a:spcAft>
            </a:pPr>
            <a:r>
              <a:rPr lang="en-US" sz="800">
                <a:solidFill>
                  <a:schemeClr val="bg1"/>
                </a:solidFill>
                <a:latin typeface="Fund Light" pitchFamily="2" charset="-78"/>
                <a:cs typeface="Fund Light" pitchFamily="2" charset="-78"/>
              </a:rPr>
              <a:t>Event of default assessment</a:t>
            </a:r>
          </a:p>
        </p:txBody>
      </p:sp>
      <p:sp>
        <p:nvSpPr>
          <p:cNvPr id="10" name="Arrow: Pentagon 9">
            <a:extLst>
              <a:ext uri="{FF2B5EF4-FFF2-40B4-BE49-F238E27FC236}">
                <a16:creationId xmlns:a16="http://schemas.microsoft.com/office/drawing/2014/main" id="{DE636CAF-6422-56AF-4350-8315A22F9F77}"/>
              </a:ext>
            </a:extLst>
          </p:cNvPr>
          <p:cNvSpPr/>
          <p:nvPr/>
        </p:nvSpPr>
        <p:spPr>
          <a:xfrm>
            <a:off x="2611967" y="809928"/>
            <a:ext cx="3675199" cy="300901"/>
          </a:xfrm>
          <a:prstGeom prst="homePlate">
            <a:avLst/>
          </a:prstGeom>
          <a:solidFill>
            <a:schemeClr val="bg2"/>
          </a:solidFill>
          <a:ln>
            <a:solidFill>
              <a:schemeClr val="bg1"/>
            </a:solidFill>
          </a:ln>
        </p:spPr>
        <p:txBody>
          <a:bodyPr wrap="square" lIns="0" rIns="0" rtlCol="0" anchor="ctr">
            <a:noAutofit/>
          </a:bodyPr>
          <a:lstStyle/>
          <a:p>
            <a:pPr algn="ctr">
              <a:spcBef>
                <a:spcPts val="300"/>
              </a:spcBef>
              <a:spcAft>
                <a:spcPts val="300"/>
              </a:spcAft>
            </a:pPr>
            <a:r>
              <a:rPr lang="en-US" sz="800">
                <a:solidFill>
                  <a:schemeClr val="bg1"/>
                </a:solidFill>
                <a:latin typeface="Fund Light" pitchFamily="2" charset="-78"/>
                <a:cs typeface="Fund Light" pitchFamily="2" charset="-78"/>
              </a:rPr>
              <a:t>Mitigation mechanisms check</a:t>
            </a:r>
          </a:p>
        </p:txBody>
      </p:sp>
      <p:sp>
        <p:nvSpPr>
          <p:cNvPr id="83" name="Arrow: Pentagon 82">
            <a:extLst>
              <a:ext uri="{FF2B5EF4-FFF2-40B4-BE49-F238E27FC236}">
                <a16:creationId xmlns:a16="http://schemas.microsoft.com/office/drawing/2014/main" id="{4DC23904-370C-C4F3-C044-38DE688AE0BC}"/>
              </a:ext>
            </a:extLst>
          </p:cNvPr>
          <p:cNvSpPr/>
          <p:nvPr/>
        </p:nvSpPr>
        <p:spPr>
          <a:xfrm>
            <a:off x="1291167" y="809928"/>
            <a:ext cx="1531477" cy="300901"/>
          </a:xfrm>
          <a:prstGeom prst="homePlate">
            <a:avLst/>
          </a:prstGeom>
          <a:solidFill>
            <a:schemeClr val="bg2"/>
          </a:solidFill>
          <a:ln>
            <a:solidFill>
              <a:schemeClr val="bg1"/>
            </a:solidFill>
          </a:ln>
        </p:spPr>
        <p:txBody>
          <a:bodyPr wrap="square" lIns="0" rIns="0" rtlCol="0" anchor="ctr">
            <a:noAutofit/>
          </a:bodyPr>
          <a:lstStyle/>
          <a:p>
            <a:pPr algn="ctr">
              <a:spcBef>
                <a:spcPts val="300"/>
              </a:spcBef>
              <a:spcAft>
                <a:spcPts val="300"/>
              </a:spcAft>
            </a:pPr>
            <a:r>
              <a:rPr lang="en-US" sz="800">
                <a:solidFill>
                  <a:schemeClr val="bg1"/>
                </a:solidFill>
                <a:latin typeface="Fund Light" pitchFamily="2" charset="-78"/>
                <a:cs typeface="Fund Light" pitchFamily="2" charset="-78"/>
              </a:rPr>
              <a:t>Risk assessment</a:t>
            </a:r>
          </a:p>
        </p:txBody>
      </p:sp>
      <p:sp>
        <p:nvSpPr>
          <p:cNvPr id="84" name="Arrow: Pentagon 83">
            <a:extLst>
              <a:ext uri="{FF2B5EF4-FFF2-40B4-BE49-F238E27FC236}">
                <a16:creationId xmlns:a16="http://schemas.microsoft.com/office/drawing/2014/main" id="{E5E5163E-2BA7-E8D7-DEEE-B97816CB1132}"/>
              </a:ext>
            </a:extLst>
          </p:cNvPr>
          <p:cNvSpPr/>
          <p:nvPr/>
        </p:nvSpPr>
        <p:spPr>
          <a:xfrm>
            <a:off x="297659" y="809928"/>
            <a:ext cx="1157981" cy="300901"/>
          </a:xfrm>
          <a:prstGeom prst="homePlate">
            <a:avLst/>
          </a:prstGeom>
          <a:solidFill>
            <a:schemeClr val="bg2"/>
          </a:solidFill>
          <a:ln>
            <a:solidFill>
              <a:schemeClr val="bg1"/>
            </a:solidFill>
          </a:ln>
        </p:spPr>
        <p:txBody>
          <a:bodyPr wrap="square" lIns="0" rIns="0" rtlCol="0" anchor="ctr">
            <a:noAutofit/>
          </a:bodyPr>
          <a:lstStyle/>
          <a:p>
            <a:pPr algn="ctr">
              <a:spcBef>
                <a:spcPts val="300"/>
              </a:spcBef>
              <a:spcAft>
                <a:spcPts val="300"/>
              </a:spcAft>
            </a:pPr>
            <a:r>
              <a:rPr lang="en-US" sz="800">
                <a:solidFill>
                  <a:schemeClr val="bg1"/>
                </a:solidFill>
                <a:latin typeface="Fund Light" pitchFamily="2" charset="-78"/>
                <a:cs typeface="Fund Light" pitchFamily="2" charset="-78"/>
              </a:rPr>
              <a:t>Change request</a:t>
            </a:r>
          </a:p>
        </p:txBody>
      </p:sp>
      <p:sp>
        <p:nvSpPr>
          <p:cNvPr id="146" name="Rectangle 145">
            <a:extLst>
              <a:ext uri="{FF2B5EF4-FFF2-40B4-BE49-F238E27FC236}">
                <a16:creationId xmlns:a16="http://schemas.microsoft.com/office/drawing/2014/main" id="{44F07F47-6716-F515-49EB-A12E73B2A6BE}"/>
              </a:ext>
            </a:extLst>
          </p:cNvPr>
          <p:cNvSpPr/>
          <p:nvPr/>
        </p:nvSpPr>
        <p:spPr>
          <a:xfrm>
            <a:off x="297659" y="1140389"/>
            <a:ext cx="1063834" cy="200965"/>
          </a:xfrm>
          <a:prstGeom prst="rect">
            <a:avLst/>
          </a:prstGeom>
          <a:noFill/>
          <a:ln>
            <a:noFill/>
          </a:ln>
        </p:spPr>
        <p:txBody>
          <a:bodyPr wrap="squar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Q4 (year 1)</a:t>
            </a:r>
          </a:p>
        </p:txBody>
      </p:sp>
      <p:sp>
        <p:nvSpPr>
          <p:cNvPr id="147" name="Rectangle 146">
            <a:extLst>
              <a:ext uri="{FF2B5EF4-FFF2-40B4-BE49-F238E27FC236}">
                <a16:creationId xmlns:a16="http://schemas.microsoft.com/office/drawing/2014/main" id="{0B4608F8-4CEF-4300-DF96-9CE71A26B414}"/>
              </a:ext>
            </a:extLst>
          </p:cNvPr>
          <p:cNvSpPr/>
          <p:nvPr/>
        </p:nvSpPr>
        <p:spPr>
          <a:xfrm>
            <a:off x="1403659" y="1140389"/>
            <a:ext cx="1318624" cy="200965"/>
          </a:xfrm>
          <a:prstGeom prst="rect">
            <a:avLst/>
          </a:prstGeom>
          <a:noFill/>
          <a:ln>
            <a:noFill/>
          </a:ln>
        </p:spPr>
        <p:txBody>
          <a:bodyPr wrap="squar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Every quarter</a:t>
            </a:r>
          </a:p>
        </p:txBody>
      </p:sp>
      <p:sp>
        <p:nvSpPr>
          <p:cNvPr id="148" name="Rectangle 147">
            <a:extLst>
              <a:ext uri="{FF2B5EF4-FFF2-40B4-BE49-F238E27FC236}">
                <a16:creationId xmlns:a16="http://schemas.microsoft.com/office/drawing/2014/main" id="{03192027-A9D9-99D8-3D44-F31C4DC16937}"/>
              </a:ext>
            </a:extLst>
          </p:cNvPr>
          <p:cNvSpPr/>
          <p:nvPr/>
        </p:nvSpPr>
        <p:spPr>
          <a:xfrm>
            <a:off x="2770835" y="1140389"/>
            <a:ext cx="3412796" cy="200965"/>
          </a:xfrm>
          <a:prstGeom prst="rect">
            <a:avLst/>
          </a:prstGeom>
          <a:noFill/>
          <a:ln>
            <a:noFill/>
          </a:ln>
        </p:spPr>
        <p:txBody>
          <a:bodyPr wrap="squar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Every quarter</a:t>
            </a:r>
          </a:p>
        </p:txBody>
      </p:sp>
      <p:sp>
        <p:nvSpPr>
          <p:cNvPr id="149" name="Rectangle 148">
            <a:extLst>
              <a:ext uri="{FF2B5EF4-FFF2-40B4-BE49-F238E27FC236}">
                <a16:creationId xmlns:a16="http://schemas.microsoft.com/office/drawing/2014/main" id="{20419029-46C0-5441-9D7A-F43307C0DD4B}"/>
              </a:ext>
            </a:extLst>
          </p:cNvPr>
          <p:cNvSpPr/>
          <p:nvPr/>
        </p:nvSpPr>
        <p:spPr>
          <a:xfrm>
            <a:off x="6216084" y="1140389"/>
            <a:ext cx="2630257" cy="200965"/>
          </a:xfrm>
          <a:prstGeom prst="rect">
            <a:avLst/>
          </a:prstGeom>
          <a:noFill/>
          <a:ln>
            <a:noFill/>
          </a:ln>
        </p:spPr>
        <p:txBody>
          <a:bodyPr wrap="squar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End of year</a:t>
            </a:r>
          </a:p>
        </p:txBody>
      </p:sp>
      <p:sp>
        <p:nvSpPr>
          <p:cNvPr id="30" name="Rectangle 29">
            <a:extLst>
              <a:ext uri="{FF2B5EF4-FFF2-40B4-BE49-F238E27FC236}">
                <a16:creationId xmlns:a16="http://schemas.microsoft.com/office/drawing/2014/main" id="{7CF0C24E-8098-3C60-B391-B5C2CB3AB061}"/>
              </a:ext>
            </a:extLst>
          </p:cNvPr>
          <p:cNvSpPr/>
          <p:nvPr/>
        </p:nvSpPr>
        <p:spPr>
          <a:xfrm>
            <a:off x="297659" y="2016766"/>
            <a:ext cx="936633" cy="890570"/>
          </a:xfrm>
          <a:prstGeom prst="rect">
            <a:avLst/>
          </a:prstGeom>
          <a:solidFill>
            <a:schemeClr val="bg1">
              <a:lumMod val="95000"/>
            </a:schemeClr>
          </a:solidFill>
          <a:ln>
            <a:noFill/>
          </a:ln>
        </p:spPr>
        <p:txBody>
          <a:bodyPr wrap="square" lIns="45720" rIns="18288" rtlCol="0" anchor="ctr">
            <a:noAutofit/>
          </a:bodyPr>
          <a:lstStyle/>
          <a:p>
            <a:pPr algn="l">
              <a:spcBef>
                <a:spcPts val="300"/>
              </a:spcBef>
              <a:spcAft>
                <a:spcPts val="300"/>
              </a:spcAft>
            </a:pPr>
            <a:r>
              <a:rPr lang="en-US" sz="800">
                <a:solidFill>
                  <a:srgbClr val="000000"/>
                </a:solidFill>
                <a:latin typeface="Fund Light" pitchFamily="2" charset="-78"/>
                <a:cs typeface="Fund Light" pitchFamily="2" charset="-78"/>
              </a:rPr>
              <a:t>Parties agree</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on </a:t>
            </a:r>
            <a:r>
              <a:rPr lang="en-US" sz="800" b="1">
                <a:solidFill>
                  <a:srgbClr val="000000"/>
                </a:solidFill>
                <a:latin typeface="Fund Light" pitchFamily="2" charset="-78"/>
                <a:cs typeface="Fund Light" pitchFamily="2" charset="-78"/>
              </a:rPr>
              <a:t>change requests </a:t>
            </a:r>
            <a:br>
              <a:rPr lang="en-US" sz="800" b="1">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e.g., quantity, price, specs</a:t>
            </a:r>
          </a:p>
        </p:txBody>
      </p:sp>
      <p:sp>
        <p:nvSpPr>
          <p:cNvPr id="34" name="Diamond 33">
            <a:extLst>
              <a:ext uri="{FF2B5EF4-FFF2-40B4-BE49-F238E27FC236}">
                <a16:creationId xmlns:a16="http://schemas.microsoft.com/office/drawing/2014/main" id="{7F246A58-AF88-21BD-163E-43D185CC01C0}"/>
              </a:ext>
            </a:extLst>
          </p:cNvPr>
          <p:cNvSpPr/>
          <p:nvPr/>
        </p:nvSpPr>
        <p:spPr>
          <a:xfrm>
            <a:off x="1416403" y="2004851"/>
            <a:ext cx="1097280" cy="914400"/>
          </a:xfrm>
          <a:prstGeom prst="diamond">
            <a:avLst/>
          </a:prstGeom>
          <a:solidFill>
            <a:srgbClr val="F8F2E5"/>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Is there a </a:t>
            </a:r>
            <a:r>
              <a:rPr lang="en-US" sz="800" b="1">
                <a:solidFill>
                  <a:srgbClr val="000000"/>
                </a:solidFill>
                <a:latin typeface="Fund Light" pitchFamily="2" charset="-78"/>
                <a:cs typeface="Fund Light" pitchFamily="2" charset="-78"/>
              </a:rPr>
              <a:t>risk</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of default</a:t>
            </a:r>
            <a:r>
              <a:rPr lang="en-US" sz="800" baseline="30000">
                <a:solidFill>
                  <a:srgbClr val="000000"/>
                </a:solidFill>
                <a:latin typeface="Fund Light" pitchFamily="2" charset="-78"/>
                <a:cs typeface="Fund Light" pitchFamily="2" charset="-78"/>
              </a:rPr>
              <a:t>1</a:t>
            </a:r>
            <a:r>
              <a:rPr lang="en-US" sz="800">
                <a:solidFill>
                  <a:srgbClr val="000000"/>
                </a:solidFill>
                <a:latin typeface="Fund Light" pitchFamily="2" charset="-78"/>
                <a:cs typeface="Fund Light" pitchFamily="2" charset="-78"/>
              </a:rPr>
              <a:t>?</a:t>
            </a:r>
          </a:p>
        </p:txBody>
      </p:sp>
      <p:sp>
        <p:nvSpPr>
          <p:cNvPr id="38" name="Flowchart: Decision 37">
            <a:extLst>
              <a:ext uri="{FF2B5EF4-FFF2-40B4-BE49-F238E27FC236}">
                <a16:creationId xmlns:a16="http://schemas.microsoft.com/office/drawing/2014/main" id="{09521F1E-C488-51C5-91AD-CA811FBB05E1}"/>
              </a:ext>
            </a:extLst>
          </p:cNvPr>
          <p:cNvSpPr/>
          <p:nvPr/>
        </p:nvSpPr>
        <p:spPr>
          <a:xfrm>
            <a:off x="6382942" y="1745274"/>
            <a:ext cx="1401734" cy="1434273"/>
          </a:xfrm>
          <a:prstGeom prst="flowChartDecision">
            <a:avLst/>
          </a:prstGeom>
          <a:solidFill>
            <a:srgbClr val="F8F2E5"/>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Has the buyer</a:t>
            </a:r>
            <a:br>
              <a:rPr lang="en-US" sz="800">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purchased the</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minimum </a:t>
            </a:r>
            <a:r>
              <a:rPr lang="en-US" sz="800">
                <a:solidFill>
                  <a:srgbClr val="000000"/>
                </a:solidFill>
                <a:latin typeface="Fund Light" pitchFamily="2" charset="-78"/>
                <a:cs typeface="Fund Light" pitchFamily="2" charset="-78"/>
              </a:rPr>
              <a:t>annual</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quantity? i.e., no</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shortfall</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happened</a:t>
            </a:r>
          </a:p>
        </p:txBody>
      </p:sp>
      <p:grpSp>
        <p:nvGrpSpPr>
          <p:cNvPr id="167" name="Group 166">
            <a:extLst>
              <a:ext uri="{FF2B5EF4-FFF2-40B4-BE49-F238E27FC236}">
                <a16:creationId xmlns:a16="http://schemas.microsoft.com/office/drawing/2014/main" id="{2360B057-E3E9-276C-05C8-E27947CB1FDF}"/>
              </a:ext>
            </a:extLst>
          </p:cNvPr>
          <p:cNvGrpSpPr/>
          <p:nvPr/>
        </p:nvGrpSpPr>
        <p:grpSpPr>
          <a:xfrm>
            <a:off x="8236169" y="1713850"/>
            <a:ext cx="677342" cy="1471380"/>
            <a:chOff x="8298044" y="2339304"/>
            <a:chExt cx="677342" cy="1471380"/>
          </a:xfrm>
        </p:grpSpPr>
        <p:sp>
          <p:nvSpPr>
            <p:cNvPr id="39" name="Rectangle 38">
              <a:extLst>
                <a:ext uri="{FF2B5EF4-FFF2-40B4-BE49-F238E27FC236}">
                  <a16:creationId xmlns:a16="http://schemas.microsoft.com/office/drawing/2014/main" id="{3DC4BB11-3925-DBE9-FA92-60A0E4D9CE7F}"/>
                </a:ext>
              </a:extLst>
            </p:cNvPr>
            <p:cNvSpPr/>
            <p:nvPr/>
          </p:nvSpPr>
          <p:spPr>
            <a:xfrm>
              <a:off x="8298044" y="3301175"/>
              <a:ext cx="677342" cy="509509"/>
            </a:xfrm>
            <a:prstGeom prst="rect">
              <a:avLst/>
            </a:prstGeom>
            <a:solidFill>
              <a:srgbClr val="FFCCC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Buyer</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event of default</a:t>
              </a:r>
            </a:p>
          </p:txBody>
        </p:sp>
        <p:sp>
          <p:nvSpPr>
            <p:cNvPr id="40" name="Rectangle 39">
              <a:extLst>
                <a:ext uri="{FF2B5EF4-FFF2-40B4-BE49-F238E27FC236}">
                  <a16:creationId xmlns:a16="http://schemas.microsoft.com/office/drawing/2014/main" id="{A6F9BBEA-FAD1-2B7F-F375-41ED8265902E}"/>
                </a:ext>
              </a:extLst>
            </p:cNvPr>
            <p:cNvSpPr/>
            <p:nvPr/>
          </p:nvSpPr>
          <p:spPr>
            <a:xfrm>
              <a:off x="8298044" y="2339304"/>
              <a:ext cx="677342" cy="509509"/>
            </a:xfrm>
            <a:prstGeom prst="rect">
              <a:avLst/>
            </a:prstGeom>
            <a:solidFill>
              <a:srgbClr val="CCEFD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No event of default</a:t>
              </a:r>
            </a:p>
          </p:txBody>
        </p:sp>
      </p:grpSp>
      <p:cxnSp>
        <p:nvCxnSpPr>
          <p:cNvPr id="43" name="Straight Arrow Connector 42">
            <a:extLst>
              <a:ext uri="{FF2B5EF4-FFF2-40B4-BE49-F238E27FC236}">
                <a16:creationId xmlns:a16="http://schemas.microsoft.com/office/drawing/2014/main" id="{E72D9B14-5B7E-E847-2987-2273DBA6384B}"/>
              </a:ext>
            </a:extLst>
          </p:cNvPr>
          <p:cNvCxnSpPr>
            <a:cxnSpLocks/>
            <a:stCxn id="26" idx="3"/>
            <a:endCxn id="38" idx="1"/>
          </p:cNvCxnSpPr>
          <p:nvPr/>
        </p:nvCxnSpPr>
        <p:spPr>
          <a:xfrm>
            <a:off x="6121021" y="2462410"/>
            <a:ext cx="26192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B913657-4AAC-6E92-4673-30D457379F07}"/>
              </a:ext>
            </a:extLst>
          </p:cNvPr>
          <p:cNvCxnSpPr>
            <a:cxnSpLocks/>
            <a:stCxn id="34" idx="3"/>
            <a:endCxn id="26" idx="1"/>
          </p:cNvCxnSpPr>
          <p:nvPr/>
        </p:nvCxnSpPr>
        <p:spPr>
          <a:xfrm>
            <a:off x="2513683" y="2462051"/>
            <a:ext cx="445022" cy="3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2E1C60A-29EB-C0F5-D85C-0FA556CA171C}"/>
              </a:ext>
            </a:extLst>
          </p:cNvPr>
          <p:cNvCxnSpPr>
            <a:cxnSpLocks/>
            <a:stCxn id="30" idx="3"/>
            <a:endCxn id="34" idx="1"/>
          </p:cNvCxnSpPr>
          <p:nvPr/>
        </p:nvCxnSpPr>
        <p:spPr>
          <a:xfrm>
            <a:off x="1234292" y="2462051"/>
            <a:ext cx="1821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0A5CCC0-8852-5824-2534-7FD05F0E5706}"/>
              </a:ext>
            </a:extLst>
          </p:cNvPr>
          <p:cNvCxnSpPr>
            <a:cxnSpLocks/>
            <a:stCxn id="38" idx="3"/>
          </p:cNvCxnSpPr>
          <p:nvPr/>
        </p:nvCxnSpPr>
        <p:spPr>
          <a:xfrm flipV="1">
            <a:off x="7784676" y="1968605"/>
            <a:ext cx="451493" cy="493806"/>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4">
            <a:extLst>
              <a:ext uri="{FF2B5EF4-FFF2-40B4-BE49-F238E27FC236}">
                <a16:creationId xmlns:a16="http://schemas.microsoft.com/office/drawing/2014/main" id="{EAB40716-61CA-B376-ED5F-9E19C7499E3F}"/>
              </a:ext>
            </a:extLst>
          </p:cNvPr>
          <p:cNvCxnSpPr>
            <a:cxnSpLocks/>
            <a:stCxn id="38" idx="3"/>
          </p:cNvCxnSpPr>
          <p:nvPr/>
        </p:nvCxnSpPr>
        <p:spPr>
          <a:xfrm>
            <a:off x="7784676" y="2462411"/>
            <a:ext cx="451493" cy="468065"/>
          </a:xfrm>
          <a:prstGeom prst="bentConnector3">
            <a:avLst>
              <a:gd name="adj1" fmla="val 50000"/>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nvGrpSpPr>
          <p:cNvPr id="171" name="Group 170">
            <a:extLst>
              <a:ext uri="{FF2B5EF4-FFF2-40B4-BE49-F238E27FC236}">
                <a16:creationId xmlns:a16="http://schemas.microsoft.com/office/drawing/2014/main" id="{4C1B6FFA-6550-115A-2F34-836AA723D65F}"/>
              </a:ext>
            </a:extLst>
          </p:cNvPr>
          <p:cNvGrpSpPr/>
          <p:nvPr/>
        </p:nvGrpSpPr>
        <p:grpSpPr>
          <a:xfrm>
            <a:off x="7966957" y="1901184"/>
            <a:ext cx="123466" cy="1096239"/>
            <a:chOff x="8021957" y="2612775"/>
            <a:chExt cx="123466" cy="1096239"/>
          </a:xfrm>
        </p:grpSpPr>
        <p:sp>
          <p:nvSpPr>
            <p:cNvPr id="123" name="Rectangle 122">
              <a:extLst>
                <a:ext uri="{FF2B5EF4-FFF2-40B4-BE49-F238E27FC236}">
                  <a16:creationId xmlns:a16="http://schemas.microsoft.com/office/drawing/2014/main" id="{4C7DEB07-AAC9-604D-0110-DFAB91A62BFE}"/>
                </a:ext>
              </a:extLst>
            </p:cNvPr>
            <p:cNvSpPr/>
            <p:nvPr/>
          </p:nvSpPr>
          <p:spPr>
            <a:xfrm>
              <a:off x="8025368" y="2612775"/>
              <a:ext cx="120055" cy="134169"/>
            </a:xfrm>
            <a:prstGeom prst="rect">
              <a:avLst/>
            </a:prstGeom>
            <a:solidFill>
              <a:schemeClr val="bg1"/>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Y</a:t>
              </a:r>
            </a:p>
          </p:txBody>
        </p:sp>
        <p:sp>
          <p:nvSpPr>
            <p:cNvPr id="124" name="Rectangle 123">
              <a:extLst>
                <a:ext uri="{FF2B5EF4-FFF2-40B4-BE49-F238E27FC236}">
                  <a16:creationId xmlns:a16="http://schemas.microsoft.com/office/drawing/2014/main" id="{C729BEBC-D1A1-F73F-D82F-4525F139A1A9}"/>
                </a:ext>
              </a:extLst>
            </p:cNvPr>
            <p:cNvSpPr/>
            <p:nvPr/>
          </p:nvSpPr>
          <p:spPr>
            <a:xfrm>
              <a:off x="8021957" y="3574845"/>
              <a:ext cx="120055" cy="134169"/>
            </a:xfrm>
            <a:prstGeom prst="rect">
              <a:avLst/>
            </a:prstGeom>
            <a:solidFill>
              <a:srgbClr val="FCFCFC"/>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N</a:t>
              </a:r>
            </a:p>
          </p:txBody>
        </p:sp>
      </p:grpSp>
      <p:sp>
        <p:nvSpPr>
          <p:cNvPr id="26" name="Rectangle 25">
            <a:extLst>
              <a:ext uri="{FF2B5EF4-FFF2-40B4-BE49-F238E27FC236}">
                <a16:creationId xmlns:a16="http://schemas.microsoft.com/office/drawing/2014/main" id="{EE654D5E-A1C0-E30C-CBB5-E07945210731}"/>
              </a:ext>
            </a:extLst>
          </p:cNvPr>
          <p:cNvSpPr/>
          <p:nvPr/>
        </p:nvSpPr>
        <p:spPr>
          <a:xfrm>
            <a:off x="2958705" y="1620274"/>
            <a:ext cx="3162316" cy="1684272"/>
          </a:xfrm>
          <a:prstGeom prst="rect">
            <a:avLst/>
          </a:prstGeom>
          <a:solidFill>
            <a:schemeClr val="bg1">
              <a:lumMod val="95000"/>
            </a:schemeClr>
          </a:solidFill>
          <a:ln>
            <a:noFill/>
          </a:ln>
        </p:spPr>
        <p:txBody>
          <a:bodyPr wrap="square" lIns="91440" rIns="91440" rtlCol="0" anchor="ctr">
            <a:noAutofit/>
          </a:bodyPr>
          <a:lstStyle/>
          <a:p>
            <a:pPr marL="228600" indent="-228600" algn="l">
              <a:spcBef>
                <a:spcPts val="300"/>
              </a:spcBef>
              <a:spcAft>
                <a:spcPts val="300"/>
              </a:spcAft>
              <a:buFont typeface="+mj-lt"/>
              <a:buAutoNum type="arabicPeriod"/>
            </a:pPr>
            <a:r>
              <a:rPr lang="en-US" sz="800">
                <a:solidFill>
                  <a:srgbClr val="000000"/>
                </a:solidFill>
                <a:latin typeface="Fund Light" pitchFamily="2" charset="-78"/>
                <a:cs typeface="Fund Light" pitchFamily="2" charset="-78"/>
              </a:rPr>
              <a:t>The buyer commits to:</a:t>
            </a:r>
          </a:p>
          <a:p>
            <a:pPr lvl="1" indent="-169863">
              <a:spcBef>
                <a:spcPts val="300"/>
              </a:spcBef>
              <a:spcAft>
                <a:spcPts val="300"/>
              </a:spcAft>
              <a:buFont typeface="+mj-lt"/>
              <a:buAutoNum type="romanLcPeriod"/>
            </a:pPr>
            <a:r>
              <a:rPr lang="en-US" sz="800">
                <a:solidFill>
                  <a:srgbClr val="000000"/>
                </a:solidFill>
                <a:latin typeface="Fund Light" pitchFamily="2" charset="-78"/>
                <a:cs typeface="Fund Light" pitchFamily="2" charset="-78"/>
              </a:rPr>
              <a:t>Purchase the shortfall quantity over an </a:t>
            </a:r>
            <a:r>
              <a:rPr lang="en-US" sz="800" b="1">
                <a:solidFill>
                  <a:srgbClr val="000000"/>
                </a:solidFill>
                <a:latin typeface="Fund Light" pitchFamily="2" charset="-78"/>
                <a:cs typeface="Fund Light" pitchFamily="2" charset="-78"/>
              </a:rPr>
              <a:t>alternative period </a:t>
            </a:r>
            <a:r>
              <a:rPr lang="en-US" sz="800">
                <a:solidFill>
                  <a:srgbClr val="000000"/>
                </a:solidFill>
                <a:latin typeface="Fund Light" pitchFamily="2" charset="-78"/>
                <a:cs typeface="Fund Light" pitchFamily="2" charset="-78"/>
              </a:rPr>
              <a:t>of time</a:t>
            </a:r>
            <a:r>
              <a:rPr lang="en-US" sz="800" baseline="30000">
                <a:solidFill>
                  <a:srgbClr val="000000"/>
                </a:solidFill>
                <a:latin typeface="Fund Light" pitchFamily="2" charset="-78"/>
                <a:cs typeface="Fund Light" pitchFamily="2" charset="-78"/>
              </a:rPr>
              <a:t>2 </a:t>
            </a:r>
            <a:r>
              <a:rPr lang="en-US" sz="800">
                <a:solidFill>
                  <a:srgbClr val="000000"/>
                </a:solidFill>
                <a:latin typeface="Fund Light" pitchFamily="2" charset="-78"/>
                <a:cs typeface="Fund Light" pitchFamily="2" charset="-78"/>
              </a:rPr>
              <a:t>not more than xx after end of year</a:t>
            </a:r>
          </a:p>
          <a:p>
            <a:pPr lvl="1" indent="-169863">
              <a:spcBef>
                <a:spcPts val="300"/>
              </a:spcBef>
              <a:spcAft>
                <a:spcPts val="300"/>
              </a:spcAft>
              <a:buFont typeface="+mj-lt"/>
              <a:buAutoNum type="romanLcPeriod"/>
            </a:pPr>
            <a:r>
              <a:rPr lang="en-US" sz="800">
                <a:solidFill>
                  <a:srgbClr val="000000"/>
                </a:solidFill>
                <a:latin typeface="Fund Light" pitchFamily="2" charset="-78"/>
                <a:cs typeface="Fund Light" pitchFamily="2" charset="-78"/>
              </a:rPr>
              <a:t>Procure </a:t>
            </a:r>
            <a:r>
              <a:rPr lang="en-US" sz="800" b="1">
                <a:solidFill>
                  <a:srgbClr val="000000"/>
                </a:solidFill>
                <a:latin typeface="Fund Light" pitchFamily="2" charset="-78"/>
                <a:cs typeface="Fund Light" pitchFamily="2" charset="-78"/>
              </a:rPr>
              <a:t>another buyer </a:t>
            </a:r>
            <a:r>
              <a:rPr lang="en-US" sz="800">
                <a:solidFill>
                  <a:srgbClr val="000000"/>
                </a:solidFill>
                <a:latin typeface="Fund Light" pitchFamily="2" charset="-78"/>
                <a:cs typeface="Fund Light" pitchFamily="2" charset="-78"/>
              </a:rPr>
              <a:t>to purchase the materials within xx days after end of year</a:t>
            </a:r>
          </a:p>
          <a:p>
            <a:pPr marL="231775" indent="-231775">
              <a:spcBef>
                <a:spcPts val="300"/>
              </a:spcBef>
              <a:spcAft>
                <a:spcPts val="300"/>
              </a:spcAft>
              <a:buFont typeface="+mj-lt"/>
              <a:buAutoNum type="arabicPeriod"/>
              <a:tabLst>
                <a:tab pos="231775" algn="l"/>
              </a:tabLst>
            </a:pPr>
            <a:r>
              <a:rPr lang="en-US" sz="800">
                <a:solidFill>
                  <a:srgbClr val="000000"/>
                </a:solidFill>
                <a:latin typeface="Fund Light" pitchFamily="2" charset="-78"/>
                <a:cs typeface="Fund Light" pitchFamily="2" charset="-78"/>
              </a:rPr>
              <a:t>Supplier sells such materials to other purchasers in the market through commercially reasonable efforts</a:t>
            </a:r>
          </a:p>
        </p:txBody>
      </p:sp>
      <p:cxnSp>
        <p:nvCxnSpPr>
          <p:cNvPr id="22" name="Straight Arrow Connector 54">
            <a:extLst>
              <a:ext uri="{FF2B5EF4-FFF2-40B4-BE49-F238E27FC236}">
                <a16:creationId xmlns:a16="http://schemas.microsoft.com/office/drawing/2014/main" id="{30B5C099-CB33-AD73-CA33-B11F33CED8EB}"/>
              </a:ext>
            </a:extLst>
          </p:cNvPr>
          <p:cNvCxnSpPr>
            <a:cxnSpLocks/>
            <a:stCxn id="34" idx="3"/>
            <a:endCxn id="34" idx="0"/>
          </p:cNvCxnSpPr>
          <p:nvPr/>
        </p:nvCxnSpPr>
        <p:spPr>
          <a:xfrm flipH="1" flipV="1">
            <a:off x="1965043" y="2004851"/>
            <a:ext cx="548640" cy="457200"/>
          </a:xfrm>
          <a:prstGeom prst="bentConnector4">
            <a:avLst>
              <a:gd name="adj1" fmla="val -19279"/>
              <a:gd name="adj2" fmla="val 1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F48A63B8-5B3A-BCE0-5326-A07BDFCAB362}"/>
              </a:ext>
            </a:extLst>
          </p:cNvPr>
          <p:cNvSpPr/>
          <p:nvPr/>
        </p:nvSpPr>
        <p:spPr>
          <a:xfrm>
            <a:off x="2562092" y="2081339"/>
            <a:ext cx="120054" cy="134169"/>
          </a:xfrm>
          <a:prstGeom prst="rect">
            <a:avLst/>
          </a:prstGeom>
          <a:solidFill>
            <a:schemeClr val="bg1"/>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N</a:t>
            </a:r>
          </a:p>
        </p:txBody>
      </p:sp>
      <p:sp>
        <p:nvSpPr>
          <p:cNvPr id="50" name="Speech Bubble: Rectangle 49">
            <a:extLst>
              <a:ext uri="{FF2B5EF4-FFF2-40B4-BE49-F238E27FC236}">
                <a16:creationId xmlns:a16="http://schemas.microsoft.com/office/drawing/2014/main" id="{E3372689-794A-CEE5-C311-8688A7247115}"/>
              </a:ext>
            </a:extLst>
          </p:cNvPr>
          <p:cNvSpPr/>
          <p:nvPr/>
        </p:nvSpPr>
        <p:spPr>
          <a:xfrm>
            <a:off x="8197729" y="3566755"/>
            <a:ext cx="677342" cy="256897"/>
          </a:xfrm>
          <a:prstGeom prst="wedgeRectCallout">
            <a:avLst>
              <a:gd name="adj1" fmla="val -5839"/>
              <a:gd name="adj2" fmla="val -166278"/>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00"/>
              </a:spcBef>
              <a:spcAft>
                <a:spcPts val="100"/>
              </a:spcAft>
            </a:pPr>
            <a:endParaRPr lang="en-US" sz="800">
              <a:solidFill>
                <a:srgbClr val="C4984F"/>
              </a:solidFill>
              <a:latin typeface="Fund Light" pitchFamily="2" charset="-78"/>
              <a:cs typeface="Fund Light" pitchFamily="2" charset="-78"/>
            </a:endParaRPr>
          </a:p>
        </p:txBody>
      </p:sp>
      <p:sp>
        <p:nvSpPr>
          <p:cNvPr id="48" name="Speech Bubble: Rectangle 47">
            <a:extLst>
              <a:ext uri="{FF2B5EF4-FFF2-40B4-BE49-F238E27FC236}">
                <a16:creationId xmlns:a16="http://schemas.microsoft.com/office/drawing/2014/main" id="{0BA89F8C-1688-1EBF-A433-C38A3E2A21AA}"/>
              </a:ext>
            </a:extLst>
          </p:cNvPr>
          <p:cNvSpPr/>
          <p:nvPr/>
        </p:nvSpPr>
        <p:spPr>
          <a:xfrm>
            <a:off x="4449495" y="3566755"/>
            <a:ext cx="4526348" cy="256897"/>
          </a:xfrm>
          <a:prstGeom prst="wedgeRectCallout">
            <a:avLst>
              <a:gd name="adj1" fmla="val 29861"/>
              <a:gd name="adj2" fmla="val 1805"/>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00"/>
              </a:spcBef>
              <a:spcAft>
                <a:spcPts val="100"/>
              </a:spcAft>
            </a:pPr>
            <a:r>
              <a:rPr lang="en-US" sz="800" b="1">
                <a:solidFill>
                  <a:srgbClr val="C4984F"/>
                </a:solidFill>
                <a:latin typeface="Fund Light" pitchFamily="2" charset="-78"/>
                <a:cs typeface="Fund Light" pitchFamily="2" charset="-78"/>
              </a:rPr>
              <a:t>Maximum liability = </a:t>
            </a:r>
            <a:r>
              <a:rPr lang="en-US" sz="800">
                <a:solidFill>
                  <a:srgbClr val="C4984F"/>
                </a:solidFill>
                <a:latin typeface="Fund Light" pitchFamily="2" charset="-78"/>
                <a:cs typeface="Fund Light" pitchFamily="2" charset="-78"/>
              </a:rPr>
              <a:t>shortfall units</a:t>
            </a:r>
            <a:r>
              <a:rPr lang="en-US" sz="800" baseline="30000">
                <a:solidFill>
                  <a:srgbClr val="C4984F"/>
                </a:solidFill>
                <a:latin typeface="Fund Light" pitchFamily="2" charset="-78"/>
                <a:cs typeface="Fund Light" pitchFamily="2" charset="-78"/>
              </a:rPr>
              <a:t>3</a:t>
            </a:r>
            <a:r>
              <a:rPr lang="en-US" sz="800">
                <a:solidFill>
                  <a:srgbClr val="C4984F"/>
                </a:solidFill>
                <a:latin typeface="Fund Light" pitchFamily="2" charset="-78"/>
                <a:cs typeface="Fund Light" pitchFamily="2" charset="-78"/>
              </a:rPr>
              <a:t> x product price x fixed cost (as a percentage of price)</a:t>
            </a:r>
          </a:p>
        </p:txBody>
      </p:sp>
      <p:sp>
        <p:nvSpPr>
          <p:cNvPr id="54" name="Rectangle 53">
            <a:extLst>
              <a:ext uri="{FF2B5EF4-FFF2-40B4-BE49-F238E27FC236}">
                <a16:creationId xmlns:a16="http://schemas.microsoft.com/office/drawing/2014/main" id="{3469946A-2697-4D38-EA99-AA1C0432A0BD}"/>
              </a:ext>
            </a:extLst>
          </p:cNvPr>
          <p:cNvSpPr/>
          <p:nvPr/>
        </p:nvSpPr>
        <p:spPr>
          <a:xfrm>
            <a:off x="2695794" y="2406603"/>
            <a:ext cx="120054" cy="134169"/>
          </a:xfrm>
          <a:prstGeom prst="rect">
            <a:avLst/>
          </a:prstGeom>
          <a:solidFill>
            <a:schemeClr val="bg1"/>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Y</a:t>
            </a:r>
          </a:p>
        </p:txBody>
      </p:sp>
      <p:sp>
        <p:nvSpPr>
          <p:cNvPr id="6" name="Title 5">
            <a:extLst>
              <a:ext uri="{FF2B5EF4-FFF2-40B4-BE49-F238E27FC236}">
                <a16:creationId xmlns:a16="http://schemas.microsoft.com/office/drawing/2014/main" id="{1E0C8336-A84A-7694-43FA-31C3F5562BC0}"/>
              </a:ext>
            </a:extLst>
          </p:cNvPr>
          <p:cNvSpPr>
            <a:spLocks noGrp="1"/>
          </p:cNvSpPr>
          <p:nvPr>
            <p:ph type="title"/>
          </p:nvPr>
        </p:nvSpPr>
        <p:spPr>
          <a:xfrm>
            <a:off x="1255077" y="255973"/>
            <a:ext cx="6766560" cy="241824"/>
          </a:xfrm>
        </p:spPr>
        <p:txBody>
          <a:bodyPr vert="horz"/>
          <a:lstStyle/>
          <a:p>
            <a:r>
              <a:rPr lang="en-US"/>
              <a:t> Portfolio company event of default – quarterly and annual assessment (section 10)</a:t>
            </a:r>
          </a:p>
        </p:txBody>
      </p:sp>
      <p:sp>
        <p:nvSpPr>
          <p:cNvPr id="19" name="Rectangle 18">
            <a:extLst>
              <a:ext uri="{FF2B5EF4-FFF2-40B4-BE49-F238E27FC236}">
                <a16:creationId xmlns:a16="http://schemas.microsoft.com/office/drawing/2014/main" id="{5B836200-C247-A666-D4FB-7FD8EF718A40}"/>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20" name="Oval 19">
            <a:extLst>
              <a:ext uri="{FF2B5EF4-FFF2-40B4-BE49-F238E27FC236}">
                <a16:creationId xmlns:a16="http://schemas.microsoft.com/office/drawing/2014/main" id="{B585F325-0636-C9A9-C4B6-6275F92E2449}"/>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21" name="Text Placeholder 6">
            <a:extLst>
              <a:ext uri="{FF2B5EF4-FFF2-40B4-BE49-F238E27FC236}">
                <a16:creationId xmlns:a16="http://schemas.microsoft.com/office/drawing/2014/main" id="{B4DD0A80-5AF9-033C-9C2D-37C3B3C6D521}"/>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Liability risk</a:t>
            </a:r>
          </a:p>
        </p:txBody>
      </p:sp>
      <p:sp>
        <p:nvSpPr>
          <p:cNvPr id="23" name="Text Placeholder 6">
            <a:extLst>
              <a:ext uri="{FF2B5EF4-FFF2-40B4-BE49-F238E27FC236}">
                <a16:creationId xmlns:a16="http://schemas.microsoft.com/office/drawing/2014/main" id="{F70873A6-C5FC-5B8C-B3FA-8CD6C4272DEB}"/>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24" name="Oval 23">
            <a:extLst>
              <a:ext uri="{FF2B5EF4-FFF2-40B4-BE49-F238E27FC236}">
                <a16:creationId xmlns:a16="http://schemas.microsoft.com/office/drawing/2014/main" id="{ACDFD88C-BA46-B1A5-CB8B-7FE3B80088DE}"/>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Tree>
    <p:extLst>
      <p:ext uri="{BB962C8B-B14F-4D97-AF65-F5344CB8AC3E}">
        <p14:creationId xmlns:p14="http://schemas.microsoft.com/office/powerpoint/2010/main" val="35721531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B8D64CBC-C36F-8144-DE8B-93D45A9142ED}"/>
              </a:ext>
            </a:extLst>
          </p:cNvPr>
          <p:cNvGraphicFramePr>
            <a:graphicFrameLocks noChangeAspect="1"/>
          </p:cNvGraphicFramePr>
          <p:nvPr>
            <p:custDataLst>
              <p:tags r:id="rId1"/>
            </p:custDataLst>
            <p:extLst>
              <p:ext uri="{D42A27DB-BD31-4B8C-83A1-F6EECF244321}">
                <p14:modId xmlns:p14="http://schemas.microsoft.com/office/powerpoint/2010/main" val="1452704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17" name="think-cell data - do not delete" hidden="1">
                        <a:extLst>
                          <a:ext uri="{FF2B5EF4-FFF2-40B4-BE49-F238E27FC236}">
                            <a16:creationId xmlns:a16="http://schemas.microsoft.com/office/drawing/2014/main" id="{B8D64CBC-C36F-8144-DE8B-93D45A9142E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9" name="Rectangle 48">
            <a:extLst>
              <a:ext uri="{FF2B5EF4-FFF2-40B4-BE49-F238E27FC236}">
                <a16:creationId xmlns:a16="http://schemas.microsoft.com/office/drawing/2014/main" id="{E0F3E6EE-A563-4D96-92B8-5D0D3EE2BDA2}"/>
              </a:ext>
            </a:extLst>
          </p:cNvPr>
          <p:cNvSpPr/>
          <p:nvPr/>
        </p:nvSpPr>
        <p:spPr>
          <a:xfrm>
            <a:off x="4229844" y="1500163"/>
            <a:ext cx="4605021" cy="2579433"/>
          </a:xfrm>
          <a:prstGeom prst="rect">
            <a:avLst/>
          </a:prstGeom>
          <a:solidFill>
            <a:srgbClr val="F8F2E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endParaRPr lang="en-US" sz="800" b="1">
              <a:solidFill>
                <a:srgbClr val="000000"/>
              </a:solidFill>
              <a:latin typeface="Fund Light" pitchFamily="2" charset="-78"/>
              <a:cs typeface="Fund Light" pitchFamily="2" charset="-78"/>
            </a:endParaRPr>
          </a:p>
        </p:txBody>
      </p:sp>
      <p:cxnSp>
        <p:nvCxnSpPr>
          <p:cNvPr id="8" name="Connector: Elbow 7">
            <a:extLst>
              <a:ext uri="{FF2B5EF4-FFF2-40B4-BE49-F238E27FC236}">
                <a16:creationId xmlns:a16="http://schemas.microsoft.com/office/drawing/2014/main" id="{51F62D44-4677-136A-A06F-799193547E95}"/>
              </a:ext>
            </a:extLst>
          </p:cNvPr>
          <p:cNvCxnSpPr>
            <a:cxnSpLocks/>
            <a:stCxn id="102" idx="1"/>
            <a:endCxn id="21" idx="3"/>
          </p:cNvCxnSpPr>
          <p:nvPr/>
        </p:nvCxnSpPr>
        <p:spPr>
          <a:xfrm rot="10800000">
            <a:off x="1148270" y="2839836"/>
            <a:ext cx="750438" cy="635526"/>
          </a:xfrm>
          <a:prstGeom prst="bentConnector3">
            <a:avLst>
              <a:gd name="adj1" fmla="val 50000"/>
            </a:avLst>
          </a:prstGeom>
          <a:ln>
            <a:solidFill>
              <a:srgbClr val="000000"/>
            </a:solidFill>
            <a:tailEnd type="non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B16D9C3-AB52-40AE-80ED-0B54A11667DD}"/>
              </a:ext>
            </a:extLst>
          </p:cNvPr>
          <p:cNvSpPr/>
          <p:nvPr/>
        </p:nvSpPr>
        <p:spPr>
          <a:xfrm>
            <a:off x="225284" y="2605665"/>
            <a:ext cx="922986" cy="468342"/>
          </a:xfrm>
          <a:prstGeom prst="rect">
            <a:avLst/>
          </a:prstGeom>
          <a:noFill/>
          <a:ln>
            <a:solidFill>
              <a:schemeClr val="bg2"/>
            </a:solidFill>
          </a:ln>
        </p:spPr>
        <p:txBody>
          <a:bodyPr wrap="square" rtlCol="0" anchor="ctr">
            <a:noAutofit/>
          </a:bodyPr>
          <a:lstStyle/>
          <a:p>
            <a:pPr>
              <a:spcBef>
                <a:spcPts val="300"/>
              </a:spcBef>
              <a:spcAft>
                <a:spcPts val="300"/>
              </a:spcAft>
            </a:pPr>
            <a:r>
              <a:rPr lang="en-US" sz="900" b="1">
                <a:solidFill>
                  <a:srgbClr val="000000"/>
                </a:solidFill>
                <a:latin typeface="Fund Light" pitchFamily="2" charset="-78"/>
                <a:cs typeface="Fund Light" pitchFamily="2" charset="-78"/>
              </a:rPr>
              <a:t>Termination payment</a:t>
            </a:r>
          </a:p>
        </p:txBody>
      </p:sp>
      <p:cxnSp>
        <p:nvCxnSpPr>
          <p:cNvPr id="5" name="Connector: Elbow 4">
            <a:extLst>
              <a:ext uri="{FF2B5EF4-FFF2-40B4-BE49-F238E27FC236}">
                <a16:creationId xmlns:a16="http://schemas.microsoft.com/office/drawing/2014/main" id="{75995299-5FC4-ECD5-6CE4-95943D367491}"/>
              </a:ext>
            </a:extLst>
          </p:cNvPr>
          <p:cNvCxnSpPr>
            <a:cxnSpLocks/>
            <a:stCxn id="26" idx="1"/>
            <a:endCxn id="21" idx="3"/>
          </p:cNvCxnSpPr>
          <p:nvPr/>
        </p:nvCxnSpPr>
        <p:spPr>
          <a:xfrm rot="10800000" flipV="1">
            <a:off x="1148270" y="2197096"/>
            <a:ext cx="750438" cy="642739"/>
          </a:xfrm>
          <a:prstGeom prst="bentConnector3">
            <a:avLst>
              <a:gd name="adj1" fmla="val 50000"/>
            </a:avLst>
          </a:prstGeom>
          <a:ln>
            <a:solidFill>
              <a:srgbClr val="000000"/>
            </a:solidFill>
            <a:tailEnd type="none"/>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F52E33C-1950-194E-DA95-AC9D3412ED06}"/>
              </a:ext>
            </a:extLst>
          </p:cNvPr>
          <p:cNvSpPr>
            <a:spLocks noGrp="1"/>
          </p:cNvSpPr>
          <p:nvPr>
            <p:ph type="title"/>
          </p:nvPr>
        </p:nvSpPr>
        <p:spPr/>
        <p:txBody>
          <a:bodyPr vert="horz">
            <a:normAutofit fontScale="90000"/>
          </a:bodyPr>
          <a:lstStyle/>
          <a:p>
            <a:r>
              <a:rPr lang="en-GB"/>
              <a:t>Termination payment – output example</a:t>
            </a:r>
          </a:p>
        </p:txBody>
      </p:sp>
      <p:sp>
        <p:nvSpPr>
          <p:cNvPr id="11" name="Text Placeholder 10">
            <a:extLst>
              <a:ext uri="{FF2B5EF4-FFF2-40B4-BE49-F238E27FC236}">
                <a16:creationId xmlns:a16="http://schemas.microsoft.com/office/drawing/2014/main" id="{4CD0844E-FC57-F492-4E03-D334A792D75B}"/>
              </a:ext>
            </a:extLst>
          </p:cNvPr>
          <p:cNvSpPr>
            <a:spLocks noGrp="1"/>
          </p:cNvSpPr>
          <p:nvPr>
            <p:ph type="body" idx="4294967295"/>
          </p:nvPr>
        </p:nvSpPr>
        <p:spPr>
          <a:xfrm>
            <a:off x="1551727" y="4767025"/>
            <a:ext cx="7112000" cy="274637"/>
          </a:xfrm>
        </p:spPr>
        <p:txBody>
          <a:bodyPr>
            <a:normAutofit fontScale="92500"/>
          </a:bodyPr>
          <a:lstStyle/>
          <a:p>
            <a:r>
              <a:rPr lang="en-US"/>
              <a:t>1. Price as per the contract defined at the time of termination; 2. Up to the year of termination; 3. Excluding depreciation; 4) Ratio of unitary fixed costs over unitary price</a:t>
            </a:r>
          </a:p>
        </p:txBody>
      </p:sp>
      <p:sp>
        <p:nvSpPr>
          <p:cNvPr id="59" name="Speech Bubble: Rectangle 58">
            <a:extLst>
              <a:ext uri="{FF2B5EF4-FFF2-40B4-BE49-F238E27FC236}">
                <a16:creationId xmlns:a16="http://schemas.microsoft.com/office/drawing/2014/main" id="{0F3C01D5-3110-90AA-79ED-2BF68219E7B1}"/>
              </a:ext>
            </a:extLst>
          </p:cNvPr>
          <p:cNvSpPr/>
          <p:nvPr/>
        </p:nvSpPr>
        <p:spPr>
          <a:xfrm>
            <a:off x="3822431" y="4171418"/>
            <a:ext cx="2318936" cy="229384"/>
          </a:xfrm>
          <a:prstGeom prst="wedgeRectCallout">
            <a:avLst>
              <a:gd name="adj1" fmla="val 28626"/>
              <a:gd name="adj2" fmla="val -85203"/>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00"/>
              </a:spcBef>
              <a:spcAft>
                <a:spcPts val="100"/>
              </a:spcAft>
            </a:pPr>
            <a:r>
              <a:rPr lang="en-US" sz="900" b="1">
                <a:solidFill>
                  <a:srgbClr val="C4984F"/>
                </a:solidFill>
                <a:latin typeface="Fund Light" pitchFamily="2" charset="-78"/>
                <a:cs typeface="Fund Light" pitchFamily="2" charset="-78"/>
              </a:rPr>
              <a:t>70%  </a:t>
            </a:r>
            <a:r>
              <a:rPr lang="en-US" sz="900">
                <a:solidFill>
                  <a:srgbClr val="C4984F"/>
                </a:solidFill>
                <a:latin typeface="Fund Light" pitchFamily="2" charset="-78"/>
                <a:cs typeface="Fund Light" pitchFamily="2" charset="-78"/>
              </a:rPr>
              <a:t>(i.e., 70k units out of 100k units)</a:t>
            </a:r>
          </a:p>
        </p:txBody>
      </p:sp>
      <p:cxnSp>
        <p:nvCxnSpPr>
          <p:cNvPr id="88" name="Straight Connector 87">
            <a:extLst>
              <a:ext uri="{FF2B5EF4-FFF2-40B4-BE49-F238E27FC236}">
                <a16:creationId xmlns:a16="http://schemas.microsoft.com/office/drawing/2014/main" id="{23D64132-FD99-633B-02D7-3F6BB5D05D27}"/>
              </a:ext>
            </a:extLst>
          </p:cNvPr>
          <p:cNvCxnSpPr>
            <a:cxnSpLocks/>
          </p:cNvCxnSpPr>
          <p:nvPr/>
        </p:nvCxnSpPr>
        <p:spPr>
          <a:xfrm>
            <a:off x="332713" y="1484710"/>
            <a:ext cx="332719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24FEE64-5694-485C-9563-564C492587DF}"/>
              </a:ext>
            </a:extLst>
          </p:cNvPr>
          <p:cNvSpPr txBox="1"/>
          <p:nvPr/>
        </p:nvSpPr>
        <p:spPr>
          <a:xfrm>
            <a:off x="332711" y="1247124"/>
            <a:ext cx="3327194"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Calculation methodology</a:t>
            </a:r>
          </a:p>
        </p:txBody>
      </p:sp>
      <p:sp>
        <p:nvSpPr>
          <p:cNvPr id="4" name="Rectangle 3">
            <a:extLst>
              <a:ext uri="{FF2B5EF4-FFF2-40B4-BE49-F238E27FC236}">
                <a16:creationId xmlns:a16="http://schemas.microsoft.com/office/drawing/2014/main" id="{683B838F-33C7-4535-3696-633998AA909D}"/>
              </a:ext>
            </a:extLst>
          </p:cNvPr>
          <p:cNvSpPr/>
          <p:nvPr/>
        </p:nvSpPr>
        <p:spPr>
          <a:xfrm>
            <a:off x="1236219" y="2760688"/>
            <a:ext cx="535667" cy="158296"/>
          </a:xfrm>
          <a:prstGeom prst="rect">
            <a:avLst/>
          </a:prstGeom>
          <a:solidFill>
            <a:srgbClr val="FCFCFC"/>
          </a:solidFill>
        </p:spPr>
        <p:txBody>
          <a:bodyPr wrap="square" lIns="18288" rIns="0" rtlCol="0" anchor="ctr">
            <a:noAutofit/>
          </a:bodyPr>
          <a:lstStyle/>
          <a:p>
            <a:pPr algn="l">
              <a:spcBef>
                <a:spcPts val="300"/>
              </a:spcBef>
              <a:spcAft>
                <a:spcPts val="300"/>
              </a:spcAft>
            </a:pPr>
            <a:r>
              <a:rPr lang="en-US" sz="900">
                <a:solidFill>
                  <a:srgbClr val="000000"/>
                </a:solidFill>
                <a:latin typeface="Fund Light" pitchFamily="2" charset="-78"/>
                <a:cs typeface="Fund Light" pitchFamily="2" charset="-78"/>
              </a:rPr>
              <a:t>Lesser of</a:t>
            </a:r>
          </a:p>
        </p:txBody>
      </p:sp>
      <p:cxnSp>
        <p:nvCxnSpPr>
          <p:cNvPr id="111" name="Straight Connector 110">
            <a:extLst>
              <a:ext uri="{FF2B5EF4-FFF2-40B4-BE49-F238E27FC236}">
                <a16:creationId xmlns:a16="http://schemas.microsoft.com/office/drawing/2014/main" id="{5DB7DE5B-95F1-4D89-7C0C-3A054B88FB50}"/>
              </a:ext>
            </a:extLst>
          </p:cNvPr>
          <p:cNvCxnSpPr>
            <a:cxnSpLocks/>
          </p:cNvCxnSpPr>
          <p:nvPr/>
        </p:nvCxnSpPr>
        <p:spPr>
          <a:xfrm>
            <a:off x="4229846" y="1484710"/>
            <a:ext cx="460501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4A396B0-4A4C-FA14-B908-84A421ABF568}"/>
              </a:ext>
            </a:extLst>
          </p:cNvPr>
          <p:cNvSpPr txBox="1"/>
          <p:nvPr/>
        </p:nvSpPr>
        <p:spPr>
          <a:xfrm>
            <a:off x="4229844" y="1247124"/>
            <a:ext cx="4605016" cy="230832"/>
          </a:xfrm>
          <a:prstGeom prst="rect">
            <a:avLst/>
          </a:prstGeom>
          <a:noFill/>
        </p:spPr>
        <p:txBody>
          <a:bodyPr wrap="square" rtlCol="0" anchor="b">
            <a:spAutoFit/>
          </a:bodyPr>
          <a:lstStyle/>
          <a:p>
            <a:r>
              <a:rPr lang="en-US" sz="900" b="1">
                <a:solidFill>
                  <a:schemeClr val="bg2"/>
                </a:solidFill>
                <a:latin typeface="Fund Light" pitchFamily="2" charset="-78"/>
                <a:cs typeface="Fund Light" pitchFamily="2" charset="-78"/>
              </a:rPr>
              <a:t>Illustrative example </a:t>
            </a:r>
            <a:r>
              <a:rPr lang="en-US" sz="900">
                <a:solidFill>
                  <a:schemeClr val="bg2"/>
                </a:solidFill>
                <a:latin typeface="Fund Light" pitchFamily="2" charset="-78"/>
                <a:cs typeface="Fund Light" pitchFamily="2" charset="-78"/>
              </a:rPr>
              <a:t>(&lt;building material&gt;)</a:t>
            </a:r>
            <a:endParaRPr lang="en-US" sz="900" b="1">
              <a:solidFill>
                <a:schemeClr val="bg2"/>
              </a:solidFill>
              <a:latin typeface="Fund Light" pitchFamily="2" charset="-78"/>
              <a:cs typeface="Fund Light" pitchFamily="2" charset="-78"/>
            </a:endParaRPr>
          </a:p>
        </p:txBody>
      </p:sp>
      <p:sp>
        <p:nvSpPr>
          <p:cNvPr id="113" name="Rectangle 112">
            <a:extLst>
              <a:ext uri="{FF2B5EF4-FFF2-40B4-BE49-F238E27FC236}">
                <a16:creationId xmlns:a16="http://schemas.microsoft.com/office/drawing/2014/main" id="{7C840E6C-461C-FE10-A253-119644679522}"/>
              </a:ext>
            </a:extLst>
          </p:cNvPr>
          <p:cNvSpPr/>
          <p:nvPr/>
        </p:nvSpPr>
        <p:spPr>
          <a:xfrm>
            <a:off x="4312937" y="1522527"/>
            <a:ext cx="2131465" cy="17728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i="1">
                <a:solidFill>
                  <a:schemeClr val="tx1"/>
                </a:solidFill>
                <a:latin typeface="Fund Light" pitchFamily="2" charset="-78"/>
                <a:cs typeface="Fund Light" pitchFamily="2" charset="-78"/>
              </a:rPr>
              <a:t>Termination after 1 year</a:t>
            </a:r>
          </a:p>
        </p:txBody>
      </p:sp>
      <p:sp>
        <p:nvSpPr>
          <p:cNvPr id="114" name="Rectangle 113">
            <a:extLst>
              <a:ext uri="{FF2B5EF4-FFF2-40B4-BE49-F238E27FC236}">
                <a16:creationId xmlns:a16="http://schemas.microsoft.com/office/drawing/2014/main" id="{43A158AA-CB55-B9D8-2B0D-EB1412D5BAC6}"/>
              </a:ext>
            </a:extLst>
          </p:cNvPr>
          <p:cNvSpPr/>
          <p:nvPr/>
        </p:nvSpPr>
        <p:spPr>
          <a:xfrm>
            <a:off x="6620302" y="1522527"/>
            <a:ext cx="2131465" cy="17728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i="1">
                <a:solidFill>
                  <a:schemeClr val="tx1"/>
                </a:solidFill>
                <a:latin typeface="Fund Light" pitchFamily="2" charset="-78"/>
                <a:cs typeface="Fund Light" pitchFamily="2" charset="-78"/>
              </a:rPr>
              <a:t>Termination after 4 year</a:t>
            </a:r>
          </a:p>
        </p:txBody>
      </p:sp>
      <p:cxnSp>
        <p:nvCxnSpPr>
          <p:cNvPr id="120" name="Connector: Elbow 119">
            <a:extLst>
              <a:ext uri="{FF2B5EF4-FFF2-40B4-BE49-F238E27FC236}">
                <a16:creationId xmlns:a16="http://schemas.microsoft.com/office/drawing/2014/main" id="{BDF58020-EE0D-750E-A876-F6AEC32E32D8}"/>
              </a:ext>
            </a:extLst>
          </p:cNvPr>
          <p:cNvCxnSpPr>
            <a:cxnSpLocks/>
          </p:cNvCxnSpPr>
          <p:nvPr/>
        </p:nvCxnSpPr>
        <p:spPr>
          <a:xfrm>
            <a:off x="6532352" y="1617327"/>
            <a:ext cx="0" cy="2855004"/>
          </a:xfrm>
          <a:prstGeom prst="straightConnector1">
            <a:avLst/>
          </a:prstGeom>
          <a:ln>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482ED97-3109-2E50-DEC2-F03DF9B63FBF}"/>
              </a:ext>
            </a:extLst>
          </p:cNvPr>
          <p:cNvSpPr/>
          <p:nvPr/>
        </p:nvSpPr>
        <p:spPr>
          <a:xfrm>
            <a:off x="1898708" y="1781932"/>
            <a:ext cx="1761200" cy="830330"/>
          </a:xfrm>
          <a:prstGeom prst="rect">
            <a:avLst/>
          </a:prstGeom>
          <a:noFill/>
          <a:ln>
            <a:solidFill>
              <a:schemeClr val="bg2"/>
            </a:solidFill>
          </a:ln>
        </p:spPr>
        <p:txBody>
          <a:bodyPr wrap="square" lIns="0" rIns="0" rtlCol="0" anchor="ctr">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Remaining LDC value</a:t>
            </a:r>
            <a:br>
              <a:rPr lang="en-US" sz="900" b="1">
                <a:solidFill>
                  <a:srgbClr val="000000"/>
                </a:solidFill>
                <a:latin typeface="Fund Light" pitchFamily="2" charset="-78"/>
                <a:cs typeface="Fund Light" pitchFamily="2" charset="-78"/>
              </a:rPr>
            </a:br>
            <a:r>
              <a:rPr lang="en-US" sz="900">
                <a:solidFill>
                  <a:srgbClr val="000000"/>
                </a:solidFill>
                <a:latin typeface="Fund Light" pitchFamily="2" charset="-78"/>
                <a:cs typeface="Fund Light" pitchFamily="2" charset="-78"/>
              </a:rPr>
              <a:t>at the time of termination</a:t>
            </a:r>
            <a:br>
              <a:rPr lang="en-US" sz="900">
                <a:solidFill>
                  <a:srgbClr val="000000"/>
                </a:solidFill>
                <a:latin typeface="Fund Light" pitchFamily="2" charset="-78"/>
                <a:cs typeface="Fund Light" pitchFamily="2" charset="-78"/>
              </a:rPr>
            </a:br>
            <a:r>
              <a:rPr lang="en-US" sz="900">
                <a:solidFill>
                  <a:srgbClr val="000000"/>
                </a:solidFill>
                <a:latin typeface="Fund Light" pitchFamily="2" charset="-78"/>
                <a:cs typeface="Fund Light" pitchFamily="2" charset="-78"/>
              </a:rPr>
              <a:t>(product price</a:t>
            </a:r>
            <a:r>
              <a:rPr lang="en-US" sz="900" baseline="30000">
                <a:solidFill>
                  <a:srgbClr val="000000"/>
                </a:solidFill>
                <a:latin typeface="Fund Light" pitchFamily="2" charset="-78"/>
                <a:cs typeface="Fund Light" pitchFamily="2" charset="-78"/>
              </a:rPr>
              <a:t>1</a:t>
            </a:r>
            <a:r>
              <a:rPr lang="en-US" sz="900">
                <a:solidFill>
                  <a:srgbClr val="000000"/>
                </a:solidFill>
                <a:latin typeface="Fund Light" pitchFamily="2" charset="-78"/>
                <a:cs typeface="Fund Light" pitchFamily="2" charset="-78"/>
              </a:rPr>
              <a:t> x shortfall units)</a:t>
            </a:r>
            <a:endParaRPr lang="en-GB" sz="900">
              <a:solidFill>
                <a:srgbClr val="000000"/>
              </a:solidFill>
              <a:latin typeface="Fund Light" pitchFamily="2" charset="-78"/>
              <a:cs typeface="Fund Light" pitchFamily="2" charset="-78"/>
            </a:endParaRPr>
          </a:p>
        </p:txBody>
      </p:sp>
      <p:sp>
        <p:nvSpPr>
          <p:cNvPr id="42" name="Rectangle 41">
            <a:extLst>
              <a:ext uri="{FF2B5EF4-FFF2-40B4-BE49-F238E27FC236}">
                <a16:creationId xmlns:a16="http://schemas.microsoft.com/office/drawing/2014/main" id="{4DD05AEC-9C41-FFC9-D4F3-E927F83620C6}"/>
              </a:ext>
            </a:extLst>
          </p:cNvPr>
          <p:cNvSpPr/>
          <p:nvPr/>
        </p:nvSpPr>
        <p:spPr>
          <a:xfrm>
            <a:off x="4312934" y="1786276"/>
            <a:ext cx="2131464" cy="830324"/>
          </a:xfrm>
          <a:prstGeom prst="rect">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SAR 196 Mn</a:t>
            </a:r>
          </a:p>
          <a:p>
            <a:pPr algn="ctr">
              <a:spcBef>
                <a:spcPts val="300"/>
              </a:spcBef>
              <a:spcAft>
                <a:spcPts val="300"/>
              </a:spcAft>
            </a:pPr>
            <a:r>
              <a:rPr lang="en-US" sz="900">
                <a:solidFill>
                  <a:srgbClr val="000000"/>
                </a:solidFill>
                <a:latin typeface="Fund Light" pitchFamily="2" charset="-78"/>
                <a:cs typeface="Fund Light" pitchFamily="2" charset="-78"/>
              </a:rPr>
              <a:t>700 SAR/unit x (70k units x 4 years)</a:t>
            </a:r>
          </a:p>
        </p:txBody>
      </p:sp>
      <p:sp>
        <p:nvSpPr>
          <p:cNvPr id="127" name="Rectangle 126">
            <a:extLst>
              <a:ext uri="{FF2B5EF4-FFF2-40B4-BE49-F238E27FC236}">
                <a16:creationId xmlns:a16="http://schemas.microsoft.com/office/drawing/2014/main" id="{C56D95EA-A220-D479-62FD-91D1D3C06847}"/>
              </a:ext>
            </a:extLst>
          </p:cNvPr>
          <p:cNvSpPr/>
          <p:nvPr/>
        </p:nvSpPr>
        <p:spPr>
          <a:xfrm>
            <a:off x="6620302" y="1786276"/>
            <a:ext cx="2131464" cy="830324"/>
          </a:xfrm>
          <a:prstGeom prst="rect">
            <a:avLst/>
          </a:prstGeom>
          <a:solidFill>
            <a:srgbClr val="E1F8D2"/>
          </a:solidFill>
          <a:ln w="12700" cap="sq">
            <a:solidFill>
              <a:srgbClr val="00B05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SAR 49 Mn</a:t>
            </a:r>
          </a:p>
          <a:p>
            <a:pPr algn="ctr">
              <a:spcBef>
                <a:spcPts val="300"/>
              </a:spcBef>
              <a:spcAft>
                <a:spcPts val="300"/>
              </a:spcAft>
            </a:pPr>
            <a:r>
              <a:rPr lang="en-US" sz="900">
                <a:solidFill>
                  <a:srgbClr val="000000"/>
                </a:solidFill>
                <a:latin typeface="Fund Light" pitchFamily="2" charset="-78"/>
                <a:cs typeface="Fund Light" pitchFamily="2" charset="-78"/>
              </a:rPr>
              <a:t>700 SAR/unit x (70k units x 1 year)</a:t>
            </a:r>
          </a:p>
        </p:txBody>
      </p:sp>
      <p:sp>
        <p:nvSpPr>
          <p:cNvPr id="102" name="Rectangle 101">
            <a:extLst>
              <a:ext uri="{FF2B5EF4-FFF2-40B4-BE49-F238E27FC236}">
                <a16:creationId xmlns:a16="http://schemas.microsoft.com/office/drawing/2014/main" id="{40302ED9-05D1-2E73-066E-228523367845}"/>
              </a:ext>
            </a:extLst>
          </p:cNvPr>
          <p:cNvSpPr/>
          <p:nvPr/>
        </p:nvSpPr>
        <p:spPr>
          <a:xfrm>
            <a:off x="1898708" y="3060196"/>
            <a:ext cx="1761200" cy="830331"/>
          </a:xfrm>
          <a:prstGeom prst="rect">
            <a:avLst/>
          </a:prstGeom>
          <a:noFill/>
          <a:ln>
            <a:solidFill>
              <a:schemeClr val="bg2"/>
            </a:solidFill>
          </a:ln>
        </p:spPr>
        <p:txBody>
          <a:bodyPr wrap="square" lIns="0" rIns="0" rtlCol="0" anchor="ctr">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By pro quota</a:t>
            </a:r>
            <a:r>
              <a:rPr lang="en-US" sz="900" baseline="30000">
                <a:solidFill>
                  <a:srgbClr val="000000"/>
                </a:solidFill>
                <a:latin typeface="Fund Light" pitchFamily="2" charset="-78"/>
                <a:cs typeface="Fund Light" pitchFamily="2" charset="-78"/>
              </a:rPr>
              <a:t>2</a:t>
            </a:r>
            <a:r>
              <a:rPr lang="en-US" sz="900" b="1">
                <a:solidFill>
                  <a:srgbClr val="000000"/>
                </a:solidFill>
                <a:latin typeface="Fund Light" pitchFamily="2" charset="-78"/>
                <a:cs typeface="Fund Light" pitchFamily="2" charset="-78"/>
              </a:rPr>
              <a:t> reimbursement of investment by the supplier</a:t>
            </a:r>
            <a:br>
              <a:rPr lang="en-US" sz="900" b="1">
                <a:solidFill>
                  <a:srgbClr val="000000"/>
                </a:solidFill>
                <a:latin typeface="Fund Light" pitchFamily="2" charset="-78"/>
                <a:cs typeface="Fund Light" pitchFamily="2" charset="-78"/>
              </a:rPr>
            </a:br>
            <a:r>
              <a:rPr lang="en-US" sz="900">
                <a:solidFill>
                  <a:srgbClr val="000000"/>
                </a:solidFill>
                <a:latin typeface="Fund Light" pitchFamily="2" charset="-78"/>
                <a:cs typeface="Fund Light" pitchFamily="2" charset="-78"/>
              </a:rPr>
              <a:t>(i.e.,  initial capex, fixed costs</a:t>
            </a:r>
            <a:r>
              <a:rPr lang="en-US" sz="900" baseline="30000">
                <a:solidFill>
                  <a:srgbClr val="000000"/>
                </a:solidFill>
                <a:latin typeface="Fund Light" pitchFamily="2" charset="-78"/>
                <a:cs typeface="Fund Light" pitchFamily="2" charset="-78"/>
              </a:rPr>
              <a:t>3</a:t>
            </a:r>
            <a:r>
              <a:rPr lang="en-US" sz="900">
                <a:solidFill>
                  <a:srgbClr val="000000"/>
                </a:solidFill>
                <a:latin typeface="Fund Light" pitchFamily="2" charset="-78"/>
                <a:cs typeface="Fund Light" pitchFamily="2" charset="-78"/>
              </a:rPr>
              <a:t>) </a:t>
            </a:r>
          </a:p>
        </p:txBody>
      </p:sp>
      <p:sp>
        <p:nvSpPr>
          <p:cNvPr id="135" name="Rectangle 134">
            <a:extLst>
              <a:ext uri="{FF2B5EF4-FFF2-40B4-BE49-F238E27FC236}">
                <a16:creationId xmlns:a16="http://schemas.microsoft.com/office/drawing/2014/main" id="{B7DF610C-5C83-BC98-B117-93ACA68CC111}"/>
              </a:ext>
            </a:extLst>
          </p:cNvPr>
          <p:cNvSpPr/>
          <p:nvPr/>
        </p:nvSpPr>
        <p:spPr>
          <a:xfrm>
            <a:off x="4312934" y="3060203"/>
            <a:ext cx="2131464" cy="830324"/>
          </a:xfrm>
          <a:prstGeom prst="rect">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SAR 104 Mn</a:t>
            </a:r>
          </a:p>
          <a:p>
            <a:pPr algn="ctr">
              <a:spcBef>
                <a:spcPts val="300"/>
              </a:spcBef>
              <a:spcAft>
                <a:spcPts val="300"/>
              </a:spcAft>
            </a:pPr>
            <a:r>
              <a:rPr lang="en-US" sz="900">
                <a:solidFill>
                  <a:srgbClr val="000000"/>
                </a:solidFill>
                <a:latin typeface="Fund Light" pitchFamily="2" charset="-78"/>
                <a:cs typeface="Fund Light" pitchFamily="2" charset="-78"/>
              </a:rPr>
              <a:t>70% x (SAR 56 Mn +</a:t>
            </a:r>
            <a:br>
              <a:rPr lang="en-US" sz="900">
                <a:solidFill>
                  <a:srgbClr val="000000"/>
                </a:solidFill>
                <a:latin typeface="Fund Light" pitchFamily="2" charset="-78"/>
                <a:cs typeface="Fund Light" pitchFamily="2" charset="-78"/>
              </a:rPr>
            </a:br>
            <a:r>
              <a:rPr lang="fr-FR" sz="900">
                <a:solidFill>
                  <a:srgbClr val="000000"/>
                </a:solidFill>
                <a:latin typeface="Fund Light" pitchFamily="2" charset="-78"/>
                <a:cs typeface="Fund Light" pitchFamily="2" charset="-78"/>
              </a:rPr>
              <a:t>33%</a:t>
            </a:r>
            <a:r>
              <a:rPr lang="fr-FR" sz="900" baseline="30000">
                <a:solidFill>
                  <a:srgbClr val="000000"/>
                </a:solidFill>
                <a:latin typeface="Fund Light" pitchFamily="2" charset="-78"/>
                <a:cs typeface="Fund Light" pitchFamily="2" charset="-78"/>
              </a:rPr>
              <a:t>4</a:t>
            </a:r>
            <a:r>
              <a:rPr lang="fr-FR" sz="900">
                <a:solidFill>
                  <a:srgbClr val="000000"/>
                </a:solidFill>
                <a:latin typeface="Fund Light" pitchFamily="2" charset="-78"/>
                <a:cs typeface="Fund Light" pitchFamily="2" charset="-78"/>
              </a:rPr>
              <a:t> x 100k units x 700 SAR/unit x 4 years)</a:t>
            </a:r>
            <a:endParaRPr lang="en-US" sz="900">
              <a:solidFill>
                <a:srgbClr val="000000"/>
              </a:solidFill>
              <a:latin typeface="Fund Light" pitchFamily="2" charset="-78"/>
              <a:cs typeface="Fund Light" pitchFamily="2" charset="-78"/>
            </a:endParaRPr>
          </a:p>
        </p:txBody>
      </p:sp>
      <p:sp>
        <p:nvSpPr>
          <p:cNvPr id="136" name="Rectangle 135">
            <a:extLst>
              <a:ext uri="{FF2B5EF4-FFF2-40B4-BE49-F238E27FC236}">
                <a16:creationId xmlns:a16="http://schemas.microsoft.com/office/drawing/2014/main" id="{93026ACB-5CB1-7538-E20A-C22FF7EE0AD0}"/>
              </a:ext>
            </a:extLst>
          </p:cNvPr>
          <p:cNvSpPr/>
          <p:nvPr/>
        </p:nvSpPr>
        <p:spPr>
          <a:xfrm>
            <a:off x="6620302" y="3060203"/>
            <a:ext cx="2131464" cy="830324"/>
          </a:xfrm>
          <a:prstGeom prst="rect">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spcBef>
                <a:spcPts val="300"/>
              </a:spcBef>
              <a:spcAft>
                <a:spcPts val="300"/>
              </a:spcAft>
            </a:pPr>
            <a:r>
              <a:rPr lang="en-US" sz="900" b="1">
                <a:solidFill>
                  <a:srgbClr val="000000"/>
                </a:solidFill>
                <a:latin typeface="Fund Light" pitchFamily="2" charset="-78"/>
                <a:cs typeface="Fund Light" pitchFamily="2" charset="-78"/>
              </a:rPr>
              <a:t>SAR 55 Mn</a:t>
            </a:r>
          </a:p>
          <a:p>
            <a:pPr algn="ctr">
              <a:spcBef>
                <a:spcPts val="300"/>
              </a:spcBef>
              <a:spcAft>
                <a:spcPts val="300"/>
              </a:spcAft>
            </a:pPr>
            <a:r>
              <a:rPr lang="en-US" sz="900">
                <a:solidFill>
                  <a:srgbClr val="000000"/>
                </a:solidFill>
                <a:latin typeface="Fund Light" pitchFamily="2" charset="-78"/>
                <a:cs typeface="Fund Light" pitchFamily="2" charset="-78"/>
              </a:rPr>
              <a:t>70% x (SAR 56 Mn +</a:t>
            </a:r>
            <a:br>
              <a:rPr lang="en-US" sz="900">
                <a:solidFill>
                  <a:srgbClr val="000000"/>
                </a:solidFill>
                <a:latin typeface="Fund Light" pitchFamily="2" charset="-78"/>
                <a:cs typeface="Fund Light" pitchFamily="2" charset="-78"/>
              </a:rPr>
            </a:br>
            <a:r>
              <a:rPr lang="fr-FR" sz="900">
                <a:solidFill>
                  <a:srgbClr val="000000"/>
                </a:solidFill>
                <a:latin typeface="Fund Light" pitchFamily="2" charset="-78"/>
                <a:cs typeface="Fund Light" pitchFamily="2" charset="-78"/>
              </a:rPr>
              <a:t>33%</a:t>
            </a:r>
            <a:r>
              <a:rPr lang="fr-FR" sz="900" baseline="30000">
                <a:solidFill>
                  <a:srgbClr val="000000"/>
                </a:solidFill>
                <a:latin typeface="Fund Light" pitchFamily="2" charset="-78"/>
                <a:cs typeface="Fund Light" pitchFamily="2" charset="-78"/>
              </a:rPr>
              <a:t>4</a:t>
            </a:r>
            <a:r>
              <a:rPr lang="fr-FR" sz="900">
                <a:solidFill>
                  <a:srgbClr val="000000"/>
                </a:solidFill>
                <a:latin typeface="Fund Light" pitchFamily="2" charset="-78"/>
                <a:cs typeface="Fund Light" pitchFamily="2" charset="-78"/>
              </a:rPr>
              <a:t> x 100k unit x 700 SAR/unit x 1 year)</a:t>
            </a:r>
            <a:endParaRPr lang="en-US" sz="900">
              <a:solidFill>
                <a:srgbClr val="000000"/>
              </a:solidFill>
              <a:latin typeface="Fund Light" pitchFamily="2" charset="-78"/>
              <a:cs typeface="Fund Light" pitchFamily="2" charset="-78"/>
            </a:endParaRPr>
          </a:p>
        </p:txBody>
      </p:sp>
      <p:sp>
        <p:nvSpPr>
          <p:cNvPr id="30" name="Speech Bubble: Rectangle 29">
            <a:extLst>
              <a:ext uri="{FF2B5EF4-FFF2-40B4-BE49-F238E27FC236}">
                <a16:creationId xmlns:a16="http://schemas.microsoft.com/office/drawing/2014/main" id="{ADF12ABD-9D2C-173F-2670-3B9F706A8CF9}"/>
              </a:ext>
            </a:extLst>
          </p:cNvPr>
          <p:cNvSpPr/>
          <p:nvPr/>
        </p:nvSpPr>
        <p:spPr>
          <a:xfrm>
            <a:off x="6676617" y="528754"/>
            <a:ext cx="2424610" cy="779673"/>
          </a:xfrm>
          <a:prstGeom prst="wedgeRectCallout">
            <a:avLst>
              <a:gd name="adj1" fmla="val -43496"/>
              <a:gd name="adj2" fmla="val 73838"/>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100"/>
              </a:spcBef>
              <a:spcAft>
                <a:spcPts val="100"/>
              </a:spcAft>
              <a:buFont typeface="Arial" panose="020B0604020202020204" pitchFamily="34" charset="0"/>
              <a:buChar char="•"/>
            </a:pPr>
            <a:r>
              <a:rPr lang="en-US" sz="800" b="1">
                <a:solidFill>
                  <a:srgbClr val="C4984F"/>
                </a:solidFill>
                <a:latin typeface="Fund Light" pitchFamily="2" charset="-78"/>
                <a:cs typeface="Fund Light" pitchFamily="2" charset="-78"/>
              </a:rPr>
              <a:t>Contract length</a:t>
            </a:r>
            <a:r>
              <a:rPr lang="en-US" sz="800">
                <a:solidFill>
                  <a:srgbClr val="C4984F"/>
                </a:solidFill>
                <a:latin typeface="Fund Light" pitchFamily="2" charset="-78"/>
                <a:cs typeface="Fund Light" pitchFamily="2" charset="-78"/>
              </a:rPr>
              <a:t>: 5 years</a:t>
            </a:r>
          </a:p>
          <a:p>
            <a:pPr marL="171450" indent="-171450">
              <a:spcBef>
                <a:spcPts val="100"/>
              </a:spcBef>
              <a:spcAft>
                <a:spcPts val="100"/>
              </a:spcAft>
              <a:buFont typeface="Arial" panose="020B0604020202020204" pitchFamily="34" charset="0"/>
              <a:buChar char="•"/>
            </a:pPr>
            <a:r>
              <a:rPr lang="en-US" sz="800" b="1">
                <a:solidFill>
                  <a:srgbClr val="C4984F"/>
                </a:solidFill>
                <a:latin typeface="Fund Light" pitchFamily="2" charset="-78"/>
                <a:cs typeface="Fund Light" pitchFamily="2" charset="-78"/>
              </a:rPr>
              <a:t>Demand commitment</a:t>
            </a:r>
            <a:r>
              <a:rPr lang="en-US" sz="800">
                <a:solidFill>
                  <a:srgbClr val="C4984F"/>
                </a:solidFill>
                <a:latin typeface="Fund Light" pitchFamily="2" charset="-78"/>
                <a:cs typeface="Fund Light" pitchFamily="2" charset="-78"/>
              </a:rPr>
              <a:t>: 70,000 units/year</a:t>
            </a:r>
          </a:p>
          <a:p>
            <a:pPr marL="171450" indent="-171450">
              <a:spcBef>
                <a:spcPts val="100"/>
              </a:spcBef>
              <a:spcAft>
                <a:spcPts val="100"/>
              </a:spcAft>
              <a:buFont typeface="Arial" panose="020B0604020202020204" pitchFamily="34" charset="0"/>
              <a:buChar char="•"/>
            </a:pPr>
            <a:r>
              <a:rPr lang="en-US" sz="800" b="1">
                <a:solidFill>
                  <a:srgbClr val="C4984F"/>
                </a:solidFill>
                <a:latin typeface="Fund Light" pitchFamily="2" charset="-78"/>
                <a:cs typeface="Fund Light" pitchFamily="2" charset="-78"/>
              </a:rPr>
              <a:t>Price</a:t>
            </a:r>
            <a:r>
              <a:rPr lang="en-US" sz="800">
                <a:solidFill>
                  <a:srgbClr val="C4984F"/>
                </a:solidFill>
                <a:latin typeface="Fund Light" pitchFamily="2" charset="-78"/>
                <a:cs typeface="Fund Light" pitchFamily="2" charset="-78"/>
              </a:rPr>
              <a:t>: 700 SAR/unit</a:t>
            </a:r>
          </a:p>
          <a:p>
            <a:pPr marL="171450" indent="-171450">
              <a:spcBef>
                <a:spcPts val="100"/>
              </a:spcBef>
              <a:spcAft>
                <a:spcPts val="100"/>
              </a:spcAft>
              <a:buFont typeface="Arial" panose="020B0604020202020204" pitchFamily="34" charset="0"/>
              <a:buChar char="•"/>
            </a:pPr>
            <a:r>
              <a:rPr lang="en-US" sz="800" b="1">
                <a:solidFill>
                  <a:srgbClr val="C4984F"/>
                </a:solidFill>
                <a:latin typeface="Fund Light" pitchFamily="2" charset="-78"/>
                <a:cs typeface="Fund Light" pitchFamily="2" charset="-78"/>
              </a:rPr>
              <a:t>Capex</a:t>
            </a:r>
            <a:r>
              <a:rPr lang="en-US" sz="800">
                <a:solidFill>
                  <a:srgbClr val="C4984F"/>
                </a:solidFill>
                <a:latin typeface="Fund Light" pitchFamily="2" charset="-78"/>
                <a:cs typeface="Fund Light" pitchFamily="2" charset="-78"/>
              </a:rPr>
              <a:t>: SAR 56 Mn</a:t>
            </a:r>
          </a:p>
          <a:p>
            <a:pPr marL="171450" indent="-171450">
              <a:spcBef>
                <a:spcPts val="100"/>
              </a:spcBef>
              <a:spcAft>
                <a:spcPts val="100"/>
              </a:spcAft>
              <a:buFont typeface="Arial" panose="020B0604020202020204" pitchFamily="34" charset="0"/>
              <a:buChar char="•"/>
            </a:pPr>
            <a:r>
              <a:rPr lang="en-US" sz="800" b="1">
                <a:solidFill>
                  <a:srgbClr val="C4984F"/>
                </a:solidFill>
                <a:latin typeface="Fund Light" pitchFamily="2" charset="-78"/>
                <a:cs typeface="Fund Light" pitchFamily="2" charset="-78"/>
              </a:rPr>
              <a:t>Plant capacity</a:t>
            </a:r>
            <a:r>
              <a:rPr lang="en-US" sz="800">
                <a:solidFill>
                  <a:srgbClr val="C4984F"/>
                </a:solidFill>
                <a:latin typeface="Fund Light" pitchFamily="2" charset="-78"/>
                <a:cs typeface="Fund Light" pitchFamily="2" charset="-78"/>
              </a:rPr>
              <a:t>: 100,000 units/year</a:t>
            </a:r>
          </a:p>
        </p:txBody>
      </p:sp>
      <p:sp>
        <p:nvSpPr>
          <p:cNvPr id="16" name="Oval 15">
            <a:extLst>
              <a:ext uri="{FF2B5EF4-FFF2-40B4-BE49-F238E27FC236}">
                <a16:creationId xmlns:a16="http://schemas.microsoft.com/office/drawing/2014/main" id="{75990169-2537-0DDC-2755-2F6DC5CD3508}"/>
              </a:ext>
            </a:extLst>
          </p:cNvPr>
          <p:cNvSpPr/>
          <p:nvPr/>
        </p:nvSpPr>
        <p:spPr>
          <a:xfrm>
            <a:off x="1771886" y="2093646"/>
            <a:ext cx="206101" cy="206101"/>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a</a:t>
            </a:r>
          </a:p>
        </p:txBody>
      </p:sp>
      <p:sp>
        <p:nvSpPr>
          <p:cNvPr id="18" name="Oval 17">
            <a:extLst>
              <a:ext uri="{FF2B5EF4-FFF2-40B4-BE49-F238E27FC236}">
                <a16:creationId xmlns:a16="http://schemas.microsoft.com/office/drawing/2014/main" id="{35144FA6-4A55-678F-2E93-0CB0253D1593}"/>
              </a:ext>
            </a:extLst>
          </p:cNvPr>
          <p:cNvSpPr/>
          <p:nvPr/>
        </p:nvSpPr>
        <p:spPr>
          <a:xfrm>
            <a:off x="1771886" y="3367358"/>
            <a:ext cx="206101" cy="206101"/>
          </a:xfrm>
          <a:prstGeom prst="ellipse">
            <a:avLst/>
          </a:prstGeom>
          <a:solidFill>
            <a:schemeClr val="bg2"/>
          </a:solidFill>
        </p:spPr>
        <p:txBody>
          <a:bodyPr wrap="square" lIns="0" tIns="0" rIns="0" bIns="0" rtlCol="0" anchor="ctr">
            <a:noAutofit/>
          </a:bodyPr>
          <a:lstStyle/>
          <a:p>
            <a:pPr algn="ctr">
              <a:spcBef>
                <a:spcPts val="300"/>
              </a:spcBef>
              <a:spcAft>
                <a:spcPts val="300"/>
              </a:spcAft>
            </a:pPr>
            <a:r>
              <a:rPr lang="en-US" sz="900" b="1">
                <a:solidFill>
                  <a:schemeClr val="bg1"/>
                </a:solidFill>
                <a:latin typeface="Fund Light" pitchFamily="2" charset="-78"/>
                <a:cs typeface="Fund Light" pitchFamily="2" charset="-78"/>
              </a:rPr>
              <a:t>b</a:t>
            </a:r>
          </a:p>
        </p:txBody>
      </p:sp>
      <p:sp>
        <p:nvSpPr>
          <p:cNvPr id="23" name="Rectangle 22">
            <a:extLst>
              <a:ext uri="{FF2B5EF4-FFF2-40B4-BE49-F238E27FC236}">
                <a16:creationId xmlns:a16="http://schemas.microsoft.com/office/drawing/2014/main" id="{5AF8451C-6A80-5515-DD09-6A5EE940C229}"/>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Output example</a:t>
            </a:r>
          </a:p>
        </p:txBody>
      </p:sp>
      <p:sp>
        <p:nvSpPr>
          <p:cNvPr id="24" name="TextBox 23">
            <a:extLst>
              <a:ext uri="{FF2B5EF4-FFF2-40B4-BE49-F238E27FC236}">
                <a16:creationId xmlns:a16="http://schemas.microsoft.com/office/drawing/2014/main" id="{E2EC7953-2B2E-B105-564C-00FD11D0AE30}"/>
              </a:ext>
            </a:extLst>
          </p:cNvPr>
          <p:cNvSpPr txBox="1"/>
          <p:nvPr/>
        </p:nvSpPr>
        <p:spPr>
          <a:xfrm>
            <a:off x="332711" y="4380406"/>
            <a:ext cx="8490657" cy="261610"/>
          </a:xfrm>
          <a:prstGeom prst="rect">
            <a:avLst/>
          </a:prstGeom>
          <a:noFill/>
        </p:spPr>
        <p:txBody>
          <a:bodyPr wrap="square">
            <a:spAutoFit/>
          </a:bodyPr>
          <a:lstStyle/>
          <a:p>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In the illustration above, the termination payment after year 4 should be SAR 49 Mn</a:t>
            </a:r>
            <a:endParaRPr lang="en-US" sz="1100" i="1"/>
          </a:p>
        </p:txBody>
      </p:sp>
      <p:sp>
        <p:nvSpPr>
          <p:cNvPr id="36" name="Text Placeholder 6">
            <a:extLst>
              <a:ext uri="{FF2B5EF4-FFF2-40B4-BE49-F238E27FC236}">
                <a16:creationId xmlns:a16="http://schemas.microsoft.com/office/drawing/2014/main" id="{1B936AE5-BAD1-29E2-0663-3E8619109FAE}"/>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37" name="Oval 36">
            <a:extLst>
              <a:ext uri="{FF2B5EF4-FFF2-40B4-BE49-F238E27FC236}">
                <a16:creationId xmlns:a16="http://schemas.microsoft.com/office/drawing/2014/main" id="{00CF23DA-5F23-1B4A-A644-D0C52EDB4F9E}"/>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
        <p:nvSpPr>
          <p:cNvPr id="3" name="Oval 2">
            <a:extLst>
              <a:ext uri="{FF2B5EF4-FFF2-40B4-BE49-F238E27FC236}">
                <a16:creationId xmlns:a16="http://schemas.microsoft.com/office/drawing/2014/main" id="{430DD7FA-48D7-F379-E096-AE6D6103F80E}"/>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sp>
        <p:nvSpPr>
          <p:cNvPr id="6" name="Text Placeholder 6">
            <a:extLst>
              <a:ext uri="{FF2B5EF4-FFF2-40B4-BE49-F238E27FC236}">
                <a16:creationId xmlns:a16="http://schemas.microsoft.com/office/drawing/2014/main" id="{DC67F9D5-D6DB-9298-4783-76AA35AB9CEE}"/>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Liability risk</a:t>
            </a:r>
          </a:p>
        </p:txBody>
      </p:sp>
    </p:spTree>
    <p:extLst>
      <p:ext uri="{BB962C8B-B14F-4D97-AF65-F5344CB8AC3E}">
        <p14:creationId xmlns:p14="http://schemas.microsoft.com/office/powerpoint/2010/main" val="5608067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D71090D6-0B35-1EAE-D992-6BB6DF7BA60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25" name="think-cell data - do not delete" hidden="1">
                        <a:extLst>
                          <a:ext uri="{FF2B5EF4-FFF2-40B4-BE49-F238E27FC236}">
                            <a16:creationId xmlns:a16="http://schemas.microsoft.com/office/drawing/2014/main" id="{D71090D6-0B35-1EAE-D992-6BB6DF7BA60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3827200-7596-77D8-D68E-6DFACB7B68E5}"/>
              </a:ext>
            </a:extLst>
          </p:cNvPr>
          <p:cNvSpPr>
            <a:spLocks noGrp="1"/>
          </p:cNvSpPr>
          <p:nvPr>
            <p:ph type="body" idx="4294967295"/>
          </p:nvPr>
        </p:nvSpPr>
        <p:spPr>
          <a:xfrm>
            <a:off x="1551727" y="4767025"/>
            <a:ext cx="7112000" cy="274637"/>
          </a:xfrm>
        </p:spPr>
        <p:txBody>
          <a:bodyPr anchor="t">
            <a:normAutofit fontScale="92500"/>
          </a:bodyPr>
          <a:lstStyle/>
          <a:p>
            <a:r>
              <a:rPr lang="en-US"/>
              <a:t>1. In line with what the manufacturer has committed to during the contracting phase; 2. E.g., certificate of registration, certificate of payment of Zakat, registration in GOSI</a:t>
            </a:r>
          </a:p>
        </p:txBody>
      </p:sp>
      <p:sp>
        <p:nvSpPr>
          <p:cNvPr id="5" name="Text Placeholder 4">
            <a:extLst>
              <a:ext uri="{FF2B5EF4-FFF2-40B4-BE49-F238E27FC236}">
                <a16:creationId xmlns:a16="http://schemas.microsoft.com/office/drawing/2014/main" id="{D72D1CAA-47EB-DDC9-5B56-AD2D6178517A}"/>
              </a:ext>
            </a:extLst>
          </p:cNvPr>
          <p:cNvSpPr>
            <a:spLocks noGrp="1"/>
          </p:cNvSpPr>
          <p:nvPr>
            <p:ph type="body" sz="quarter" idx="4294967295"/>
          </p:nvPr>
        </p:nvSpPr>
        <p:spPr>
          <a:xfrm>
            <a:off x="0" y="1179513"/>
            <a:ext cx="8674100" cy="187325"/>
          </a:xfrm>
        </p:spPr>
        <p:txBody>
          <a:bodyPr/>
          <a:lstStyle/>
          <a:p>
            <a:r>
              <a:rPr lang="en-US"/>
              <a:t> </a:t>
            </a:r>
          </a:p>
        </p:txBody>
      </p:sp>
      <p:graphicFrame>
        <p:nvGraphicFramePr>
          <p:cNvPr id="35" name="Table 141">
            <a:extLst>
              <a:ext uri="{FF2B5EF4-FFF2-40B4-BE49-F238E27FC236}">
                <a16:creationId xmlns:a16="http://schemas.microsoft.com/office/drawing/2014/main" id="{4E6F99EA-925F-DB17-CA0D-F9AF51267B20}"/>
              </a:ext>
            </a:extLst>
          </p:cNvPr>
          <p:cNvGraphicFramePr>
            <a:graphicFrameLocks noGrp="1"/>
          </p:cNvGraphicFramePr>
          <p:nvPr>
            <p:extLst>
              <p:ext uri="{D42A27DB-BD31-4B8C-83A1-F6EECF244321}">
                <p14:modId xmlns:p14="http://schemas.microsoft.com/office/powerpoint/2010/main" val="2246933743"/>
              </p:ext>
            </p:extLst>
          </p:nvPr>
        </p:nvGraphicFramePr>
        <p:xfrm>
          <a:off x="298408" y="1015243"/>
          <a:ext cx="8482420" cy="3241850"/>
        </p:xfrm>
        <a:graphic>
          <a:graphicData uri="http://schemas.openxmlformats.org/drawingml/2006/table">
            <a:tbl>
              <a:tblPr firstRow="1" bandRow="1">
                <a:tableStyleId>{5C22544A-7EE6-4342-B048-85BDC9FD1C3A}</a:tableStyleId>
              </a:tblPr>
              <a:tblGrid>
                <a:gridCol w="737155">
                  <a:extLst>
                    <a:ext uri="{9D8B030D-6E8A-4147-A177-3AD203B41FA5}">
                      <a16:colId xmlns:a16="http://schemas.microsoft.com/office/drawing/2014/main" val="522316640"/>
                    </a:ext>
                  </a:extLst>
                </a:gridCol>
                <a:gridCol w="1539024">
                  <a:extLst>
                    <a:ext uri="{9D8B030D-6E8A-4147-A177-3AD203B41FA5}">
                      <a16:colId xmlns:a16="http://schemas.microsoft.com/office/drawing/2014/main" val="3633553993"/>
                    </a:ext>
                  </a:extLst>
                </a:gridCol>
                <a:gridCol w="4072647">
                  <a:extLst>
                    <a:ext uri="{9D8B030D-6E8A-4147-A177-3AD203B41FA5}">
                      <a16:colId xmlns:a16="http://schemas.microsoft.com/office/drawing/2014/main" val="1585286637"/>
                    </a:ext>
                  </a:extLst>
                </a:gridCol>
                <a:gridCol w="1300483">
                  <a:extLst>
                    <a:ext uri="{9D8B030D-6E8A-4147-A177-3AD203B41FA5}">
                      <a16:colId xmlns:a16="http://schemas.microsoft.com/office/drawing/2014/main" val="4212489912"/>
                    </a:ext>
                  </a:extLst>
                </a:gridCol>
                <a:gridCol w="833111">
                  <a:extLst>
                    <a:ext uri="{9D8B030D-6E8A-4147-A177-3AD203B41FA5}">
                      <a16:colId xmlns:a16="http://schemas.microsoft.com/office/drawing/2014/main" val="1515870065"/>
                    </a:ext>
                  </a:extLst>
                </a:gridCol>
              </a:tblGrid>
              <a:tr h="622822">
                <a:tc rowSpan="5">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Supply 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rowSpan="3">
                  <a:txBody>
                    <a:bodyPr/>
                    <a:lstStyle/>
                    <a:p>
                      <a:pPr rtl="0"/>
                      <a:r>
                        <a:rPr lang="en-US" sz="800" b="1">
                          <a:solidFill>
                            <a:srgbClr val="C4984F"/>
                          </a:solidFill>
                          <a:latin typeface="Fund Light" pitchFamily="2" charset="-78"/>
                          <a:cs typeface="Fund Light" pitchFamily="2" charset="-78"/>
                        </a:rPr>
                        <a:t>How to minimize supply risk for buyer? </a:t>
                      </a:r>
                      <a:r>
                        <a:rPr lang="en-US" sz="800" b="0">
                          <a:solidFill>
                            <a:srgbClr val="C4984F"/>
                          </a:solidFill>
                          <a:latin typeface="Fund Light" pitchFamily="2" charset="-78"/>
                          <a:cs typeface="Fund Light" pitchFamily="2" charset="-78"/>
                        </a:rPr>
                        <a:t>i.e., delivery, quantity, quality</a:t>
                      </a:r>
                      <a:endParaRPr kumimoji="0" lang="en-US" sz="800" b="0" i="0" u="none" strike="noStrike" kern="1200" cap="none" spc="0" normalizeH="0" baseline="0" noProof="0">
                        <a:ln>
                          <a:noFill/>
                        </a:ln>
                        <a:solidFill>
                          <a:srgbClr val="C4984F"/>
                        </a:solidFill>
                        <a:effectLst/>
                        <a:uLnTx/>
                        <a:uFillTx/>
                        <a:latin typeface="Fund Light" pitchFamily="2" charset="-78"/>
                        <a:ea typeface="+mn-ea"/>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US" sz="800" b="0" i="0">
                          <a:solidFill>
                            <a:srgbClr val="000000"/>
                          </a:solidFill>
                          <a:latin typeface="Fund Light" pitchFamily="2" charset="-78"/>
                          <a:cs typeface="Fund Light" pitchFamily="2" charset="-78"/>
                        </a:rPr>
                        <a:t>LDC agreement to trigger only post-start of </a:t>
                      </a:r>
                      <a:r>
                        <a:rPr lang="en-US" sz="800" b="1" i="0">
                          <a:solidFill>
                            <a:srgbClr val="000000"/>
                          </a:solidFill>
                          <a:latin typeface="Fund Light" pitchFamily="2" charset="-78"/>
                          <a:cs typeface="Fund Light" pitchFamily="2" charset="-78"/>
                        </a:rPr>
                        <a:t>conditions precedents </a:t>
                      </a:r>
                      <a:r>
                        <a:rPr lang="en-US" sz="800" b="0" i="0">
                          <a:solidFill>
                            <a:srgbClr val="000000"/>
                          </a:solidFill>
                          <a:latin typeface="Fund Light" pitchFamily="2" charset="-78"/>
                          <a:cs typeface="Fund Light" pitchFamily="2" charset="-78"/>
                        </a:rPr>
                        <a:t>covering </a:t>
                      </a:r>
                      <a:r>
                        <a:rPr lang="en-US" sz="800" b="1" i="0">
                          <a:solidFill>
                            <a:srgbClr val="000000"/>
                          </a:solidFill>
                          <a:latin typeface="Fund Light" pitchFamily="2" charset="-78"/>
                          <a:cs typeface="Fund Light" pitchFamily="2" charset="-78"/>
                        </a:rPr>
                        <a:t>pre-production conditions</a:t>
                      </a:r>
                      <a:r>
                        <a:rPr lang="en-US" sz="800" b="1" i="0" baseline="30000">
                          <a:solidFill>
                            <a:srgbClr val="000000"/>
                          </a:solidFill>
                          <a:latin typeface="Fund Light" pitchFamily="2" charset="-78"/>
                          <a:cs typeface="Fund Light" pitchFamily="2" charset="-78"/>
                        </a:rPr>
                        <a:t>1</a:t>
                      </a:r>
                      <a:r>
                        <a:rPr lang="en-US" sz="800" b="1" i="0">
                          <a:solidFill>
                            <a:srgbClr val="000000"/>
                          </a:solidFill>
                          <a:latin typeface="Fund Light" pitchFamily="2" charset="-78"/>
                          <a:cs typeface="Fund Light" pitchFamily="2" charset="-78"/>
                        </a:rPr>
                        <a:t> </a:t>
                      </a:r>
                      <a:r>
                        <a:rPr lang="en-US" sz="800" b="0" i="0">
                          <a:solidFill>
                            <a:srgbClr val="000000"/>
                          </a:solidFill>
                          <a:latin typeface="Fund Light" pitchFamily="2" charset="-78"/>
                          <a:cs typeface="Fund Light" pitchFamily="2" charset="-78"/>
                        </a:rPr>
                        <a:t>(e.g., timeline, production capacity, production technology) and </a:t>
                      </a:r>
                      <a:r>
                        <a:rPr lang="en-US" sz="800" b="1" i="0">
                          <a:solidFill>
                            <a:srgbClr val="000000"/>
                          </a:solidFill>
                          <a:latin typeface="Fund Light" pitchFamily="2" charset="-78"/>
                          <a:cs typeface="Fund Light" pitchFamily="2" charset="-78"/>
                        </a:rPr>
                        <a:t>production conditions </a:t>
                      </a:r>
                      <a:r>
                        <a:rPr lang="en-US" sz="800" b="0" i="0">
                          <a:solidFill>
                            <a:srgbClr val="000000"/>
                          </a:solidFill>
                          <a:latin typeface="Fund Light" pitchFamily="2" charset="-78"/>
                          <a:cs typeface="Fund Light" pitchFamily="2" charset="-78"/>
                        </a:rPr>
                        <a:t>(e.g., specifications, localization, Saudi Made certificate, other certificates</a:t>
                      </a:r>
                      <a:r>
                        <a:rPr lang="en-US" sz="800" b="0" i="0" baseline="30000">
                          <a:solidFill>
                            <a:srgbClr val="000000"/>
                          </a:solidFill>
                          <a:latin typeface="Fund Light" pitchFamily="2" charset="-78"/>
                          <a:cs typeface="Fund Light" pitchFamily="2" charset="-78"/>
                        </a:rPr>
                        <a:t>2</a:t>
                      </a:r>
                      <a:r>
                        <a:rPr lang="en-US" sz="800" b="0" i="0">
                          <a:solidFill>
                            <a:srgbClr val="000000"/>
                          </a:solidFill>
                          <a:latin typeface="Fund Light" pitchFamily="2" charset="-78"/>
                          <a:cs typeface="Fund Light" pitchFamily="2" charset="-78"/>
                        </a:rPr>
                        <a:t>)</a:t>
                      </a:r>
                      <a:endParaRPr lang="en-US" sz="800" b="1" i="0" u="sng">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CONDITIONS PRECEDENTS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3.1</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87678"/>
                  </a:ext>
                </a:extLst>
              </a:tr>
              <a:tr h="622822">
                <a:tc vMerge="1">
                  <a:txBody>
                    <a:bodyPr/>
                    <a:lstStyle/>
                    <a:p>
                      <a:endParaRPr lang="en-US"/>
                    </a:p>
                  </a:txBody>
                  <a:tcPr/>
                </a:tc>
                <a:tc vMerge="1">
                  <a:txBody>
                    <a:bodyPr/>
                    <a:lstStyle/>
                    <a:p>
                      <a:endParaRPr lang="en-US"/>
                    </a:p>
                  </a:txBody>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Notification mechanisms </a:t>
                      </a:r>
                      <a:r>
                        <a:rPr lang="en-US" sz="800" b="0" i="0">
                          <a:solidFill>
                            <a:srgbClr val="000000"/>
                          </a:solidFill>
                          <a:latin typeface="Fund Light" pitchFamily="2" charset="-78"/>
                          <a:cs typeface="Fund Light" pitchFamily="2" charset="-78"/>
                        </a:rPr>
                        <a:t>in place to prevent any supply shortfall for each purchase order (i.e., time, quantity, specs)</a:t>
                      </a:r>
                      <a:endParaRPr lang="en-US" sz="800" b="1"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FACTORY READINESS,</a:t>
                      </a:r>
                    </a:p>
                    <a:p>
                      <a:pPr marL="0" indent="0" algn="l" rtl="0">
                        <a:lnSpc>
                          <a:spcPct val="150000"/>
                        </a:lnSpc>
                        <a:buFont typeface="+mj-lt"/>
                        <a:buNone/>
                      </a:pPr>
                      <a:r>
                        <a:rPr lang="en-US" sz="800" b="1" i="0">
                          <a:solidFill>
                            <a:srgbClr val="000000"/>
                          </a:solidFill>
                          <a:latin typeface="Fund Light" pitchFamily="2" charset="-78"/>
                          <a:cs typeface="Fund Light" pitchFamily="2" charset="-78"/>
                        </a:rPr>
                        <a:t>REPRESENTATIONS AND UNDERTAKINGS</a:t>
                      </a:r>
                      <a:r>
                        <a:rPr lang="en-US" sz="800" b="0" i="0">
                          <a:solidFill>
                            <a:srgbClr val="000000"/>
                          </a:solidFill>
                          <a:latin typeface="Fund Light" pitchFamily="2" charset="-78"/>
                          <a:cs typeface="Fund Light" pitchFamily="2" charset="-78"/>
                        </a:rPr>
                        <a:t> </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2.1.4</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8.2.1 (h)</a:t>
                      </a:r>
                      <a:br>
                        <a:rPr lang="en-US" sz="800" b="0" i="0">
                          <a:solidFill>
                            <a:srgbClr val="000000"/>
                          </a:solidFill>
                          <a:latin typeface="Fund Light" pitchFamily="2" charset="-78"/>
                          <a:cs typeface="Fund Light" pitchFamily="2" charset="-78"/>
                        </a:rPr>
                      </a:br>
                      <a:endParaRPr lang="en-US" sz="800" b="0" i="0">
                        <a:solidFill>
                          <a:srgbClr val="000000"/>
                        </a:solidFill>
                        <a:latin typeface="Fund Light" pitchFamily="2" charset="-78"/>
                        <a:cs typeface="Fund Light" pitchFamily="2" charset="-78"/>
                      </a:endParaRP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8641501"/>
                  </a:ext>
                </a:extLst>
              </a:tr>
              <a:tr h="622822">
                <a:tc vMerge="1">
                  <a:txBody>
                    <a:bodyPr/>
                    <a:lstStyle/>
                    <a:p>
                      <a:endParaRPr lang="en-US"/>
                    </a:p>
                  </a:txBody>
                  <a:tcPr/>
                </a:tc>
                <a:tc vMerge="1">
                  <a:txBody>
                    <a:bodyPr/>
                    <a:lstStyle/>
                    <a:p>
                      <a:endParaRPr lang="en-US"/>
                    </a:p>
                  </a:txBody>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Changes and amendments </a:t>
                      </a:r>
                      <a:r>
                        <a:rPr lang="en-US" sz="800" b="0" i="0">
                          <a:solidFill>
                            <a:srgbClr val="000000"/>
                          </a:solidFill>
                          <a:latin typeface="Fund Light" pitchFamily="2" charset="-78"/>
                          <a:cs typeface="Fund Light" pitchFamily="2" charset="-78"/>
                        </a:rPr>
                        <a:t>can be requested for every purchase order (i.e., price, quantity, specs), and at the beginning of each contractual year</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5.9, 5.10</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9987782"/>
                  </a:ext>
                </a:extLst>
              </a:tr>
              <a:tr h="622822">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How to ensure the buyer is compensated in an adequate way?</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3EADB"/>
                    </a:solidFill>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Performance bond </a:t>
                      </a:r>
                      <a:r>
                        <a:rPr lang="en-US" sz="800" b="0" i="0">
                          <a:solidFill>
                            <a:srgbClr val="000000"/>
                          </a:solidFill>
                          <a:latin typeface="Fund Light" pitchFamily="2" charset="-78"/>
                          <a:cs typeface="Fund Light" pitchFamily="2" charset="-78"/>
                        </a:rPr>
                        <a:t>issued every PO (5% of the PO value, provided by a reputable bank in KSA)</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5.11</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227"/>
                  </a:ext>
                </a:extLst>
              </a:tr>
              <a:tr h="622822">
                <a:tc vMerge="1">
                  <a:txBody>
                    <a:bodyPr/>
                    <a:lstStyle/>
                    <a:p>
                      <a:endParaRPr lang="en-US"/>
                    </a:p>
                  </a:txBody>
                  <a:tcPr/>
                </a:tc>
                <a:tc vMerge="1">
                  <a:txBody>
                    <a:bodyPr/>
                    <a:lstStyle/>
                    <a:p>
                      <a:endParaRPr lang="en-US"/>
                    </a:p>
                  </a:txBody>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Buyer </a:t>
                      </a:r>
                      <a:r>
                        <a:rPr lang="en-US" sz="800" b="0" i="0">
                          <a:solidFill>
                            <a:srgbClr val="000000"/>
                          </a:solidFill>
                          <a:latin typeface="Fund Light" pitchFamily="2" charset="-78"/>
                          <a:cs typeface="Fund Light" pitchFamily="2" charset="-78"/>
                        </a:rPr>
                        <a:t>to claim for compensation (i.e., liquidated damages, claw-back mechanism, invoke performance bond, termination contract)</a:t>
                      </a:r>
                      <a:endParaRPr lang="en-US" sz="800" b="1"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CONSEQUENCES OF EVENTS OF DEFAULT AND TERMINATION</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12.1, 12.3.3,</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schedule 2 (6.1)</a:t>
                      </a:r>
                    </a:p>
                  </a:txBody>
                  <a:tcPr marL="0" marR="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4385608"/>
                  </a:ext>
                </a:extLst>
              </a:tr>
            </a:tbl>
          </a:graphicData>
        </a:graphic>
      </p:graphicFrame>
      <p:cxnSp>
        <p:nvCxnSpPr>
          <p:cNvPr id="37" name="Straight Connector 36">
            <a:extLst>
              <a:ext uri="{FF2B5EF4-FFF2-40B4-BE49-F238E27FC236}">
                <a16:creationId xmlns:a16="http://schemas.microsoft.com/office/drawing/2014/main" id="{0BBADE3E-862B-D2B5-558C-B68A0E51F840}"/>
              </a:ext>
            </a:extLst>
          </p:cNvPr>
          <p:cNvCxnSpPr>
            <a:cxnSpLocks/>
          </p:cNvCxnSpPr>
          <p:nvPr/>
        </p:nvCxnSpPr>
        <p:spPr>
          <a:xfrm>
            <a:off x="1083015" y="967693"/>
            <a:ext cx="144617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FFD54B-62A2-AC8D-0786-F607819E2148}"/>
              </a:ext>
            </a:extLst>
          </p:cNvPr>
          <p:cNvSpPr txBox="1"/>
          <p:nvPr/>
        </p:nvSpPr>
        <p:spPr>
          <a:xfrm>
            <a:off x="1083014" y="745495"/>
            <a:ext cx="1446177"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Key questions</a:t>
            </a:r>
          </a:p>
        </p:txBody>
      </p:sp>
      <p:sp>
        <p:nvSpPr>
          <p:cNvPr id="45" name="Oval 44">
            <a:extLst>
              <a:ext uri="{FF2B5EF4-FFF2-40B4-BE49-F238E27FC236}">
                <a16:creationId xmlns:a16="http://schemas.microsoft.com/office/drawing/2014/main" id="{82FD7590-F68E-6C6C-92D4-29F73828C62A}"/>
              </a:ext>
            </a:extLst>
          </p:cNvPr>
          <p:cNvSpPr/>
          <p:nvPr/>
        </p:nvSpPr>
        <p:spPr>
          <a:xfrm>
            <a:off x="986422" y="1920032"/>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cxnSp>
        <p:nvCxnSpPr>
          <p:cNvPr id="7" name="Straight Connector 6">
            <a:extLst>
              <a:ext uri="{FF2B5EF4-FFF2-40B4-BE49-F238E27FC236}">
                <a16:creationId xmlns:a16="http://schemas.microsoft.com/office/drawing/2014/main" id="{91CF5076-0A76-C726-2DA3-72179B2DD7EF}"/>
              </a:ext>
            </a:extLst>
          </p:cNvPr>
          <p:cNvCxnSpPr>
            <a:cxnSpLocks/>
          </p:cNvCxnSpPr>
          <p:nvPr/>
        </p:nvCxnSpPr>
        <p:spPr>
          <a:xfrm>
            <a:off x="2602926" y="967693"/>
            <a:ext cx="401188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3B0979-39F6-A6F4-616E-0F033C73D6EE}"/>
              </a:ext>
            </a:extLst>
          </p:cNvPr>
          <p:cNvSpPr txBox="1"/>
          <p:nvPr/>
        </p:nvSpPr>
        <p:spPr>
          <a:xfrm>
            <a:off x="2602924" y="745495"/>
            <a:ext cx="401188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Mitigation mechanism</a:t>
            </a:r>
          </a:p>
        </p:txBody>
      </p:sp>
      <p:sp>
        <p:nvSpPr>
          <p:cNvPr id="18" name="Oval 17">
            <a:extLst>
              <a:ext uri="{FF2B5EF4-FFF2-40B4-BE49-F238E27FC236}">
                <a16:creationId xmlns:a16="http://schemas.microsoft.com/office/drawing/2014/main" id="{E88C9671-0178-3E86-BE03-F10287D777FA}"/>
              </a:ext>
            </a:extLst>
          </p:cNvPr>
          <p:cNvSpPr/>
          <p:nvPr/>
        </p:nvSpPr>
        <p:spPr>
          <a:xfrm>
            <a:off x="986422" y="355470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b</a:t>
            </a:r>
          </a:p>
        </p:txBody>
      </p:sp>
      <p:sp>
        <p:nvSpPr>
          <p:cNvPr id="22" name="Oval 21">
            <a:extLst>
              <a:ext uri="{FF2B5EF4-FFF2-40B4-BE49-F238E27FC236}">
                <a16:creationId xmlns:a16="http://schemas.microsoft.com/office/drawing/2014/main" id="{37DD4C68-885E-F80D-4C64-BB3AD638C023}"/>
              </a:ext>
            </a:extLst>
          </p:cNvPr>
          <p:cNvSpPr/>
          <p:nvPr/>
        </p:nvSpPr>
        <p:spPr>
          <a:xfrm>
            <a:off x="211480" y="2519692"/>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2</a:t>
            </a:r>
          </a:p>
        </p:txBody>
      </p:sp>
      <p:cxnSp>
        <p:nvCxnSpPr>
          <p:cNvPr id="10" name="Straight Connector 9">
            <a:extLst>
              <a:ext uri="{FF2B5EF4-FFF2-40B4-BE49-F238E27FC236}">
                <a16:creationId xmlns:a16="http://schemas.microsoft.com/office/drawing/2014/main" id="{3AEE2868-0E73-CFFC-A392-7A9218ED5CA9}"/>
              </a:ext>
            </a:extLst>
          </p:cNvPr>
          <p:cNvCxnSpPr>
            <a:cxnSpLocks/>
          </p:cNvCxnSpPr>
          <p:nvPr/>
        </p:nvCxnSpPr>
        <p:spPr>
          <a:xfrm>
            <a:off x="324347" y="967693"/>
            <a:ext cx="68493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6D86BE-A109-9773-6311-6A2189F9B81D}"/>
              </a:ext>
            </a:extLst>
          </p:cNvPr>
          <p:cNvSpPr txBox="1"/>
          <p:nvPr/>
        </p:nvSpPr>
        <p:spPr>
          <a:xfrm>
            <a:off x="324347" y="745495"/>
            <a:ext cx="68493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Risk</a:t>
            </a:r>
          </a:p>
        </p:txBody>
      </p:sp>
      <p:cxnSp>
        <p:nvCxnSpPr>
          <p:cNvPr id="13" name="Straight Connector 12">
            <a:extLst>
              <a:ext uri="{FF2B5EF4-FFF2-40B4-BE49-F238E27FC236}">
                <a16:creationId xmlns:a16="http://schemas.microsoft.com/office/drawing/2014/main" id="{569B5D3E-4BBB-9EAA-34A6-79541763C04B}"/>
              </a:ext>
            </a:extLst>
          </p:cNvPr>
          <p:cNvCxnSpPr>
            <a:cxnSpLocks/>
          </p:cNvCxnSpPr>
          <p:nvPr/>
        </p:nvCxnSpPr>
        <p:spPr>
          <a:xfrm>
            <a:off x="6688539" y="967693"/>
            <a:ext cx="12044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31613D-BA34-0873-2F51-77360B668AAC}"/>
              </a:ext>
            </a:extLst>
          </p:cNvPr>
          <p:cNvSpPr txBox="1"/>
          <p:nvPr/>
        </p:nvSpPr>
        <p:spPr>
          <a:xfrm>
            <a:off x="6688538" y="745495"/>
            <a:ext cx="1204405"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Section(s)</a:t>
            </a:r>
          </a:p>
        </p:txBody>
      </p:sp>
      <p:cxnSp>
        <p:nvCxnSpPr>
          <p:cNvPr id="30" name="Straight Connector 29">
            <a:extLst>
              <a:ext uri="{FF2B5EF4-FFF2-40B4-BE49-F238E27FC236}">
                <a16:creationId xmlns:a16="http://schemas.microsoft.com/office/drawing/2014/main" id="{4F8DFAB0-7F17-B492-EEAD-DE7AD360E561}"/>
              </a:ext>
            </a:extLst>
          </p:cNvPr>
          <p:cNvCxnSpPr>
            <a:cxnSpLocks/>
          </p:cNvCxnSpPr>
          <p:nvPr/>
        </p:nvCxnSpPr>
        <p:spPr>
          <a:xfrm>
            <a:off x="7954592" y="967693"/>
            <a:ext cx="78498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CC0EBA4-73F0-C440-18FF-DEC6550463B7}"/>
              </a:ext>
            </a:extLst>
          </p:cNvPr>
          <p:cNvSpPr txBox="1"/>
          <p:nvPr/>
        </p:nvSpPr>
        <p:spPr>
          <a:xfrm>
            <a:off x="7954592" y="745495"/>
            <a:ext cx="78498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Clause(s)</a:t>
            </a:r>
          </a:p>
        </p:txBody>
      </p:sp>
      <p:sp>
        <p:nvSpPr>
          <p:cNvPr id="20" name="Title 19">
            <a:extLst>
              <a:ext uri="{FF2B5EF4-FFF2-40B4-BE49-F238E27FC236}">
                <a16:creationId xmlns:a16="http://schemas.microsoft.com/office/drawing/2014/main" id="{232E2EFF-37E4-275C-5D06-E406C5060C32}"/>
              </a:ext>
            </a:extLst>
          </p:cNvPr>
          <p:cNvSpPr>
            <a:spLocks noGrp="1"/>
          </p:cNvSpPr>
          <p:nvPr>
            <p:ph type="title"/>
          </p:nvPr>
        </p:nvSpPr>
        <p:spPr/>
        <p:txBody>
          <a:bodyPr vert="horz"/>
          <a:lstStyle/>
          <a:p>
            <a:r>
              <a:rPr lang="en-GB"/>
              <a:t> Supply risk mitigation mechanisms</a:t>
            </a:r>
          </a:p>
        </p:txBody>
      </p:sp>
      <p:sp>
        <p:nvSpPr>
          <p:cNvPr id="28" name="Rectangle 27">
            <a:extLst>
              <a:ext uri="{FF2B5EF4-FFF2-40B4-BE49-F238E27FC236}">
                <a16:creationId xmlns:a16="http://schemas.microsoft.com/office/drawing/2014/main" id="{51E66D18-2CF1-EA27-837B-689DC2A51F81}"/>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32" name="Oval 31">
            <a:extLst>
              <a:ext uri="{FF2B5EF4-FFF2-40B4-BE49-F238E27FC236}">
                <a16:creationId xmlns:a16="http://schemas.microsoft.com/office/drawing/2014/main" id="{1D231877-7577-87B3-33CF-8FCC2ECCD2A7}"/>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34" name="Text Placeholder 6">
            <a:extLst>
              <a:ext uri="{FF2B5EF4-FFF2-40B4-BE49-F238E27FC236}">
                <a16:creationId xmlns:a16="http://schemas.microsoft.com/office/drawing/2014/main" id="{86AC847A-D825-A13F-6E3D-6B8945C749A3}"/>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Supply risk</a:t>
            </a:r>
          </a:p>
        </p:txBody>
      </p:sp>
      <p:sp>
        <p:nvSpPr>
          <p:cNvPr id="41" name="Text Placeholder 6">
            <a:extLst>
              <a:ext uri="{FF2B5EF4-FFF2-40B4-BE49-F238E27FC236}">
                <a16:creationId xmlns:a16="http://schemas.microsoft.com/office/drawing/2014/main" id="{629BAAE1-2E8D-3160-1A9A-E82DFFE5068B}"/>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49" name="Oval 48">
            <a:extLst>
              <a:ext uri="{FF2B5EF4-FFF2-40B4-BE49-F238E27FC236}">
                <a16:creationId xmlns:a16="http://schemas.microsoft.com/office/drawing/2014/main" id="{525DCDBB-E678-3CC7-5C6A-A181C5555FA8}"/>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Tree>
    <p:extLst>
      <p:ext uri="{BB962C8B-B14F-4D97-AF65-F5344CB8AC3E}">
        <p14:creationId xmlns:p14="http://schemas.microsoft.com/office/powerpoint/2010/main" val="4664785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 name="think-cell data - do not delete" hidden="1">
            <a:extLst>
              <a:ext uri="{FF2B5EF4-FFF2-40B4-BE49-F238E27FC236}">
                <a16:creationId xmlns:a16="http://schemas.microsoft.com/office/drawing/2014/main" id="{6737E65D-18B1-4BD4-4BE0-38FCDC7F987F}"/>
              </a:ext>
            </a:extLst>
          </p:cNvPr>
          <p:cNvGraphicFramePr>
            <a:graphicFrameLocks noChangeAspect="1"/>
          </p:cNvGraphicFramePr>
          <p:nvPr>
            <p:custDataLst>
              <p:tags r:id="rId1"/>
            </p:custDataLst>
            <p:extLst>
              <p:ext uri="{D42A27DB-BD31-4B8C-83A1-F6EECF244321}">
                <p14:modId xmlns:p14="http://schemas.microsoft.com/office/powerpoint/2010/main" val="22966372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98" name="think-cell data - do not delete" hidden="1">
                        <a:extLst>
                          <a:ext uri="{FF2B5EF4-FFF2-40B4-BE49-F238E27FC236}">
                            <a16:creationId xmlns:a16="http://schemas.microsoft.com/office/drawing/2014/main" id="{6737E65D-18B1-4BD4-4BE0-38FCDC7F98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D7ED7EB-3A6D-89BE-0145-166A49274F17}"/>
              </a:ext>
            </a:extLst>
          </p:cNvPr>
          <p:cNvSpPr>
            <a:spLocks noGrp="1"/>
          </p:cNvSpPr>
          <p:nvPr>
            <p:ph type="body" idx="4294967295"/>
          </p:nvPr>
        </p:nvSpPr>
        <p:spPr>
          <a:xfrm>
            <a:off x="223271" y="3826007"/>
            <a:ext cx="7112000" cy="274637"/>
          </a:xfrm>
        </p:spPr>
        <p:txBody>
          <a:bodyPr wrap="none">
            <a:normAutofit/>
          </a:bodyPr>
          <a:lstStyle/>
          <a:p>
            <a:r>
              <a:rPr lang="en-US"/>
              <a:t>Notes: PB = Performance Bond, PO = Purchase Order; 1. I.e., a risk for the manufacturer of not being able to delivery the materials on time with the right quantity or the right specs</a:t>
            </a:r>
          </a:p>
        </p:txBody>
      </p:sp>
      <p:sp>
        <p:nvSpPr>
          <p:cNvPr id="3" name="Rectangle 2">
            <a:extLst>
              <a:ext uri="{FF2B5EF4-FFF2-40B4-BE49-F238E27FC236}">
                <a16:creationId xmlns:a16="http://schemas.microsoft.com/office/drawing/2014/main" id="{E289D168-0451-7813-0F6F-7378B709C8C8}"/>
              </a:ext>
            </a:extLst>
          </p:cNvPr>
          <p:cNvSpPr/>
          <p:nvPr/>
        </p:nvSpPr>
        <p:spPr>
          <a:xfrm>
            <a:off x="223271" y="1324585"/>
            <a:ext cx="929388" cy="435085"/>
          </a:xfrm>
          <a:prstGeom prst="rect">
            <a:avLst/>
          </a:prstGeom>
          <a:solidFill>
            <a:srgbClr val="F3EADB"/>
          </a:solidFill>
        </p:spPr>
        <p:txBody>
          <a:bodyPr wrap="square" rtlCol="0" anchor="ctr">
            <a:noAutofit/>
          </a:bodyPr>
          <a:lstStyle/>
          <a:p>
            <a:pPr algn="l">
              <a:spcBef>
                <a:spcPts val="300"/>
              </a:spcBef>
              <a:spcAft>
                <a:spcPts val="300"/>
              </a:spcAft>
            </a:pPr>
            <a:r>
              <a:rPr lang="en-US" sz="800" b="1">
                <a:solidFill>
                  <a:schemeClr val="bg2"/>
                </a:solidFill>
                <a:latin typeface="Fund Light" pitchFamily="2" charset="-78"/>
                <a:cs typeface="Fund Light" pitchFamily="2" charset="-78"/>
              </a:rPr>
              <a:t>Buyer</a:t>
            </a:r>
          </a:p>
        </p:txBody>
      </p:sp>
      <p:sp>
        <p:nvSpPr>
          <p:cNvPr id="6" name="Rectangle 5">
            <a:extLst>
              <a:ext uri="{FF2B5EF4-FFF2-40B4-BE49-F238E27FC236}">
                <a16:creationId xmlns:a16="http://schemas.microsoft.com/office/drawing/2014/main" id="{ED20ED5E-F9F1-C6B1-233E-F9252DAEBC97}"/>
              </a:ext>
            </a:extLst>
          </p:cNvPr>
          <p:cNvSpPr/>
          <p:nvPr/>
        </p:nvSpPr>
        <p:spPr>
          <a:xfrm>
            <a:off x="223271" y="1917301"/>
            <a:ext cx="929388" cy="1817458"/>
          </a:xfrm>
          <a:prstGeom prst="rect">
            <a:avLst/>
          </a:prstGeom>
          <a:solidFill>
            <a:srgbClr val="F3EADB"/>
          </a:solidFill>
        </p:spPr>
        <p:txBody>
          <a:bodyPr wrap="square" rtlCol="0" anchor="ctr">
            <a:noAutofit/>
          </a:bodyPr>
          <a:lstStyle/>
          <a:p>
            <a:pPr algn="l">
              <a:spcBef>
                <a:spcPts val="300"/>
              </a:spcBef>
              <a:spcAft>
                <a:spcPts val="300"/>
              </a:spcAft>
            </a:pPr>
            <a:r>
              <a:rPr lang="en-US" sz="800" b="1">
                <a:solidFill>
                  <a:schemeClr val="bg2"/>
                </a:solidFill>
                <a:latin typeface="Fund Light" pitchFamily="2" charset="-78"/>
                <a:cs typeface="Fund Light" pitchFamily="2" charset="-78"/>
              </a:rPr>
              <a:t>Supplier</a:t>
            </a:r>
          </a:p>
        </p:txBody>
      </p:sp>
      <p:cxnSp>
        <p:nvCxnSpPr>
          <p:cNvPr id="11" name="Straight Connector 10">
            <a:extLst>
              <a:ext uri="{FF2B5EF4-FFF2-40B4-BE49-F238E27FC236}">
                <a16:creationId xmlns:a16="http://schemas.microsoft.com/office/drawing/2014/main" id="{065F9701-6C56-185E-1B08-51D91CA91BC2}"/>
              </a:ext>
            </a:extLst>
          </p:cNvPr>
          <p:cNvCxnSpPr>
            <a:cxnSpLocks/>
          </p:cNvCxnSpPr>
          <p:nvPr/>
        </p:nvCxnSpPr>
        <p:spPr>
          <a:xfrm>
            <a:off x="223271" y="1838485"/>
            <a:ext cx="8674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FC17BD3-C636-262A-35EB-D5BE08321EC2}"/>
              </a:ext>
            </a:extLst>
          </p:cNvPr>
          <p:cNvSpPr/>
          <p:nvPr/>
        </p:nvSpPr>
        <p:spPr>
          <a:xfrm>
            <a:off x="1263021" y="1401763"/>
            <a:ext cx="1063107"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Issue a PO</a:t>
            </a:r>
          </a:p>
        </p:txBody>
      </p:sp>
      <p:sp>
        <p:nvSpPr>
          <p:cNvPr id="31" name="Rectangle 30">
            <a:extLst>
              <a:ext uri="{FF2B5EF4-FFF2-40B4-BE49-F238E27FC236}">
                <a16:creationId xmlns:a16="http://schemas.microsoft.com/office/drawing/2014/main" id="{14342B50-3616-0CCB-4FAD-6E246F5A803A}"/>
              </a:ext>
            </a:extLst>
          </p:cNvPr>
          <p:cNvSpPr/>
          <p:nvPr/>
        </p:nvSpPr>
        <p:spPr>
          <a:xfrm>
            <a:off x="1263021" y="2204371"/>
            <a:ext cx="1063107" cy="377689"/>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Receive the PO</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and issue the PB</a:t>
            </a:r>
          </a:p>
        </p:txBody>
      </p:sp>
      <p:cxnSp>
        <p:nvCxnSpPr>
          <p:cNvPr id="34" name="Straight Arrow Connector 33">
            <a:extLst>
              <a:ext uri="{FF2B5EF4-FFF2-40B4-BE49-F238E27FC236}">
                <a16:creationId xmlns:a16="http://schemas.microsoft.com/office/drawing/2014/main" id="{30A9E2A7-2B91-8EFC-9DE4-F4C78A26860A}"/>
              </a:ext>
            </a:extLst>
          </p:cNvPr>
          <p:cNvCxnSpPr>
            <a:cxnSpLocks/>
            <a:stCxn id="29" idx="2"/>
            <a:endCxn id="31" idx="0"/>
          </p:cNvCxnSpPr>
          <p:nvPr/>
        </p:nvCxnSpPr>
        <p:spPr>
          <a:xfrm>
            <a:off x="1794575" y="1685527"/>
            <a:ext cx="0" cy="5188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70549D0-0B2E-79A3-BA9D-FBB315C4E775}"/>
              </a:ext>
            </a:extLst>
          </p:cNvPr>
          <p:cNvCxnSpPr>
            <a:cxnSpLocks/>
            <a:stCxn id="31" idx="2"/>
            <a:endCxn id="45" idx="0"/>
          </p:cNvCxnSpPr>
          <p:nvPr/>
        </p:nvCxnSpPr>
        <p:spPr>
          <a:xfrm flipH="1">
            <a:off x="1788368" y="2582060"/>
            <a:ext cx="6207" cy="2602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FA67A3FD-0DAD-DA28-8565-431F434B5B19}"/>
              </a:ext>
            </a:extLst>
          </p:cNvPr>
          <p:cNvSpPr/>
          <p:nvPr/>
        </p:nvSpPr>
        <p:spPr>
          <a:xfrm>
            <a:off x="1256424" y="2842277"/>
            <a:ext cx="1063887"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Start manufacturing</a:t>
            </a:r>
          </a:p>
        </p:txBody>
      </p:sp>
      <p:sp>
        <p:nvSpPr>
          <p:cNvPr id="48" name="Diamond 47">
            <a:extLst>
              <a:ext uri="{FF2B5EF4-FFF2-40B4-BE49-F238E27FC236}">
                <a16:creationId xmlns:a16="http://schemas.microsoft.com/office/drawing/2014/main" id="{01A01C18-3FA2-0A84-9633-67A23C462438}"/>
              </a:ext>
            </a:extLst>
          </p:cNvPr>
          <p:cNvSpPr/>
          <p:nvPr/>
        </p:nvSpPr>
        <p:spPr>
          <a:xfrm>
            <a:off x="2691526" y="2594762"/>
            <a:ext cx="1097280" cy="755703"/>
          </a:xfrm>
          <a:prstGeom prst="diamond">
            <a:avLst/>
          </a:prstGeom>
          <a:solidFill>
            <a:srgbClr val="F6ECDA"/>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Is there a </a:t>
            </a:r>
            <a:r>
              <a:rPr lang="en-US" sz="800" b="1">
                <a:solidFill>
                  <a:srgbClr val="000000"/>
                </a:solidFill>
                <a:latin typeface="Fund Light" pitchFamily="2" charset="-78"/>
                <a:cs typeface="Fund Light" pitchFamily="2" charset="-78"/>
              </a:rPr>
              <a:t>risk</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of default</a:t>
            </a:r>
            <a:r>
              <a:rPr lang="en-US" sz="800" baseline="30000">
                <a:solidFill>
                  <a:srgbClr val="000000"/>
                </a:solidFill>
                <a:latin typeface="Fund Light" pitchFamily="2" charset="-78"/>
                <a:cs typeface="Fund Light" pitchFamily="2" charset="-78"/>
              </a:rPr>
              <a:t>1</a:t>
            </a:r>
            <a:r>
              <a:rPr lang="en-US" sz="800">
                <a:solidFill>
                  <a:srgbClr val="000000"/>
                </a:solidFill>
                <a:latin typeface="Fund Light" pitchFamily="2" charset="-78"/>
                <a:cs typeface="Fund Light" pitchFamily="2" charset="-78"/>
              </a:rPr>
              <a:t>?</a:t>
            </a:r>
          </a:p>
        </p:txBody>
      </p:sp>
      <p:cxnSp>
        <p:nvCxnSpPr>
          <p:cNvPr id="50" name="Straight Arrow Connector 49">
            <a:extLst>
              <a:ext uri="{FF2B5EF4-FFF2-40B4-BE49-F238E27FC236}">
                <a16:creationId xmlns:a16="http://schemas.microsoft.com/office/drawing/2014/main" id="{7405D800-5B12-8C2A-ACA5-6A6384E73A59}"/>
              </a:ext>
            </a:extLst>
          </p:cNvPr>
          <p:cNvCxnSpPr>
            <a:cxnSpLocks/>
            <a:stCxn id="45" idx="3"/>
            <a:endCxn id="48" idx="1"/>
          </p:cNvCxnSpPr>
          <p:nvPr/>
        </p:nvCxnSpPr>
        <p:spPr>
          <a:xfrm flipV="1">
            <a:off x="2320311" y="2972614"/>
            <a:ext cx="371215" cy="115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Diamond 54">
            <a:extLst>
              <a:ext uri="{FF2B5EF4-FFF2-40B4-BE49-F238E27FC236}">
                <a16:creationId xmlns:a16="http://schemas.microsoft.com/office/drawing/2014/main" id="{64E88E4B-40C9-DFB6-9BC6-72D95B66075B}"/>
              </a:ext>
            </a:extLst>
          </p:cNvPr>
          <p:cNvSpPr/>
          <p:nvPr/>
        </p:nvSpPr>
        <p:spPr>
          <a:xfrm>
            <a:off x="4299087" y="2317707"/>
            <a:ext cx="1097280" cy="755703"/>
          </a:xfrm>
          <a:prstGeom prst="diamond">
            <a:avLst/>
          </a:prstGeom>
          <a:solidFill>
            <a:srgbClr val="F6ECDA"/>
          </a:solidFill>
          <a:ln>
            <a:noFill/>
          </a:ln>
        </p:spPr>
        <p:txBody>
          <a:bodyPr wrap="none" lIns="45720" rIns="18288"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Has the</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manufacturer</a:t>
            </a:r>
            <a:br>
              <a:rPr lang="en-US" sz="800">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mitigated</a:t>
            </a:r>
            <a:br>
              <a:rPr lang="en-US" sz="800" b="1">
                <a:solidFill>
                  <a:srgbClr val="000000"/>
                </a:solidFill>
                <a:latin typeface="Fund Light" pitchFamily="2" charset="-78"/>
                <a:cs typeface="Fund Light" pitchFamily="2" charset="-78"/>
              </a:rPr>
            </a:br>
            <a:r>
              <a:rPr lang="en-US" sz="800" b="1">
                <a:solidFill>
                  <a:srgbClr val="000000"/>
                </a:solidFill>
                <a:latin typeface="Fund Light" pitchFamily="2" charset="-78"/>
                <a:cs typeface="Fund Light" pitchFamily="2" charset="-78"/>
              </a:rPr>
              <a:t>the risks</a:t>
            </a:r>
            <a:r>
              <a:rPr lang="en-US" sz="800">
                <a:solidFill>
                  <a:srgbClr val="000000"/>
                </a:solidFill>
                <a:latin typeface="Fund Light" pitchFamily="2" charset="-78"/>
                <a:cs typeface="Fund Light" pitchFamily="2" charset="-78"/>
              </a:rPr>
              <a:t>?</a:t>
            </a:r>
          </a:p>
        </p:txBody>
      </p:sp>
      <p:cxnSp>
        <p:nvCxnSpPr>
          <p:cNvPr id="56" name="Straight Arrow Connector 55">
            <a:extLst>
              <a:ext uri="{FF2B5EF4-FFF2-40B4-BE49-F238E27FC236}">
                <a16:creationId xmlns:a16="http://schemas.microsoft.com/office/drawing/2014/main" id="{C58F691E-CEB7-18A1-6173-204AC76A144E}"/>
              </a:ext>
            </a:extLst>
          </p:cNvPr>
          <p:cNvCxnSpPr>
            <a:cxnSpLocks/>
            <a:stCxn id="48" idx="3"/>
            <a:endCxn id="55" idx="1"/>
          </p:cNvCxnSpPr>
          <p:nvPr/>
        </p:nvCxnSpPr>
        <p:spPr>
          <a:xfrm flipV="1">
            <a:off x="3788806" y="2695559"/>
            <a:ext cx="510281" cy="27705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116BBF17-7FD5-190E-0A8A-AD8ABAE3FE33}"/>
              </a:ext>
            </a:extLst>
          </p:cNvPr>
          <p:cNvSpPr/>
          <p:nvPr/>
        </p:nvSpPr>
        <p:spPr>
          <a:xfrm>
            <a:off x="5906647" y="3171042"/>
            <a:ext cx="991696" cy="316365"/>
          </a:xfrm>
          <a:prstGeom prst="rect">
            <a:avLst/>
          </a:prstGeom>
          <a:solidFill>
            <a:srgbClr val="CCEFD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No</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event of default</a:t>
            </a:r>
          </a:p>
        </p:txBody>
      </p:sp>
      <p:sp>
        <p:nvSpPr>
          <p:cNvPr id="61" name="Rectangle 60">
            <a:extLst>
              <a:ext uri="{FF2B5EF4-FFF2-40B4-BE49-F238E27FC236}">
                <a16:creationId xmlns:a16="http://schemas.microsoft.com/office/drawing/2014/main" id="{C95A2FF1-26B5-6E0F-5B0A-DB379FE35A32}"/>
              </a:ext>
            </a:extLst>
          </p:cNvPr>
          <p:cNvSpPr/>
          <p:nvPr/>
        </p:nvSpPr>
        <p:spPr>
          <a:xfrm>
            <a:off x="5906647" y="2234039"/>
            <a:ext cx="991696" cy="316365"/>
          </a:xfrm>
          <a:prstGeom prst="rect">
            <a:avLst/>
          </a:prstGeom>
          <a:solidFill>
            <a:srgbClr val="FFCCCC"/>
          </a:solidFill>
          <a:ln>
            <a:noFill/>
          </a:ln>
        </p:spPr>
        <p:txBody>
          <a:bodyPr wrap="square"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Manufacturer</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event of default</a:t>
            </a:r>
          </a:p>
        </p:txBody>
      </p:sp>
      <p:cxnSp>
        <p:nvCxnSpPr>
          <p:cNvPr id="65" name="Straight Arrow Connector 55">
            <a:extLst>
              <a:ext uri="{FF2B5EF4-FFF2-40B4-BE49-F238E27FC236}">
                <a16:creationId xmlns:a16="http://schemas.microsoft.com/office/drawing/2014/main" id="{6CA74743-643B-E5CE-6893-15D1965EAD42}"/>
              </a:ext>
            </a:extLst>
          </p:cNvPr>
          <p:cNvCxnSpPr>
            <a:cxnSpLocks/>
            <a:stCxn id="55" idx="3"/>
            <a:endCxn id="61" idx="1"/>
          </p:cNvCxnSpPr>
          <p:nvPr/>
        </p:nvCxnSpPr>
        <p:spPr>
          <a:xfrm flipV="1">
            <a:off x="5396367" y="2392222"/>
            <a:ext cx="510280" cy="30333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55">
            <a:extLst>
              <a:ext uri="{FF2B5EF4-FFF2-40B4-BE49-F238E27FC236}">
                <a16:creationId xmlns:a16="http://schemas.microsoft.com/office/drawing/2014/main" id="{07AAD6B7-8EC8-012E-7064-EA854372291C}"/>
              </a:ext>
            </a:extLst>
          </p:cNvPr>
          <p:cNvCxnSpPr>
            <a:cxnSpLocks/>
            <a:stCxn id="55" idx="3"/>
            <a:endCxn id="60" idx="1"/>
          </p:cNvCxnSpPr>
          <p:nvPr/>
        </p:nvCxnSpPr>
        <p:spPr>
          <a:xfrm>
            <a:off x="5396367" y="2695559"/>
            <a:ext cx="510280" cy="63366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55">
            <a:extLst>
              <a:ext uri="{FF2B5EF4-FFF2-40B4-BE49-F238E27FC236}">
                <a16:creationId xmlns:a16="http://schemas.microsoft.com/office/drawing/2014/main" id="{084EE87D-1409-6D78-58AA-67AE59799B5F}"/>
              </a:ext>
            </a:extLst>
          </p:cNvPr>
          <p:cNvCxnSpPr>
            <a:cxnSpLocks/>
            <a:stCxn id="48" idx="3"/>
            <a:endCxn id="60" idx="1"/>
          </p:cNvCxnSpPr>
          <p:nvPr/>
        </p:nvCxnSpPr>
        <p:spPr>
          <a:xfrm>
            <a:off x="3788806" y="2972614"/>
            <a:ext cx="2117841" cy="356611"/>
          </a:xfrm>
          <a:prstGeom prst="bentConnector3">
            <a:avLst>
              <a:gd name="adj1" fmla="val 1200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2ACAE1E-A4DB-DCCF-650C-CEE808A6E725}"/>
              </a:ext>
            </a:extLst>
          </p:cNvPr>
          <p:cNvSpPr/>
          <p:nvPr/>
        </p:nvSpPr>
        <p:spPr>
          <a:xfrm>
            <a:off x="3985417" y="3058956"/>
            <a:ext cx="120054" cy="134169"/>
          </a:xfrm>
          <a:prstGeom prst="rect">
            <a:avLst/>
          </a:prstGeom>
          <a:solidFill>
            <a:srgbClr val="FCFCFC"/>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N</a:t>
            </a:r>
          </a:p>
        </p:txBody>
      </p:sp>
      <p:sp>
        <p:nvSpPr>
          <p:cNvPr id="80" name="Rectangle 79">
            <a:extLst>
              <a:ext uri="{FF2B5EF4-FFF2-40B4-BE49-F238E27FC236}">
                <a16:creationId xmlns:a16="http://schemas.microsoft.com/office/drawing/2014/main" id="{83092FDC-4B69-5983-AEB1-AACC15654680}"/>
              </a:ext>
            </a:extLst>
          </p:cNvPr>
          <p:cNvSpPr/>
          <p:nvPr/>
        </p:nvSpPr>
        <p:spPr>
          <a:xfrm>
            <a:off x="5592978" y="3019786"/>
            <a:ext cx="120054" cy="134169"/>
          </a:xfrm>
          <a:prstGeom prst="rect">
            <a:avLst/>
          </a:prstGeom>
          <a:solidFill>
            <a:srgbClr val="F8F8F8"/>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Y</a:t>
            </a:r>
          </a:p>
        </p:txBody>
      </p:sp>
      <p:sp>
        <p:nvSpPr>
          <p:cNvPr id="83" name="Speech Bubble: Rectangle 82">
            <a:extLst>
              <a:ext uri="{FF2B5EF4-FFF2-40B4-BE49-F238E27FC236}">
                <a16:creationId xmlns:a16="http://schemas.microsoft.com/office/drawing/2014/main" id="{64AE6F34-4998-3A7F-0AA4-D1C7F7655651}"/>
              </a:ext>
            </a:extLst>
          </p:cNvPr>
          <p:cNvSpPr/>
          <p:nvPr/>
        </p:nvSpPr>
        <p:spPr>
          <a:xfrm>
            <a:off x="4067626" y="1401763"/>
            <a:ext cx="2313013" cy="693381"/>
          </a:xfrm>
          <a:prstGeom prst="wedgeRectCallout">
            <a:avLst>
              <a:gd name="adj1" fmla="val -18369"/>
              <a:gd name="adj2" fmla="val 69768"/>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Contractor obtains the material from a suitable </a:t>
            </a:r>
            <a:r>
              <a:rPr lang="en-US" sz="800" b="1">
                <a:solidFill>
                  <a:srgbClr val="C4984F"/>
                </a:solidFill>
                <a:latin typeface="Fund Light" pitchFamily="2" charset="-78"/>
                <a:cs typeface="Fund Light" pitchFamily="2" charset="-78"/>
              </a:rPr>
              <a:t>substitute third party </a:t>
            </a:r>
            <a:r>
              <a:rPr lang="en-US" sz="800">
                <a:solidFill>
                  <a:srgbClr val="C4984F"/>
                </a:solidFill>
                <a:latin typeface="Fund Light" pitchFamily="2" charset="-78"/>
                <a:cs typeface="Fund Light" pitchFamily="2" charset="-78"/>
              </a:rPr>
              <a:t>at the expense of the manufacturer</a:t>
            </a:r>
          </a:p>
          <a:p>
            <a:pPr marL="171450" indent="-171450">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Contractor and manufacturer </a:t>
            </a:r>
            <a:r>
              <a:rPr lang="en-US" sz="800" b="1">
                <a:solidFill>
                  <a:srgbClr val="C4984F"/>
                </a:solidFill>
                <a:latin typeface="Fund Light" pitchFamily="2" charset="-78"/>
                <a:cs typeface="Fund Light" pitchFamily="2" charset="-78"/>
              </a:rPr>
              <a:t>mutually agree on the delay</a:t>
            </a:r>
            <a:r>
              <a:rPr lang="en-US" sz="800">
                <a:solidFill>
                  <a:srgbClr val="C4984F"/>
                </a:solidFill>
                <a:latin typeface="Fund Light" pitchFamily="2" charset="-78"/>
                <a:cs typeface="Fund Light" pitchFamily="2" charset="-78"/>
              </a:rPr>
              <a:t> of the material</a:t>
            </a:r>
          </a:p>
        </p:txBody>
      </p:sp>
      <p:sp>
        <p:nvSpPr>
          <p:cNvPr id="84" name="Rectangle 83">
            <a:extLst>
              <a:ext uri="{FF2B5EF4-FFF2-40B4-BE49-F238E27FC236}">
                <a16:creationId xmlns:a16="http://schemas.microsoft.com/office/drawing/2014/main" id="{EC78B21F-D34E-11F2-549E-792013296C91}"/>
              </a:ext>
            </a:extLst>
          </p:cNvPr>
          <p:cNvSpPr/>
          <p:nvPr/>
        </p:nvSpPr>
        <p:spPr>
          <a:xfrm>
            <a:off x="5592978" y="2480362"/>
            <a:ext cx="120054" cy="134169"/>
          </a:xfrm>
          <a:prstGeom prst="rect">
            <a:avLst/>
          </a:prstGeom>
          <a:solidFill>
            <a:schemeClr val="bg1"/>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N</a:t>
            </a:r>
          </a:p>
        </p:txBody>
      </p:sp>
      <p:sp>
        <p:nvSpPr>
          <p:cNvPr id="59" name="Rectangle 58">
            <a:extLst>
              <a:ext uri="{FF2B5EF4-FFF2-40B4-BE49-F238E27FC236}">
                <a16:creationId xmlns:a16="http://schemas.microsoft.com/office/drawing/2014/main" id="{993E0F50-CCF8-DC2D-2EF5-B279D527D9C7}"/>
              </a:ext>
            </a:extLst>
          </p:cNvPr>
          <p:cNvSpPr/>
          <p:nvPr/>
        </p:nvSpPr>
        <p:spPr>
          <a:xfrm>
            <a:off x="3985417" y="2755962"/>
            <a:ext cx="120054" cy="134169"/>
          </a:xfrm>
          <a:prstGeom prst="rect">
            <a:avLst/>
          </a:prstGeom>
          <a:solidFill>
            <a:srgbClr val="FCFCFC"/>
          </a:solidFill>
          <a:ln>
            <a:noFill/>
          </a:ln>
        </p:spPr>
        <p:txBody>
          <a:bodyPr wrap="square" rtlCol="0" anchor="ctr">
            <a:noAutofit/>
          </a:bodyPr>
          <a:lstStyle/>
          <a:p>
            <a:pPr algn="ctr">
              <a:spcBef>
                <a:spcPts val="300"/>
              </a:spcBef>
              <a:spcAft>
                <a:spcPts val="300"/>
              </a:spcAft>
            </a:pPr>
            <a:r>
              <a:rPr lang="en-US" sz="800">
                <a:latin typeface="Fund Light" pitchFamily="2" charset="-78"/>
                <a:cs typeface="Fund Light" pitchFamily="2" charset="-78"/>
              </a:rPr>
              <a:t>Y</a:t>
            </a:r>
          </a:p>
        </p:txBody>
      </p:sp>
      <p:sp>
        <p:nvSpPr>
          <p:cNvPr id="100" name="Rectangle 99">
            <a:extLst>
              <a:ext uri="{FF2B5EF4-FFF2-40B4-BE49-F238E27FC236}">
                <a16:creationId xmlns:a16="http://schemas.microsoft.com/office/drawing/2014/main" id="{B2F4F3A4-D796-9F0E-4320-081740F386DD}"/>
              </a:ext>
            </a:extLst>
          </p:cNvPr>
          <p:cNvSpPr/>
          <p:nvPr/>
        </p:nvSpPr>
        <p:spPr>
          <a:xfrm>
            <a:off x="7567570" y="1401763"/>
            <a:ext cx="1128905" cy="283764"/>
          </a:xfrm>
          <a:prstGeom prst="rect">
            <a:avLst/>
          </a:prstGeom>
          <a:solidFill>
            <a:schemeClr val="bg1">
              <a:lumMod val="95000"/>
            </a:schemeClr>
          </a:solidFill>
          <a:ln>
            <a:noFill/>
          </a:ln>
        </p:spPr>
        <p:txBody>
          <a:bodyPr wrap="square" lIns="0" rIns="0" rtlCol="0" anchor="ctr">
            <a:noAutofit/>
          </a:bodyPr>
          <a:lstStyle/>
          <a:p>
            <a:pPr algn="ctr">
              <a:spcBef>
                <a:spcPts val="300"/>
              </a:spcBef>
              <a:spcAft>
                <a:spcPts val="300"/>
              </a:spcAft>
            </a:pPr>
            <a:r>
              <a:rPr lang="en-US" sz="800">
                <a:solidFill>
                  <a:srgbClr val="000000"/>
                </a:solidFill>
                <a:latin typeface="Fund Light" pitchFamily="2" charset="-78"/>
                <a:cs typeface="Fund Light" pitchFamily="2" charset="-78"/>
              </a:rPr>
              <a:t>Get compensated</a:t>
            </a:r>
          </a:p>
        </p:txBody>
      </p:sp>
      <p:cxnSp>
        <p:nvCxnSpPr>
          <p:cNvPr id="102" name="Straight Arrow Connector 55">
            <a:extLst>
              <a:ext uri="{FF2B5EF4-FFF2-40B4-BE49-F238E27FC236}">
                <a16:creationId xmlns:a16="http://schemas.microsoft.com/office/drawing/2014/main" id="{6EF27F9F-5337-F6BD-472C-A8A1D900ACF8}"/>
              </a:ext>
            </a:extLst>
          </p:cNvPr>
          <p:cNvCxnSpPr>
            <a:cxnSpLocks/>
            <a:stCxn id="61" idx="3"/>
            <a:endCxn id="100" idx="1"/>
          </p:cNvCxnSpPr>
          <p:nvPr/>
        </p:nvCxnSpPr>
        <p:spPr>
          <a:xfrm flipV="1">
            <a:off x="6898343" y="1543645"/>
            <a:ext cx="669227" cy="84857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Speech Bubble: Rectangle 114">
            <a:extLst>
              <a:ext uri="{FF2B5EF4-FFF2-40B4-BE49-F238E27FC236}">
                <a16:creationId xmlns:a16="http://schemas.microsoft.com/office/drawing/2014/main" id="{59346002-F1D9-1C01-0E3C-F1FC8D1BBBCF}"/>
              </a:ext>
            </a:extLst>
          </p:cNvPr>
          <p:cNvSpPr/>
          <p:nvPr/>
        </p:nvSpPr>
        <p:spPr>
          <a:xfrm>
            <a:off x="7361994" y="1884063"/>
            <a:ext cx="1707071" cy="498526"/>
          </a:xfrm>
          <a:prstGeom prst="wedgeRectCallout">
            <a:avLst>
              <a:gd name="adj1" fmla="val -20190"/>
              <a:gd name="adj2" fmla="val -81860"/>
            </a:avLst>
          </a:prstGeom>
          <a:solidFill>
            <a:srgbClr val="F8F2E5"/>
          </a:solidFill>
          <a:ln w="6350">
            <a:solidFill>
              <a:srgbClr val="C4984F"/>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115888" indent="-115888">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Is entitled to </a:t>
            </a:r>
            <a:r>
              <a:rPr lang="en-US" sz="800" b="1">
                <a:solidFill>
                  <a:srgbClr val="C4984F"/>
                </a:solidFill>
                <a:latin typeface="Fund Light" pitchFamily="2" charset="-78"/>
                <a:cs typeface="Fund Light" pitchFamily="2" charset="-78"/>
              </a:rPr>
              <a:t>liquidated damages </a:t>
            </a:r>
            <a:r>
              <a:rPr lang="en-US" sz="800">
                <a:solidFill>
                  <a:srgbClr val="C4984F"/>
                </a:solidFill>
                <a:latin typeface="Fund Light" pitchFamily="2" charset="-78"/>
                <a:cs typeface="Fund Light" pitchFamily="2" charset="-78"/>
              </a:rPr>
              <a:t>(in case of delay)</a:t>
            </a:r>
            <a:endParaRPr lang="en-US" sz="800" b="1">
              <a:solidFill>
                <a:srgbClr val="C4984F"/>
              </a:solidFill>
              <a:latin typeface="Fund Light" pitchFamily="2" charset="-78"/>
              <a:cs typeface="Fund Light" pitchFamily="2" charset="-78"/>
            </a:endParaRPr>
          </a:p>
          <a:p>
            <a:pPr marL="115888" indent="-115888">
              <a:spcBef>
                <a:spcPts val="100"/>
              </a:spcBef>
              <a:spcAft>
                <a:spcPts val="100"/>
              </a:spcAft>
              <a:buFont typeface="Arial" panose="020B0604020202020204" pitchFamily="34" charset="0"/>
              <a:buChar char="•"/>
            </a:pPr>
            <a:r>
              <a:rPr lang="en-US" sz="800">
                <a:solidFill>
                  <a:srgbClr val="C4984F"/>
                </a:solidFill>
                <a:latin typeface="Fund Light" pitchFamily="2" charset="-78"/>
                <a:cs typeface="Fund Light" pitchFamily="2" charset="-78"/>
              </a:rPr>
              <a:t>Calls upon </a:t>
            </a:r>
            <a:r>
              <a:rPr lang="en-US" sz="800" b="1">
                <a:solidFill>
                  <a:srgbClr val="C4984F"/>
                </a:solidFill>
                <a:latin typeface="Fund Light" pitchFamily="2" charset="-78"/>
                <a:cs typeface="Fund Light" pitchFamily="2" charset="-78"/>
              </a:rPr>
              <a:t>PB</a:t>
            </a:r>
          </a:p>
        </p:txBody>
      </p:sp>
      <p:sp>
        <p:nvSpPr>
          <p:cNvPr id="13" name="Title 12">
            <a:extLst>
              <a:ext uri="{FF2B5EF4-FFF2-40B4-BE49-F238E27FC236}">
                <a16:creationId xmlns:a16="http://schemas.microsoft.com/office/drawing/2014/main" id="{0CFA641E-806B-6834-6578-037C6099259A}"/>
              </a:ext>
            </a:extLst>
          </p:cNvPr>
          <p:cNvSpPr>
            <a:spLocks noGrp="1"/>
          </p:cNvSpPr>
          <p:nvPr>
            <p:ph type="title"/>
          </p:nvPr>
        </p:nvSpPr>
        <p:spPr/>
        <p:txBody>
          <a:bodyPr vert="horz"/>
          <a:lstStyle/>
          <a:p>
            <a:r>
              <a:rPr lang="en-US"/>
              <a:t> Supply risk mitigation mechanisms – Contractor and buyer’s compensation</a:t>
            </a:r>
          </a:p>
        </p:txBody>
      </p:sp>
      <p:sp>
        <p:nvSpPr>
          <p:cNvPr id="23" name="Rectangle 22">
            <a:extLst>
              <a:ext uri="{FF2B5EF4-FFF2-40B4-BE49-F238E27FC236}">
                <a16:creationId xmlns:a16="http://schemas.microsoft.com/office/drawing/2014/main" id="{CF3C4C2B-4046-121C-FCD9-762A86602C7C}"/>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24" name="Oval 23">
            <a:extLst>
              <a:ext uri="{FF2B5EF4-FFF2-40B4-BE49-F238E27FC236}">
                <a16:creationId xmlns:a16="http://schemas.microsoft.com/office/drawing/2014/main" id="{1ACAC8AB-0CE2-4BAA-2832-2D2A7F4A9B32}"/>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sp>
        <p:nvSpPr>
          <p:cNvPr id="25" name="Text Placeholder 6">
            <a:extLst>
              <a:ext uri="{FF2B5EF4-FFF2-40B4-BE49-F238E27FC236}">
                <a16:creationId xmlns:a16="http://schemas.microsoft.com/office/drawing/2014/main" id="{091A2D0C-CDC8-8086-4360-FA5F4B9DDAB8}"/>
              </a:ext>
            </a:extLst>
          </p:cNvPr>
          <p:cNvSpPr txBox="1">
            <a:spLocks/>
          </p:cNvSpPr>
          <p:nvPr/>
        </p:nvSpPr>
        <p:spPr>
          <a:xfrm>
            <a:off x="7888922" y="194048"/>
            <a:ext cx="91440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Supply risk</a:t>
            </a:r>
          </a:p>
        </p:txBody>
      </p:sp>
      <p:sp>
        <p:nvSpPr>
          <p:cNvPr id="26" name="Text Placeholder 6">
            <a:extLst>
              <a:ext uri="{FF2B5EF4-FFF2-40B4-BE49-F238E27FC236}">
                <a16:creationId xmlns:a16="http://schemas.microsoft.com/office/drawing/2014/main" id="{82E40F8F-8817-CEAA-67FF-5C213C1B2F29}"/>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27" name="Oval 26">
            <a:extLst>
              <a:ext uri="{FF2B5EF4-FFF2-40B4-BE49-F238E27FC236}">
                <a16:creationId xmlns:a16="http://schemas.microsoft.com/office/drawing/2014/main" id="{4F819D49-43E2-915A-4CD2-2AA18579E575}"/>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
        <p:nvSpPr>
          <p:cNvPr id="4" name="Rectangle: Rounded Corners 3">
            <a:extLst>
              <a:ext uri="{FF2B5EF4-FFF2-40B4-BE49-F238E27FC236}">
                <a16:creationId xmlns:a16="http://schemas.microsoft.com/office/drawing/2014/main" id="{3FDED139-A9FC-4E81-A0FC-0158A88689D5}"/>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6" action="ppaction://hlinksldjump"/>
              </a:rPr>
              <a:t>Contacts</a:t>
            </a:r>
            <a:r>
              <a:rPr lang="en-US" sz="1000">
                <a:solidFill>
                  <a:srgbClr val="000000"/>
                </a:solidFill>
                <a:latin typeface="Fund Light" pitchFamily="2" charset="-78"/>
                <a:cs typeface="Fund Light" pitchFamily="2" charset="-78"/>
              </a:rPr>
              <a:t>)</a:t>
            </a:r>
          </a:p>
        </p:txBody>
      </p:sp>
      <p:grpSp>
        <p:nvGrpSpPr>
          <p:cNvPr id="5" name="Group 4">
            <a:extLst>
              <a:ext uri="{FF2B5EF4-FFF2-40B4-BE49-F238E27FC236}">
                <a16:creationId xmlns:a16="http://schemas.microsoft.com/office/drawing/2014/main" id="{00AED046-DF18-73E9-4ED1-3B812ED31F81}"/>
              </a:ext>
            </a:extLst>
          </p:cNvPr>
          <p:cNvGrpSpPr/>
          <p:nvPr/>
        </p:nvGrpSpPr>
        <p:grpSpPr>
          <a:xfrm>
            <a:off x="3004029" y="4817276"/>
            <a:ext cx="303559" cy="303559"/>
            <a:chOff x="-577629" y="2311332"/>
            <a:chExt cx="404038" cy="404037"/>
          </a:xfrm>
        </p:grpSpPr>
        <p:sp>
          <p:nvSpPr>
            <p:cNvPr id="7" name="Oval 6">
              <a:extLst>
                <a:ext uri="{FF2B5EF4-FFF2-40B4-BE49-F238E27FC236}">
                  <a16:creationId xmlns:a16="http://schemas.microsoft.com/office/drawing/2014/main" id="{73F7BB73-1FFA-708F-B5CC-37191B4B676C}"/>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9DDF824-5075-77AD-CAC5-11B0916A7480}"/>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9" name="Group 8">
            <a:extLst>
              <a:ext uri="{FF2B5EF4-FFF2-40B4-BE49-F238E27FC236}">
                <a16:creationId xmlns:a16="http://schemas.microsoft.com/office/drawing/2014/main" id="{1DB1FAF8-EBA7-A7A2-3198-3DE57961D017}"/>
              </a:ext>
            </a:extLst>
          </p:cNvPr>
          <p:cNvGrpSpPr/>
          <p:nvPr/>
        </p:nvGrpSpPr>
        <p:grpSpPr>
          <a:xfrm>
            <a:off x="6211995" y="4883810"/>
            <a:ext cx="168686" cy="161455"/>
            <a:chOff x="11260138" y="4194175"/>
            <a:chExt cx="360363" cy="379413"/>
          </a:xfrm>
        </p:grpSpPr>
        <p:sp>
          <p:nvSpPr>
            <p:cNvPr id="10" name="Freeform 289">
              <a:extLst>
                <a:ext uri="{FF2B5EF4-FFF2-40B4-BE49-F238E27FC236}">
                  <a16:creationId xmlns:a16="http://schemas.microsoft.com/office/drawing/2014/main" id="{07BB309A-6BAB-3C65-57F4-C6E03252CC00}"/>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Freeform 290">
              <a:extLst>
                <a:ext uri="{FF2B5EF4-FFF2-40B4-BE49-F238E27FC236}">
                  <a16:creationId xmlns:a16="http://schemas.microsoft.com/office/drawing/2014/main" id="{65F19D14-955F-6232-1178-0D8F02B067F2}"/>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291">
              <a:extLst>
                <a:ext uri="{FF2B5EF4-FFF2-40B4-BE49-F238E27FC236}">
                  <a16:creationId xmlns:a16="http://schemas.microsoft.com/office/drawing/2014/main" id="{AB540F77-877B-2C90-22A1-C2B5803F608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065499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3DA35EA4-E343-EF06-9713-959733293F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40" name="think-cell data - do not delete" hidden="1">
                        <a:extLst>
                          <a:ext uri="{FF2B5EF4-FFF2-40B4-BE49-F238E27FC236}">
                            <a16:creationId xmlns:a16="http://schemas.microsoft.com/office/drawing/2014/main" id="{3DA35EA4-E343-EF06-9713-959733293F8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3827200-7596-77D8-D68E-6DFACB7B68E5}"/>
              </a:ext>
            </a:extLst>
          </p:cNvPr>
          <p:cNvSpPr>
            <a:spLocks noGrp="1"/>
          </p:cNvSpPr>
          <p:nvPr>
            <p:ph type="body" idx="4294967295"/>
          </p:nvPr>
        </p:nvSpPr>
        <p:spPr>
          <a:xfrm>
            <a:off x="1551727" y="4767025"/>
            <a:ext cx="7112000" cy="274637"/>
          </a:xfrm>
        </p:spPr>
        <p:txBody>
          <a:bodyPr>
            <a:normAutofit fontScale="92500"/>
          </a:bodyPr>
          <a:lstStyle/>
          <a:p>
            <a:r>
              <a:rPr lang="en-US"/>
              <a:t>1. In line with what the Manufacturer has committed to during the contracting phase; 2. e.g., certificate of registration, certificate of payment of Zakat, registration in GOSI</a:t>
            </a:r>
          </a:p>
        </p:txBody>
      </p:sp>
      <p:sp>
        <p:nvSpPr>
          <p:cNvPr id="5" name="Text Placeholder 4">
            <a:extLst>
              <a:ext uri="{FF2B5EF4-FFF2-40B4-BE49-F238E27FC236}">
                <a16:creationId xmlns:a16="http://schemas.microsoft.com/office/drawing/2014/main" id="{D72D1CAA-47EB-DDC9-5B56-AD2D6178517A}"/>
              </a:ext>
            </a:extLst>
          </p:cNvPr>
          <p:cNvSpPr>
            <a:spLocks noGrp="1"/>
          </p:cNvSpPr>
          <p:nvPr>
            <p:ph type="body" sz="quarter" idx="4294967295"/>
          </p:nvPr>
        </p:nvSpPr>
        <p:spPr>
          <a:xfrm>
            <a:off x="0" y="1179513"/>
            <a:ext cx="8674100" cy="187325"/>
          </a:xfrm>
        </p:spPr>
        <p:txBody>
          <a:bodyPr/>
          <a:lstStyle/>
          <a:p>
            <a:r>
              <a:rPr lang="en-US"/>
              <a:t> </a:t>
            </a:r>
          </a:p>
        </p:txBody>
      </p:sp>
      <p:graphicFrame>
        <p:nvGraphicFramePr>
          <p:cNvPr id="35" name="Table 141">
            <a:extLst>
              <a:ext uri="{FF2B5EF4-FFF2-40B4-BE49-F238E27FC236}">
                <a16:creationId xmlns:a16="http://schemas.microsoft.com/office/drawing/2014/main" id="{4E6F99EA-925F-DB17-CA0D-F9AF51267B20}"/>
              </a:ext>
            </a:extLst>
          </p:cNvPr>
          <p:cNvGraphicFramePr>
            <a:graphicFrameLocks noGrp="1"/>
          </p:cNvGraphicFramePr>
          <p:nvPr>
            <p:extLst>
              <p:ext uri="{D42A27DB-BD31-4B8C-83A1-F6EECF244321}">
                <p14:modId xmlns:p14="http://schemas.microsoft.com/office/powerpoint/2010/main" val="1729925747"/>
              </p:ext>
            </p:extLst>
          </p:nvPr>
        </p:nvGraphicFramePr>
        <p:xfrm>
          <a:off x="298408" y="1426060"/>
          <a:ext cx="8482420" cy="2475381"/>
        </p:xfrm>
        <a:graphic>
          <a:graphicData uri="http://schemas.openxmlformats.org/drawingml/2006/table">
            <a:tbl>
              <a:tblPr firstRow="1" bandRow="1">
                <a:tableStyleId>{5C22544A-7EE6-4342-B048-85BDC9FD1C3A}</a:tableStyleId>
              </a:tblPr>
              <a:tblGrid>
                <a:gridCol w="936032">
                  <a:extLst>
                    <a:ext uri="{9D8B030D-6E8A-4147-A177-3AD203B41FA5}">
                      <a16:colId xmlns:a16="http://schemas.microsoft.com/office/drawing/2014/main" val="522316640"/>
                    </a:ext>
                  </a:extLst>
                </a:gridCol>
                <a:gridCol w="1340147">
                  <a:extLst>
                    <a:ext uri="{9D8B030D-6E8A-4147-A177-3AD203B41FA5}">
                      <a16:colId xmlns:a16="http://schemas.microsoft.com/office/drawing/2014/main" val="3633553993"/>
                    </a:ext>
                  </a:extLst>
                </a:gridCol>
                <a:gridCol w="4072647">
                  <a:extLst>
                    <a:ext uri="{9D8B030D-6E8A-4147-A177-3AD203B41FA5}">
                      <a16:colId xmlns:a16="http://schemas.microsoft.com/office/drawing/2014/main" val="1585286637"/>
                    </a:ext>
                  </a:extLst>
                </a:gridCol>
                <a:gridCol w="1300483">
                  <a:extLst>
                    <a:ext uri="{9D8B030D-6E8A-4147-A177-3AD203B41FA5}">
                      <a16:colId xmlns:a16="http://schemas.microsoft.com/office/drawing/2014/main" val="4212489912"/>
                    </a:ext>
                  </a:extLst>
                </a:gridCol>
                <a:gridCol w="833111">
                  <a:extLst>
                    <a:ext uri="{9D8B030D-6E8A-4147-A177-3AD203B41FA5}">
                      <a16:colId xmlns:a16="http://schemas.microsoft.com/office/drawing/2014/main" val="1515870065"/>
                    </a:ext>
                  </a:extLst>
                </a:gridCol>
              </a:tblGrid>
              <a:tr h="825127">
                <a:tc rowSpan="2">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Price</a:t>
                      </a:r>
                      <a:b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br>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F2E9"/>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How to ensure the buyer is not paying prices higher than market ones?</a:t>
                      </a:r>
                      <a:endParaRPr lang="en-GB" sz="800" b="1">
                        <a:solidFill>
                          <a:srgbClr val="C4984F"/>
                        </a:solidFill>
                        <a:latin typeface="Fund Light" pitchFamily="2" charset="-78"/>
                        <a:cs typeface="Fund Light" pitchFamily="2" charset="-78"/>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F2E9"/>
                    </a:solidFill>
                  </a:tcPr>
                </a:tc>
                <a:tc>
                  <a:txBody>
                    <a:bodyPr/>
                    <a:lstStyle/>
                    <a:p>
                      <a:pPr marL="0" indent="0" rtl="0">
                        <a:lnSpc>
                          <a:spcPct val="150000"/>
                        </a:lnSpc>
                        <a:buFont typeface="+mj-lt"/>
                        <a:buNone/>
                      </a:pPr>
                      <a:r>
                        <a:rPr lang="en-GB" sz="800" b="0" i="0">
                          <a:solidFill>
                            <a:srgbClr val="000000"/>
                          </a:solidFill>
                          <a:latin typeface="Fund Light" pitchFamily="2" charset="-78"/>
                          <a:cs typeface="Fund Light" pitchFamily="2" charset="-78"/>
                        </a:rPr>
                        <a:t>Price defined in line with </a:t>
                      </a:r>
                      <a:r>
                        <a:rPr lang="en-GB" sz="800" b="1" i="0">
                          <a:solidFill>
                            <a:srgbClr val="000000"/>
                          </a:solidFill>
                          <a:latin typeface="Fund Light" pitchFamily="2" charset="-78"/>
                          <a:cs typeface="Fund Light" pitchFamily="2" charset="-78"/>
                        </a:rPr>
                        <a:t>market conditions</a:t>
                      </a: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r>
                        <a:rPr lang="en-US" sz="800" b="0" i="0">
                          <a:solidFill>
                            <a:srgbClr val="000000"/>
                          </a:solidFill>
                          <a:latin typeface="Fund Light" pitchFamily="2" charset="-78"/>
                          <a:cs typeface="Fund Light" pitchFamily="2" charset="-78"/>
                        </a:rPr>
                        <a:t> </a:t>
                      </a:r>
                      <a:r>
                        <a:rPr lang="en-US" sz="800" b="1" i="0">
                          <a:solidFill>
                            <a:srgbClr val="000000"/>
                          </a:solidFill>
                          <a:latin typeface="Fund Light" pitchFamily="2" charset="-78"/>
                          <a:cs typeface="Fund Light" pitchFamily="2" charset="-78"/>
                        </a:rPr>
                        <a:t>PRICE AND PAYMENTS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5.4 (g)</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7.2.1 (c), (d)</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noFill/>
                      <a:prstDash val="lg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87678"/>
                  </a:ext>
                </a:extLst>
              </a:tr>
              <a:tr h="825127">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a:ln>
                          <a:noFill/>
                        </a:ln>
                        <a:solidFill>
                          <a:srgbClr val="C4984F"/>
                        </a:solidFill>
                        <a:effectLst/>
                        <a:uLnTx/>
                        <a:uFillTx/>
                        <a:latin typeface="+mn-lt"/>
                        <a:ea typeface="+mn-ea"/>
                        <a:cs typeface="+mn-cs"/>
                      </a:endParaRP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D9B5"/>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When does price review get triggered?</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F2E9"/>
                    </a:solid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GB" sz="800" b="0" i="0">
                          <a:solidFill>
                            <a:srgbClr val="000000"/>
                          </a:solidFill>
                          <a:latin typeface="Fund Light" pitchFamily="2" charset="-78"/>
                          <a:cs typeface="Fund Light" pitchFamily="2" charset="-78"/>
                        </a:rPr>
                        <a:t>Prices to be </a:t>
                      </a:r>
                      <a:r>
                        <a:rPr lang="en-GB" sz="800" b="1" i="0">
                          <a:solidFill>
                            <a:srgbClr val="000000"/>
                          </a:solidFill>
                          <a:latin typeface="Fund Light" pitchFamily="2" charset="-78"/>
                          <a:cs typeface="Fund Light" pitchFamily="2" charset="-78"/>
                        </a:rPr>
                        <a:t>reviewed on a continuous basis </a:t>
                      </a:r>
                      <a:r>
                        <a:rPr lang="en-GB" sz="800" b="0" i="0">
                          <a:solidFill>
                            <a:srgbClr val="000000"/>
                          </a:solidFill>
                          <a:latin typeface="Fund Light" pitchFamily="2" charset="-78"/>
                          <a:cs typeface="Fund Light" pitchFamily="2" charset="-78"/>
                        </a:rPr>
                        <a:t>(at the beginning of every contractual year) and potentially </a:t>
                      </a:r>
                      <a:r>
                        <a:rPr lang="en-GB" sz="800" b="1" i="0">
                          <a:solidFill>
                            <a:srgbClr val="000000"/>
                          </a:solidFill>
                          <a:latin typeface="Fund Light" pitchFamily="2" charset="-78"/>
                          <a:cs typeface="Fund Light" pitchFamily="2" charset="-78"/>
                        </a:rPr>
                        <a:t>for each Purchase Order </a:t>
                      </a:r>
                      <a:r>
                        <a:rPr kumimoji="0" lang="en-US" sz="8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(based on separate contractor-supplier negotiation)</a:t>
                      </a:r>
                      <a:endParaRPr lang="en-GB" sz="800" b="1"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50000"/>
                        </a:lnSpc>
                        <a:spcBef>
                          <a:spcPts val="0"/>
                        </a:spcBef>
                        <a:spcAft>
                          <a:spcPts val="0"/>
                        </a:spcAft>
                        <a:buClrTx/>
                        <a:buSzTx/>
                        <a:buFont typeface="+mj-lt"/>
                        <a:buNone/>
                        <a:tabLst/>
                        <a:defRPr/>
                      </a:pPr>
                      <a:r>
                        <a:rPr lang="en-US" sz="800" b="1" i="0">
                          <a:solidFill>
                            <a:srgbClr val="000000"/>
                          </a:solidFill>
                          <a:latin typeface="Fund Light" pitchFamily="2" charset="-78"/>
                          <a:cs typeface="Fund Light" pitchFamily="2" charset="-78"/>
                        </a:rPr>
                        <a:t>PURCHASE ORDER, PRICE AND PAYMENTS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5.9.1, 5.9.5</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7.2</a:t>
                      </a: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2227"/>
                  </a:ext>
                </a:extLst>
              </a:tr>
              <a:tr h="825127">
                <a:tc>
                  <a:txBody>
                    <a:bodyPr/>
                    <a:lstStyle/>
                    <a:p>
                      <a:pPr rtl="0"/>
                      <a:r>
                        <a:rPr kumimoji="0" lang="en-US" sz="800" b="1" i="0" u="none" strike="noStrike" kern="1200" cap="none" spc="0" normalizeH="0" baseline="0" noProof="0">
                          <a:ln>
                            <a:noFill/>
                          </a:ln>
                          <a:solidFill>
                            <a:srgbClr val="C4984F"/>
                          </a:solidFill>
                          <a:effectLst/>
                          <a:uLnTx/>
                          <a:uFillTx/>
                          <a:latin typeface="Fund Light" pitchFamily="2" charset="-78"/>
                          <a:ea typeface="+mn-ea"/>
                          <a:cs typeface="Fund Light" pitchFamily="2" charset="-78"/>
                        </a:rPr>
                        <a:t>Technology risk</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F2E9"/>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1">
                          <a:solidFill>
                            <a:srgbClr val="C4984F"/>
                          </a:solidFill>
                          <a:latin typeface="Fund Light" pitchFamily="2" charset="-78"/>
                          <a:cs typeface="Fund Light" pitchFamily="2" charset="-78"/>
                        </a:rPr>
                        <a:t>How to ensure that the buyer purchases products in line with its requirements?</a:t>
                      </a:r>
                    </a:p>
                  </a:txBody>
                  <a:tcPr marL="182880" marT="18288" marB="21328"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8F2E9"/>
                    </a:solidFill>
                  </a:tcPr>
                </a:tc>
                <a:tc>
                  <a:txBody>
                    <a:bodyPr/>
                    <a:lstStyle/>
                    <a:p>
                      <a:pPr marL="0" indent="0" rtl="0">
                        <a:lnSpc>
                          <a:spcPct val="150000"/>
                        </a:lnSpc>
                        <a:buFont typeface="+mj-lt"/>
                        <a:buNone/>
                      </a:pPr>
                      <a:r>
                        <a:rPr lang="en-US" sz="800" b="1" i="0">
                          <a:solidFill>
                            <a:srgbClr val="000000"/>
                          </a:solidFill>
                          <a:latin typeface="Fund Light" pitchFamily="2" charset="-78"/>
                          <a:cs typeface="Fund Light" pitchFamily="2" charset="-78"/>
                        </a:rPr>
                        <a:t>Technology change requests </a:t>
                      </a:r>
                      <a:r>
                        <a:rPr lang="en-US" sz="800" b="0" i="0">
                          <a:solidFill>
                            <a:srgbClr val="000000"/>
                          </a:solidFill>
                          <a:latin typeface="Fund Light" pitchFamily="2" charset="-78"/>
                          <a:cs typeface="Fund Light" pitchFamily="2" charset="-78"/>
                        </a:rPr>
                        <a:t>to be incorporated by the Manufacturer if technologically and commercially feasible</a:t>
                      </a:r>
                      <a:endParaRPr lang="en-GB" sz="800" b="0" i="0">
                        <a:solidFill>
                          <a:srgbClr val="000000"/>
                        </a:solidFill>
                        <a:latin typeface="Fund Light" pitchFamily="2" charset="-78"/>
                        <a:cs typeface="Fund Light" pitchFamily="2" charset="-78"/>
                      </a:endParaRPr>
                    </a:p>
                  </a:txBody>
                  <a:tcPr marT="18288" marB="21328" anchor="ctr">
                    <a:lnL w="57150"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l" rtl="0">
                        <a:lnSpc>
                          <a:spcPct val="150000"/>
                        </a:lnSpc>
                        <a:buFont typeface="+mj-lt"/>
                        <a:buNone/>
                      </a:pPr>
                      <a:r>
                        <a:rPr lang="en-US" sz="800" b="1" i="0">
                          <a:solidFill>
                            <a:srgbClr val="000000"/>
                          </a:solidFill>
                          <a:latin typeface="Fund Light" pitchFamily="2" charset="-78"/>
                          <a:cs typeface="Fund Light" pitchFamily="2" charset="-78"/>
                        </a:rPr>
                        <a:t>PURCHASE ORDER</a:t>
                      </a:r>
                      <a:r>
                        <a:rPr lang="en-US" sz="800" b="0" i="0">
                          <a:solidFill>
                            <a:srgbClr val="000000"/>
                          </a:solidFill>
                          <a:latin typeface="Fund Light" pitchFamily="2" charset="-78"/>
                          <a:cs typeface="Fund Light" pitchFamily="2" charset="-78"/>
                        </a:rPr>
                        <a:t>,</a:t>
                      </a:r>
                      <a:r>
                        <a:rPr lang="en-US" sz="800" b="1" i="0">
                          <a:solidFill>
                            <a:srgbClr val="000000"/>
                          </a:solidFill>
                          <a:latin typeface="Fund Light" pitchFamily="2" charset="-78"/>
                          <a:cs typeface="Fund Light" pitchFamily="2" charset="-78"/>
                        </a:rPr>
                        <a:t> INSPECTION OF MATERIALS</a:t>
                      </a:r>
                    </a:p>
                  </a:txBody>
                  <a:tcPr marR="45720" marT="18288" marB="21328" anchor="ctr">
                    <a:lnL w="3175" cap="flat" cmpd="sng" algn="ctr">
                      <a:solidFill>
                        <a:schemeClr val="bg1">
                          <a:lumMod val="65000"/>
                        </a:schemeClr>
                      </a:solid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algn="ctr" rtl="0">
                        <a:lnSpc>
                          <a:spcPct val="150000"/>
                        </a:lnSpc>
                        <a:buFont typeface="+mj-lt"/>
                        <a:buNone/>
                      </a:pPr>
                      <a:r>
                        <a:rPr lang="en-US" sz="800" b="0" i="0">
                          <a:solidFill>
                            <a:srgbClr val="000000"/>
                          </a:solidFill>
                          <a:latin typeface="Fund Light" pitchFamily="2" charset="-78"/>
                          <a:cs typeface="Fund Light" pitchFamily="2" charset="-78"/>
                        </a:rPr>
                        <a:t>5.9.1 (c),</a:t>
                      </a:r>
                      <a:br>
                        <a:rPr lang="en-US" sz="800" b="0" i="0">
                          <a:solidFill>
                            <a:srgbClr val="000000"/>
                          </a:solidFill>
                          <a:latin typeface="Fund Light" pitchFamily="2" charset="-78"/>
                          <a:cs typeface="Fund Light" pitchFamily="2" charset="-78"/>
                        </a:rPr>
                      </a:br>
                      <a:r>
                        <a:rPr lang="en-US" sz="800" b="0" i="0">
                          <a:solidFill>
                            <a:srgbClr val="000000"/>
                          </a:solidFill>
                          <a:latin typeface="Fund Light" pitchFamily="2" charset="-78"/>
                          <a:cs typeface="Fund Light" pitchFamily="2" charset="-78"/>
                        </a:rPr>
                        <a:t>6.1.3</a:t>
                      </a:r>
                      <a:br>
                        <a:rPr lang="en-US" sz="800" b="0" i="0">
                          <a:solidFill>
                            <a:srgbClr val="000000"/>
                          </a:solidFill>
                          <a:latin typeface="Fund Light" pitchFamily="2" charset="-78"/>
                          <a:cs typeface="Fund Light" pitchFamily="2" charset="-78"/>
                        </a:rPr>
                      </a:br>
                      <a:endParaRPr lang="en-US" sz="800" b="0" i="0">
                        <a:solidFill>
                          <a:srgbClr val="000000"/>
                        </a:solidFill>
                        <a:latin typeface="Fund Light" pitchFamily="2" charset="-78"/>
                        <a:cs typeface="Fund Light" pitchFamily="2" charset="-78"/>
                      </a:endParaRPr>
                    </a:p>
                  </a:txBody>
                  <a:tcPr marL="45720" marR="45720" marT="18288" marB="21328" anchor="ctr">
                    <a:lnL w="57150" cap="flat" cmpd="sng" algn="ctr">
                      <a:noFill/>
                      <a:prstDash val="solid"/>
                      <a:round/>
                      <a:headEnd type="none" w="med" len="med"/>
                      <a:tailEnd type="none" w="med" len="med"/>
                    </a:lnL>
                    <a:lnR w="6350" cap="flat" cmpd="sng" algn="ctr">
                      <a:noFill/>
                      <a:prstDash val="dash"/>
                      <a:round/>
                      <a:headEnd type="none" w="med" len="med"/>
                      <a:tailEnd type="none" w="med" len="med"/>
                    </a:lnR>
                    <a:lnT w="3175" cap="flat" cmpd="sng" algn="ctr">
                      <a:solidFill>
                        <a:schemeClr val="bg1">
                          <a:lumMod val="65000"/>
                        </a:schemeClr>
                      </a:solidFill>
                      <a:prstDash val="dash"/>
                      <a:round/>
                      <a:headEnd type="none" w="med" len="med"/>
                      <a:tailEnd type="none" w="med" len="med"/>
                    </a:lnT>
                    <a:lnB w="3175" cap="flat" cmpd="sng" algn="ctr">
                      <a:solidFill>
                        <a:schemeClr val="bg1">
                          <a:lumMod val="6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990217"/>
                  </a:ext>
                </a:extLst>
              </a:tr>
            </a:tbl>
          </a:graphicData>
        </a:graphic>
      </p:graphicFrame>
      <p:cxnSp>
        <p:nvCxnSpPr>
          <p:cNvPr id="37" name="Straight Connector 36">
            <a:extLst>
              <a:ext uri="{FF2B5EF4-FFF2-40B4-BE49-F238E27FC236}">
                <a16:creationId xmlns:a16="http://schemas.microsoft.com/office/drawing/2014/main" id="{0BBADE3E-862B-D2B5-558C-B68A0E51F840}"/>
              </a:ext>
            </a:extLst>
          </p:cNvPr>
          <p:cNvCxnSpPr>
            <a:cxnSpLocks/>
          </p:cNvCxnSpPr>
          <p:nvPr/>
        </p:nvCxnSpPr>
        <p:spPr>
          <a:xfrm>
            <a:off x="1083015" y="1378510"/>
            <a:ext cx="1446177"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FFD54B-62A2-AC8D-0786-F607819E2148}"/>
              </a:ext>
            </a:extLst>
          </p:cNvPr>
          <p:cNvSpPr txBox="1"/>
          <p:nvPr/>
        </p:nvSpPr>
        <p:spPr>
          <a:xfrm>
            <a:off x="1083014" y="1156312"/>
            <a:ext cx="1446177"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Key questions</a:t>
            </a:r>
          </a:p>
        </p:txBody>
      </p:sp>
      <p:sp>
        <p:nvSpPr>
          <p:cNvPr id="45" name="Oval 44">
            <a:extLst>
              <a:ext uri="{FF2B5EF4-FFF2-40B4-BE49-F238E27FC236}">
                <a16:creationId xmlns:a16="http://schemas.microsoft.com/office/drawing/2014/main" id="{82FD7590-F68E-6C6C-92D4-29F73828C62A}"/>
              </a:ext>
            </a:extLst>
          </p:cNvPr>
          <p:cNvSpPr/>
          <p:nvPr/>
        </p:nvSpPr>
        <p:spPr>
          <a:xfrm>
            <a:off x="1128662" y="174410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cxnSp>
        <p:nvCxnSpPr>
          <p:cNvPr id="7" name="Straight Connector 6">
            <a:extLst>
              <a:ext uri="{FF2B5EF4-FFF2-40B4-BE49-F238E27FC236}">
                <a16:creationId xmlns:a16="http://schemas.microsoft.com/office/drawing/2014/main" id="{91CF5076-0A76-C726-2DA3-72179B2DD7EF}"/>
              </a:ext>
            </a:extLst>
          </p:cNvPr>
          <p:cNvCxnSpPr>
            <a:cxnSpLocks/>
          </p:cNvCxnSpPr>
          <p:nvPr/>
        </p:nvCxnSpPr>
        <p:spPr>
          <a:xfrm>
            <a:off x="2602926" y="1378510"/>
            <a:ext cx="4011884"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3B0979-39F6-A6F4-616E-0F033C73D6EE}"/>
              </a:ext>
            </a:extLst>
          </p:cNvPr>
          <p:cNvSpPr txBox="1"/>
          <p:nvPr/>
        </p:nvSpPr>
        <p:spPr>
          <a:xfrm>
            <a:off x="2602924" y="1156312"/>
            <a:ext cx="4011882"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Mitigation mechanism</a:t>
            </a:r>
          </a:p>
        </p:txBody>
      </p:sp>
      <p:sp>
        <p:nvSpPr>
          <p:cNvPr id="18" name="Oval 17">
            <a:extLst>
              <a:ext uri="{FF2B5EF4-FFF2-40B4-BE49-F238E27FC236}">
                <a16:creationId xmlns:a16="http://schemas.microsoft.com/office/drawing/2014/main" id="{E88C9671-0178-3E86-BE03-F10287D777FA}"/>
              </a:ext>
            </a:extLst>
          </p:cNvPr>
          <p:cNvSpPr/>
          <p:nvPr/>
        </p:nvSpPr>
        <p:spPr>
          <a:xfrm>
            <a:off x="1128662" y="2571066"/>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b</a:t>
            </a:r>
          </a:p>
        </p:txBody>
      </p:sp>
      <p:sp>
        <p:nvSpPr>
          <p:cNvPr id="22" name="Oval 21">
            <a:extLst>
              <a:ext uri="{FF2B5EF4-FFF2-40B4-BE49-F238E27FC236}">
                <a16:creationId xmlns:a16="http://schemas.microsoft.com/office/drawing/2014/main" id="{37DD4C68-885E-F80D-4C64-BB3AD638C023}"/>
              </a:ext>
            </a:extLst>
          </p:cNvPr>
          <p:cNvSpPr/>
          <p:nvPr/>
        </p:nvSpPr>
        <p:spPr>
          <a:xfrm>
            <a:off x="211480" y="213802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3</a:t>
            </a:r>
          </a:p>
        </p:txBody>
      </p:sp>
      <p:cxnSp>
        <p:nvCxnSpPr>
          <p:cNvPr id="10" name="Straight Connector 9">
            <a:extLst>
              <a:ext uri="{FF2B5EF4-FFF2-40B4-BE49-F238E27FC236}">
                <a16:creationId xmlns:a16="http://schemas.microsoft.com/office/drawing/2014/main" id="{3AEE2868-0E73-CFFC-A392-7A9218ED5CA9}"/>
              </a:ext>
            </a:extLst>
          </p:cNvPr>
          <p:cNvCxnSpPr>
            <a:cxnSpLocks/>
          </p:cNvCxnSpPr>
          <p:nvPr/>
        </p:nvCxnSpPr>
        <p:spPr>
          <a:xfrm>
            <a:off x="324347" y="1378510"/>
            <a:ext cx="68493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6D86BE-A109-9773-6311-6A2189F9B81D}"/>
              </a:ext>
            </a:extLst>
          </p:cNvPr>
          <p:cNvSpPr txBox="1"/>
          <p:nvPr/>
        </p:nvSpPr>
        <p:spPr>
          <a:xfrm>
            <a:off x="324347" y="1156312"/>
            <a:ext cx="68493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Risk</a:t>
            </a:r>
          </a:p>
        </p:txBody>
      </p:sp>
      <p:cxnSp>
        <p:nvCxnSpPr>
          <p:cNvPr id="13" name="Straight Connector 12">
            <a:extLst>
              <a:ext uri="{FF2B5EF4-FFF2-40B4-BE49-F238E27FC236}">
                <a16:creationId xmlns:a16="http://schemas.microsoft.com/office/drawing/2014/main" id="{569B5D3E-4BBB-9EAA-34A6-79541763C04B}"/>
              </a:ext>
            </a:extLst>
          </p:cNvPr>
          <p:cNvCxnSpPr>
            <a:cxnSpLocks/>
          </p:cNvCxnSpPr>
          <p:nvPr/>
        </p:nvCxnSpPr>
        <p:spPr>
          <a:xfrm>
            <a:off x="6688539" y="1378510"/>
            <a:ext cx="120440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931613D-BA34-0873-2F51-77360B668AAC}"/>
              </a:ext>
            </a:extLst>
          </p:cNvPr>
          <p:cNvSpPr txBox="1"/>
          <p:nvPr/>
        </p:nvSpPr>
        <p:spPr>
          <a:xfrm>
            <a:off x="6688538" y="1156312"/>
            <a:ext cx="1204405"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Section(s)</a:t>
            </a:r>
          </a:p>
        </p:txBody>
      </p:sp>
      <p:cxnSp>
        <p:nvCxnSpPr>
          <p:cNvPr id="30" name="Straight Connector 29">
            <a:extLst>
              <a:ext uri="{FF2B5EF4-FFF2-40B4-BE49-F238E27FC236}">
                <a16:creationId xmlns:a16="http://schemas.microsoft.com/office/drawing/2014/main" id="{4F8DFAB0-7F17-B492-EEAD-DE7AD360E561}"/>
              </a:ext>
            </a:extLst>
          </p:cNvPr>
          <p:cNvCxnSpPr>
            <a:cxnSpLocks/>
          </p:cNvCxnSpPr>
          <p:nvPr/>
        </p:nvCxnSpPr>
        <p:spPr>
          <a:xfrm>
            <a:off x="7954592" y="1378510"/>
            <a:ext cx="784985"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CC0EBA4-73F0-C440-18FF-DEC6550463B7}"/>
              </a:ext>
            </a:extLst>
          </p:cNvPr>
          <p:cNvSpPr txBox="1"/>
          <p:nvPr/>
        </p:nvSpPr>
        <p:spPr>
          <a:xfrm>
            <a:off x="7954592" y="1156312"/>
            <a:ext cx="784984" cy="215444"/>
          </a:xfrm>
          <a:prstGeom prst="rect">
            <a:avLst/>
          </a:prstGeom>
          <a:noFill/>
        </p:spPr>
        <p:txBody>
          <a:bodyPr wrap="square" rtlCol="0" anchor="b">
            <a:spAutoFit/>
          </a:bodyPr>
          <a:lstStyle/>
          <a:p>
            <a:r>
              <a:rPr lang="en-US" sz="800" b="1">
                <a:solidFill>
                  <a:schemeClr val="bg2"/>
                </a:solidFill>
                <a:latin typeface="Fund Light" pitchFamily="2" charset="-78"/>
                <a:cs typeface="Fund Light" pitchFamily="2" charset="-78"/>
              </a:rPr>
              <a:t>Clause(s)</a:t>
            </a:r>
          </a:p>
        </p:txBody>
      </p:sp>
      <p:sp>
        <p:nvSpPr>
          <p:cNvPr id="19" name="Oval 18">
            <a:extLst>
              <a:ext uri="{FF2B5EF4-FFF2-40B4-BE49-F238E27FC236}">
                <a16:creationId xmlns:a16="http://schemas.microsoft.com/office/drawing/2014/main" id="{C99F9A50-5AA4-D087-D33F-C3105878739C}"/>
              </a:ext>
            </a:extLst>
          </p:cNvPr>
          <p:cNvSpPr/>
          <p:nvPr/>
        </p:nvSpPr>
        <p:spPr>
          <a:xfrm>
            <a:off x="1128662" y="3398023"/>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a</a:t>
            </a:r>
          </a:p>
        </p:txBody>
      </p:sp>
      <p:sp>
        <p:nvSpPr>
          <p:cNvPr id="20" name="Oval 19">
            <a:extLst>
              <a:ext uri="{FF2B5EF4-FFF2-40B4-BE49-F238E27FC236}">
                <a16:creationId xmlns:a16="http://schemas.microsoft.com/office/drawing/2014/main" id="{3C186D83-52DE-30D2-D79A-50CDE61CB6BB}"/>
              </a:ext>
            </a:extLst>
          </p:cNvPr>
          <p:cNvSpPr/>
          <p:nvPr/>
        </p:nvSpPr>
        <p:spPr>
          <a:xfrm>
            <a:off x="211480" y="3378819"/>
            <a:ext cx="228600" cy="228600"/>
          </a:xfrm>
          <a:prstGeom prst="ellipse">
            <a:avLst/>
          </a:prstGeom>
          <a:solidFill>
            <a:srgbClr val="C39A5C"/>
          </a:solidFill>
        </p:spPr>
        <p:txBody>
          <a:bodyPr wrap="square" lIns="0" tIns="0" rIns="0" bIns="0" rtlCol="0" anchor="ctr">
            <a:noAutofit/>
          </a:bodyPr>
          <a:lstStyle/>
          <a:p>
            <a:pPr algn="ctr">
              <a:spcBef>
                <a:spcPts val="300"/>
              </a:spcBef>
              <a:spcAft>
                <a:spcPts val="300"/>
              </a:spcAft>
            </a:pPr>
            <a:r>
              <a:rPr lang="en-US" sz="800" b="1">
                <a:solidFill>
                  <a:schemeClr val="bg1"/>
                </a:solidFill>
                <a:latin typeface="Fund Light" pitchFamily="2" charset="-78"/>
                <a:cs typeface="Fund Light" pitchFamily="2" charset="-78"/>
              </a:rPr>
              <a:t>4</a:t>
            </a:r>
          </a:p>
        </p:txBody>
      </p:sp>
      <p:sp>
        <p:nvSpPr>
          <p:cNvPr id="16" name="Rectangle 15">
            <a:hlinkClick r:id="rId6" action="ppaction://hlinksldjump"/>
            <a:extLst>
              <a:ext uri="{FF2B5EF4-FFF2-40B4-BE49-F238E27FC236}">
                <a16:creationId xmlns:a16="http://schemas.microsoft.com/office/drawing/2014/main" id="{915C8D4B-F4C3-90FA-21F4-0FCC00C058BB}"/>
              </a:ext>
            </a:extLst>
          </p:cNvPr>
          <p:cNvSpPr/>
          <p:nvPr/>
        </p:nvSpPr>
        <p:spPr>
          <a:xfrm>
            <a:off x="8448639" y="4665788"/>
            <a:ext cx="468696" cy="124042"/>
          </a:xfrm>
          <a:prstGeom prst="rect">
            <a:avLst/>
          </a:prstGeom>
          <a:solidFill>
            <a:srgbClr val="F8F2E5"/>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30" normalizeH="0" baseline="0" noProof="0">
                <a:ln>
                  <a:noFill/>
                </a:ln>
                <a:solidFill>
                  <a:srgbClr val="1A1918"/>
                </a:solidFill>
                <a:effectLst/>
                <a:uLnTx/>
                <a:uFillTx/>
                <a:latin typeface="Fund Light" pitchFamily="2" charset="-78"/>
                <a:cs typeface="Fund Light" pitchFamily="2" charset="-78"/>
              </a:rPr>
              <a:t>Back</a:t>
            </a:r>
          </a:p>
        </p:txBody>
      </p:sp>
      <p:sp>
        <p:nvSpPr>
          <p:cNvPr id="26" name="Title 25">
            <a:extLst>
              <a:ext uri="{FF2B5EF4-FFF2-40B4-BE49-F238E27FC236}">
                <a16:creationId xmlns:a16="http://schemas.microsoft.com/office/drawing/2014/main" id="{80DC7B94-BAC9-AC4F-3D8B-CA3E2D59ADB3}"/>
              </a:ext>
            </a:extLst>
          </p:cNvPr>
          <p:cNvSpPr>
            <a:spLocks noGrp="1"/>
          </p:cNvSpPr>
          <p:nvPr>
            <p:ph type="title"/>
          </p:nvPr>
        </p:nvSpPr>
        <p:spPr/>
        <p:txBody>
          <a:bodyPr vert="horz"/>
          <a:lstStyle/>
          <a:p>
            <a:r>
              <a:rPr lang="en-US"/>
              <a:t> Price and technology risks mitigation mechanisms</a:t>
            </a:r>
            <a:endParaRPr lang="en-GB"/>
          </a:p>
        </p:txBody>
      </p:sp>
      <p:sp>
        <p:nvSpPr>
          <p:cNvPr id="41" name="Rectangle 40">
            <a:extLst>
              <a:ext uri="{FF2B5EF4-FFF2-40B4-BE49-F238E27FC236}">
                <a16:creationId xmlns:a16="http://schemas.microsoft.com/office/drawing/2014/main" id="{8E7D828E-FE99-323E-E829-626D4FED87A9}"/>
              </a:ext>
            </a:extLst>
          </p:cNvPr>
          <p:cNvSpPr/>
          <p:nvPr/>
        </p:nvSpPr>
        <p:spPr>
          <a:xfrm>
            <a:off x="3677463" y="2208"/>
            <a:ext cx="1789075" cy="170331"/>
          </a:xfrm>
          <a:prstGeom prst="rect">
            <a:avLst/>
          </a:prstGeom>
          <a:solidFill>
            <a:schemeClr val="tx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spcBef>
                <a:spcPts val="225"/>
              </a:spcBef>
              <a:spcAft>
                <a:spcPts val="225"/>
              </a:spcAft>
            </a:pPr>
            <a:r>
              <a:rPr lang="en-US" sz="788" b="1">
                <a:solidFill>
                  <a:schemeClr val="bg1"/>
                </a:solidFill>
                <a:latin typeface="Fund Light" pitchFamily="2" charset="-78"/>
                <a:cs typeface="Fund Light" pitchFamily="2" charset="-78"/>
              </a:rPr>
              <a:t>Methodology</a:t>
            </a:r>
          </a:p>
        </p:txBody>
      </p:sp>
      <p:sp>
        <p:nvSpPr>
          <p:cNvPr id="42" name="Oval 41">
            <a:extLst>
              <a:ext uri="{FF2B5EF4-FFF2-40B4-BE49-F238E27FC236}">
                <a16:creationId xmlns:a16="http://schemas.microsoft.com/office/drawing/2014/main" id="{A053053E-ED9F-6447-6735-582A7F2AEB2A}"/>
              </a:ext>
            </a:extLst>
          </p:cNvPr>
          <p:cNvSpPr/>
          <p:nvPr/>
        </p:nvSpPr>
        <p:spPr>
          <a:xfrm>
            <a:off x="7743710"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sp>
        <p:nvSpPr>
          <p:cNvPr id="43" name="Text Placeholder 6">
            <a:extLst>
              <a:ext uri="{FF2B5EF4-FFF2-40B4-BE49-F238E27FC236}">
                <a16:creationId xmlns:a16="http://schemas.microsoft.com/office/drawing/2014/main" id="{D1561905-D18B-4F5F-0BB9-03D3D62D1694}"/>
              </a:ext>
            </a:extLst>
          </p:cNvPr>
          <p:cNvSpPr txBox="1">
            <a:spLocks/>
          </p:cNvSpPr>
          <p:nvPr/>
        </p:nvSpPr>
        <p:spPr>
          <a:xfrm>
            <a:off x="7927974" y="194048"/>
            <a:ext cx="1128714"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Price and tech risk</a:t>
            </a:r>
          </a:p>
        </p:txBody>
      </p:sp>
      <p:sp>
        <p:nvSpPr>
          <p:cNvPr id="50" name="Text Placeholder 6">
            <a:extLst>
              <a:ext uri="{FF2B5EF4-FFF2-40B4-BE49-F238E27FC236}">
                <a16:creationId xmlns:a16="http://schemas.microsoft.com/office/drawing/2014/main" id="{F69DBB1B-64A0-2A03-C407-E22172281C1D}"/>
              </a:ext>
            </a:extLst>
          </p:cNvPr>
          <p:cNvSpPr txBox="1">
            <a:spLocks/>
          </p:cNvSpPr>
          <p:nvPr/>
        </p:nvSpPr>
        <p:spPr>
          <a:xfrm>
            <a:off x="7286671" y="46903"/>
            <a:ext cx="1737360"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Take-or-pay agreement</a:t>
            </a:r>
          </a:p>
        </p:txBody>
      </p:sp>
      <p:sp>
        <p:nvSpPr>
          <p:cNvPr id="51" name="Oval 50">
            <a:extLst>
              <a:ext uri="{FF2B5EF4-FFF2-40B4-BE49-F238E27FC236}">
                <a16:creationId xmlns:a16="http://schemas.microsoft.com/office/drawing/2014/main" id="{BE6FD125-8096-4D6B-3432-EA3467E98B53}"/>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B</a:t>
            </a:r>
          </a:p>
        </p:txBody>
      </p:sp>
      <p:sp>
        <p:nvSpPr>
          <p:cNvPr id="52" name="Oval 51">
            <a:extLst>
              <a:ext uri="{FF2B5EF4-FFF2-40B4-BE49-F238E27FC236}">
                <a16:creationId xmlns:a16="http://schemas.microsoft.com/office/drawing/2014/main" id="{F0E27E66-92DC-F6CC-00AD-28A9B45F81E3}"/>
              </a:ext>
            </a:extLst>
          </p:cNvPr>
          <p:cNvSpPr/>
          <p:nvPr/>
        </p:nvSpPr>
        <p:spPr>
          <a:xfrm>
            <a:off x="7842011" y="242368"/>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4</a:t>
            </a:r>
          </a:p>
        </p:txBody>
      </p:sp>
    </p:spTree>
    <p:extLst>
      <p:ext uri="{BB962C8B-B14F-4D97-AF65-F5344CB8AC3E}">
        <p14:creationId xmlns:p14="http://schemas.microsoft.com/office/powerpoint/2010/main" val="31993170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74C95B4B-A749-4D54-B01F-C44CDC7CC6C0}"/>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8615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29959705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1155307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5 of 5 – LDC monitoring</a:t>
            </a:r>
            <a:r>
              <a:rPr lang="en-US"/>
              <a:t>: Section preface</a:t>
            </a: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monitoring</a:t>
            </a:r>
          </a:p>
        </p:txBody>
      </p:sp>
      <p:sp>
        <p:nvSpPr>
          <p:cNvPr id="5" name="Rectangle 4">
            <a:extLst>
              <a:ext uri="{FF2B5EF4-FFF2-40B4-BE49-F238E27FC236}">
                <a16:creationId xmlns:a16="http://schemas.microsoft.com/office/drawing/2014/main" id="{CF2258D2-5E1A-CED8-A6F3-A18511F43921}"/>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6" name="Rectangle 5">
            <a:extLst>
              <a:ext uri="{FF2B5EF4-FFF2-40B4-BE49-F238E27FC236}">
                <a16:creationId xmlns:a16="http://schemas.microsoft.com/office/drawing/2014/main" id="{0561FF69-64A0-8A2C-4418-936398BE98C6}"/>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11" name="Rectangle 10">
            <a:extLst>
              <a:ext uri="{FF2B5EF4-FFF2-40B4-BE49-F238E27FC236}">
                <a16:creationId xmlns:a16="http://schemas.microsoft.com/office/drawing/2014/main" id="{D6A24A99-3140-0C99-757A-C5E7C827711D}"/>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7" name="Rectangle 16">
            <a:extLst>
              <a:ext uri="{FF2B5EF4-FFF2-40B4-BE49-F238E27FC236}">
                <a16:creationId xmlns:a16="http://schemas.microsoft.com/office/drawing/2014/main" id="{29D299EF-E302-E48A-794B-0A9B4078B029}"/>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8" name="Rectangle 17">
            <a:extLst>
              <a:ext uri="{FF2B5EF4-FFF2-40B4-BE49-F238E27FC236}">
                <a16:creationId xmlns:a16="http://schemas.microsoft.com/office/drawing/2014/main" id="{F95E6232-8834-1C47-35A1-E5F9A18898CD}"/>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LDC taskforce [owner of the process]</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LC unit [recommendations / inputs]</a:t>
            </a:r>
          </a:p>
        </p:txBody>
      </p:sp>
      <p:sp>
        <p:nvSpPr>
          <p:cNvPr id="22" name="Rectangle 21">
            <a:extLst>
              <a:ext uri="{FF2B5EF4-FFF2-40B4-BE49-F238E27FC236}">
                <a16:creationId xmlns:a16="http://schemas.microsoft.com/office/drawing/2014/main" id="{066F055C-6233-40C4-C3EE-1B3549855FAB}"/>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KPIs to monitor LDC progress against the objectives set out in the LDC agreement</a:t>
            </a:r>
          </a:p>
        </p:txBody>
      </p:sp>
      <p:sp>
        <p:nvSpPr>
          <p:cNvPr id="23" name="Rectangle 22">
            <a:extLst>
              <a:ext uri="{FF2B5EF4-FFF2-40B4-BE49-F238E27FC236}">
                <a16:creationId xmlns:a16="http://schemas.microsoft.com/office/drawing/2014/main" id="{D53CD69D-CE4C-90C8-1AF5-0AC50F032494}"/>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How to calculate and track them the relevant KPIs?</a:t>
            </a:r>
          </a:p>
        </p:txBody>
      </p:sp>
      <p:grpSp>
        <p:nvGrpSpPr>
          <p:cNvPr id="35" name="Group 34">
            <a:extLst>
              <a:ext uri="{FF2B5EF4-FFF2-40B4-BE49-F238E27FC236}">
                <a16:creationId xmlns:a16="http://schemas.microsoft.com/office/drawing/2014/main" id="{E2AC6243-E3F0-FD42-726A-CE03CBB80A98}"/>
              </a:ext>
            </a:extLst>
          </p:cNvPr>
          <p:cNvGrpSpPr/>
          <p:nvPr/>
        </p:nvGrpSpPr>
        <p:grpSpPr>
          <a:xfrm>
            <a:off x="2495876" y="2879428"/>
            <a:ext cx="2757620" cy="323165"/>
            <a:chOff x="7053361" y="2238588"/>
            <a:chExt cx="2757620" cy="323165"/>
          </a:xfrm>
        </p:grpSpPr>
        <p:sp>
          <p:nvSpPr>
            <p:cNvPr id="36" name="Rectangle 35">
              <a:extLst>
                <a:ext uri="{FF2B5EF4-FFF2-40B4-BE49-F238E27FC236}">
                  <a16:creationId xmlns:a16="http://schemas.microsoft.com/office/drawing/2014/main" id="{67513436-C935-A226-D020-77BFF87A12C4}"/>
                </a:ext>
              </a:extLst>
            </p:cNvPr>
            <p:cNvSpPr/>
            <p:nvPr/>
          </p:nvSpPr>
          <p:spPr>
            <a:xfrm>
              <a:off x="8874259" y="2238588"/>
              <a:ext cx="936722" cy="323165"/>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a:solidFill>
                    <a:schemeClr val="bg2"/>
                  </a:solidFill>
                  <a:latin typeface="Fund Light" pitchFamily="2" charset="-78"/>
                  <a:cs typeface="Fund Light" pitchFamily="2" charset="-78"/>
                </a:rPr>
                <a:t>Monitoring dashboard</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
          <p:nvSpPr>
            <p:cNvPr id="37" name="Oval 36">
              <a:extLst>
                <a:ext uri="{FF2B5EF4-FFF2-40B4-BE49-F238E27FC236}">
                  <a16:creationId xmlns:a16="http://schemas.microsoft.com/office/drawing/2014/main" id="{21109AE1-61B3-6592-BA0E-A2D6E5DDD1B0}"/>
                </a:ext>
              </a:extLst>
            </p:cNvPr>
            <p:cNvSpPr/>
            <p:nvPr/>
          </p:nvSpPr>
          <p:spPr>
            <a:xfrm>
              <a:off x="7053361" y="2326968"/>
              <a:ext cx="180325" cy="180325"/>
            </a:xfrm>
            <a:prstGeom prst="ellipse">
              <a:avLst/>
            </a:prstGeom>
            <a:solidFill>
              <a:schemeClr val="tx2"/>
            </a:solidFill>
          </p:spPr>
          <p:txBody>
            <a:bodyPr wrap="square" rtlCol="0" anchor="ctr">
              <a:noAutofit/>
            </a:bodyPr>
            <a:lstStyle/>
            <a:p>
              <a:pPr algn="ctr">
                <a:spcBef>
                  <a:spcPts val="300"/>
                </a:spcBef>
                <a:spcAft>
                  <a:spcPts val="300"/>
                </a:spcAft>
              </a:pPr>
              <a:r>
                <a:rPr lang="en-GB" sz="1050" b="1">
                  <a:solidFill>
                    <a:schemeClr val="bg1"/>
                  </a:solidFill>
                  <a:latin typeface="Fund Light" pitchFamily="2" charset="-78"/>
                  <a:cs typeface="Fund Light" pitchFamily="2" charset="-78"/>
                </a:rPr>
                <a:t>F</a:t>
              </a:r>
            </a:p>
          </p:txBody>
        </p:sp>
      </p:grpSp>
      <p:pic>
        <p:nvPicPr>
          <p:cNvPr id="38" name="Picture 37">
            <a:extLst>
              <a:ext uri="{FF2B5EF4-FFF2-40B4-BE49-F238E27FC236}">
                <a16:creationId xmlns:a16="http://schemas.microsoft.com/office/drawing/2014/main" id="{DF85BB4C-1A30-78B4-C16C-267FBC9B9F3A}"/>
              </a:ext>
            </a:extLst>
          </p:cNvPr>
          <p:cNvPicPr>
            <a:picLocks noChangeAspect="1"/>
          </p:cNvPicPr>
          <p:nvPr/>
        </p:nvPicPr>
        <p:blipFill>
          <a:blip r:embed="rId6"/>
          <a:stretch>
            <a:fillRect/>
          </a:stretch>
        </p:blipFill>
        <p:spPr>
          <a:xfrm>
            <a:off x="2803779" y="2724814"/>
            <a:ext cx="1385417" cy="632393"/>
          </a:xfrm>
          <a:prstGeom prst="rect">
            <a:avLst/>
          </a:prstGeom>
          <a:solidFill>
            <a:srgbClr val="FFFFFF">
              <a:shade val="85000"/>
            </a:srgbClr>
          </a:solidFill>
          <a:ln w="31115"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266705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604AB0D-62D4-F72E-1157-345AE99FE7F2}"/>
              </a:ext>
            </a:extLst>
          </p:cNvPr>
          <p:cNvGraphicFramePr>
            <a:graphicFrameLocks noChangeAspect="1"/>
          </p:cNvGraphicFramePr>
          <p:nvPr>
            <p:custDataLst>
              <p:tags r:id="rId1"/>
            </p:custDataLst>
            <p:extLst>
              <p:ext uri="{D42A27DB-BD31-4B8C-83A1-F6EECF244321}">
                <p14:modId xmlns:p14="http://schemas.microsoft.com/office/powerpoint/2010/main" val="3922906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A604AB0D-62D4-F72E-1157-345AE99FE7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0BC2CD7-7D05-245A-0F6F-393D1C9CE9D1}"/>
              </a:ext>
            </a:extLst>
          </p:cNvPr>
          <p:cNvSpPr>
            <a:spLocks noGrp="1"/>
          </p:cNvSpPr>
          <p:nvPr>
            <p:ph type="title"/>
          </p:nvPr>
        </p:nvSpPr>
        <p:spPr>
          <a:xfrm>
            <a:off x="1255078" y="255973"/>
            <a:ext cx="5689419" cy="241824"/>
          </a:xfrm>
        </p:spPr>
        <p:txBody>
          <a:bodyPr vert="horz"/>
          <a:lstStyle/>
          <a:p>
            <a:r>
              <a:rPr lang="en-US"/>
              <a:t>Three types of KPIs are defined for monitoring LDC progress </a:t>
            </a:r>
          </a:p>
        </p:txBody>
      </p:sp>
      <p:grpSp>
        <p:nvGrpSpPr>
          <p:cNvPr id="11" name="Group 10">
            <a:extLst>
              <a:ext uri="{FF2B5EF4-FFF2-40B4-BE49-F238E27FC236}">
                <a16:creationId xmlns:a16="http://schemas.microsoft.com/office/drawing/2014/main" id="{5A8A6D81-A33A-365D-B711-E734632DB070}"/>
              </a:ext>
            </a:extLst>
          </p:cNvPr>
          <p:cNvGrpSpPr/>
          <p:nvPr/>
        </p:nvGrpSpPr>
        <p:grpSpPr>
          <a:xfrm>
            <a:off x="417810" y="1129988"/>
            <a:ext cx="2494723" cy="238722"/>
            <a:chOff x="554736" y="1091381"/>
            <a:chExt cx="2962361" cy="265898"/>
          </a:xfrm>
        </p:grpSpPr>
        <p:sp>
          <p:nvSpPr>
            <p:cNvPr id="15" name="Rectangle 14">
              <a:extLst>
                <a:ext uri="{FF2B5EF4-FFF2-40B4-BE49-F238E27FC236}">
                  <a16:creationId xmlns:a16="http://schemas.microsoft.com/office/drawing/2014/main" id="{FEBA3015-4B6D-54AF-6784-C857732A2456}"/>
                </a:ext>
              </a:extLst>
            </p:cNvPr>
            <p:cNvSpPr/>
            <p:nvPr/>
          </p:nvSpPr>
          <p:spPr>
            <a:xfrm>
              <a:off x="554736" y="1091381"/>
              <a:ext cx="2962361" cy="26589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0">
                  <a:ln>
                    <a:noFill/>
                  </a:ln>
                  <a:solidFill>
                    <a:schemeClr val="bg2"/>
                  </a:solidFill>
                  <a:effectLst/>
                  <a:uLnTx/>
                  <a:uFillTx/>
                  <a:latin typeface="Fund Light"/>
                  <a:ea typeface="+mn-ea"/>
                  <a:cs typeface="+mn-cs"/>
                </a:rPr>
                <a:t>	Internal liability KPIs</a:t>
              </a:r>
              <a:endParaRPr kumimoji="0" lang="en-US" sz="1100" b="1" i="0" u="none" strike="noStrike" kern="1200" cap="none" spc="0" normalizeH="0" baseline="30000" noProof="0">
                <a:ln>
                  <a:noFill/>
                </a:ln>
                <a:solidFill>
                  <a:schemeClr val="bg2"/>
                </a:solidFill>
                <a:effectLst/>
                <a:uLnTx/>
                <a:uFillTx/>
                <a:latin typeface="Fund Light"/>
                <a:ea typeface="+mn-ea"/>
                <a:cs typeface="+mn-cs"/>
              </a:endParaRPr>
            </a:p>
          </p:txBody>
        </p:sp>
        <p:cxnSp>
          <p:nvCxnSpPr>
            <p:cNvPr id="16" name="Straight Connector 15">
              <a:extLst>
                <a:ext uri="{FF2B5EF4-FFF2-40B4-BE49-F238E27FC236}">
                  <a16:creationId xmlns:a16="http://schemas.microsoft.com/office/drawing/2014/main" id="{468E637F-A387-E6CD-4B99-D1CB188B142D}"/>
                </a:ext>
              </a:extLst>
            </p:cNvPr>
            <p:cNvCxnSpPr>
              <a:cxnSpLocks/>
            </p:cNvCxnSpPr>
            <p:nvPr/>
          </p:nvCxnSpPr>
          <p:spPr>
            <a:xfrm>
              <a:off x="554736" y="1357279"/>
              <a:ext cx="2962361" cy="0"/>
            </a:xfrm>
            <a:prstGeom prst="line">
              <a:avLst/>
            </a:prstGeom>
            <a:ln w="19050" cap="flat">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B98E42E6-08E4-DE6E-FA37-101E6E3DA5F3}"/>
              </a:ext>
            </a:extLst>
          </p:cNvPr>
          <p:cNvGrpSpPr/>
          <p:nvPr/>
        </p:nvGrpSpPr>
        <p:grpSpPr>
          <a:xfrm>
            <a:off x="3341572" y="1129988"/>
            <a:ext cx="2494723" cy="238722"/>
            <a:chOff x="554736" y="1091381"/>
            <a:chExt cx="2962361" cy="265898"/>
          </a:xfrm>
        </p:grpSpPr>
        <p:sp>
          <p:nvSpPr>
            <p:cNvPr id="26" name="Rectangle 25">
              <a:extLst>
                <a:ext uri="{FF2B5EF4-FFF2-40B4-BE49-F238E27FC236}">
                  <a16:creationId xmlns:a16="http://schemas.microsoft.com/office/drawing/2014/main" id="{FC1D630E-4EAD-B6C1-CFF6-184EF1E470FA}"/>
                </a:ext>
              </a:extLst>
            </p:cNvPr>
            <p:cNvSpPr/>
            <p:nvPr/>
          </p:nvSpPr>
          <p:spPr>
            <a:xfrm>
              <a:off x="554736" y="1091381"/>
              <a:ext cx="2962361" cy="26589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0">
                  <a:ln>
                    <a:noFill/>
                  </a:ln>
                  <a:solidFill>
                    <a:schemeClr val="bg2"/>
                  </a:solidFill>
                  <a:effectLst/>
                  <a:uLnTx/>
                  <a:uFillTx/>
                  <a:latin typeface="Fund Light"/>
                  <a:ea typeface="+mn-ea"/>
                  <a:cs typeface="+mn-cs"/>
                </a:rPr>
                <a:t>	Supplier performance KPIs</a:t>
              </a:r>
              <a:endParaRPr kumimoji="0" lang="en-US" sz="1100" b="1" i="0" u="none" strike="noStrike" kern="1200" cap="none" spc="0" normalizeH="0" baseline="30000" noProof="0">
                <a:ln>
                  <a:noFill/>
                </a:ln>
                <a:solidFill>
                  <a:schemeClr val="bg2"/>
                </a:solidFill>
                <a:effectLst/>
                <a:uLnTx/>
                <a:uFillTx/>
                <a:latin typeface="Fund Light"/>
                <a:ea typeface="+mn-ea"/>
                <a:cs typeface="+mn-cs"/>
              </a:endParaRPr>
            </a:p>
          </p:txBody>
        </p:sp>
        <p:cxnSp>
          <p:nvCxnSpPr>
            <p:cNvPr id="27" name="Straight Connector 26">
              <a:extLst>
                <a:ext uri="{FF2B5EF4-FFF2-40B4-BE49-F238E27FC236}">
                  <a16:creationId xmlns:a16="http://schemas.microsoft.com/office/drawing/2014/main" id="{6AC309AC-5CFE-DDFE-2AA1-DA6DDEE8782C}"/>
                </a:ext>
              </a:extLst>
            </p:cNvPr>
            <p:cNvCxnSpPr>
              <a:cxnSpLocks/>
            </p:cNvCxnSpPr>
            <p:nvPr/>
          </p:nvCxnSpPr>
          <p:spPr>
            <a:xfrm>
              <a:off x="554736" y="1357279"/>
              <a:ext cx="2962361" cy="0"/>
            </a:xfrm>
            <a:prstGeom prst="line">
              <a:avLst/>
            </a:prstGeom>
            <a:ln w="19050" cap="flat">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4715209A-C12E-243F-5D2B-014D845D4079}"/>
              </a:ext>
            </a:extLst>
          </p:cNvPr>
          <p:cNvGrpSpPr/>
          <p:nvPr/>
        </p:nvGrpSpPr>
        <p:grpSpPr>
          <a:xfrm>
            <a:off x="6265335" y="1129988"/>
            <a:ext cx="2494723" cy="238722"/>
            <a:chOff x="554736" y="1091381"/>
            <a:chExt cx="2962361" cy="265898"/>
          </a:xfrm>
        </p:grpSpPr>
        <p:sp>
          <p:nvSpPr>
            <p:cNvPr id="29" name="Rectangle 28">
              <a:extLst>
                <a:ext uri="{FF2B5EF4-FFF2-40B4-BE49-F238E27FC236}">
                  <a16:creationId xmlns:a16="http://schemas.microsoft.com/office/drawing/2014/main" id="{6A982D3F-765F-013D-4B56-8EF5255BA990}"/>
                </a:ext>
              </a:extLst>
            </p:cNvPr>
            <p:cNvSpPr/>
            <p:nvPr/>
          </p:nvSpPr>
          <p:spPr>
            <a:xfrm>
              <a:off x="554736" y="1091381"/>
              <a:ext cx="2962361" cy="265898"/>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0" rIns="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0">
                  <a:ln>
                    <a:noFill/>
                  </a:ln>
                  <a:solidFill>
                    <a:schemeClr val="bg2"/>
                  </a:solidFill>
                  <a:effectLst/>
                  <a:uLnTx/>
                  <a:uFillTx/>
                  <a:latin typeface="Fund Light"/>
                  <a:ea typeface="+mn-ea"/>
                  <a:cs typeface="+mn-cs"/>
                </a:rPr>
                <a:t>	Localization KPIs</a:t>
              </a:r>
              <a:endParaRPr kumimoji="0" lang="en-US" sz="1100" b="1" i="0" u="none" strike="noStrike" kern="1200" cap="none" spc="0" normalizeH="0" baseline="30000" noProof="0">
                <a:ln>
                  <a:noFill/>
                </a:ln>
                <a:solidFill>
                  <a:schemeClr val="bg2"/>
                </a:solidFill>
                <a:effectLst/>
                <a:uLnTx/>
                <a:uFillTx/>
                <a:latin typeface="Fund Light"/>
                <a:ea typeface="+mn-ea"/>
                <a:cs typeface="+mn-cs"/>
              </a:endParaRPr>
            </a:p>
          </p:txBody>
        </p:sp>
        <p:cxnSp>
          <p:nvCxnSpPr>
            <p:cNvPr id="30" name="Straight Connector 29">
              <a:extLst>
                <a:ext uri="{FF2B5EF4-FFF2-40B4-BE49-F238E27FC236}">
                  <a16:creationId xmlns:a16="http://schemas.microsoft.com/office/drawing/2014/main" id="{CE30AB1A-2D85-164D-A4FB-FBDC4D277344}"/>
                </a:ext>
              </a:extLst>
            </p:cNvPr>
            <p:cNvCxnSpPr>
              <a:cxnSpLocks/>
            </p:cNvCxnSpPr>
            <p:nvPr/>
          </p:nvCxnSpPr>
          <p:spPr>
            <a:xfrm>
              <a:off x="554736" y="1357279"/>
              <a:ext cx="2962361" cy="0"/>
            </a:xfrm>
            <a:prstGeom prst="line">
              <a:avLst/>
            </a:prstGeom>
            <a:ln w="19050" cap="flat">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1E991AC4-CB4D-6976-5BC4-FEFE5437AAE4}"/>
              </a:ext>
            </a:extLst>
          </p:cNvPr>
          <p:cNvSpPr/>
          <p:nvPr/>
        </p:nvSpPr>
        <p:spPr>
          <a:xfrm>
            <a:off x="417808" y="1046499"/>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000" b="1">
                <a:solidFill>
                  <a:schemeClr val="bg1"/>
                </a:solidFill>
                <a:latin typeface="Fund Light" pitchFamily="2" charset="-78"/>
                <a:cs typeface="Fund Light" pitchFamily="2" charset="-78"/>
              </a:rPr>
              <a:t>1</a:t>
            </a:r>
          </a:p>
        </p:txBody>
      </p:sp>
      <p:sp>
        <p:nvSpPr>
          <p:cNvPr id="32" name="Oval 31">
            <a:extLst>
              <a:ext uri="{FF2B5EF4-FFF2-40B4-BE49-F238E27FC236}">
                <a16:creationId xmlns:a16="http://schemas.microsoft.com/office/drawing/2014/main" id="{8050B56E-F025-E2A8-0511-6991DC3CB99C}"/>
              </a:ext>
            </a:extLst>
          </p:cNvPr>
          <p:cNvSpPr/>
          <p:nvPr/>
        </p:nvSpPr>
        <p:spPr>
          <a:xfrm>
            <a:off x="3341349" y="1046499"/>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000" b="1">
                <a:solidFill>
                  <a:schemeClr val="bg1"/>
                </a:solidFill>
                <a:latin typeface="Fund Light" pitchFamily="2" charset="-78"/>
                <a:cs typeface="Fund Light" pitchFamily="2" charset="-78"/>
              </a:rPr>
              <a:t>2</a:t>
            </a:r>
          </a:p>
        </p:txBody>
      </p:sp>
      <p:sp>
        <p:nvSpPr>
          <p:cNvPr id="33" name="Oval 32">
            <a:extLst>
              <a:ext uri="{FF2B5EF4-FFF2-40B4-BE49-F238E27FC236}">
                <a16:creationId xmlns:a16="http://schemas.microsoft.com/office/drawing/2014/main" id="{2E90754D-872A-06B5-A60C-4945632F7ED6}"/>
              </a:ext>
            </a:extLst>
          </p:cNvPr>
          <p:cNvSpPr/>
          <p:nvPr/>
        </p:nvSpPr>
        <p:spPr>
          <a:xfrm>
            <a:off x="6264890" y="1046499"/>
            <a:ext cx="274320" cy="272061"/>
          </a:xfrm>
          <a:prstGeom prst="ellipse">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algn="ctr" defTabSz="914377">
              <a:spcBef>
                <a:spcPts val="300"/>
              </a:spcBef>
              <a:spcAft>
                <a:spcPts val="300"/>
              </a:spcAft>
              <a:defRPr/>
            </a:pPr>
            <a:r>
              <a:rPr lang="en-GB" sz="1000" b="1">
                <a:solidFill>
                  <a:schemeClr val="bg1"/>
                </a:solidFill>
                <a:latin typeface="Fund Light" pitchFamily="2" charset="-78"/>
                <a:cs typeface="Fund Light" pitchFamily="2" charset="-78"/>
              </a:rPr>
              <a:t>3</a:t>
            </a:r>
          </a:p>
        </p:txBody>
      </p:sp>
      <p:sp>
        <p:nvSpPr>
          <p:cNvPr id="35" name="TextBox 34">
            <a:extLst>
              <a:ext uri="{FF2B5EF4-FFF2-40B4-BE49-F238E27FC236}">
                <a16:creationId xmlns:a16="http://schemas.microsoft.com/office/drawing/2014/main" id="{9B9CEE88-2830-282E-D2F6-7184DD78F46B}"/>
              </a:ext>
            </a:extLst>
          </p:cNvPr>
          <p:cNvSpPr txBox="1"/>
          <p:nvPr/>
        </p:nvSpPr>
        <p:spPr>
          <a:xfrm>
            <a:off x="417808" y="1413925"/>
            <a:ext cx="2494723" cy="600164"/>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b="0" i="0" baseline="0">
                <a:solidFill>
                  <a:srgbClr val="000000"/>
                </a:solidFill>
                <a:latin typeface="Fund Light" pitchFamily="2" charset="-78"/>
                <a:cs typeface="Fund Light" pitchFamily="2" charset="-78"/>
              </a:rPr>
              <a:t>KPIs to track progress against the committed demand from the buyer. </a:t>
            </a:r>
            <a:r>
              <a:rPr lang="en-US" sz="1100">
                <a:solidFill>
                  <a:srgbClr val="000000"/>
                </a:solidFill>
                <a:latin typeface="Fund Light" pitchFamily="2" charset="-78"/>
                <a:cs typeface="Fund Light" pitchFamily="2" charset="-78"/>
              </a:rPr>
              <a:t>Indicative KPIs are:</a:t>
            </a:r>
            <a:endParaRPr lang="en-US" sz="1100" b="0" i="0" baseline="0">
              <a:solidFill>
                <a:srgbClr val="000000"/>
              </a:solidFill>
              <a:latin typeface="Fund Light" pitchFamily="2" charset="-78"/>
              <a:cs typeface="Fund Light" pitchFamily="2" charset="-78"/>
            </a:endParaRPr>
          </a:p>
        </p:txBody>
      </p:sp>
      <p:sp>
        <p:nvSpPr>
          <p:cNvPr id="36" name="TextBox 35">
            <a:extLst>
              <a:ext uri="{FF2B5EF4-FFF2-40B4-BE49-F238E27FC236}">
                <a16:creationId xmlns:a16="http://schemas.microsoft.com/office/drawing/2014/main" id="{B6934D60-318E-B76C-3E3F-9AE304C85B7A}"/>
              </a:ext>
            </a:extLst>
          </p:cNvPr>
          <p:cNvSpPr txBox="1"/>
          <p:nvPr/>
        </p:nvSpPr>
        <p:spPr>
          <a:xfrm>
            <a:off x="417807" y="2433427"/>
            <a:ext cx="2494723" cy="1092607"/>
          </a:xfrm>
          <a:prstGeom prst="rect">
            <a:avLst/>
          </a:prstGeom>
          <a:noFill/>
        </p:spPr>
        <p:txBody>
          <a:bodyPr wrap="square">
            <a:spAutoFit/>
          </a:bodyPr>
          <a:lstStyle/>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Historical / remaining LDC volume</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b="0" i="0" baseline="0">
                <a:solidFill>
                  <a:srgbClr val="000000"/>
                </a:solidFill>
                <a:latin typeface="Fund Light" pitchFamily="2" charset="-78"/>
                <a:cs typeface="Fund Light" pitchFamily="2" charset="-78"/>
              </a:rPr>
              <a:t>Remaining LDC </a:t>
            </a:r>
            <a:r>
              <a:rPr lang="en-US" sz="1100">
                <a:solidFill>
                  <a:srgbClr val="000000"/>
                </a:solidFill>
                <a:latin typeface="Fund Light" pitchFamily="2" charset="-78"/>
                <a:cs typeface="Fund Light" pitchFamily="2" charset="-78"/>
              </a:rPr>
              <a:t>d</a:t>
            </a:r>
            <a:r>
              <a:rPr lang="en-US" sz="1100" b="0" i="0" baseline="0">
                <a:solidFill>
                  <a:srgbClr val="000000"/>
                </a:solidFill>
                <a:latin typeface="Fund Light" pitchFamily="2" charset="-78"/>
                <a:cs typeface="Fund Light" pitchFamily="2" charset="-78"/>
              </a:rPr>
              <a:t>uration</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Remaining termination payment</a:t>
            </a:r>
            <a:endParaRPr lang="en-US" sz="1100" b="0" i="0" baseline="0">
              <a:solidFill>
                <a:srgbClr val="000000"/>
              </a:solidFill>
              <a:latin typeface="Fund Light" pitchFamily="2" charset="-78"/>
              <a:cs typeface="Fund Light" pitchFamily="2" charset="-78"/>
            </a:endParaRPr>
          </a:p>
        </p:txBody>
      </p:sp>
      <p:sp>
        <p:nvSpPr>
          <p:cNvPr id="37" name="TextBox 36">
            <a:extLst>
              <a:ext uri="{FF2B5EF4-FFF2-40B4-BE49-F238E27FC236}">
                <a16:creationId xmlns:a16="http://schemas.microsoft.com/office/drawing/2014/main" id="{C617D897-D489-D295-735D-E7C5DEE70EEF}"/>
              </a:ext>
            </a:extLst>
          </p:cNvPr>
          <p:cNvSpPr txBox="1"/>
          <p:nvPr/>
        </p:nvSpPr>
        <p:spPr>
          <a:xfrm>
            <a:off x="3341572" y="1418860"/>
            <a:ext cx="2494723" cy="938719"/>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b="0" i="0" baseline="0">
                <a:solidFill>
                  <a:srgbClr val="000000"/>
                </a:solidFill>
                <a:latin typeface="Fund Light" pitchFamily="2" charset="-78"/>
                <a:cs typeface="Fund Light" pitchFamily="2" charset="-78"/>
              </a:rPr>
              <a:t>KPIs to track supplier’s operational performance. Given each company will have its own KPIs to track suppliers’ performance, these are indicative:</a:t>
            </a:r>
          </a:p>
        </p:txBody>
      </p:sp>
      <p:sp>
        <p:nvSpPr>
          <p:cNvPr id="38" name="TextBox 37">
            <a:extLst>
              <a:ext uri="{FF2B5EF4-FFF2-40B4-BE49-F238E27FC236}">
                <a16:creationId xmlns:a16="http://schemas.microsoft.com/office/drawing/2014/main" id="{25DFF9FD-878C-FFF9-E770-F39E1E0F2F8C}"/>
              </a:ext>
            </a:extLst>
          </p:cNvPr>
          <p:cNvSpPr txBox="1"/>
          <p:nvPr/>
        </p:nvSpPr>
        <p:spPr>
          <a:xfrm>
            <a:off x="3341571" y="2438362"/>
            <a:ext cx="2494723" cy="1000274"/>
          </a:xfrm>
          <a:prstGeom prst="rect">
            <a:avLst/>
          </a:prstGeom>
          <a:noFill/>
        </p:spPr>
        <p:txBody>
          <a:bodyPr wrap="square">
            <a:spAutoFit/>
          </a:bodyPr>
          <a:lstStyle/>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OTIF %</a:t>
            </a:r>
            <a:r>
              <a:rPr lang="en-US" sz="1100" baseline="30000">
                <a:solidFill>
                  <a:srgbClr val="000000"/>
                </a:solidFill>
                <a:latin typeface="Fund Light" pitchFamily="2" charset="-78"/>
                <a:cs typeface="Fund Light" pitchFamily="2" charset="-78"/>
              </a:rPr>
              <a:t>1</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Defect rate</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b="0" i="0" baseline="0">
                <a:solidFill>
                  <a:srgbClr val="000000"/>
                </a:solidFill>
                <a:latin typeface="Fund Light" pitchFamily="2" charset="-78"/>
                <a:cs typeface="Fund Light" pitchFamily="2" charset="-78"/>
              </a:rPr>
              <a:t>Price</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a:t>
            </a:r>
            <a:endParaRPr lang="en-US" sz="1100" b="0" i="0" baseline="0">
              <a:solidFill>
                <a:srgbClr val="000000"/>
              </a:solidFill>
              <a:latin typeface="Fund Light" pitchFamily="2" charset="-78"/>
              <a:cs typeface="Fund Light" pitchFamily="2" charset="-78"/>
            </a:endParaRPr>
          </a:p>
        </p:txBody>
      </p:sp>
      <p:sp>
        <p:nvSpPr>
          <p:cNvPr id="39" name="TextBox 38">
            <a:extLst>
              <a:ext uri="{FF2B5EF4-FFF2-40B4-BE49-F238E27FC236}">
                <a16:creationId xmlns:a16="http://schemas.microsoft.com/office/drawing/2014/main" id="{A847E9E2-4520-B05A-9770-1F7FD4AA9B94}"/>
              </a:ext>
            </a:extLst>
          </p:cNvPr>
          <p:cNvSpPr txBox="1"/>
          <p:nvPr/>
        </p:nvSpPr>
        <p:spPr>
          <a:xfrm>
            <a:off x="6265336" y="1412274"/>
            <a:ext cx="2494723" cy="600164"/>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100" b="0" i="0" baseline="0">
                <a:solidFill>
                  <a:srgbClr val="000000"/>
                </a:solidFill>
                <a:latin typeface="Fund Light" pitchFamily="2" charset="-78"/>
                <a:cs typeface="Fund Light" pitchFamily="2" charset="-78"/>
              </a:rPr>
              <a:t>KPIs to track the intended </a:t>
            </a:r>
            <a:r>
              <a:rPr lang="en-US" sz="1100">
                <a:solidFill>
                  <a:srgbClr val="000000"/>
                </a:solidFill>
                <a:latin typeface="Fund Light" pitchFamily="2" charset="-78"/>
                <a:cs typeface="Fund Light" pitchFamily="2" charset="-78"/>
              </a:rPr>
              <a:t>localization impact </a:t>
            </a:r>
            <a:r>
              <a:rPr lang="en-US" sz="1100" b="0" i="0" baseline="0">
                <a:solidFill>
                  <a:srgbClr val="000000"/>
                </a:solidFill>
                <a:latin typeface="Fund Light" pitchFamily="2" charset="-78"/>
                <a:cs typeface="Fund Light" pitchFamily="2" charset="-78"/>
              </a:rPr>
              <a:t>to be achieved through LDC. These are:</a:t>
            </a:r>
          </a:p>
        </p:txBody>
      </p:sp>
      <p:sp>
        <p:nvSpPr>
          <p:cNvPr id="40" name="TextBox 39">
            <a:extLst>
              <a:ext uri="{FF2B5EF4-FFF2-40B4-BE49-F238E27FC236}">
                <a16:creationId xmlns:a16="http://schemas.microsoft.com/office/drawing/2014/main" id="{49540DBA-83ED-A1FB-CAE0-E371DDCD3B3D}"/>
              </a:ext>
            </a:extLst>
          </p:cNvPr>
          <p:cNvSpPr txBox="1"/>
          <p:nvPr/>
        </p:nvSpPr>
        <p:spPr>
          <a:xfrm>
            <a:off x="6265335" y="2433427"/>
            <a:ext cx="2494723" cy="507831"/>
          </a:xfrm>
          <a:prstGeom prst="rect">
            <a:avLst/>
          </a:prstGeom>
          <a:noFill/>
        </p:spPr>
        <p:txBody>
          <a:bodyPr wrap="square">
            <a:spAutoFit/>
          </a:bodyPr>
          <a:lstStyle/>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b="0" i="0" baseline="0">
                <a:solidFill>
                  <a:srgbClr val="000000"/>
                </a:solidFill>
                <a:latin typeface="Fund Light" pitchFamily="2" charset="-78"/>
                <a:cs typeface="Fund Light" pitchFamily="2" charset="-78"/>
              </a:rPr>
              <a:t>LC </a:t>
            </a:r>
            <a:r>
              <a:rPr lang="en-US" sz="1100">
                <a:solidFill>
                  <a:srgbClr val="000000"/>
                </a:solidFill>
                <a:latin typeface="Fund Light" pitchFamily="2" charset="-78"/>
                <a:cs typeface="Fund Light" pitchFamily="2" charset="-78"/>
              </a:rPr>
              <a:t>s</a:t>
            </a:r>
            <a:r>
              <a:rPr lang="en-US" sz="1100" b="0" i="0" baseline="0">
                <a:solidFill>
                  <a:srgbClr val="000000"/>
                </a:solidFill>
                <a:latin typeface="Fund Light" pitchFamily="2" charset="-78"/>
                <a:cs typeface="Fund Light" pitchFamily="2" charset="-78"/>
              </a:rPr>
              <a:t>core of LDC supplier</a:t>
            </a:r>
          </a:p>
          <a:p>
            <a:pPr marL="228600" marR="0" lvl="0" indent="-228600" algn="l" defTabSz="685800" rtl="0" eaLnBrk="1" fontAlgn="auto" latinLnBrk="0" hangingPunct="1">
              <a:lnSpc>
                <a:spcPct val="100000"/>
              </a:lnSpc>
              <a:spcBef>
                <a:spcPts val="600"/>
              </a:spcBef>
              <a:spcAft>
                <a:spcPts val="0"/>
              </a:spcAft>
              <a:buClrTx/>
              <a:buSzTx/>
              <a:buFont typeface="+mj-lt"/>
              <a:buAutoNum type="alphaLcPeriod"/>
              <a:tabLst/>
              <a:defRPr/>
            </a:pPr>
            <a:r>
              <a:rPr lang="en-US" sz="1100">
                <a:solidFill>
                  <a:srgbClr val="000000"/>
                </a:solidFill>
                <a:latin typeface="Fund Light" pitchFamily="2" charset="-78"/>
                <a:cs typeface="Fund Light" pitchFamily="2" charset="-78"/>
              </a:rPr>
              <a:t>LC contribution of purchases</a:t>
            </a:r>
          </a:p>
        </p:txBody>
      </p:sp>
      <p:sp>
        <p:nvSpPr>
          <p:cNvPr id="41" name="Rectangle 40">
            <a:extLst>
              <a:ext uri="{FF2B5EF4-FFF2-40B4-BE49-F238E27FC236}">
                <a16:creationId xmlns:a16="http://schemas.microsoft.com/office/drawing/2014/main" id="{821458F6-27ED-F26A-CC8E-0C367F813CB1}"/>
              </a:ext>
            </a:extLst>
          </p:cNvPr>
          <p:cNvSpPr/>
          <p:nvPr/>
        </p:nvSpPr>
        <p:spPr>
          <a:xfrm>
            <a:off x="417807" y="3534421"/>
            <a:ext cx="1081418" cy="965037"/>
          </a:xfrm>
          <a:prstGeom prst="rect">
            <a:avLst/>
          </a:prstGeom>
          <a:solidFill>
            <a:schemeClr val="bg2">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0" bIns="0" rtlCol="0" anchor="ctr"/>
          <a:lstStyle/>
          <a:p>
            <a:pPr defTabSz="609585">
              <a:spcBef>
                <a:spcPts val="400"/>
              </a:spcBef>
              <a:spcAft>
                <a:spcPts val="400"/>
              </a:spcAft>
            </a:pPr>
            <a:r>
              <a:rPr lang="en-US" sz="1100" b="1" spc="-20">
                <a:solidFill>
                  <a:schemeClr val="bg2"/>
                </a:solidFill>
                <a:latin typeface="Fund Light" pitchFamily="2" charset="-78"/>
                <a:cs typeface="Fund Light" pitchFamily="2" charset="-78"/>
              </a:rPr>
              <a:t>Questions addressed in this section</a:t>
            </a:r>
          </a:p>
        </p:txBody>
      </p:sp>
      <p:sp>
        <p:nvSpPr>
          <p:cNvPr id="43" name="Rectangle 42">
            <a:extLst>
              <a:ext uri="{FF2B5EF4-FFF2-40B4-BE49-F238E27FC236}">
                <a16:creationId xmlns:a16="http://schemas.microsoft.com/office/drawing/2014/main" id="{B89BE641-B7C0-A9CA-9635-41B71CD6754F}"/>
              </a:ext>
            </a:extLst>
          </p:cNvPr>
          <p:cNvSpPr/>
          <p:nvPr/>
        </p:nvSpPr>
        <p:spPr>
          <a:xfrm>
            <a:off x="1499225" y="3534421"/>
            <a:ext cx="7260833" cy="943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461963" marR="0" lvl="0" indent="-288925" algn="l" defTabSz="457200" rtl="0" eaLnBrk="1" fontAlgn="auto" latinLnBrk="0" hangingPunct="1">
              <a:lnSpc>
                <a:spcPct val="100000"/>
              </a:lnSpc>
              <a:spcBef>
                <a:spcPct val="1000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How to calculate the KPIs</a:t>
            </a:r>
          </a:p>
          <a:p>
            <a:pPr marL="461963" marR="0" lvl="0" indent="-288925" algn="l" defTabSz="457200" rtl="0" eaLnBrk="1" fontAlgn="auto" latinLnBrk="0" hangingPunct="1">
              <a:lnSpc>
                <a:spcPct val="100000"/>
              </a:lnSpc>
              <a:spcBef>
                <a:spcPct val="100000"/>
              </a:spcBef>
              <a:spcAft>
                <a:spcPts val="0"/>
              </a:spcAft>
              <a:buClrTx/>
              <a:buSzTx/>
              <a:buFont typeface="+mj-lt"/>
              <a:buAutoNum type="arabicPeriod"/>
              <a:tabLst/>
              <a:defRPr/>
            </a:pPr>
            <a:r>
              <a:rPr lang="en-US" sz="1100">
                <a:solidFill>
                  <a:srgbClr val="000000"/>
                </a:solidFill>
                <a:latin typeface="Fund Light" pitchFamily="2" charset="-78"/>
                <a:cs typeface="Fund Light" pitchFamily="2" charset="-78"/>
              </a:rPr>
              <a:t>How to track the KPIs </a:t>
            </a:r>
            <a:endParaRPr kumimoji="0" lang="en-US" sz="11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p:txBody>
      </p:sp>
      <p:cxnSp>
        <p:nvCxnSpPr>
          <p:cNvPr id="47" name="Straight Connector 46">
            <a:extLst>
              <a:ext uri="{FF2B5EF4-FFF2-40B4-BE49-F238E27FC236}">
                <a16:creationId xmlns:a16="http://schemas.microsoft.com/office/drawing/2014/main" id="{7E4F980F-81C7-B2F8-A4F6-F342D7E840D9}"/>
              </a:ext>
            </a:extLst>
          </p:cNvPr>
          <p:cNvCxnSpPr>
            <a:cxnSpLocks/>
          </p:cNvCxnSpPr>
          <p:nvPr/>
        </p:nvCxnSpPr>
        <p:spPr>
          <a:xfrm>
            <a:off x="635520" y="3463671"/>
            <a:ext cx="795528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6604F8A-F935-7B21-FECA-85055F3272E9}"/>
              </a:ext>
            </a:extLst>
          </p:cNvPr>
          <p:cNvSpPr txBox="1"/>
          <p:nvPr/>
        </p:nvSpPr>
        <p:spPr>
          <a:xfrm>
            <a:off x="292100" y="597717"/>
            <a:ext cx="8519188" cy="261610"/>
          </a:xfrm>
          <a:prstGeom prst="rect">
            <a:avLst/>
          </a:prstGeom>
          <a:noFill/>
        </p:spPr>
        <p:txBody>
          <a:bodyPr wrap="square">
            <a:spAutoFit/>
          </a:bodyPr>
          <a:lstStyle/>
          <a:p>
            <a:r>
              <a:rPr kumimoji="0" lang="en-US" sz="1100" b="0" i="0" u="none" strike="noStrike" kern="0" cap="none" spc="0" normalizeH="0" baseline="0" noProof="0">
                <a:ln>
                  <a:noFill/>
                </a:ln>
                <a:solidFill>
                  <a:srgbClr val="000000"/>
                </a:solidFill>
                <a:effectLst/>
                <a:uLnTx/>
                <a:uFillTx/>
                <a:latin typeface="Fund Light" pitchFamily="2" charset="-78"/>
                <a:cs typeface="Fund Light" pitchFamily="2" charset="-78"/>
                <a:sym typeface="Arial"/>
              </a:rPr>
              <a:t>After signing the LDC agreement, progress should be measured by tracking against three sets of KPIs:</a:t>
            </a:r>
            <a:endParaRPr lang="en-US" sz="1100" i="1"/>
          </a:p>
        </p:txBody>
      </p:sp>
      <p:pic>
        <p:nvPicPr>
          <p:cNvPr id="3" name="Picture 4">
            <a:extLst>
              <a:ext uri="{FF2B5EF4-FFF2-40B4-BE49-F238E27FC236}">
                <a16:creationId xmlns:a16="http://schemas.microsoft.com/office/drawing/2014/main" id="{5EA85764-CB7D-8623-9334-0DACB782BF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9512" y="4634955"/>
            <a:ext cx="396928" cy="3906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3B86DB-FBF3-72AB-14CC-F970CE1E9A40}"/>
              </a:ext>
            </a:extLst>
          </p:cNvPr>
          <p:cNvSpPr txBox="1">
            <a:spLocks/>
          </p:cNvSpPr>
          <p:nvPr/>
        </p:nvSpPr>
        <p:spPr>
          <a:xfrm>
            <a:off x="7160235" y="4684060"/>
            <a:ext cx="1297966" cy="292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defPPr>
              <a:defRPr lang="en-US"/>
            </a:defPPr>
            <a:lvl1pPr>
              <a:spcBef>
                <a:spcPts val="300"/>
              </a:spcBef>
              <a:spcAft>
                <a:spcPts val="300"/>
              </a:spcAft>
              <a:defRPr sz="12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800">
                <a:solidFill>
                  <a:srgbClr val="000000"/>
                </a:solidFill>
                <a:latin typeface="Fund Light" pitchFamily="2" charset="-78"/>
                <a:cs typeface="Fund Light" pitchFamily="2" charset="-78"/>
              </a:rPr>
              <a:t>Ready-to-plug template shared separately</a:t>
            </a:r>
          </a:p>
        </p:txBody>
      </p:sp>
      <p:sp>
        <p:nvSpPr>
          <p:cNvPr id="7" name="Text Placeholder 6">
            <a:extLst>
              <a:ext uri="{FF2B5EF4-FFF2-40B4-BE49-F238E27FC236}">
                <a16:creationId xmlns:a16="http://schemas.microsoft.com/office/drawing/2014/main" id="{259E1399-3EF9-82F7-439A-7819A99EADF3}"/>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monitoring</a:t>
            </a:r>
          </a:p>
        </p:txBody>
      </p:sp>
      <p:sp>
        <p:nvSpPr>
          <p:cNvPr id="22" name="Text Placeholder 1">
            <a:extLst>
              <a:ext uri="{FF2B5EF4-FFF2-40B4-BE49-F238E27FC236}">
                <a16:creationId xmlns:a16="http://schemas.microsoft.com/office/drawing/2014/main" id="{84750B85-9D7F-DDBA-0F80-0864B253B449}"/>
              </a:ext>
            </a:extLst>
          </p:cNvPr>
          <p:cNvSpPr txBox="1">
            <a:spLocks/>
          </p:cNvSpPr>
          <p:nvPr/>
        </p:nvSpPr>
        <p:spPr>
          <a:xfrm>
            <a:off x="1551727" y="4767025"/>
            <a:ext cx="6992076" cy="187715"/>
          </a:xfrm>
          <a:prstGeom prst="rect">
            <a:avLst/>
          </a:prstGeom>
        </p:spPr>
        <p:txBody>
          <a:bodyP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600"/>
              <a:t>1. On time and in full </a:t>
            </a:r>
          </a:p>
        </p:txBody>
      </p:sp>
    </p:spTree>
    <p:extLst>
      <p:ext uri="{BB962C8B-B14F-4D97-AF65-F5344CB8AC3E}">
        <p14:creationId xmlns:p14="http://schemas.microsoft.com/office/powerpoint/2010/main" val="11906024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1B9361F-3717-CC77-9C7A-03F3E750218A}"/>
              </a:ext>
            </a:extLst>
          </p:cNvPr>
          <p:cNvGraphicFramePr>
            <a:graphicFrameLocks noChangeAspect="1"/>
          </p:cNvGraphicFramePr>
          <p:nvPr>
            <p:custDataLst>
              <p:tags r:id="rId1"/>
            </p:custDataLst>
            <p:extLst>
              <p:ext uri="{D42A27DB-BD31-4B8C-83A1-F6EECF244321}">
                <p14:modId xmlns:p14="http://schemas.microsoft.com/office/powerpoint/2010/main" val="124506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21B9361F-3717-CC77-9C7A-03F3E75021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F99494-98CE-21CD-87E1-E003ACD7B986}"/>
              </a:ext>
            </a:extLst>
          </p:cNvPr>
          <p:cNvSpPr>
            <a:spLocks noGrp="1"/>
          </p:cNvSpPr>
          <p:nvPr>
            <p:ph type="title"/>
          </p:nvPr>
        </p:nvSpPr>
        <p:spPr/>
        <p:txBody>
          <a:bodyPr vert="horz"/>
          <a:lstStyle/>
          <a:p>
            <a:r>
              <a:rPr lang="en-GB"/>
              <a:t>Three KPIs to measure LDC liability for the buyer</a:t>
            </a:r>
          </a:p>
        </p:txBody>
      </p:sp>
      <p:sp>
        <p:nvSpPr>
          <p:cNvPr id="9" name="Text Placeholder 6">
            <a:extLst>
              <a:ext uri="{FF2B5EF4-FFF2-40B4-BE49-F238E27FC236}">
                <a16:creationId xmlns:a16="http://schemas.microsoft.com/office/drawing/2014/main" id="{5A2BF046-B912-2018-2935-3755CA2BC4C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Internal liability KPIs</a:t>
            </a:r>
            <a:endParaRPr lang="en-US" b="1"/>
          </a:p>
        </p:txBody>
      </p:sp>
      <p:sp>
        <p:nvSpPr>
          <p:cNvPr id="10" name="Oval 9">
            <a:extLst>
              <a:ext uri="{FF2B5EF4-FFF2-40B4-BE49-F238E27FC236}">
                <a16:creationId xmlns:a16="http://schemas.microsoft.com/office/drawing/2014/main" id="{49ED72D0-20C7-FBC7-5E86-83606BFD239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1</a:t>
            </a:r>
          </a:p>
        </p:txBody>
      </p:sp>
      <p:grpSp>
        <p:nvGrpSpPr>
          <p:cNvPr id="4" name="Group 3">
            <a:extLst>
              <a:ext uri="{FF2B5EF4-FFF2-40B4-BE49-F238E27FC236}">
                <a16:creationId xmlns:a16="http://schemas.microsoft.com/office/drawing/2014/main" id="{C7B92EC0-930B-C11F-9A09-01902903F867}"/>
              </a:ext>
            </a:extLst>
          </p:cNvPr>
          <p:cNvGrpSpPr/>
          <p:nvPr/>
        </p:nvGrpSpPr>
        <p:grpSpPr>
          <a:xfrm>
            <a:off x="413447" y="865728"/>
            <a:ext cx="8403177" cy="307043"/>
            <a:chOff x="413447" y="865728"/>
            <a:chExt cx="7357595" cy="307043"/>
          </a:xfrm>
        </p:grpSpPr>
        <p:cxnSp>
          <p:nvCxnSpPr>
            <p:cNvPr id="11" name="Straight Connector 10">
              <a:extLst>
                <a:ext uri="{FF2B5EF4-FFF2-40B4-BE49-F238E27FC236}">
                  <a16:creationId xmlns:a16="http://schemas.microsoft.com/office/drawing/2014/main" id="{A8290761-B80D-69B4-219C-5A4058F63127}"/>
                </a:ext>
              </a:extLst>
            </p:cNvPr>
            <p:cNvCxnSpPr>
              <a:cxnSpLocks/>
            </p:cNvCxnSpPr>
            <p:nvPr/>
          </p:nvCxnSpPr>
          <p:spPr>
            <a:xfrm>
              <a:off x="1837330" y="1166432"/>
              <a:ext cx="155448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3358793-783B-35FE-8F93-C90C897D7112}"/>
                </a:ext>
              </a:extLst>
            </p:cNvPr>
            <p:cNvSpPr txBox="1"/>
            <p:nvPr/>
          </p:nvSpPr>
          <p:spPr>
            <a:xfrm>
              <a:off x="1833353" y="865728"/>
              <a:ext cx="155448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 description</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3" name="Straight Connector 12">
              <a:extLst>
                <a:ext uri="{FF2B5EF4-FFF2-40B4-BE49-F238E27FC236}">
                  <a16:creationId xmlns:a16="http://schemas.microsoft.com/office/drawing/2014/main" id="{C3AD43CF-FB86-83F6-8A06-C32C0D035D5D}"/>
                </a:ext>
              </a:extLst>
            </p:cNvPr>
            <p:cNvCxnSpPr>
              <a:cxnSpLocks/>
            </p:cNvCxnSpPr>
            <p:nvPr/>
          </p:nvCxnSpPr>
          <p:spPr>
            <a:xfrm>
              <a:off x="413447" y="1172771"/>
              <a:ext cx="12801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E55B6F-29DB-DF71-8A8B-6E28E3C6BC5B}"/>
                </a:ext>
              </a:extLst>
            </p:cNvPr>
            <p:cNvSpPr txBox="1">
              <a:spLocks/>
            </p:cNvSpPr>
            <p:nvPr/>
          </p:nvSpPr>
          <p:spPr>
            <a:xfrm>
              <a:off x="437620" y="865728"/>
              <a:ext cx="12801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a:t>
              </a:r>
            </a:p>
          </p:txBody>
        </p:sp>
        <p:cxnSp>
          <p:nvCxnSpPr>
            <p:cNvPr id="18" name="Straight Connector 17">
              <a:extLst>
                <a:ext uri="{FF2B5EF4-FFF2-40B4-BE49-F238E27FC236}">
                  <a16:creationId xmlns:a16="http://schemas.microsoft.com/office/drawing/2014/main" id="{A7F7C7D1-6BDD-CF90-B34E-F1E66C7DE4D8}"/>
                </a:ext>
              </a:extLst>
            </p:cNvPr>
            <p:cNvCxnSpPr>
              <a:cxnSpLocks/>
            </p:cNvCxnSpPr>
            <p:nvPr/>
          </p:nvCxnSpPr>
          <p:spPr>
            <a:xfrm>
              <a:off x="3453160" y="1166432"/>
              <a:ext cx="17373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9E17E9A-D92F-B2C9-3E13-FFA444FC42E9}"/>
                </a:ext>
              </a:extLst>
            </p:cNvPr>
            <p:cNvSpPr txBox="1"/>
            <p:nvPr/>
          </p:nvSpPr>
          <p:spPr>
            <a:xfrm>
              <a:off x="3449183" y="865728"/>
              <a:ext cx="17373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Calculation methodology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0" name="Straight Connector 19">
              <a:extLst>
                <a:ext uri="{FF2B5EF4-FFF2-40B4-BE49-F238E27FC236}">
                  <a16:creationId xmlns:a16="http://schemas.microsoft.com/office/drawing/2014/main" id="{4D328E3F-12EB-E26E-A958-471A1EAA1881}"/>
                </a:ext>
              </a:extLst>
            </p:cNvPr>
            <p:cNvCxnSpPr>
              <a:cxnSpLocks/>
            </p:cNvCxnSpPr>
            <p:nvPr/>
          </p:nvCxnSpPr>
          <p:spPr>
            <a:xfrm>
              <a:off x="5292061" y="1166432"/>
              <a:ext cx="10058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C14577-B60A-4826-1AF5-50FA1B5D721D}"/>
                </a:ext>
              </a:extLst>
            </p:cNvPr>
            <p:cNvSpPr txBox="1"/>
            <p:nvPr/>
          </p:nvSpPr>
          <p:spPr>
            <a:xfrm>
              <a:off x="5288084" y="865728"/>
              <a:ext cx="100584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Data sources</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3" name="Straight Connector 22">
              <a:extLst>
                <a:ext uri="{FF2B5EF4-FFF2-40B4-BE49-F238E27FC236}">
                  <a16:creationId xmlns:a16="http://schemas.microsoft.com/office/drawing/2014/main" id="{EEF2D7FD-157B-EE77-ADAA-7C39F4E3ABBF}"/>
                </a:ext>
              </a:extLst>
            </p:cNvPr>
            <p:cNvCxnSpPr>
              <a:cxnSpLocks/>
            </p:cNvCxnSpPr>
            <p:nvPr/>
          </p:nvCxnSpPr>
          <p:spPr>
            <a:xfrm>
              <a:off x="6399442" y="1166432"/>
              <a:ext cx="137160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F8C38CE-2A49-394E-3CC9-A1633EF8D8AA}"/>
                </a:ext>
              </a:extLst>
            </p:cNvPr>
            <p:cNvSpPr txBox="1"/>
            <p:nvPr/>
          </p:nvSpPr>
          <p:spPr>
            <a:xfrm>
              <a:off x="6395465" y="865728"/>
              <a:ext cx="137160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Review frequency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graphicFrame>
        <p:nvGraphicFramePr>
          <p:cNvPr id="27" name="Table 26">
            <a:extLst>
              <a:ext uri="{FF2B5EF4-FFF2-40B4-BE49-F238E27FC236}">
                <a16:creationId xmlns:a16="http://schemas.microsoft.com/office/drawing/2014/main" id="{99F4070D-5A1E-6AC4-DF74-9DF696928A27}"/>
              </a:ext>
            </a:extLst>
          </p:cNvPr>
          <p:cNvGraphicFramePr>
            <a:graphicFrameLocks noGrp="1"/>
          </p:cNvGraphicFramePr>
          <p:nvPr>
            <p:extLst>
              <p:ext uri="{D42A27DB-BD31-4B8C-83A1-F6EECF244321}">
                <p14:modId xmlns:p14="http://schemas.microsoft.com/office/powerpoint/2010/main" val="1859683243"/>
              </p:ext>
            </p:extLst>
          </p:nvPr>
        </p:nvGraphicFramePr>
        <p:xfrm>
          <a:off x="374417" y="1233594"/>
          <a:ext cx="8437665" cy="3017520"/>
        </p:xfrm>
        <a:graphic>
          <a:graphicData uri="http://schemas.openxmlformats.org/drawingml/2006/table">
            <a:tbl>
              <a:tblPr firstRow="1" bandRow="1">
                <a:tableStyleId>{5C22544A-7EE6-4342-B048-85BDC9FD1C3A}</a:tableStyleId>
              </a:tblPr>
              <a:tblGrid>
                <a:gridCol w="1699916">
                  <a:extLst>
                    <a:ext uri="{9D8B030D-6E8A-4147-A177-3AD203B41FA5}">
                      <a16:colId xmlns:a16="http://schemas.microsoft.com/office/drawing/2014/main" val="2008416963"/>
                    </a:ext>
                  </a:extLst>
                </a:gridCol>
                <a:gridCol w="1837267">
                  <a:extLst>
                    <a:ext uri="{9D8B030D-6E8A-4147-A177-3AD203B41FA5}">
                      <a16:colId xmlns:a16="http://schemas.microsoft.com/office/drawing/2014/main" val="1258814745"/>
                    </a:ext>
                  </a:extLst>
                </a:gridCol>
                <a:gridCol w="2078567">
                  <a:extLst>
                    <a:ext uri="{9D8B030D-6E8A-4147-A177-3AD203B41FA5}">
                      <a16:colId xmlns:a16="http://schemas.microsoft.com/office/drawing/2014/main" val="1413475889"/>
                    </a:ext>
                  </a:extLst>
                </a:gridCol>
                <a:gridCol w="1295400">
                  <a:extLst>
                    <a:ext uri="{9D8B030D-6E8A-4147-A177-3AD203B41FA5}">
                      <a16:colId xmlns:a16="http://schemas.microsoft.com/office/drawing/2014/main" val="1207792861"/>
                    </a:ext>
                  </a:extLst>
                </a:gridCol>
                <a:gridCol w="1526515">
                  <a:extLst>
                    <a:ext uri="{9D8B030D-6E8A-4147-A177-3AD203B41FA5}">
                      <a16:colId xmlns:a16="http://schemas.microsoft.com/office/drawing/2014/main" val="4279981943"/>
                    </a:ext>
                  </a:extLst>
                </a:gridCol>
              </a:tblGrid>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Historical / remaining LDC volume</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Product procurement tracking, highlighting achieved volumes and outstanding targets</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Ratios of procured / remaining LDC volume and the demand commitment agreed upon in the LDC agreement</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Procurement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Once-a-year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377560"/>
                  </a:ext>
                </a:extLst>
              </a:tr>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Remaining LDC duration</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For how many months the procurement needs to be undertaken exclusively from the chosen supplier</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Ratio of time elapsed since contract signing and LDC duration agreed upon in the LDC agreement</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Procurement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Once-a-year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825323"/>
                  </a:ext>
                </a:extLst>
              </a:tr>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Remaining termination payment</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Penalty incurred by the buyer for early termination of the remainder of the contract</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Lesser of remaining LDC value and pro-quota reimbursement of investment by the supplier</a:t>
                      </a:r>
                      <a:br>
                        <a:rPr lang="en-US" sz="1000" b="0" i="0" baseline="0">
                          <a:solidFill>
                            <a:srgbClr val="000000"/>
                          </a:solidFill>
                          <a:latin typeface="Fund Light" pitchFamily="2" charset="-78"/>
                          <a:cs typeface="Fund Light" pitchFamily="2" charset="-78"/>
                        </a:rPr>
                      </a:br>
                      <a:r>
                        <a:rPr lang="en-US" sz="1000" b="0" i="0" baseline="0">
                          <a:solidFill>
                            <a:srgbClr val="000000"/>
                          </a:solidFill>
                          <a:latin typeface="Fund Light" pitchFamily="2" charset="-78"/>
                          <a:cs typeface="Fund Light" pitchFamily="2" charset="-78"/>
                        </a:rPr>
                        <a:t>(i.e.,  initial capex, fixed costs) [Explained in the previous section]</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Finance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Once-a-year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524895"/>
                  </a:ext>
                </a:extLst>
              </a:tr>
            </a:tbl>
          </a:graphicData>
        </a:graphic>
      </p:graphicFrame>
      <p:sp>
        <p:nvSpPr>
          <p:cNvPr id="17" name="Oval 16">
            <a:extLst>
              <a:ext uri="{FF2B5EF4-FFF2-40B4-BE49-F238E27FC236}">
                <a16:creationId xmlns:a16="http://schemas.microsoft.com/office/drawing/2014/main" id="{BF1EC65E-D2EA-3D10-DA8A-5CD52E6255BC}"/>
              </a:ext>
            </a:extLst>
          </p:cNvPr>
          <p:cNvSpPr/>
          <p:nvPr/>
        </p:nvSpPr>
        <p:spPr>
          <a:xfrm>
            <a:off x="184847" y="1624989"/>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28" name="Oval 27">
            <a:extLst>
              <a:ext uri="{FF2B5EF4-FFF2-40B4-BE49-F238E27FC236}">
                <a16:creationId xmlns:a16="http://schemas.microsoft.com/office/drawing/2014/main" id="{CC9B583B-C3FC-50F5-BA0A-7D6E4EAC22F3}"/>
              </a:ext>
            </a:extLst>
          </p:cNvPr>
          <p:cNvSpPr/>
          <p:nvPr/>
        </p:nvSpPr>
        <p:spPr>
          <a:xfrm>
            <a:off x="184847" y="2630883"/>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cxnSp>
        <p:nvCxnSpPr>
          <p:cNvPr id="30" name="Straight Connector 29">
            <a:extLst>
              <a:ext uri="{FF2B5EF4-FFF2-40B4-BE49-F238E27FC236}">
                <a16:creationId xmlns:a16="http://schemas.microsoft.com/office/drawing/2014/main" id="{77929D06-7E73-F947-37E6-EABFC49D785F}"/>
              </a:ext>
            </a:extLst>
          </p:cNvPr>
          <p:cNvCxnSpPr>
            <a:cxnSpLocks/>
          </p:cNvCxnSpPr>
          <p:nvPr/>
        </p:nvCxnSpPr>
        <p:spPr>
          <a:xfrm>
            <a:off x="393467" y="2238846"/>
            <a:ext cx="850392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EBB91E-7DC9-52B0-4433-FA5ABC1DB722}"/>
              </a:ext>
            </a:extLst>
          </p:cNvPr>
          <p:cNvCxnSpPr>
            <a:cxnSpLocks/>
          </p:cNvCxnSpPr>
          <p:nvPr/>
        </p:nvCxnSpPr>
        <p:spPr>
          <a:xfrm>
            <a:off x="393467" y="3267546"/>
            <a:ext cx="850392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78F9C55-BE33-48B0-F295-887FA5FEDC5D}"/>
              </a:ext>
            </a:extLst>
          </p:cNvPr>
          <p:cNvSpPr/>
          <p:nvPr/>
        </p:nvSpPr>
        <p:spPr>
          <a:xfrm>
            <a:off x="209020" y="3636777"/>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Tree>
    <p:extLst>
      <p:ext uri="{BB962C8B-B14F-4D97-AF65-F5344CB8AC3E}">
        <p14:creationId xmlns:p14="http://schemas.microsoft.com/office/powerpoint/2010/main" val="18009110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1B9361F-3717-CC77-9C7A-03F3E750218A}"/>
              </a:ext>
            </a:extLst>
          </p:cNvPr>
          <p:cNvGraphicFramePr>
            <a:graphicFrameLocks noChangeAspect="1"/>
          </p:cNvGraphicFramePr>
          <p:nvPr>
            <p:custDataLst>
              <p:tags r:id="rId1"/>
            </p:custDataLst>
            <p:extLst>
              <p:ext uri="{D42A27DB-BD31-4B8C-83A1-F6EECF244321}">
                <p14:modId xmlns:p14="http://schemas.microsoft.com/office/powerpoint/2010/main" val="4138188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21B9361F-3717-CC77-9C7A-03F3E75021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F99494-98CE-21CD-87E1-E003ACD7B986}"/>
              </a:ext>
            </a:extLst>
          </p:cNvPr>
          <p:cNvSpPr>
            <a:spLocks noGrp="1"/>
          </p:cNvSpPr>
          <p:nvPr>
            <p:ph type="title"/>
          </p:nvPr>
        </p:nvSpPr>
        <p:spPr/>
        <p:txBody>
          <a:bodyPr vert="horz"/>
          <a:lstStyle/>
          <a:p>
            <a:r>
              <a:rPr lang="en-GB"/>
              <a:t>Multiple KPIs to measure supplier performance</a:t>
            </a:r>
          </a:p>
        </p:txBody>
      </p:sp>
      <p:sp>
        <p:nvSpPr>
          <p:cNvPr id="9" name="Text Placeholder 6">
            <a:extLst>
              <a:ext uri="{FF2B5EF4-FFF2-40B4-BE49-F238E27FC236}">
                <a16:creationId xmlns:a16="http://schemas.microsoft.com/office/drawing/2014/main" id="{5A2BF046-B912-2018-2935-3755CA2BC4C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Supplier performance KPIs</a:t>
            </a:r>
            <a:endParaRPr lang="en-US" b="1"/>
          </a:p>
        </p:txBody>
      </p:sp>
      <p:sp>
        <p:nvSpPr>
          <p:cNvPr id="10" name="Oval 9">
            <a:extLst>
              <a:ext uri="{FF2B5EF4-FFF2-40B4-BE49-F238E27FC236}">
                <a16:creationId xmlns:a16="http://schemas.microsoft.com/office/drawing/2014/main" id="{49ED72D0-20C7-FBC7-5E86-83606BFD239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2</a:t>
            </a:r>
          </a:p>
        </p:txBody>
      </p:sp>
      <p:grpSp>
        <p:nvGrpSpPr>
          <p:cNvPr id="16" name="Group 15">
            <a:extLst>
              <a:ext uri="{FF2B5EF4-FFF2-40B4-BE49-F238E27FC236}">
                <a16:creationId xmlns:a16="http://schemas.microsoft.com/office/drawing/2014/main" id="{D3BFB864-E321-3329-DDB5-772BC48EF415}"/>
              </a:ext>
            </a:extLst>
          </p:cNvPr>
          <p:cNvGrpSpPr/>
          <p:nvPr/>
        </p:nvGrpSpPr>
        <p:grpSpPr>
          <a:xfrm>
            <a:off x="413447" y="865728"/>
            <a:ext cx="8403177" cy="307043"/>
            <a:chOff x="413447" y="865728"/>
            <a:chExt cx="7357595" cy="307043"/>
          </a:xfrm>
        </p:grpSpPr>
        <p:cxnSp>
          <p:nvCxnSpPr>
            <p:cNvPr id="11" name="Straight Connector 10">
              <a:extLst>
                <a:ext uri="{FF2B5EF4-FFF2-40B4-BE49-F238E27FC236}">
                  <a16:creationId xmlns:a16="http://schemas.microsoft.com/office/drawing/2014/main" id="{A8290761-B80D-69B4-219C-5A4058F63127}"/>
                </a:ext>
              </a:extLst>
            </p:cNvPr>
            <p:cNvCxnSpPr>
              <a:cxnSpLocks/>
            </p:cNvCxnSpPr>
            <p:nvPr/>
          </p:nvCxnSpPr>
          <p:spPr>
            <a:xfrm>
              <a:off x="1837330" y="1166432"/>
              <a:ext cx="155448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3358793-783B-35FE-8F93-C90C897D7112}"/>
                </a:ext>
              </a:extLst>
            </p:cNvPr>
            <p:cNvSpPr txBox="1"/>
            <p:nvPr/>
          </p:nvSpPr>
          <p:spPr>
            <a:xfrm>
              <a:off x="1833353" y="865728"/>
              <a:ext cx="155448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 description</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3" name="Straight Connector 12">
              <a:extLst>
                <a:ext uri="{FF2B5EF4-FFF2-40B4-BE49-F238E27FC236}">
                  <a16:creationId xmlns:a16="http://schemas.microsoft.com/office/drawing/2014/main" id="{C3AD43CF-FB86-83F6-8A06-C32C0D035D5D}"/>
                </a:ext>
              </a:extLst>
            </p:cNvPr>
            <p:cNvCxnSpPr>
              <a:cxnSpLocks/>
            </p:cNvCxnSpPr>
            <p:nvPr/>
          </p:nvCxnSpPr>
          <p:spPr>
            <a:xfrm>
              <a:off x="413447" y="1172771"/>
              <a:ext cx="12801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E55B6F-29DB-DF71-8A8B-6E28E3C6BC5B}"/>
                </a:ext>
              </a:extLst>
            </p:cNvPr>
            <p:cNvSpPr txBox="1">
              <a:spLocks/>
            </p:cNvSpPr>
            <p:nvPr/>
          </p:nvSpPr>
          <p:spPr>
            <a:xfrm>
              <a:off x="437620" y="865728"/>
              <a:ext cx="12801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a:t>
              </a:r>
            </a:p>
          </p:txBody>
        </p:sp>
        <p:cxnSp>
          <p:nvCxnSpPr>
            <p:cNvPr id="18" name="Straight Connector 17">
              <a:extLst>
                <a:ext uri="{FF2B5EF4-FFF2-40B4-BE49-F238E27FC236}">
                  <a16:creationId xmlns:a16="http://schemas.microsoft.com/office/drawing/2014/main" id="{A7F7C7D1-6BDD-CF90-B34E-F1E66C7DE4D8}"/>
                </a:ext>
              </a:extLst>
            </p:cNvPr>
            <p:cNvCxnSpPr>
              <a:cxnSpLocks/>
            </p:cNvCxnSpPr>
            <p:nvPr/>
          </p:nvCxnSpPr>
          <p:spPr>
            <a:xfrm>
              <a:off x="3453160" y="1166432"/>
              <a:ext cx="17373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9E17E9A-D92F-B2C9-3E13-FFA444FC42E9}"/>
                </a:ext>
              </a:extLst>
            </p:cNvPr>
            <p:cNvSpPr txBox="1"/>
            <p:nvPr/>
          </p:nvSpPr>
          <p:spPr>
            <a:xfrm>
              <a:off x="3449183" y="865728"/>
              <a:ext cx="17373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Calculation methodology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0" name="Straight Connector 19">
              <a:extLst>
                <a:ext uri="{FF2B5EF4-FFF2-40B4-BE49-F238E27FC236}">
                  <a16:creationId xmlns:a16="http://schemas.microsoft.com/office/drawing/2014/main" id="{4D328E3F-12EB-E26E-A958-471A1EAA1881}"/>
                </a:ext>
              </a:extLst>
            </p:cNvPr>
            <p:cNvCxnSpPr>
              <a:cxnSpLocks/>
            </p:cNvCxnSpPr>
            <p:nvPr/>
          </p:nvCxnSpPr>
          <p:spPr>
            <a:xfrm>
              <a:off x="5292061" y="1166432"/>
              <a:ext cx="10058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C14577-B60A-4826-1AF5-50FA1B5D721D}"/>
                </a:ext>
              </a:extLst>
            </p:cNvPr>
            <p:cNvSpPr txBox="1"/>
            <p:nvPr/>
          </p:nvSpPr>
          <p:spPr>
            <a:xfrm>
              <a:off x="5288084" y="865728"/>
              <a:ext cx="100584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Data sources</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3" name="Straight Connector 22">
              <a:extLst>
                <a:ext uri="{FF2B5EF4-FFF2-40B4-BE49-F238E27FC236}">
                  <a16:creationId xmlns:a16="http://schemas.microsoft.com/office/drawing/2014/main" id="{EEF2D7FD-157B-EE77-ADAA-7C39F4E3ABBF}"/>
                </a:ext>
              </a:extLst>
            </p:cNvPr>
            <p:cNvCxnSpPr>
              <a:cxnSpLocks/>
            </p:cNvCxnSpPr>
            <p:nvPr/>
          </p:nvCxnSpPr>
          <p:spPr>
            <a:xfrm>
              <a:off x="6399442" y="1166432"/>
              <a:ext cx="137160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F8C38CE-2A49-394E-3CC9-A1633EF8D8AA}"/>
                </a:ext>
              </a:extLst>
            </p:cNvPr>
            <p:cNvSpPr txBox="1"/>
            <p:nvPr/>
          </p:nvSpPr>
          <p:spPr>
            <a:xfrm>
              <a:off x="6395465" y="865728"/>
              <a:ext cx="137160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Review frequency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graphicFrame>
        <p:nvGraphicFramePr>
          <p:cNvPr id="27" name="Table 26">
            <a:extLst>
              <a:ext uri="{FF2B5EF4-FFF2-40B4-BE49-F238E27FC236}">
                <a16:creationId xmlns:a16="http://schemas.microsoft.com/office/drawing/2014/main" id="{99F4070D-5A1E-6AC4-DF74-9DF696928A27}"/>
              </a:ext>
            </a:extLst>
          </p:cNvPr>
          <p:cNvGraphicFramePr>
            <a:graphicFrameLocks noGrp="1"/>
          </p:cNvGraphicFramePr>
          <p:nvPr>
            <p:extLst>
              <p:ext uri="{D42A27DB-BD31-4B8C-83A1-F6EECF244321}">
                <p14:modId xmlns:p14="http://schemas.microsoft.com/office/powerpoint/2010/main" val="2733612033"/>
              </p:ext>
            </p:extLst>
          </p:nvPr>
        </p:nvGraphicFramePr>
        <p:xfrm>
          <a:off x="374417" y="1233594"/>
          <a:ext cx="8437665" cy="3209536"/>
        </p:xfrm>
        <a:graphic>
          <a:graphicData uri="http://schemas.openxmlformats.org/drawingml/2006/table">
            <a:tbl>
              <a:tblPr firstRow="1" bandRow="1">
                <a:tableStyleId>{5C22544A-7EE6-4342-B048-85BDC9FD1C3A}</a:tableStyleId>
              </a:tblPr>
              <a:tblGrid>
                <a:gridCol w="1678750">
                  <a:extLst>
                    <a:ext uri="{9D8B030D-6E8A-4147-A177-3AD203B41FA5}">
                      <a16:colId xmlns:a16="http://schemas.microsoft.com/office/drawing/2014/main" val="2008416963"/>
                    </a:ext>
                  </a:extLst>
                </a:gridCol>
                <a:gridCol w="1854200">
                  <a:extLst>
                    <a:ext uri="{9D8B030D-6E8A-4147-A177-3AD203B41FA5}">
                      <a16:colId xmlns:a16="http://schemas.microsoft.com/office/drawing/2014/main" val="1258814745"/>
                    </a:ext>
                  </a:extLst>
                </a:gridCol>
                <a:gridCol w="2108200">
                  <a:extLst>
                    <a:ext uri="{9D8B030D-6E8A-4147-A177-3AD203B41FA5}">
                      <a16:colId xmlns:a16="http://schemas.microsoft.com/office/drawing/2014/main" val="1413475889"/>
                    </a:ext>
                  </a:extLst>
                </a:gridCol>
                <a:gridCol w="1248833">
                  <a:extLst>
                    <a:ext uri="{9D8B030D-6E8A-4147-A177-3AD203B41FA5}">
                      <a16:colId xmlns:a16="http://schemas.microsoft.com/office/drawing/2014/main" val="1207792861"/>
                    </a:ext>
                  </a:extLst>
                </a:gridCol>
                <a:gridCol w="1547682">
                  <a:extLst>
                    <a:ext uri="{9D8B030D-6E8A-4147-A177-3AD203B41FA5}">
                      <a16:colId xmlns:a16="http://schemas.microsoft.com/office/drawing/2014/main" val="4279981943"/>
                    </a:ext>
                  </a:extLst>
                </a:gridCol>
              </a:tblGrid>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OTIF %</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KPI to measure how regularly were the products supplied on time and in full (OTIF)</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OTIF deliveries as a % of all deliveries</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Procurement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Every month</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377560"/>
                  </a:ext>
                </a:extLst>
              </a:tr>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Defect rate</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Indicates how often were the products rejected by the buyer, due to defects</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 of defective or returned products as a % of all products procured</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Procurement and quality teams</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Every month</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825323"/>
                  </a:ext>
                </a:extLst>
              </a:tr>
              <a:tr h="10058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Price</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Refers to measure of price, relative to other suppliers</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Ratio of price to other suppliers in the region, or global benchmarks as available</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Procurement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Every PO and every quarter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524895"/>
                  </a:ext>
                </a:extLst>
              </a:tr>
              <a:tr h="9144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endParaRPr lang="en-US" sz="10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0951649"/>
                  </a:ext>
                </a:extLst>
              </a:tr>
            </a:tbl>
          </a:graphicData>
        </a:graphic>
      </p:graphicFrame>
      <p:sp>
        <p:nvSpPr>
          <p:cNvPr id="17" name="Oval 16">
            <a:extLst>
              <a:ext uri="{FF2B5EF4-FFF2-40B4-BE49-F238E27FC236}">
                <a16:creationId xmlns:a16="http://schemas.microsoft.com/office/drawing/2014/main" id="{BF1EC65E-D2EA-3D10-DA8A-5CD52E6255BC}"/>
              </a:ext>
            </a:extLst>
          </p:cNvPr>
          <p:cNvSpPr/>
          <p:nvPr/>
        </p:nvSpPr>
        <p:spPr>
          <a:xfrm>
            <a:off x="184847" y="1624989"/>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28" name="Oval 27">
            <a:extLst>
              <a:ext uri="{FF2B5EF4-FFF2-40B4-BE49-F238E27FC236}">
                <a16:creationId xmlns:a16="http://schemas.microsoft.com/office/drawing/2014/main" id="{CC9B583B-C3FC-50F5-BA0A-7D6E4EAC22F3}"/>
              </a:ext>
            </a:extLst>
          </p:cNvPr>
          <p:cNvSpPr/>
          <p:nvPr/>
        </p:nvSpPr>
        <p:spPr>
          <a:xfrm>
            <a:off x="184847" y="2630883"/>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cxnSp>
        <p:nvCxnSpPr>
          <p:cNvPr id="30" name="Straight Connector 29">
            <a:extLst>
              <a:ext uri="{FF2B5EF4-FFF2-40B4-BE49-F238E27FC236}">
                <a16:creationId xmlns:a16="http://schemas.microsoft.com/office/drawing/2014/main" id="{77929D06-7E73-F947-37E6-EABFC49D785F}"/>
              </a:ext>
            </a:extLst>
          </p:cNvPr>
          <p:cNvCxnSpPr>
            <a:cxnSpLocks/>
          </p:cNvCxnSpPr>
          <p:nvPr/>
        </p:nvCxnSpPr>
        <p:spPr>
          <a:xfrm>
            <a:off x="393467" y="2238846"/>
            <a:ext cx="850392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EBB91E-7DC9-52B0-4433-FA5ABC1DB722}"/>
              </a:ext>
            </a:extLst>
          </p:cNvPr>
          <p:cNvCxnSpPr>
            <a:cxnSpLocks/>
          </p:cNvCxnSpPr>
          <p:nvPr/>
        </p:nvCxnSpPr>
        <p:spPr>
          <a:xfrm>
            <a:off x="393467" y="3267546"/>
            <a:ext cx="850392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78F9C55-BE33-48B0-F295-887FA5FEDC5D}"/>
              </a:ext>
            </a:extLst>
          </p:cNvPr>
          <p:cNvSpPr/>
          <p:nvPr/>
        </p:nvSpPr>
        <p:spPr>
          <a:xfrm>
            <a:off x="209020" y="3636777"/>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
        <p:nvSpPr>
          <p:cNvPr id="5" name="Oval 4">
            <a:extLst>
              <a:ext uri="{FF2B5EF4-FFF2-40B4-BE49-F238E27FC236}">
                <a16:creationId xmlns:a16="http://schemas.microsoft.com/office/drawing/2014/main" id="{7C6A8D78-F866-BD17-0E4E-0F2F39781F8C}"/>
              </a:ext>
            </a:extLst>
          </p:cNvPr>
          <p:cNvSpPr/>
          <p:nvPr/>
        </p:nvSpPr>
        <p:spPr>
          <a:xfrm>
            <a:off x="209020" y="4260008"/>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a:t>
            </a:r>
          </a:p>
        </p:txBody>
      </p:sp>
    </p:spTree>
    <p:extLst>
      <p:ext uri="{BB962C8B-B14F-4D97-AF65-F5344CB8AC3E}">
        <p14:creationId xmlns:p14="http://schemas.microsoft.com/office/powerpoint/2010/main" val="42851849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1B9361F-3717-CC77-9C7A-03F3E750218A}"/>
              </a:ext>
            </a:extLst>
          </p:cNvPr>
          <p:cNvGraphicFramePr>
            <a:graphicFrameLocks noChangeAspect="1"/>
          </p:cNvGraphicFramePr>
          <p:nvPr>
            <p:custDataLst>
              <p:tags r:id="rId1"/>
            </p:custDataLst>
            <p:extLst>
              <p:ext uri="{D42A27DB-BD31-4B8C-83A1-F6EECF244321}">
                <p14:modId xmlns:p14="http://schemas.microsoft.com/office/powerpoint/2010/main" val="7545356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21B9361F-3717-CC77-9C7A-03F3E75021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F99494-98CE-21CD-87E1-E003ACD7B986}"/>
              </a:ext>
            </a:extLst>
          </p:cNvPr>
          <p:cNvSpPr>
            <a:spLocks noGrp="1"/>
          </p:cNvSpPr>
          <p:nvPr>
            <p:ph type="title"/>
          </p:nvPr>
        </p:nvSpPr>
        <p:spPr/>
        <p:txBody>
          <a:bodyPr vert="horz"/>
          <a:lstStyle/>
          <a:p>
            <a:r>
              <a:rPr lang="en-GB"/>
              <a:t>Two KPIs to measure localization impact</a:t>
            </a:r>
          </a:p>
        </p:txBody>
      </p:sp>
      <p:sp>
        <p:nvSpPr>
          <p:cNvPr id="9" name="Text Placeholder 6">
            <a:extLst>
              <a:ext uri="{FF2B5EF4-FFF2-40B4-BE49-F238E27FC236}">
                <a16:creationId xmlns:a16="http://schemas.microsoft.com/office/drawing/2014/main" id="{5A2BF046-B912-2018-2935-3755CA2BC4C4}"/>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Localization KPIs</a:t>
            </a:r>
            <a:endParaRPr lang="en-US" b="1"/>
          </a:p>
        </p:txBody>
      </p:sp>
      <p:sp>
        <p:nvSpPr>
          <p:cNvPr id="10" name="Oval 9">
            <a:extLst>
              <a:ext uri="{FF2B5EF4-FFF2-40B4-BE49-F238E27FC236}">
                <a16:creationId xmlns:a16="http://schemas.microsoft.com/office/drawing/2014/main" id="{49ED72D0-20C7-FBC7-5E86-83606BFD239D}"/>
              </a:ext>
            </a:extLst>
          </p:cNvPr>
          <p:cNvSpPr/>
          <p:nvPr/>
        </p:nvSpPr>
        <p:spPr>
          <a:xfrm>
            <a:off x="7167154" y="95384"/>
            <a:ext cx="145212" cy="145212"/>
          </a:xfrm>
          <a:prstGeom prst="ellipse">
            <a:avLst/>
          </a:prstGeom>
          <a:solidFill>
            <a:srgbClr val="C4984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Bef>
                <a:spcPts val="300"/>
              </a:spcBef>
              <a:spcAft>
                <a:spcPts val="300"/>
              </a:spcAft>
            </a:pPr>
            <a:r>
              <a:rPr lang="en-US" sz="800">
                <a:solidFill>
                  <a:schemeClr val="bg1"/>
                </a:solidFill>
                <a:latin typeface="Fund Light" pitchFamily="2" charset="-78"/>
                <a:cs typeface="Fund Light" pitchFamily="2" charset="-78"/>
              </a:rPr>
              <a:t>3</a:t>
            </a:r>
          </a:p>
        </p:txBody>
      </p:sp>
      <p:grpSp>
        <p:nvGrpSpPr>
          <p:cNvPr id="33" name="Group 32">
            <a:extLst>
              <a:ext uri="{FF2B5EF4-FFF2-40B4-BE49-F238E27FC236}">
                <a16:creationId xmlns:a16="http://schemas.microsoft.com/office/drawing/2014/main" id="{00E232BE-65AD-6A7D-4BA8-3174568C4F71}"/>
              </a:ext>
            </a:extLst>
          </p:cNvPr>
          <p:cNvGrpSpPr/>
          <p:nvPr/>
        </p:nvGrpSpPr>
        <p:grpSpPr>
          <a:xfrm>
            <a:off x="413447" y="865728"/>
            <a:ext cx="8403177" cy="307043"/>
            <a:chOff x="413447" y="865728"/>
            <a:chExt cx="7357595" cy="307043"/>
          </a:xfrm>
        </p:grpSpPr>
        <p:cxnSp>
          <p:nvCxnSpPr>
            <p:cNvPr id="11" name="Straight Connector 10">
              <a:extLst>
                <a:ext uri="{FF2B5EF4-FFF2-40B4-BE49-F238E27FC236}">
                  <a16:creationId xmlns:a16="http://schemas.microsoft.com/office/drawing/2014/main" id="{A8290761-B80D-69B4-219C-5A4058F63127}"/>
                </a:ext>
              </a:extLst>
            </p:cNvPr>
            <p:cNvCxnSpPr>
              <a:cxnSpLocks/>
            </p:cNvCxnSpPr>
            <p:nvPr/>
          </p:nvCxnSpPr>
          <p:spPr>
            <a:xfrm>
              <a:off x="1837330" y="1166432"/>
              <a:ext cx="155448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3358793-783B-35FE-8F93-C90C897D7112}"/>
                </a:ext>
              </a:extLst>
            </p:cNvPr>
            <p:cNvSpPr txBox="1"/>
            <p:nvPr/>
          </p:nvSpPr>
          <p:spPr>
            <a:xfrm>
              <a:off x="1833353" y="865728"/>
              <a:ext cx="155448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 description</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13" name="Straight Connector 12">
              <a:extLst>
                <a:ext uri="{FF2B5EF4-FFF2-40B4-BE49-F238E27FC236}">
                  <a16:creationId xmlns:a16="http://schemas.microsoft.com/office/drawing/2014/main" id="{C3AD43CF-FB86-83F6-8A06-C32C0D035D5D}"/>
                </a:ext>
              </a:extLst>
            </p:cNvPr>
            <p:cNvCxnSpPr>
              <a:cxnSpLocks/>
            </p:cNvCxnSpPr>
            <p:nvPr/>
          </p:nvCxnSpPr>
          <p:spPr>
            <a:xfrm>
              <a:off x="413447" y="1172771"/>
              <a:ext cx="12801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E55B6F-29DB-DF71-8A8B-6E28E3C6BC5B}"/>
                </a:ext>
              </a:extLst>
            </p:cNvPr>
            <p:cNvSpPr txBox="1">
              <a:spLocks/>
            </p:cNvSpPr>
            <p:nvPr/>
          </p:nvSpPr>
          <p:spPr>
            <a:xfrm>
              <a:off x="437620" y="865728"/>
              <a:ext cx="12801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KPI</a:t>
              </a:r>
            </a:p>
          </p:txBody>
        </p:sp>
        <p:cxnSp>
          <p:nvCxnSpPr>
            <p:cNvPr id="18" name="Straight Connector 17">
              <a:extLst>
                <a:ext uri="{FF2B5EF4-FFF2-40B4-BE49-F238E27FC236}">
                  <a16:creationId xmlns:a16="http://schemas.microsoft.com/office/drawing/2014/main" id="{A7F7C7D1-6BDD-CF90-B34E-F1E66C7DE4D8}"/>
                </a:ext>
              </a:extLst>
            </p:cNvPr>
            <p:cNvCxnSpPr>
              <a:cxnSpLocks/>
            </p:cNvCxnSpPr>
            <p:nvPr/>
          </p:nvCxnSpPr>
          <p:spPr>
            <a:xfrm>
              <a:off x="3453160" y="1166432"/>
              <a:ext cx="173736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9E17E9A-D92F-B2C9-3E13-FFA444FC42E9}"/>
                </a:ext>
              </a:extLst>
            </p:cNvPr>
            <p:cNvSpPr txBox="1"/>
            <p:nvPr/>
          </p:nvSpPr>
          <p:spPr>
            <a:xfrm>
              <a:off x="3449183" y="865728"/>
              <a:ext cx="173736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Calculation methodology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0" name="Straight Connector 19">
              <a:extLst>
                <a:ext uri="{FF2B5EF4-FFF2-40B4-BE49-F238E27FC236}">
                  <a16:creationId xmlns:a16="http://schemas.microsoft.com/office/drawing/2014/main" id="{4D328E3F-12EB-E26E-A958-471A1EAA1881}"/>
                </a:ext>
              </a:extLst>
            </p:cNvPr>
            <p:cNvCxnSpPr>
              <a:cxnSpLocks/>
            </p:cNvCxnSpPr>
            <p:nvPr/>
          </p:nvCxnSpPr>
          <p:spPr>
            <a:xfrm>
              <a:off x="5292061" y="1166432"/>
              <a:ext cx="100584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C14577-B60A-4826-1AF5-50FA1B5D721D}"/>
                </a:ext>
              </a:extLst>
            </p:cNvPr>
            <p:cNvSpPr txBox="1"/>
            <p:nvPr/>
          </p:nvSpPr>
          <p:spPr>
            <a:xfrm>
              <a:off x="5288084" y="865728"/>
              <a:ext cx="100584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Data sources</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cxnSp>
          <p:nvCxnSpPr>
            <p:cNvPr id="23" name="Straight Connector 22">
              <a:extLst>
                <a:ext uri="{FF2B5EF4-FFF2-40B4-BE49-F238E27FC236}">
                  <a16:creationId xmlns:a16="http://schemas.microsoft.com/office/drawing/2014/main" id="{EEF2D7FD-157B-EE77-ADAA-7C39F4E3ABBF}"/>
                </a:ext>
              </a:extLst>
            </p:cNvPr>
            <p:cNvCxnSpPr>
              <a:cxnSpLocks/>
            </p:cNvCxnSpPr>
            <p:nvPr/>
          </p:nvCxnSpPr>
          <p:spPr>
            <a:xfrm>
              <a:off x="6399442" y="1166432"/>
              <a:ext cx="1371600"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F8C38CE-2A49-394E-3CC9-A1633EF8D8AA}"/>
                </a:ext>
              </a:extLst>
            </p:cNvPr>
            <p:cNvSpPr txBox="1"/>
            <p:nvPr/>
          </p:nvSpPr>
          <p:spPr>
            <a:xfrm>
              <a:off x="6395465" y="865728"/>
              <a:ext cx="1371600"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Review frequency</a:t>
              </a:r>
              <a:endParaRPr kumimoji="0" lang="en-US" sz="10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graphicFrame>
        <p:nvGraphicFramePr>
          <p:cNvPr id="27" name="Table 26">
            <a:extLst>
              <a:ext uri="{FF2B5EF4-FFF2-40B4-BE49-F238E27FC236}">
                <a16:creationId xmlns:a16="http://schemas.microsoft.com/office/drawing/2014/main" id="{99F4070D-5A1E-6AC4-DF74-9DF696928A27}"/>
              </a:ext>
            </a:extLst>
          </p:cNvPr>
          <p:cNvGraphicFramePr>
            <a:graphicFrameLocks noGrp="1"/>
          </p:cNvGraphicFramePr>
          <p:nvPr>
            <p:extLst>
              <p:ext uri="{D42A27DB-BD31-4B8C-83A1-F6EECF244321}">
                <p14:modId xmlns:p14="http://schemas.microsoft.com/office/powerpoint/2010/main" val="2316232337"/>
              </p:ext>
            </p:extLst>
          </p:nvPr>
        </p:nvGraphicFramePr>
        <p:xfrm>
          <a:off x="374417" y="1233594"/>
          <a:ext cx="8437665" cy="2377440"/>
        </p:xfrm>
        <a:graphic>
          <a:graphicData uri="http://schemas.openxmlformats.org/drawingml/2006/table">
            <a:tbl>
              <a:tblPr firstRow="1" bandRow="1">
                <a:tableStyleId>{5C22544A-7EE6-4342-B048-85BDC9FD1C3A}</a:tableStyleId>
              </a:tblPr>
              <a:tblGrid>
                <a:gridCol w="1708383">
                  <a:extLst>
                    <a:ext uri="{9D8B030D-6E8A-4147-A177-3AD203B41FA5}">
                      <a16:colId xmlns:a16="http://schemas.microsoft.com/office/drawing/2014/main" val="2008416963"/>
                    </a:ext>
                  </a:extLst>
                </a:gridCol>
                <a:gridCol w="1824567">
                  <a:extLst>
                    <a:ext uri="{9D8B030D-6E8A-4147-A177-3AD203B41FA5}">
                      <a16:colId xmlns:a16="http://schemas.microsoft.com/office/drawing/2014/main" val="1258814745"/>
                    </a:ext>
                  </a:extLst>
                </a:gridCol>
                <a:gridCol w="2125133">
                  <a:extLst>
                    <a:ext uri="{9D8B030D-6E8A-4147-A177-3AD203B41FA5}">
                      <a16:colId xmlns:a16="http://schemas.microsoft.com/office/drawing/2014/main" val="1413475889"/>
                    </a:ext>
                  </a:extLst>
                </a:gridCol>
                <a:gridCol w="1261533">
                  <a:extLst>
                    <a:ext uri="{9D8B030D-6E8A-4147-A177-3AD203B41FA5}">
                      <a16:colId xmlns:a16="http://schemas.microsoft.com/office/drawing/2014/main" val="1207792861"/>
                    </a:ext>
                  </a:extLst>
                </a:gridCol>
                <a:gridCol w="1518049">
                  <a:extLst>
                    <a:ext uri="{9D8B030D-6E8A-4147-A177-3AD203B41FA5}">
                      <a16:colId xmlns:a16="http://schemas.microsoft.com/office/drawing/2014/main" val="4279981943"/>
                    </a:ext>
                  </a:extLst>
                </a:gridCol>
              </a:tblGrid>
              <a:tr h="118872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LC score of LDC supplier</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Measures the improvement of local content score of the supplier</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Difference between LC scores in the current year and the baseline year</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lphaLcPeriod"/>
                        <a:tabLst/>
                        <a:defRPr/>
                      </a:pPr>
                      <a:r>
                        <a:rPr lang="en-US" sz="1000" b="0" i="0" baseline="0">
                          <a:solidFill>
                            <a:srgbClr val="000000"/>
                          </a:solidFill>
                          <a:latin typeface="Fund Light" pitchFamily="2" charset="-78"/>
                          <a:cs typeface="Fund Light" pitchFamily="2" charset="-78"/>
                        </a:rPr>
                        <a:t>Supplier master data</a:t>
                      </a:r>
                    </a:p>
                    <a:p>
                      <a:pPr marL="228600" marR="0" lvl="0" indent="-228600" algn="l" defTabSz="685800" rtl="0" eaLnBrk="1" fontAlgn="auto" latinLnBrk="0" hangingPunct="1">
                        <a:lnSpc>
                          <a:spcPct val="100000"/>
                        </a:lnSpc>
                        <a:spcBef>
                          <a:spcPts val="0"/>
                        </a:spcBef>
                        <a:spcAft>
                          <a:spcPts val="0"/>
                        </a:spcAft>
                        <a:buClrTx/>
                        <a:buSzTx/>
                        <a:buFont typeface="+mj-lt"/>
                        <a:buAutoNum type="alphaLcPeriod"/>
                        <a:tabLst/>
                        <a:defRPr/>
                      </a:pPr>
                      <a:r>
                        <a:rPr lang="en-US" sz="1000" b="0" i="0" baseline="0">
                          <a:solidFill>
                            <a:srgbClr val="000000"/>
                          </a:solidFill>
                          <a:latin typeface="Fund Light" pitchFamily="2" charset="-78"/>
                          <a:cs typeface="Fund Light" pitchFamily="2" charset="-78"/>
                        </a:rPr>
                        <a:t>PIF NDD</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Once-a-year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377560"/>
                  </a:ext>
                </a:extLst>
              </a:tr>
              <a:tr h="1188720">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1" i="0" baseline="0">
                          <a:solidFill>
                            <a:srgbClr val="000000"/>
                          </a:solidFill>
                          <a:latin typeface="Fund Light" pitchFamily="2" charset="-78"/>
                          <a:cs typeface="Fund Light" pitchFamily="2" charset="-78"/>
                        </a:rPr>
                        <a:t>LC contribution of purchases</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Measures the LC impact of the purchases from the LDC supplier</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Total spend with the supplier multiplied by supplier’s </a:t>
                      </a:r>
                      <a:r>
                        <a:rPr lang="en-US" sz="1000" b="0" i="0" kern="1200" baseline="0">
                          <a:solidFill>
                            <a:srgbClr val="000000"/>
                          </a:solidFill>
                          <a:latin typeface="Fund Light" pitchFamily="2" charset="-78"/>
                          <a:ea typeface="+mn-ea"/>
                          <a:cs typeface="Fund Light" pitchFamily="2" charset="-78"/>
                        </a:rPr>
                        <a:t>LC score</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685800" rtl="0" eaLnBrk="1" fontAlgn="auto" latinLnBrk="0" hangingPunct="1">
                        <a:lnSpc>
                          <a:spcPct val="100000"/>
                        </a:lnSpc>
                        <a:spcBef>
                          <a:spcPts val="0"/>
                        </a:spcBef>
                        <a:spcAft>
                          <a:spcPts val="0"/>
                        </a:spcAft>
                        <a:buClrTx/>
                        <a:buSzTx/>
                        <a:buFont typeface="+mj-lt"/>
                        <a:buAutoNum type="alphaLcPeriod"/>
                        <a:tabLst/>
                        <a:defRPr/>
                      </a:pPr>
                      <a:r>
                        <a:rPr lang="en-US" sz="1000" b="0" i="0" kern="1200" baseline="0">
                          <a:solidFill>
                            <a:srgbClr val="000000"/>
                          </a:solidFill>
                          <a:latin typeface="Fund Light" pitchFamily="2" charset="-78"/>
                          <a:ea typeface="+mn-ea"/>
                          <a:cs typeface="Fund Light" pitchFamily="2" charset="-78"/>
                        </a:rPr>
                        <a:t>Procurement team</a:t>
                      </a:r>
                    </a:p>
                    <a:p>
                      <a:pPr marL="228600" marR="0" lvl="0" indent="-228600" algn="l" defTabSz="685800" rtl="0" eaLnBrk="1" fontAlgn="auto" latinLnBrk="0" hangingPunct="1">
                        <a:lnSpc>
                          <a:spcPct val="100000"/>
                        </a:lnSpc>
                        <a:spcBef>
                          <a:spcPts val="0"/>
                        </a:spcBef>
                        <a:spcAft>
                          <a:spcPts val="0"/>
                        </a:spcAft>
                        <a:buClrTx/>
                        <a:buSzTx/>
                        <a:buFont typeface="+mj-lt"/>
                        <a:buAutoNum type="alphaLcPeriod"/>
                        <a:tabLst/>
                        <a:defRPr/>
                      </a:pPr>
                      <a:r>
                        <a:rPr lang="en-US" sz="1000" b="0" i="0" kern="1200" baseline="0">
                          <a:solidFill>
                            <a:srgbClr val="000000"/>
                          </a:solidFill>
                          <a:latin typeface="Fund Light" pitchFamily="2" charset="-78"/>
                          <a:ea typeface="+mn-ea"/>
                          <a:cs typeface="Fund Light" pitchFamily="2" charset="-78"/>
                        </a:rPr>
                        <a:t>LC team</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000" b="0" i="0" baseline="0">
                          <a:solidFill>
                            <a:srgbClr val="000000"/>
                          </a:solidFill>
                          <a:latin typeface="Fund Light" pitchFamily="2" charset="-78"/>
                          <a:cs typeface="Fund Light" pitchFamily="2" charset="-78"/>
                        </a:rPr>
                        <a:t>Once-a-year</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825323"/>
                  </a:ext>
                </a:extLst>
              </a:tr>
            </a:tbl>
          </a:graphicData>
        </a:graphic>
      </p:graphicFrame>
      <p:sp>
        <p:nvSpPr>
          <p:cNvPr id="17" name="Oval 16">
            <a:extLst>
              <a:ext uri="{FF2B5EF4-FFF2-40B4-BE49-F238E27FC236}">
                <a16:creationId xmlns:a16="http://schemas.microsoft.com/office/drawing/2014/main" id="{BF1EC65E-D2EA-3D10-DA8A-5CD52E6255BC}"/>
              </a:ext>
            </a:extLst>
          </p:cNvPr>
          <p:cNvSpPr/>
          <p:nvPr/>
        </p:nvSpPr>
        <p:spPr>
          <a:xfrm>
            <a:off x="184847" y="1703639"/>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28" name="Oval 27">
            <a:extLst>
              <a:ext uri="{FF2B5EF4-FFF2-40B4-BE49-F238E27FC236}">
                <a16:creationId xmlns:a16="http://schemas.microsoft.com/office/drawing/2014/main" id="{CC9B583B-C3FC-50F5-BA0A-7D6E4EAC22F3}"/>
              </a:ext>
            </a:extLst>
          </p:cNvPr>
          <p:cNvSpPr/>
          <p:nvPr/>
        </p:nvSpPr>
        <p:spPr>
          <a:xfrm>
            <a:off x="184847" y="2891920"/>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cxnSp>
        <p:nvCxnSpPr>
          <p:cNvPr id="30" name="Straight Connector 29">
            <a:extLst>
              <a:ext uri="{FF2B5EF4-FFF2-40B4-BE49-F238E27FC236}">
                <a16:creationId xmlns:a16="http://schemas.microsoft.com/office/drawing/2014/main" id="{77929D06-7E73-F947-37E6-EABFC49D785F}"/>
              </a:ext>
            </a:extLst>
          </p:cNvPr>
          <p:cNvCxnSpPr>
            <a:cxnSpLocks/>
          </p:cNvCxnSpPr>
          <p:nvPr/>
        </p:nvCxnSpPr>
        <p:spPr>
          <a:xfrm>
            <a:off x="413447" y="2436966"/>
            <a:ext cx="8503920"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9C127CBC-F09F-5BA2-3490-93771C9AB78A}"/>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support and queries (</a:t>
            </a:r>
            <a:r>
              <a:rPr lang="en-US" sz="1000">
                <a:solidFill>
                  <a:srgbClr val="000000"/>
                </a:solidFill>
                <a:latin typeface="Fund Light" pitchFamily="2" charset="-78"/>
                <a:cs typeface="Fund Light" pitchFamily="2" charset="-78"/>
                <a:hlinkClick r:id="rId5" action="ppaction://hlinksldjump"/>
              </a:rPr>
              <a:t>Contacts</a:t>
            </a:r>
            <a:r>
              <a:rPr lang="en-US" sz="1000">
                <a:solidFill>
                  <a:srgbClr val="000000"/>
                </a:solidFill>
                <a:latin typeface="Fund Light" pitchFamily="2" charset="-78"/>
                <a:cs typeface="Fund Light" pitchFamily="2" charset="-78"/>
              </a:rPr>
              <a:t>)</a:t>
            </a:r>
          </a:p>
        </p:txBody>
      </p:sp>
      <p:grpSp>
        <p:nvGrpSpPr>
          <p:cNvPr id="4" name="Group 3">
            <a:extLst>
              <a:ext uri="{FF2B5EF4-FFF2-40B4-BE49-F238E27FC236}">
                <a16:creationId xmlns:a16="http://schemas.microsoft.com/office/drawing/2014/main" id="{401CA3A3-804A-505B-6492-13063760A654}"/>
              </a:ext>
            </a:extLst>
          </p:cNvPr>
          <p:cNvGrpSpPr/>
          <p:nvPr/>
        </p:nvGrpSpPr>
        <p:grpSpPr>
          <a:xfrm>
            <a:off x="3004029" y="4817276"/>
            <a:ext cx="303559" cy="303559"/>
            <a:chOff x="-577629" y="2311332"/>
            <a:chExt cx="404038" cy="404037"/>
          </a:xfrm>
        </p:grpSpPr>
        <p:sp>
          <p:nvSpPr>
            <p:cNvPr id="5" name="Oval 4">
              <a:extLst>
                <a:ext uri="{FF2B5EF4-FFF2-40B4-BE49-F238E27FC236}">
                  <a16:creationId xmlns:a16="http://schemas.microsoft.com/office/drawing/2014/main" id="{71483B23-968C-EB68-EFE1-AAF3BEF2EB12}"/>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03A7F02-6510-243C-681D-E1F6E035692B}"/>
                </a:ext>
              </a:extLst>
            </p:cNvPr>
            <p:cNvPicPr>
              <a:picLocks noChangeAspect="1"/>
            </p:cNvPicPr>
            <p:nvPr/>
          </p:nvPicPr>
          <p:blipFill>
            <a:blip r:embed="rId6"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8" name="Group 7">
            <a:extLst>
              <a:ext uri="{FF2B5EF4-FFF2-40B4-BE49-F238E27FC236}">
                <a16:creationId xmlns:a16="http://schemas.microsoft.com/office/drawing/2014/main" id="{BAF2DC79-9F43-CAB8-D5AA-04A514D18131}"/>
              </a:ext>
            </a:extLst>
          </p:cNvPr>
          <p:cNvGrpSpPr/>
          <p:nvPr/>
        </p:nvGrpSpPr>
        <p:grpSpPr>
          <a:xfrm>
            <a:off x="6211995" y="4883810"/>
            <a:ext cx="168686" cy="161455"/>
            <a:chOff x="11260138" y="4194175"/>
            <a:chExt cx="360363" cy="379413"/>
          </a:xfrm>
        </p:grpSpPr>
        <p:sp>
          <p:nvSpPr>
            <p:cNvPr id="15" name="Freeform 289">
              <a:extLst>
                <a:ext uri="{FF2B5EF4-FFF2-40B4-BE49-F238E27FC236}">
                  <a16:creationId xmlns:a16="http://schemas.microsoft.com/office/drawing/2014/main" id="{382829B6-A46F-7AF9-C21C-43FE73ABFB56}"/>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90">
              <a:extLst>
                <a:ext uri="{FF2B5EF4-FFF2-40B4-BE49-F238E27FC236}">
                  <a16:creationId xmlns:a16="http://schemas.microsoft.com/office/drawing/2014/main" id="{E69C8C58-7098-379C-B25F-8C84974B0E63}"/>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91">
              <a:extLst>
                <a:ext uri="{FF2B5EF4-FFF2-40B4-BE49-F238E27FC236}">
                  <a16:creationId xmlns:a16="http://schemas.microsoft.com/office/drawing/2014/main" id="{8487B8FE-15D1-1264-00DE-059BF817AA5B}"/>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3157669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74C95B4B-A749-4D54-B01F-C44CDC7CC6C0}"/>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arabicPeriod"/>
            </a:pPr>
            <a:r>
              <a:rPr lang="en-GB" sz="1200" b="1">
                <a:solidFill>
                  <a:schemeClr val="tx2"/>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 </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b="1">
                <a:solidFill>
                  <a:schemeClr val="tx2"/>
                </a:solidFill>
                <a:latin typeface="Fund Light" pitchFamily="2" charset="-78"/>
                <a:cs typeface="Fund Light" pitchFamily="2" charset="-78"/>
              </a:rPr>
              <a:t>…Set up and operate an LDC governance</a:t>
            </a:r>
          </a:p>
          <a:p>
            <a:pPr marL="347472" indent="-347472">
              <a:spcAft>
                <a:spcPts val="2000"/>
              </a:spcAft>
              <a:buFont typeface="+mj-lt"/>
              <a:buAutoNum type="arabicPeriod"/>
            </a:pPr>
            <a:r>
              <a:rPr lang="en-GB" sz="1200">
                <a:solidFill>
                  <a:schemeClr val="bg1">
                    <a:lumMod val="65000"/>
                  </a:schemeClr>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8615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16239006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774855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DB5A414-4F99-6C6C-880B-7CDB5EF0F7C0}"/>
              </a:ext>
            </a:extLst>
          </p:cNvPr>
          <p:cNvSpPr>
            <a:spLocks noGrp="1"/>
          </p:cNvSpPr>
          <p:nvPr>
            <p:ph type="title"/>
          </p:nvPr>
        </p:nvSpPr>
        <p:spPr/>
        <p:txBody>
          <a:bodyPr vert="horz">
            <a:normAutofit fontScale="90000"/>
          </a:bodyPr>
          <a:lstStyle/>
          <a:p>
            <a:r>
              <a:rPr lang="en-US" b="1"/>
              <a:t>Stage 5 of 5 – LDC governance: </a:t>
            </a:r>
            <a:r>
              <a:rPr lang="en-US"/>
              <a:t>Section preface</a:t>
            </a:r>
          </a:p>
        </p:txBody>
      </p:sp>
      <p:sp>
        <p:nvSpPr>
          <p:cNvPr id="2" name="Text Placeholder 6">
            <a:extLst>
              <a:ext uri="{FF2B5EF4-FFF2-40B4-BE49-F238E27FC236}">
                <a16:creationId xmlns:a16="http://schemas.microsoft.com/office/drawing/2014/main" id="{B5A3CFD0-7D17-46A3-3626-684B5382908C}"/>
              </a:ext>
            </a:extLst>
          </p:cNvPr>
          <p:cNvSpPr txBox="1">
            <a:spLocks/>
          </p:cNvSpPr>
          <p:nvPr/>
        </p:nvSpPr>
        <p:spPr>
          <a:xfrm>
            <a:off x="7286672" y="46903"/>
            <a:ext cx="1828800" cy="251272"/>
          </a:xfrm>
          <a:prstGeom prst="rect">
            <a:avLst/>
          </a:prstGeom>
        </p:spPr>
        <p:txBody>
          <a:bodyPr vert="horz" lIns="68580" tIns="34290" rIns="68580" bIns="34290" rtlCol="0" anchor="ctr">
            <a:norm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governance</a:t>
            </a:r>
          </a:p>
        </p:txBody>
      </p:sp>
      <p:sp>
        <p:nvSpPr>
          <p:cNvPr id="5" name="Rectangle 4">
            <a:extLst>
              <a:ext uri="{FF2B5EF4-FFF2-40B4-BE49-F238E27FC236}">
                <a16:creationId xmlns:a16="http://schemas.microsoft.com/office/drawing/2014/main" id="{E2A5BE8C-4C0A-1B7A-F26B-47885D7FDC41}"/>
              </a:ext>
            </a:extLst>
          </p:cNvPr>
          <p:cNvSpPr/>
          <p:nvPr/>
        </p:nvSpPr>
        <p:spPr>
          <a:xfrm>
            <a:off x="321652" y="9385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What is covered in the section</a:t>
            </a:r>
          </a:p>
        </p:txBody>
      </p:sp>
      <p:sp>
        <p:nvSpPr>
          <p:cNvPr id="6" name="Rectangle 5">
            <a:extLst>
              <a:ext uri="{FF2B5EF4-FFF2-40B4-BE49-F238E27FC236}">
                <a16:creationId xmlns:a16="http://schemas.microsoft.com/office/drawing/2014/main" id="{C408C60B-E81B-8D7F-5526-980C139D6E40}"/>
              </a:ext>
            </a:extLst>
          </p:cNvPr>
          <p:cNvSpPr/>
          <p:nvPr/>
        </p:nvSpPr>
        <p:spPr>
          <a:xfrm>
            <a:off x="321652" y="1713223"/>
            <a:ext cx="1705056" cy="598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By the end of the section, you will have an understanding of</a:t>
            </a:r>
          </a:p>
        </p:txBody>
      </p:sp>
      <p:sp>
        <p:nvSpPr>
          <p:cNvPr id="11" name="Rectangle 10">
            <a:extLst>
              <a:ext uri="{FF2B5EF4-FFF2-40B4-BE49-F238E27FC236}">
                <a16:creationId xmlns:a16="http://schemas.microsoft.com/office/drawing/2014/main" id="{3463D61A-BD8E-46CC-5D02-942C593FFA0B}"/>
              </a:ext>
            </a:extLst>
          </p:cNvPr>
          <p:cNvSpPr/>
          <p:nvPr/>
        </p:nvSpPr>
        <p:spPr>
          <a:xfrm>
            <a:off x="321652" y="2487922"/>
            <a:ext cx="1705056" cy="1106177"/>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Templates / tools provided in the section</a:t>
            </a:r>
          </a:p>
        </p:txBody>
      </p:sp>
      <p:sp>
        <p:nvSpPr>
          <p:cNvPr id="17" name="Rectangle 16">
            <a:extLst>
              <a:ext uri="{FF2B5EF4-FFF2-40B4-BE49-F238E27FC236}">
                <a16:creationId xmlns:a16="http://schemas.microsoft.com/office/drawing/2014/main" id="{433DDA29-62E5-2DB4-D02C-AB7CCEF3D0B1}"/>
              </a:ext>
            </a:extLst>
          </p:cNvPr>
          <p:cNvSpPr/>
          <p:nvPr/>
        </p:nvSpPr>
        <p:spPr>
          <a:xfrm>
            <a:off x="292395" y="3835025"/>
            <a:ext cx="1705056" cy="708245"/>
          </a:xfrm>
          <a:prstGeom prst="rect">
            <a:avLst/>
          </a:prstGeom>
          <a:solidFill>
            <a:schemeClr val="bg2"/>
          </a:solidFill>
          <a:ln w="6350">
            <a:solidFill>
              <a:schemeClr val="bg2"/>
            </a:solidFill>
            <a:miter lim="800000"/>
          </a:ln>
        </p:spPr>
        <p:txBody>
          <a:bodyPr vert="horz" wrap="square" lIns="121920" tIns="121920" rIns="121920" bIns="121920" rtlCol="0" anchor="ctr" anchorCtr="0">
            <a:noAutofit/>
          </a:bodyPr>
          <a:lstStyle/>
          <a:p>
            <a:pPr algn="r" defTabSz="1219170">
              <a:spcAft>
                <a:spcPts val="800"/>
              </a:spcAft>
            </a:pPr>
            <a:r>
              <a:rPr lang="en-US" sz="1000" b="1">
                <a:solidFill>
                  <a:schemeClr val="bg1"/>
                </a:solidFill>
                <a:latin typeface="Fund Light" pitchFamily="2" charset="-78"/>
                <a:cs typeface="Fund Light" pitchFamily="2" charset="-78"/>
              </a:rPr>
              <a:t>Stakeholders involved</a:t>
            </a:r>
          </a:p>
        </p:txBody>
      </p:sp>
      <p:sp>
        <p:nvSpPr>
          <p:cNvPr id="18" name="Rectangle 17">
            <a:extLst>
              <a:ext uri="{FF2B5EF4-FFF2-40B4-BE49-F238E27FC236}">
                <a16:creationId xmlns:a16="http://schemas.microsoft.com/office/drawing/2014/main" id="{813E4E02-1DD5-9954-CC7A-929766DE2BC9}"/>
              </a:ext>
            </a:extLst>
          </p:cNvPr>
          <p:cNvSpPr/>
          <p:nvPr/>
        </p:nvSpPr>
        <p:spPr>
          <a:xfrm>
            <a:off x="2175848" y="3835025"/>
            <a:ext cx="6388183" cy="708245"/>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LC unit [owner of driving the governance]</a:t>
            </a:r>
          </a:p>
        </p:txBody>
      </p:sp>
      <p:sp>
        <p:nvSpPr>
          <p:cNvPr id="22" name="Rectangle 21">
            <a:extLst>
              <a:ext uri="{FF2B5EF4-FFF2-40B4-BE49-F238E27FC236}">
                <a16:creationId xmlns:a16="http://schemas.microsoft.com/office/drawing/2014/main" id="{973AE1BD-05AD-190F-FE8D-D864B1D62682}"/>
              </a:ext>
            </a:extLst>
          </p:cNvPr>
          <p:cNvSpPr/>
          <p:nvPr/>
        </p:nvSpPr>
        <p:spPr>
          <a:xfrm>
            <a:off x="2108200" y="9385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How to run an efficient governance to manage an LDC agreement</a:t>
            </a:r>
          </a:p>
        </p:txBody>
      </p:sp>
      <p:sp>
        <p:nvSpPr>
          <p:cNvPr id="23" name="Rectangle 22">
            <a:extLst>
              <a:ext uri="{FF2B5EF4-FFF2-40B4-BE49-F238E27FC236}">
                <a16:creationId xmlns:a16="http://schemas.microsoft.com/office/drawing/2014/main" id="{4372BA0D-6746-C176-F399-73D15A9C4CBD}"/>
              </a:ext>
            </a:extLst>
          </p:cNvPr>
          <p:cNvSpPr/>
          <p:nvPr/>
        </p:nvSpPr>
        <p:spPr>
          <a:xfrm>
            <a:off x="2108199" y="1713223"/>
            <a:ext cx="6714148" cy="598177"/>
          </a:xfrm>
          <a:prstGeom prst="rect">
            <a:avLst/>
          </a:prstGeom>
          <a:noFill/>
          <a:ln w="6350">
            <a:noFill/>
            <a:miter lim="800000"/>
          </a:ln>
        </p:spPr>
        <p:txBody>
          <a:bodyPr vert="horz" wrap="square" lIns="121920" tIns="121920" rIns="121920" bIns="121920" rtlCol="0" anchor="ctr" anchorCtr="0">
            <a:noAutofit/>
          </a:bodyPr>
          <a:lstStyle/>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Recommended operating model</a:t>
            </a:r>
          </a:p>
          <a:p>
            <a:pPr marL="228600" indent="-228600" defTabSz="1219170">
              <a:spcAft>
                <a:spcPts val="600"/>
              </a:spcAft>
              <a:buFont typeface="+mj-lt"/>
              <a:buAutoNum type="arabicPeriod"/>
            </a:pPr>
            <a:r>
              <a:rPr lang="en-US" sz="1000">
                <a:solidFill>
                  <a:srgbClr val="000000"/>
                </a:solidFill>
                <a:latin typeface="Fund Light" pitchFamily="2" charset="-78"/>
                <a:cs typeface="Fund Light" pitchFamily="2" charset="-78"/>
              </a:rPr>
              <a:t>Roles and responsibilities of the key stakeholders</a:t>
            </a:r>
          </a:p>
        </p:txBody>
      </p:sp>
      <p:sp>
        <p:nvSpPr>
          <p:cNvPr id="25" name="Rectangle 24">
            <a:extLst>
              <a:ext uri="{FF2B5EF4-FFF2-40B4-BE49-F238E27FC236}">
                <a16:creationId xmlns:a16="http://schemas.microsoft.com/office/drawing/2014/main" id="{1CEBB6C8-2F90-C42D-2286-A70A71FC8079}"/>
              </a:ext>
            </a:extLst>
          </p:cNvPr>
          <p:cNvSpPr/>
          <p:nvPr/>
        </p:nvSpPr>
        <p:spPr>
          <a:xfrm>
            <a:off x="2233974" y="2993683"/>
            <a:ext cx="936722" cy="161583"/>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R="0" lvl="0" defTabSz="457200" rtl="0" eaLnBrk="1" fontAlgn="auto" latinLnBrk="0" hangingPunct="1">
              <a:lnSpc>
                <a:spcPct val="100000"/>
              </a:lnSpc>
              <a:spcBef>
                <a:spcPts val="300"/>
              </a:spcBef>
              <a:spcAft>
                <a:spcPts val="300"/>
              </a:spcAft>
              <a:buClrTx/>
              <a:buSzTx/>
              <a:tabLst/>
              <a:defRPr/>
            </a:pPr>
            <a:r>
              <a:rPr lang="en-US" sz="1050" b="1">
                <a:solidFill>
                  <a:schemeClr val="bg2"/>
                </a:solidFill>
                <a:latin typeface="Fund Light" pitchFamily="2" charset="-78"/>
                <a:cs typeface="Fund Light" pitchFamily="2" charset="-78"/>
              </a:rPr>
              <a:t>N/A</a:t>
            </a:r>
            <a:endParaRPr kumimoji="0" lang="en-US" sz="1050" b="1" i="0" u="none" strike="noStrike" kern="1200" cap="none" normalizeH="0" baseline="0" noProof="0">
              <a:ln>
                <a:noFill/>
              </a:ln>
              <a:solidFill>
                <a:schemeClr val="bg2"/>
              </a:solidFill>
              <a:effectLst/>
              <a:uLnTx/>
              <a:uFillTx/>
              <a:latin typeface="Fund Light" pitchFamily="2" charset="-78"/>
              <a:cs typeface="Fund Light" pitchFamily="2" charset="-78"/>
            </a:endParaRPr>
          </a:p>
        </p:txBody>
      </p:sp>
    </p:spTree>
    <p:extLst>
      <p:ext uri="{BB962C8B-B14F-4D97-AF65-F5344CB8AC3E}">
        <p14:creationId xmlns:p14="http://schemas.microsoft.com/office/powerpoint/2010/main" val="5771864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25180234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p:txBody>
          <a:bodyPr vert="horz"/>
          <a:lstStyle/>
          <a:p>
            <a:r>
              <a:rPr lang="en-US"/>
              <a:t>LDC governance cuts across the LDC value chain with various decision makers</a:t>
            </a:r>
            <a:endParaRPr lang="en-SA"/>
          </a:p>
        </p:txBody>
      </p:sp>
      <p:cxnSp>
        <p:nvCxnSpPr>
          <p:cNvPr id="7" name="Straight Connector 6">
            <a:extLst>
              <a:ext uri="{FF2B5EF4-FFF2-40B4-BE49-F238E27FC236}">
                <a16:creationId xmlns:a16="http://schemas.microsoft.com/office/drawing/2014/main" id="{842A42EC-DCAF-4211-BCFE-0A77464CAB7E}"/>
              </a:ext>
            </a:extLst>
          </p:cNvPr>
          <p:cNvCxnSpPr>
            <a:cxnSpLocks/>
          </p:cNvCxnSpPr>
          <p:nvPr/>
        </p:nvCxnSpPr>
        <p:spPr>
          <a:xfrm>
            <a:off x="303264" y="2669723"/>
            <a:ext cx="8319346" cy="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0CC5B67-8A9A-407D-8904-2266EA8C4708}"/>
              </a:ext>
            </a:extLst>
          </p:cNvPr>
          <p:cNvSpPr>
            <a:spLocks/>
          </p:cNvSpPr>
          <p:nvPr/>
        </p:nvSpPr>
        <p:spPr>
          <a:xfrm>
            <a:off x="150532" y="784225"/>
            <a:ext cx="890868" cy="425462"/>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marL="0" marR="0" lvl="0" indent="0" algn="r" defTabSz="1219170" rtl="0" eaLnBrk="1" fontAlgn="auto" latinLnBrk="0" hangingPunct="1">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Fund Light" pitchFamily="2" charset="-78"/>
                <a:cs typeface="Fund Light" pitchFamily="2" charset="-78"/>
              </a:rPr>
              <a:t>LDC stages</a:t>
            </a:r>
            <a:endParaRPr kumimoji="0" lang="en-GB" sz="1000" b="0" i="0" u="none" strike="noStrike" kern="1200" cap="none" spc="0" normalizeH="0" baseline="0" noProof="0">
              <a:ln>
                <a:noFill/>
              </a:ln>
              <a:solidFill>
                <a:srgbClr val="000000"/>
              </a:solidFill>
              <a:effectLst/>
              <a:uLnTx/>
              <a:uFillTx/>
              <a:latin typeface="Fund Light" pitchFamily="2" charset="-78"/>
              <a:cs typeface="Fund Light" pitchFamily="2" charset="-78"/>
            </a:endParaRPr>
          </a:p>
        </p:txBody>
      </p:sp>
      <p:grpSp>
        <p:nvGrpSpPr>
          <p:cNvPr id="32" name="Group 31">
            <a:extLst>
              <a:ext uri="{FF2B5EF4-FFF2-40B4-BE49-F238E27FC236}">
                <a16:creationId xmlns:a16="http://schemas.microsoft.com/office/drawing/2014/main" id="{FF831CD8-A92E-4D55-936A-171841264F25}"/>
              </a:ext>
            </a:extLst>
          </p:cNvPr>
          <p:cNvGrpSpPr/>
          <p:nvPr/>
        </p:nvGrpSpPr>
        <p:grpSpPr>
          <a:xfrm>
            <a:off x="1238188" y="784225"/>
            <a:ext cx="7580564" cy="425462"/>
            <a:chOff x="1104900" y="784225"/>
            <a:chExt cx="7713852" cy="425462"/>
          </a:xfrm>
        </p:grpSpPr>
        <p:sp>
          <p:nvSpPr>
            <p:cNvPr id="33" name="TextBox 32">
              <a:extLst>
                <a:ext uri="{FF2B5EF4-FFF2-40B4-BE49-F238E27FC236}">
                  <a16:creationId xmlns:a16="http://schemas.microsoft.com/office/drawing/2014/main" id="{BE52B045-75B1-4A15-B6B5-94C05AAA3AC6}"/>
                </a:ext>
              </a:extLst>
            </p:cNvPr>
            <p:cNvSpPr txBox="1"/>
            <p:nvPr/>
          </p:nvSpPr>
          <p:spPr>
            <a:xfrm>
              <a:off x="5706970" y="784225"/>
              <a:ext cx="1579154"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4. LDC agreement sign-off</a:t>
              </a:r>
            </a:p>
          </p:txBody>
        </p:sp>
        <p:sp>
          <p:nvSpPr>
            <p:cNvPr id="34" name="TextBox 33">
              <a:extLst>
                <a:ext uri="{FF2B5EF4-FFF2-40B4-BE49-F238E27FC236}">
                  <a16:creationId xmlns:a16="http://schemas.microsoft.com/office/drawing/2014/main" id="{652C4DBA-DFF7-4147-81ED-97C053F45C0E}"/>
                </a:ext>
              </a:extLst>
            </p:cNvPr>
            <p:cNvSpPr txBox="1"/>
            <p:nvPr/>
          </p:nvSpPr>
          <p:spPr>
            <a:xfrm>
              <a:off x="1104900" y="784225"/>
              <a:ext cx="1579154" cy="425462"/>
            </a:xfrm>
            <a:prstGeom prst="homePlate">
              <a:avLst>
                <a:gd name="adj" fmla="val 25366"/>
              </a:avLst>
            </a:prstGeom>
            <a:solidFill>
              <a:schemeClr val="bg2"/>
            </a:solidFill>
            <a:ln w="6350">
              <a:noFill/>
              <a:miter lim="800000"/>
            </a:ln>
          </p:spPr>
          <p:txBody>
            <a:bodyPr vert="horz" wrap="square" lIns="60960" rIns="0" anchor="ctr">
              <a:noAutofit/>
            </a:bodyPr>
            <a:lstStyle/>
            <a:p>
              <a:pPr marL="173736" marR="0" lvl="0" indent="-173736" algn="l" defTabSz="1219170" rtl="0" eaLnBrk="1" fontAlgn="auto" latinLnBrk="0" hangingPunct="1">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Fund Light" pitchFamily="2" charset="-78"/>
                  <a:cs typeface="Fund Light" pitchFamily="2" charset="-78"/>
                </a:rPr>
                <a:t>1. Product selection</a:t>
              </a:r>
              <a:endParaRPr kumimoji="0" lang="en-GB" sz="1000" b="1" i="0" u="none" strike="noStrike" kern="1200" cap="none" spc="0" normalizeH="0" baseline="0" noProof="0">
                <a:ln>
                  <a:noFill/>
                </a:ln>
                <a:solidFill>
                  <a:schemeClr val="bg1"/>
                </a:solidFill>
                <a:effectLst/>
                <a:uLnTx/>
                <a:uFillTx/>
                <a:latin typeface="Fund Light" pitchFamily="2" charset="-78"/>
                <a:cs typeface="Fund Light" pitchFamily="2" charset="-78"/>
              </a:endParaRPr>
            </a:p>
          </p:txBody>
        </p:sp>
        <p:sp>
          <p:nvSpPr>
            <p:cNvPr id="35" name="TextBox 34">
              <a:extLst>
                <a:ext uri="{FF2B5EF4-FFF2-40B4-BE49-F238E27FC236}">
                  <a16:creationId xmlns:a16="http://schemas.microsoft.com/office/drawing/2014/main" id="{66B924A6-49C4-42CF-9964-8A2D100E41E2}"/>
                </a:ext>
              </a:extLst>
            </p:cNvPr>
            <p:cNvSpPr txBox="1"/>
            <p:nvPr/>
          </p:nvSpPr>
          <p:spPr>
            <a:xfrm>
              <a:off x="2638924" y="784225"/>
              <a:ext cx="1579154"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2. Feasibility and terms assessment</a:t>
              </a:r>
            </a:p>
          </p:txBody>
        </p:sp>
        <p:sp>
          <p:nvSpPr>
            <p:cNvPr id="36" name="TextBox 35">
              <a:extLst>
                <a:ext uri="{FF2B5EF4-FFF2-40B4-BE49-F238E27FC236}">
                  <a16:creationId xmlns:a16="http://schemas.microsoft.com/office/drawing/2014/main" id="{10390FEC-11AB-4CF7-B6FF-7D68D8A78123}"/>
                </a:ext>
              </a:extLst>
            </p:cNvPr>
            <p:cNvSpPr txBox="1"/>
            <p:nvPr/>
          </p:nvSpPr>
          <p:spPr>
            <a:xfrm>
              <a:off x="4172947" y="784225"/>
              <a:ext cx="1579154"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3. Tendering and LDC award</a:t>
              </a:r>
              <a:endParaRPr lang="en-GB" sz="1000">
                <a:solidFill>
                  <a:schemeClr val="bg1"/>
                </a:solidFill>
                <a:latin typeface="Fund Light" pitchFamily="2" charset="-78"/>
                <a:cs typeface="Fund Light" pitchFamily="2" charset="-78"/>
              </a:endParaRPr>
            </a:p>
          </p:txBody>
        </p:sp>
        <p:sp>
          <p:nvSpPr>
            <p:cNvPr id="37" name="TextBox 36">
              <a:extLst>
                <a:ext uri="{FF2B5EF4-FFF2-40B4-BE49-F238E27FC236}">
                  <a16:creationId xmlns:a16="http://schemas.microsoft.com/office/drawing/2014/main" id="{EF34F606-CD2E-44FD-A4E2-75F9D7561B67}"/>
                </a:ext>
              </a:extLst>
            </p:cNvPr>
            <p:cNvSpPr txBox="1"/>
            <p:nvPr/>
          </p:nvSpPr>
          <p:spPr>
            <a:xfrm>
              <a:off x="7239598" y="784225"/>
              <a:ext cx="1579154" cy="425462"/>
            </a:xfrm>
            <a:prstGeom prst="chevron">
              <a:avLst>
                <a:gd name="adj" fmla="val 23394"/>
              </a:avLst>
            </a:prstGeom>
            <a:solidFill>
              <a:schemeClr val="bg2"/>
            </a:solidFill>
            <a:ln w="6350">
              <a:noFill/>
              <a:miter lim="800000"/>
            </a:ln>
          </p:spPr>
          <p:txBody>
            <a:bodyPr vert="horz" wrap="square" lIns="60960" rIns="0" anchor="ctr">
              <a:noAutofit/>
            </a:bodyPr>
            <a:lstStyle>
              <a:defPPr>
                <a:defRPr lang="en-US"/>
              </a:defPPr>
              <a:lvl1pPr marL="115888" marR="0" lvl="0" indent="-115888" defTabSz="1219170" fontAlgn="auto">
                <a:lnSpc>
                  <a:spcPct val="100000"/>
                </a:lnSpc>
                <a:spcBef>
                  <a:spcPts val="0"/>
                </a:spcBef>
                <a:spcAft>
                  <a:spcPts val="0"/>
                </a:spcAft>
                <a:buClrTx/>
                <a:buSzTx/>
                <a:buFontTx/>
                <a:buNone/>
                <a:tabLst/>
                <a:defRPr kumimoji="0" sz="1067" b="1" i="0" u="none" strike="noStrike" cap="none" spc="0" normalizeH="0" baseline="0">
                  <a:ln>
                    <a:noFill/>
                  </a:ln>
                  <a:solidFill>
                    <a:srgbClr val="FFFFFF"/>
                  </a:solidFill>
                  <a:effectLst/>
                  <a:uLnTx/>
                  <a:uFillTx/>
                  <a:latin typeface="Fund Light"/>
                </a:defRPr>
              </a:lvl1pPr>
            </a:lstStyle>
            <a:p>
              <a:pPr marL="173736" indent="-173736"/>
              <a:r>
                <a:rPr lang="en-US" sz="1000">
                  <a:solidFill>
                    <a:schemeClr val="bg1"/>
                  </a:solidFill>
                  <a:latin typeface="Fund Light" pitchFamily="2" charset="-78"/>
                  <a:cs typeface="Fund Light" pitchFamily="2" charset="-78"/>
                </a:rPr>
                <a:t>5. LDC execution </a:t>
              </a:r>
              <a:br>
                <a:rPr lang="en-US" sz="1000">
                  <a:solidFill>
                    <a:schemeClr val="bg1"/>
                  </a:solidFill>
                  <a:latin typeface="Fund Light" pitchFamily="2" charset="-78"/>
                  <a:cs typeface="Fund Light" pitchFamily="2" charset="-78"/>
                </a:rPr>
              </a:br>
              <a:r>
                <a:rPr lang="en-US" sz="1000">
                  <a:solidFill>
                    <a:schemeClr val="bg1"/>
                  </a:solidFill>
                  <a:latin typeface="Fund Light" pitchFamily="2" charset="-78"/>
                  <a:cs typeface="Fund Light" pitchFamily="2" charset="-78"/>
                </a:rPr>
                <a:t>and monitoring</a:t>
              </a:r>
            </a:p>
          </p:txBody>
        </p:sp>
      </p:grpSp>
      <p:sp>
        <p:nvSpPr>
          <p:cNvPr id="3" name="Text Placeholder 6">
            <a:extLst>
              <a:ext uri="{FF2B5EF4-FFF2-40B4-BE49-F238E27FC236}">
                <a16:creationId xmlns:a16="http://schemas.microsoft.com/office/drawing/2014/main" id="{437F1185-E9AF-E71E-5C61-28DC22046878}"/>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governance</a:t>
            </a:r>
          </a:p>
        </p:txBody>
      </p:sp>
      <p:sp>
        <p:nvSpPr>
          <p:cNvPr id="27" name="Rectangle 26">
            <a:extLst>
              <a:ext uri="{FF2B5EF4-FFF2-40B4-BE49-F238E27FC236}">
                <a16:creationId xmlns:a16="http://schemas.microsoft.com/office/drawing/2014/main" id="{07106384-B5C1-84FD-CEF6-5A1CAC62826B}"/>
              </a:ext>
            </a:extLst>
          </p:cNvPr>
          <p:cNvSpPr/>
          <p:nvPr/>
        </p:nvSpPr>
        <p:spPr>
          <a:xfrm>
            <a:off x="160020" y="3646683"/>
            <a:ext cx="881379" cy="477706"/>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algn="r" defTabSz="1219170"/>
            <a:r>
              <a:rPr lang="en-GB" sz="1000" b="1">
                <a:solidFill>
                  <a:srgbClr val="000000"/>
                </a:solidFill>
                <a:latin typeface="Fund Light" pitchFamily="2" charset="-78"/>
                <a:cs typeface="Fund Light" pitchFamily="2" charset="-78"/>
              </a:rPr>
              <a:t>Stakeholders involved</a:t>
            </a:r>
          </a:p>
        </p:txBody>
      </p:sp>
      <p:sp>
        <p:nvSpPr>
          <p:cNvPr id="28" name="Rectangle 27">
            <a:extLst>
              <a:ext uri="{FF2B5EF4-FFF2-40B4-BE49-F238E27FC236}">
                <a16:creationId xmlns:a16="http://schemas.microsoft.com/office/drawing/2014/main" id="{C46CB2D0-244F-406F-FA67-03D06060BB85}"/>
              </a:ext>
            </a:extLst>
          </p:cNvPr>
          <p:cNvSpPr/>
          <p:nvPr/>
        </p:nvSpPr>
        <p:spPr>
          <a:xfrm>
            <a:off x="303264" y="1275516"/>
            <a:ext cx="738135" cy="119070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algn="r" defTabSz="1219170"/>
            <a:r>
              <a:rPr lang="en-GB" sz="1000" b="1">
                <a:solidFill>
                  <a:srgbClr val="000000"/>
                </a:solidFill>
                <a:latin typeface="Fund Light" pitchFamily="2" charset="-78"/>
                <a:cs typeface="Fund Light" pitchFamily="2" charset="-78"/>
              </a:rPr>
              <a:t>Activities</a:t>
            </a:r>
          </a:p>
        </p:txBody>
      </p:sp>
      <p:sp>
        <p:nvSpPr>
          <p:cNvPr id="29" name="Rectangle 28">
            <a:extLst>
              <a:ext uri="{FF2B5EF4-FFF2-40B4-BE49-F238E27FC236}">
                <a16:creationId xmlns:a16="http://schemas.microsoft.com/office/drawing/2014/main" id="{08FB4CD7-C9AA-89E1-2835-41B484CA34A7}"/>
              </a:ext>
            </a:extLst>
          </p:cNvPr>
          <p:cNvSpPr/>
          <p:nvPr/>
        </p:nvSpPr>
        <p:spPr>
          <a:xfrm>
            <a:off x="303264" y="2737364"/>
            <a:ext cx="738135" cy="713439"/>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18288" rIns="18288" bIns="18288" numCol="1" spcCol="0" rtlCol="0" fromWordArt="0" anchor="ctr" anchorCtr="0" forceAA="0" compatLnSpc="1">
            <a:prstTxWarp prst="textNoShape">
              <a:avLst/>
            </a:prstTxWarp>
            <a:noAutofit/>
          </a:bodyPr>
          <a:lstStyle/>
          <a:p>
            <a:pPr algn="r" defTabSz="1219170"/>
            <a:r>
              <a:rPr lang="en-GB" sz="1000" b="1">
                <a:solidFill>
                  <a:srgbClr val="000000"/>
                </a:solidFill>
                <a:latin typeface="Fund Light" pitchFamily="2" charset="-78"/>
                <a:cs typeface="Fund Light" pitchFamily="2" charset="-78"/>
              </a:rPr>
              <a:t>Decisions</a:t>
            </a:r>
          </a:p>
        </p:txBody>
      </p:sp>
      <p:sp>
        <p:nvSpPr>
          <p:cNvPr id="30" name="TextBox 29">
            <a:extLst>
              <a:ext uri="{FF2B5EF4-FFF2-40B4-BE49-F238E27FC236}">
                <a16:creationId xmlns:a16="http://schemas.microsoft.com/office/drawing/2014/main" id="{AD158B90-A8E6-DACE-D5DA-0754E1187EC8}"/>
              </a:ext>
            </a:extLst>
          </p:cNvPr>
          <p:cNvSpPr txBox="1"/>
          <p:nvPr/>
        </p:nvSpPr>
        <p:spPr>
          <a:xfrm>
            <a:off x="1238188" y="1280429"/>
            <a:ext cx="1462361" cy="1118152"/>
          </a:xfrm>
          <a:prstGeom prst="rect">
            <a:avLst/>
          </a:prstGeom>
          <a:noFill/>
          <a:ln w="6350">
            <a:noFill/>
            <a:miter lim="800000"/>
          </a:ln>
        </p:spPr>
        <p:txBody>
          <a:bodyPr vert="horz" wrap="square" lIns="0" tIns="0" rIns="0" bIns="0" rtlCol="0">
            <a:noAutofit/>
          </a:body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solidFill>
                  <a:srgbClr val="000000"/>
                </a:solidFill>
                <a:effectLst/>
                <a:uLnTx/>
                <a:uFillTx/>
                <a:latin typeface="Fund Light"/>
                <a:ea typeface="+mn-ea"/>
                <a:cs typeface="+mn-cs"/>
              </a:rPr>
              <a:t>Rapid LDC assessment (feasibility and necessity)</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solidFill>
                  <a:srgbClr val="000000"/>
                </a:solidFill>
                <a:effectLst/>
                <a:uLnTx/>
                <a:uFillTx/>
                <a:latin typeface="Fund Light"/>
                <a:ea typeface="+mn-ea"/>
                <a:cs typeface="+mn-cs"/>
              </a:rPr>
              <a:t>Buyer engagement (annual demand, specifications, LDC commitment)</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solidFill>
                  <a:srgbClr val="000000"/>
                </a:solidFill>
                <a:effectLst/>
                <a:uLnTx/>
                <a:uFillTx/>
                <a:latin typeface="Fund Light"/>
                <a:ea typeface="+mn-ea"/>
                <a:cs typeface="+mn-cs"/>
              </a:rPr>
              <a:t>Supplier sensing </a:t>
            </a:r>
          </a:p>
        </p:txBody>
      </p:sp>
      <p:sp>
        <p:nvSpPr>
          <p:cNvPr id="31" name="TextBox 30">
            <a:extLst>
              <a:ext uri="{FF2B5EF4-FFF2-40B4-BE49-F238E27FC236}">
                <a16:creationId xmlns:a16="http://schemas.microsoft.com/office/drawing/2014/main" id="{153DA747-2122-FBEB-F13B-5A12A648A85C}"/>
              </a:ext>
            </a:extLst>
          </p:cNvPr>
          <p:cNvSpPr txBox="1"/>
          <p:nvPr/>
        </p:nvSpPr>
        <p:spPr>
          <a:xfrm>
            <a:off x="4297574" y="1280429"/>
            <a:ext cx="1485164" cy="111815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RfP issuance</a:t>
            </a:r>
            <a:endParaRPr kumimoji="0" lang="en-GB" sz="800" b="0" i="0" u="none" strike="noStrike" kern="1200" cap="none" spc="0" normalizeH="0" baseline="30000" noProof="0">
              <a:ln>
                <a:noFill/>
              </a:ln>
              <a:effectLst/>
              <a:uLnTx/>
              <a:uFillTx/>
              <a:latin typeface="Fund Light"/>
              <a:ea typeface="+mn-ea"/>
              <a:cs typeface="+mn-cs"/>
            </a:endParaRP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Bids review in alignment with objectives</a:t>
            </a:r>
          </a:p>
        </p:txBody>
      </p:sp>
      <p:sp>
        <p:nvSpPr>
          <p:cNvPr id="38" name="TextBox 37">
            <a:extLst>
              <a:ext uri="{FF2B5EF4-FFF2-40B4-BE49-F238E27FC236}">
                <a16:creationId xmlns:a16="http://schemas.microsoft.com/office/drawing/2014/main" id="{66D1EEC0-024B-900B-4E24-6EF70FAA9D7B}"/>
              </a:ext>
            </a:extLst>
          </p:cNvPr>
          <p:cNvSpPr txBox="1"/>
          <p:nvPr/>
        </p:nvSpPr>
        <p:spPr>
          <a:xfrm>
            <a:off x="5887303" y="1280429"/>
            <a:ext cx="1395544" cy="111815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Signing of guarantee</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Establishment of monitoring and reporting processes</a:t>
            </a:r>
            <a:endParaRPr kumimoji="0" lang="en-GB" sz="800" b="0" i="0" u="none" strike="sngStrike" kern="1200" cap="none" spc="0" normalizeH="0" baseline="0" noProof="0">
              <a:ln>
                <a:noFill/>
              </a:ln>
              <a:effectLst/>
              <a:uLnTx/>
              <a:uFillTx/>
              <a:latin typeface="Fund Light"/>
              <a:ea typeface="+mn-ea"/>
              <a:cs typeface="+mn-cs"/>
            </a:endParaRPr>
          </a:p>
        </p:txBody>
      </p:sp>
      <p:sp>
        <p:nvSpPr>
          <p:cNvPr id="39" name="TextBox 38">
            <a:extLst>
              <a:ext uri="{FF2B5EF4-FFF2-40B4-BE49-F238E27FC236}">
                <a16:creationId xmlns:a16="http://schemas.microsoft.com/office/drawing/2014/main" id="{A0B55FD0-1E5F-6A0E-76C4-BFEDFCC095BF}"/>
              </a:ext>
            </a:extLst>
          </p:cNvPr>
          <p:cNvSpPr txBox="1"/>
          <p:nvPr/>
        </p:nvSpPr>
        <p:spPr>
          <a:xfrm>
            <a:off x="7290085" y="1280429"/>
            <a:ext cx="1506263" cy="111815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LDC execution progress monitoring</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GB" sz="800" b="0" i="0" u="none" strike="noStrike" kern="1200" cap="none" spc="0" normalizeH="0" baseline="0" noProof="0">
                <a:ln>
                  <a:noFill/>
                </a:ln>
                <a:effectLst/>
                <a:uLnTx/>
                <a:uFillTx/>
                <a:latin typeface="Fund Light"/>
                <a:ea typeface="+mn-ea"/>
                <a:cs typeface="+mn-cs"/>
              </a:rPr>
              <a:t>Implementation of risk mitigation measures</a:t>
            </a:r>
          </a:p>
        </p:txBody>
      </p:sp>
      <p:sp>
        <p:nvSpPr>
          <p:cNvPr id="40" name="TextBox 39">
            <a:extLst>
              <a:ext uri="{FF2B5EF4-FFF2-40B4-BE49-F238E27FC236}">
                <a16:creationId xmlns:a16="http://schemas.microsoft.com/office/drawing/2014/main" id="{3C71391A-9A75-A9A0-618E-D1C8B883F7AA}"/>
              </a:ext>
            </a:extLst>
          </p:cNvPr>
          <p:cNvSpPr txBox="1"/>
          <p:nvPr/>
        </p:nvSpPr>
        <p:spPr>
          <a:xfrm>
            <a:off x="2762592" y="1280429"/>
            <a:ext cx="1485164" cy="1118152"/>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Feasibility assessment and guarantee requirements</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err="1">
                <a:ln>
                  <a:noFill/>
                </a:ln>
                <a:effectLst/>
                <a:uLnTx/>
                <a:uFillTx/>
                <a:latin typeface="Fund Light"/>
                <a:ea typeface="+mn-ea"/>
                <a:cs typeface="+mn-cs"/>
              </a:rPr>
              <a:t>RfI</a:t>
            </a:r>
            <a:r>
              <a:rPr kumimoji="0" lang="en-US" sz="800" b="0" i="0" u="none" strike="noStrike" kern="1200" cap="none" spc="0" normalizeH="0" baseline="0" noProof="0">
                <a:ln>
                  <a:noFill/>
                </a:ln>
                <a:effectLst/>
                <a:uLnTx/>
                <a:uFillTx/>
                <a:latin typeface="Fund Light"/>
                <a:ea typeface="+mn-ea"/>
                <a:cs typeface="+mn-cs"/>
              </a:rPr>
              <a:t> issuance</a:t>
            </a:r>
            <a:endParaRPr kumimoji="0" lang="en-US" sz="800" b="0" i="0" u="none" strike="noStrike" kern="1200" cap="none" spc="0" normalizeH="0" baseline="30000" noProof="0">
              <a:ln>
                <a:noFill/>
              </a:ln>
              <a:effectLst/>
              <a:uLnTx/>
              <a:uFillTx/>
              <a:latin typeface="Fund Light"/>
              <a:ea typeface="+mn-ea"/>
              <a:cs typeface="+mn-cs"/>
            </a:endParaRP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err="1">
                <a:ln>
                  <a:noFill/>
                </a:ln>
                <a:effectLst/>
                <a:uLnTx/>
                <a:uFillTx/>
                <a:latin typeface="Fund Light"/>
                <a:ea typeface="+mn-ea"/>
                <a:cs typeface="+mn-cs"/>
              </a:rPr>
              <a:t>RfP</a:t>
            </a:r>
            <a:r>
              <a:rPr kumimoji="0" lang="en-US" sz="800" b="0" i="0" u="none" strike="noStrike" kern="1200" cap="none" spc="0" normalizeH="0" baseline="0" noProof="0">
                <a:ln>
                  <a:noFill/>
                </a:ln>
                <a:effectLst/>
                <a:uLnTx/>
                <a:uFillTx/>
                <a:latin typeface="Fund Light"/>
                <a:ea typeface="+mn-ea"/>
                <a:cs typeface="+mn-cs"/>
              </a:rPr>
              <a:t> development</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Contractual frameworks development</a:t>
            </a:r>
            <a:endParaRPr kumimoji="0" lang="en-US" sz="800" b="0" i="0" u="none" strike="noStrike" kern="1200" cap="none" spc="0" normalizeH="0" baseline="30000" noProof="0">
              <a:ln>
                <a:noFill/>
              </a:ln>
              <a:effectLst/>
              <a:uLnTx/>
              <a:uFillTx/>
              <a:latin typeface="Fund Light"/>
              <a:ea typeface="+mn-ea"/>
              <a:cs typeface="+mn-cs"/>
            </a:endParaRPr>
          </a:p>
        </p:txBody>
      </p:sp>
      <p:sp>
        <p:nvSpPr>
          <p:cNvPr id="41" name="TextBox 40">
            <a:extLst>
              <a:ext uri="{FF2B5EF4-FFF2-40B4-BE49-F238E27FC236}">
                <a16:creationId xmlns:a16="http://schemas.microsoft.com/office/drawing/2014/main" id="{AC1058BB-1AFF-FDC4-89A2-3FAAB8153D7D}"/>
              </a:ext>
            </a:extLst>
          </p:cNvPr>
          <p:cNvSpPr txBox="1"/>
          <p:nvPr/>
        </p:nvSpPr>
        <p:spPr>
          <a:xfrm>
            <a:off x="4290336" y="2693111"/>
            <a:ext cx="148516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Approval for issuance of commitment (if required) in line with the selected bidder</a:t>
            </a:r>
          </a:p>
        </p:txBody>
      </p:sp>
      <p:sp>
        <p:nvSpPr>
          <p:cNvPr id="42" name="TextBox 41">
            <a:extLst>
              <a:ext uri="{FF2B5EF4-FFF2-40B4-BE49-F238E27FC236}">
                <a16:creationId xmlns:a16="http://schemas.microsoft.com/office/drawing/2014/main" id="{19790083-F41D-A5E6-E955-13D1D8311C8F}"/>
              </a:ext>
            </a:extLst>
          </p:cNvPr>
          <p:cNvSpPr txBox="1"/>
          <p:nvPr/>
        </p:nvSpPr>
        <p:spPr>
          <a:xfrm>
            <a:off x="7282847" y="2693111"/>
            <a:ext cx="165574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Change and dispute management decisions</a:t>
            </a:r>
          </a:p>
        </p:txBody>
      </p:sp>
      <p:sp>
        <p:nvSpPr>
          <p:cNvPr id="43" name="TextBox 42">
            <a:extLst>
              <a:ext uri="{FF2B5EF4-FFF2-40B4-BE49-F238E27FC236}">
                <a16:creationId xmlns:a16="http://schemas.microsoft.com/office/drawing/2014/main" id="{111BE96D-F061-EF97-C85F-01D70C5D2592}"/>
              </a:ext>
            </a:extLst>
          </p:cNvPr>
          <p:cNvSpPr txBox="1"/>
          <p:nvPr/>
        </p:nvSpPr>
        <p:spPr>
          <a:xfrm>
            <a:off x="2755354" y="2693111"/>
            <a:ext cx="148516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LDC mechanism and RfP issuance</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Contractual terms for LDC</a:t>
            </a:r>
          </a:p>
        </p:txBody>
      </p:sp>
      <p:sp>
        <p:nvSpPr>
          <p:cNvPr id="44" name="TextBox 43">
            <a:extLst>
              <a:ext uri="{FF2B5EF4-FFF2-40B4-BE49-F238E27FC236}">
                <a16:creationId xmlns:a16="http://schemas.microsoft.com/office/drawing/2014/main" id="{1AC255BB-0B78-87B5-D0DC-DA63F52065D8}"/>
              </a:ext>
            </a:extLst>
          </p:cNvPr>
          <p:cNvSpPr txBox="1"/>
          <p:nvPr/>
        </p:nvSpPr>
        <p:spPr>
          <a:xfrm>
            <a:off x="1228347" y="2693111"/>
            <a:ext cx="1462361"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Product(s) selected to conduct feasibility studies</a:t>
            </a:r>
          </a:p>
        </p:txBody>
      </p:sp>
      <p:cxnSp>
        <p:nvCxnSpPr>
          <p:cNvPr id="51" name="Straight Connector 50">
            <a:extLst>
              <a:ext uri="{FF2B5EF4-FFF2-40B4-BE49-F238E27FC236}">
                <a16:creationId xmlns:a16="http://schemas.microsoft.com/office/drawing/2014/main" id="{644D21ED-E1B3-D7B5-C86C-FA96B27A9FCE}"/>
              </a:ext>
            </a:extLst>
          </p:cNvPr>
          <p:cNvCxnSpPr>
            <a:cxnSpLocks/>
          </p:cNvCxnSpPr>
          <p:nvPr/>
        </p:nvCxnSpPr>
        <p:spPr>
          <a:xfrm>
            <a:off x="412327" y="3550392"/>
            <a:ext cx="8319346" cy="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D50CB4B-E450-231D-F836-2D0D63B7A2EF}"/>
              </a:ext>
            </a:extLst>
          </p:cNvPr>
          <p:cNvSpPr txBox="1"/>
          <p:nvPr/>
        </p:nvSpPr>
        <p:spPr>
          <a:xfrm>
            <a:off x="1235585" y="3700924"/>
            <a:ext cx="1462361"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Localization unit (LC unit)</a:t>
            </a:r>
          </a:p>
        </p:txBody>
      </p:sp>
      <p:sp>
        <p:nvSpPr>
          <p:cNvPr id="53" name="TextBox 52">
            <a:extLst>
              <a:ext uri="{FF2B5EF4-FFF2-40B4-BE49-F238E27FC236}">
                <a16:creationId xmlns:a16="http://schemas.microsoft.com/office/drawing/2014/main" id="{5E121725-4C6C-7A68-3855-23DA667E9B24}"/>
              </a:ext>
            </a:extLst>
          </p:cNvPr>
          <p:cNvSpPr txBox="1"/>
          <p:nvPr/>
        </p:nvSpPr>
        <p:spPr>
          <a:xfrm>
            <a:off x="2745591" y="3694496"/>
            <a:ext cx="148516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LDC </a:t>
            </a:r>
            <a:r>
              <a:rPr lang="en-US">
                <a:latin typeface="Fund Light"/>
              </a:rPr>
              <a:t>t</a:t>
            </a:r>
            <a:r>
              <a:rPr kumimoji="0" lang="en-US" sz="800" b="0" i="0" u="none" strike="noStrike" kern="1200" cap="none" spc="0" normalizeH="0" baseline="0" noProof="0" err="1">
                <a:ln>
                  <a:noFill/>
                </a:ln>
                <a:effectLst/>
                <a:uLnTx/>
                <a:uFillTx/>
                <a:latin typeface="Fund Light"/>
                <a:ea typeface="+mn-ea"/>
                <a:cs typeface="+mn-cs"/>
              </a:rPr>
              <a:t>askforce</a:t>
            </a:r>
            <a:r>
              <a:rPr kumimoji="0" lang="en-US" sz="800" b="0" i="0" u="none" strike="noStrike" kern="1200" cap="none" spc="0" normalizeH="0" baseline="0" noProof="0">
                <a:ln>
                  <a:noFill/>
                </a:ln>
                <a:effectLst/>
                <a:uLnTx/>
                <a:uFillTx/>
                <a:latin typeface="Fund Light"/>
                <a:ea typeface="+mn-ea"/>
                <a:cs typeface="+mn-cs"/>
              </a:rPr>
              <a:t> (endorsement)</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lang="en-US">
                <a:latin typeface="Fund Light"/>
              </a:rPr>
              <a:t>Executive management (for approval)</a:t>
            </a:r>
            <a:endParaRPr kumimoji="0" lang="en-US" sz="800" b="0" i="0" u="none" strike="noStrike" kern="1200" cap="none" spc="0" normalizeH="0" baseline="0" noProof="0">
              <a:ln>
                <a:noFill/>
              </a:ln>
              <a:effectLst/>
              <a:uLnTx/>
              <a:uFillTx/>
              <a:latin typeface="Fund Light"/>
              <a:ea typeface="+mn-ea"/>
              <a:cs typeface="+mn-cs"/>
            </a:endParaRPr>
          </a:p>
        </p:txBody>
      </p:sp>
      <p:sp>
        <p:nvSpPr>
          <p:cNvPr id="54" name="TextBox 53">
            <a:extLst>
              <a:ext uri="{FF2B5EF4-FFF2-40B4-BE49-F238E27FC236}">
                <a16:creationId xmlns:a16="http://schemas.microsoft.com/office/drawing/2014/main" id="{E6BA48D7-CDFB-2489-ACE8-1FFBC01E810E}"/>
              </a:ext>
            </a:extLst>
          </p:cNvPr>
          <p:cNvSpPr txBox="1"/>
          <p:nvPr/>
        </p:nvSpPr>
        <p:spPr>
          <a:xfrm>
            <a:off x="4297574" y="3715961"/>
            <a:ext cx="148516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LDC taskforce (endorsement)</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Executive management (approval for PSA)</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lang="en-US">
                <a:latin typeface="Fund Light"/>
              </a:rPr>
              <a:t>Board of directors (approval for take-or-pay)</a:t>
            </a:r>
            <a:endParaRPr kumimoji="0" lang="en-US" sz="800" b="0" i="0" u="none" strike="noStrike" kern="1200" cap="none" spc="0" normalizeH="0" baseline="0" noProof="0">
              <a:ln>
                <a:noFill/>
              </a:ln>
              <a:effectLst/>
              <a:uLnTx/>
              <a:uFillTx/>
              <a:latin typeface="Fund Light"/>
              <a:ea typeface="+mn-ea"/>
              <a:cs typeface="+mn-cs"/>
            </a:endParaRPr>
          </a:p>
        </p:txBody>
      </p:sp>
      <p:sp>
        <p:nvSpPr>
          <p:cNvPr id="55" name="TextBox 54">
            <a:extLst>
              <a:ext uri="{FF2B5EF4-FFF2-40B4-BE49-F238E27FC236}">
                <a16:creationId xmlns:a16="http://schemas.microsoft.com/office/drawing/2014/main" id="{E6556864-4053-B193-CB10-918AE196F229}"/>
              </a:ext>
            </a:extLst>
          </p:cNvPr>
          <p:cNvSpPr txBox="1"/>
          <p:nvPr/>
        </p:nvSpPr>
        <p:spPr>
          <a:xfrm>
            <a:off x="5887303" y="3710586"/>
            <a:ext cx="139554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kumimoji="0" lang="en-US" sz="800" b="0" i="0" u="none" strike="noStrike" kern="1200" cap="none" spc="0" normalizeH="0" baseline="0" noProof="0">
                <a:ln>
                  <a:noFill/>
                </a:ln>
                <a:effectLst/>
                <a:uLnTx/>
                <a:uFillTx/>
                <a:latin typeface="Fund Light"/>
                <a:ea typeface="+mn-ea"/>
                <a:cs typeface="+mn-cs"/>
              </a:rPr>
              <a:t>Procurement team</a:t>
            </a:r>
          </a:p>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lang="en-US">
                <a:latin typeface="Fund Light"/>
              </a:rPr>
              <a:t>LDC taskforce</a:t>
            </a:r>
            <a:endParaRPr kumimoji="0" lang="en-US" sz="800" b="0" i="0" u="none" strike="noStrike" kern="1200" cap="none" spc="0" normalizeH="0" baseline="0" noProof="0">
              <a:ln>
                <a:noFill/>
              </a:ln>
              <a:effectLst/>
              <a:uLnTx/>
              <a:uFillTx/>
              <a:latin typeface="Fund Light"/>
              <a:ea typeface="+mn-ea"/>
              <a:cs typeface="+mn-cs"/>
            </a:endParaRPr>
          </a:p>
        </p:txBody>
      </p:sp>
      <p:sp>
        <p:nvSpPr>
          <p:cNvPr id="59" name="TextBox 58">
            <a:extLst>
              <a:ext uri="{FF2B5EF4-FFF2-40B4-BE49-F238E27FC236}">
                <a16:creationId xmlns:a16="http://schemas.microsoft.com/office/drawing/2014/main" id="{598E0FAE-925C-5148-A739-2A0C09FD2943}"/>
              </a:ext>
            </a:extLst>
          </p:cNvPr>
          <p:cNvSpPr txBox="1"/>
          <p:nvPr/>
        </p:nvSpPr>
        <p:spPr>
          <a:xfrm>
            <a:off x="7266884" y="3700924"/>
            <a:ext cx="1395544" cy="842401"/>
          </a:xfrm>
          <a:prstGeom prst="rect">
            <a:avLst/>
          </a:prstGeom>
          <a:ln w="6350">
            <a:noFill/>
            <a:miter lim="800000"/>
          </a:ln>
        </p:spPr>
        <p:txBody>
          <a:bodyPr vert="horz" wrap="square" lIns="0" tIns="0" rIns="0" bIns="0" rtlCol="0">
            <a:noAutofit/>
          </a:bodyPr>
          <a:lstStyle>
            <a:defPPr>
              <a:defRPr lang="en-US"/>
            </a:defPPr>
            <a:lvl1pPr marL="182880" marR="0" lvl="0" indent="-182880" defTabSz="914400" fontAlgn="auto">
              <a:lnSpc>
                <a:spcPct val="150000"/>
              </a:lnSpc>
              <a:spcBef>
                <a:spcPts val="0"/>
              </a:spcBef>
              <a:spcAft>
                <a:spcPts val="0"/>
              </a:spcAft>
              <a:buClrTx/>
              <a:buSzTx/>
              <a:buFont typeface="+mj-lt"/>
              <a:buAutoNum type="romanLcPeriod"/>
              <a:tabLst/>
              <a:defRPr kumimoji="0" sz="800" b="0" i="0" u="none" strike="noStrike" cap="none" spc="0" normalizeH="0" baseline="0">
                <a:ln>
                  <a:noFill/>
                </a:ln>
                <a:solidFill>
                  <a:srgbClr val="000000"/>
                </a:solidFill>
                <a:effectLst/>
                <a:uLnTx/>
                <a:uFillTx/>
              </a:defRPr>
            </a:lvl1pPr>
          </a:lstStyle>
          <a:p>
            <a:pPr marL="182880" marR="0" lvl="0" indent="-182880" algn="l" defTabSz="914400" rtl="0" eaLnBrk="1" fontAlgn="auto" latinLnBrk="0" hangingPunct="1">
              <a:lnSpc>
                <a:spcPct val="150000"/>
              </a:lnSpc>
              <a:spcBef>
                <a:spcPts val="0"/>
              </a:spcBef>
              <a:spcAft>
                <a:spcPts val="0"/>
              </a:spcAft>
              <a:buClrTx/>
              <a:buSzTx/>
              <a:buFont typeface="+mj-lt"/>
              <a:buAutoNum type="romanLcPeriod"/>
              <a:tabLst/>
              <a:defRPr/>
            </a:pPr>
            <a:r>
              <a:rPr lang="en-US">
                <a:latin typeface="Fund Light"/>
              </a:rPr>
              <a:t>LDC taskforce</a:t>
            </a:r>
            <a:endParaRPr kumimoji="0" lang="en-US" sz="800" b="0" i="0" u="none" strike="noStrike" kern="1200" cap="none" spc="0" normalizeH="0" baseline="0" noProof="0">
              <a:ln>
                <a:noFill/>
              </a:ln>
              <a:effectLst/>
              <a:uLnTx/>
              <a:uFillTx/>
              <a:latin typeface="Fund Light"/>
              <a:ea typeface="+mn-ea"/>
              <a:cs typeface="+mn-cs"/>
            </a:endParaRPr>
          </a:p>
        </p:txBody>
      </p:sp>
    </p:spTree>
    <p:extLst>
      <p:ext uri="{BB962C8B-B14F-4D97-AF65-F5344CB8AC3E}">
        <p14:creationId xmlns:p14="http://schemas.microsoft.com/office/powerpoint/2010/main" val="26814036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BCE02D-947D-47F1-9BED-740AC7C2ED65}"/>
              </a:ext>
            </a:extLst>
          </p:cNvPr>
          <p:cNvGraphicFramePr>
            <a:graphicFrameLocks noChangeAspect="1"/>
          </p:cNvGraphicFramePr>
          <p:nvPr>
            <p:custDataLst>
              <p:tags r:id="rId1"/>
            </p:custDataLst>
            <p:extLst>
              <p:ext uri="{D42A27DB-BD31-4B8C-83A1-F6EECF244321}">
                <p14:modId xmlns:p14="http://schemas.microsoft.com/office/powerpoint/2010/main" val="3806416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7" progId="TCLayout.ActiveDocument.1">
                  <p:embed/>
                </p:oleObj>
              </mc:Choice>
              <mc:Fallback>
                <p:oleObj name="think-cell Slide" r:id="rId4" imgW="353" imgH="357" progId="TCLayout.ActiveDocument.1">
                  <p:embed/>
                  <p:pic>
                    <p:nvPicPr>
                      <p:cNvPr id="4" name="think-cell data - do not delete" hidden="1">
                        <a:extLst>
                          <a:ext uri="{FF2B5EF4-FFF2-40B4-BE49-F238E27FC236}">
                            <a16:creationId xmlns:a16="http://schemas.microsoft.com/office/drawing/2014/main" id="{E8BCE02D-947D-47F1-9BED-740AC7C2E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00357D5-1972-90C3-9FBB-B66F2BC003CD}"/>
              </a:ext>
            </a:extLst>
          </p:cNvPr>
          <p:cNvSpPr>
            <a:spLocks noGrp="1"/>
          </p:cNvSpPr>
          <p:nvPr>
            <p:ph type="title"/>
          </p:nvPr>
        </p:nvSpPr>
        <p:spPr>
          <a:xfrm>
            <a:off x="1255077" y="255973"/>
            <a:ext cx="6675120" cy="241824"/>
          </a:xfrm>
        </p:spPr>
        <p:txBody>
          <a:bodyPr vert="horz"/>
          <a:lstStyle/>
          <a:p>
            <a:r>
              <a:rPr lang="en-US"/>
              <a:t>Recommended roles of key stakeholders</a:t>
            </a:r>
            <a:endParaRPr lang="en-SA"/>
          </a:p>
        </p:txBody>
      </p:sp>
      <p:sp>
        <p:nvSpPr>
          <p:cNvPr id="3" name="Text Placeholder 6">
            <a:extLst>
              <a:ext uri="{FF2B5EF4-FFF2-40B4-BE49-F238E27FC236}">
                <a16:creationId xmlns:a16="http://schemas.microsoft.com/office/drawing/2014/main" id="{437F1185-E9AF-E71E-5C61-28DC22046878}"/>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governance</a:t>
            </a:r>
          </a:p>
        </p:txBody>
      </p:sp>
      <p:sp>
        <p:nvSpPr>
          <p:cNvPr id="28" name="Rectangle: Rounded Corners 27">
            <a:extLst>
              <a:ext uri="{FF2B5EF4-FFF2-40B4-BE49-F238E27FC236}">
                <a16:creationId xmlns:a16="http://schemas.microsoft.com/office/drawing/2014/main" id="{6C67DEE4-2DF0-753B-7B96-18A80B8FE5C2}"/>
              </a:ext>
            </a:extLst>
          </p:cNvPr>
          <p:cNvSpPr/>
          <p:nvPr/>
        </p:nvSpPr>
        <p:spPr>
          <a:xfrm>
            <a:off x="3258668" y="4865262"/>
            <a:ext cx="3169002" cy="207588"/>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latin typeface="Fund Light" pitchFamily="2" charset="-78"/>
                <a:cs typeface="Fund Light" pitchFamily="2" charset="-78"/>
              </a:rPr>
              <a:t>Consult PIF for learnings on LC unit (</a:t>
            </a:r>
            <a:r>
              <a:rPr lang="en-US" sz="1000">
                <a:solidFill>
                  <a:srgbClr val="000000"/>
                </a:solidFill>
                <a:latin typeface="Fund Light" pitchFamily="2" charset="-78"/>
                <a:cs typeface="Fund Light" pitchFamily="2" charset="-78"/>
                <a:hlinkClick r:id="rId6" action="ppaction://hlinksldjump"/>
              </a:rPr>
              <a:t>Contacts</a:t>
            </a:r>
            <a:r>
              <a:rPr lang="en-US" sz="1000">
                <a:solidFill>
                  <a:srgbClr val="000000"/>
                </a:solidFill>
                <a:latin typeface="Fund Light" pitchFamily="2" charset="-78"/>
                <a:cs typeface="Fund Light" pitchFamily="2" charset="-78"/>
              </a:rPr>
              <a:t>)</a:t>
            </a:r>
          </a:p>
        </p:txBody>
      </p:sp>
      <p:grpSp>
        <p:nvGrpSpPr>
          <p:cNvPr id="29" name="Group 28">
            <a:extLst>
              <a:ext uri="{FF2B5EF4-FFF2-40B4-BE49-F238E27FC236}">
                <a16:creationId xmlns:a16="http://schemas.microsoft.com/office/drawing/2014/main" id="{4A795D69-8E06-AE7A-EB8E-1E0E07C6C087}"/>
              </a:ext>
            </a:extLst>
          </p:cNvPr>
          <p:cNvGrpSpPr/>
          <p:nvPr/>
        </p:nvGrpSpPr>
        <p:grpSpPr>
          <a:xfrm>
            <a:off x="3004029" y="4817276"/>
            <a:ext cx="303559" cy="303559"/>
            <a:chOff x="-577629" y="2311332"/>
            <a:chExt cx="404038" cy="404037"/>
          </a:xfrm>
        </p:grpSpPr>
        <p:sp>
          <p:nvSpPr>
            <p:cNvPr id="30" name="Oval 29">
              <a:extLst>
                <a:ext uri="{FF2B5EF4-FFF2-40B4-BE49-F238E27FC236}">
                  <a16:creationId xmlns:a16="http://schemas.microsoft.com/office/drawing/2014/main" id="{9C5EA72D-A39A-1E5C-117D-916164DBBB33}"/>
                </a:ext>
              </a:extLst>
            </p:cNvPr>
            <p:cNvSpPr/>
            <p:nvPr/>
          </p:nvSpPr>
          <p:spPr>
            <a:xfrm>
              <a:off x="-577629" y="2311332"/>
              <a:ext cx="404037" cy="4040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7C3F65B-FE19-F59F-3262-FF42CF5016B1}"/>
                </a:ext>
              </a:extLst>
            </p:cNvPr>
            <p:cNvPicPr>
              <a:picLocks noChangeAspect="1"/>
            </p:cNvPicPr>
            <p:nvPr/>
          </p:nvPicPr>
          <p:blipFill>
            <a:blip r:embed="rId7" cstate="screen">
              <a:extLst>
                <a:ext uri="{28A0092B-C50C-407E-A947-70E740481C1C}">
                  <a14:useLocalDpi xmlns:a14="http://schemas.microsoft.com/office/drawing/2010/main"/>
                </a:ext>
              </a:extLst>
            </a:blip>
            <a:srcRect r="52552"/>
            <a:stretch/>
          </p:blipFill>
          <p:spPr>
            <a:xfrm>
              <a:off x="-577628" y="2323274"/>
              <a:ext cx="404037" cy="380152"/>
            </a:xfrm>
            <a:prstGeom prst="rect">
              <a:avLst/>
            </a:prstGeom>
          </p:spPr>
        </p:pic>
      </p:grpSp>
      <p:grpSp>
        <p:nvGrpSpPr>
          <p:cNvPr id="32" name="Group 31">
            <a:extLst>
              <a:ext uri="{FF2B5EF4-FFF2-40B4-BE49-F238E27FC236}">
                <a16:creationId xmlns:a16="http://schemas.microsoft.com/office/drawing/2014/main" id="{21EBF879-F0D0-FFBF-CEDC-04AAEE23E994}"/>
              </a:ext>
            </a:extLst>
          </p:cNvPr>
          <p:cNvGrpSpPr/>
          <p:nvPr/>
        </p:nvGrpSpPr>
        <p:grpSpPr>
          <a:xfrm>
            <a:off x="6211995" y="4883810"/>
            <a:ext cx="168686" cy="161455"/>
            <a:chOff x="11260138" y="4194175"/>
            <a:chExt cx="360363" cy="379413"/>
          </a:xfrm>
        </p:grpSpPr>
        <p:sp>
          <p:nvSpPr>
            <p:cNvPr id="33" name="Freeform 289">
              <a:extLst>
                <a:ext uri="{FF2B5EF4-FFF2-40B4-BE49-F238E27FC236}">
                  <a16:creationId xmlns:a16="http://schemas.microsoft.com/office/drawing/2014/main" id="{ACECE4FF-4F4B-EFD0-3AC1-3485BEDB40EB}"/>
                </a:ext>
              </a:extLst>
            </p:cNvPr>
            <p:cNvSpPr>
              <a:spLocks/>
            </p:cNvSpPr>
            <p:nvPr/>
          </p:nvSpPr>
          <p:spPr bwMode="auto">
            <a:xfrm>
              <a:off x="11398251" y="4348163"/>
              <a:ext cx="222250" cy="225425"/>
            </a:xfrm>
            <a:custGeom>
              <a:avLst/>
              <a:gdLst>
                <a:gd name="T0" fmla="*/ 56 w 81"/>
                <a:gd name="T1" fmla="*/ 24 h 82"/>
                <a:gd name="T2" fmla="*/ 52 w 81"/>
                <a:gd name="T3" fmla="*/ 29 h 82"/>
                <a:gd name="T4" fmla="*/ 52 w 81"/>
                <a:gd name="T5" fmla="*/ 29 h 82"/>
                <a:gd name="T6" fmla="*/ 51 w 81"/>
                <a:gd name="T7" fmla="*/ 27 h 82"/>
                <a:gd name="T8" fmla="*/ 43 w 81"/>
                <a:gd name="T9" fmla="*/ 24 h 82"/>
                <a:gd name="T10" fmla="*/ 40 w 81"/>
                <a:gd name="T11" fmla="*/ 31 h 82"/>
                <a:gd name="T12" fmla="*/ 40 w 81"/>
                <a:gd name="T13" fmla="*/ 31 h 82"/>
                <a:gd name="T14" fmla="*/ 38 w 81"/>
                <a:gd name="T15" fmla="*/ 27 h 82"/>
                <a:gd name="T16" fmla="*/ 29 w 81"/>
                <a:gd name="T17" fmla="*/ 25 h 82"/>
                <a:gd name="T18" fmla="*/ 26 w 81"/>
                <a:gd name="T19" fmla="*/ 28 h 82"/>
                <a:gd name="T20" fmla="*/ 25 w 81"/>
                <a:gd name="T21" fmla="*/ 28 h 82"/>
                <a:gd name="T22" fmla="*/ 13 w 81"/>
                <a:gd name="T23" fmla="*/ 4 h 82"/>
                <a:gd name="T24" fmla="*/ 4 w 81"/>
                <a:gd name="T25" fmla="*/ 2 h 82"/>
                <a:gd name="T26" fmla="*/ 2 w 81"/>
                <a:gd name="T27" fmla="*/ 10 h 82"/>
                <a:gd name="T28" fmla="*/ 26 w 81"/>
                <a:gd name="T29" fmla="*/ 56 h 82"/>
                <a:gd name="T30" fmla="*/ 24 w 81"/>
                <a:gd name="T31" fmla="*/ 58 h 82"/>
                <a:gd name="T32" fmla="*/ 22 w 81"/>
                <a:gd name="T33" fmla="*/ 57 h 82"/>
                <a:gd name="T34" fmla="*/ 13 w 81"/>
                <a:gd name="T35" fmla="*/ 60 h 82"/>
                <a:gd name="T36" fmla="*/ 16 w 81"/>
                <a:gd name="T37" fmla="*/ 68 h 82"/>
                <a:gd name="T38" fmla="*/ 42 w 81"/>
                <a:gd name="T39" fmla="*/ 81 h 82"/>
                <a:gd name="T40" fmla="*/ 42 w 81"/>
                <a:gd name="T41" fmla="*/ 81 h 82"/>
                <a:gd name="T42" fmla="*/ 43 w 81"/>
                <a:gd name="T43" fmla="*/ 82 h 82"/>
                <a:gd name="T44" fmla="*/ 51 w 81"/>
                <a:gd name="T45" fmla="*/ 81 h 82"/>
                <a:gd name="T46" fmla="*/ 73 w 81"/>
                <a:gd name="T47" fmla="*/ 69 h 82"/>
                <a:gd name="T48" fmla="*/ 78 w 81"/>
                <a:gd name="T49" fmla="*/ 54 h 82"/>
                <a:gd name="T50" fmla="*/ 64 w 81"/>
                <a:gd name="T51" fmla="*/ 26 h 82"/>
                <a:gd name="T52" fmla="*/ 56 w 81"/>
                <a:gd name="T53" fmla="*/ 2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1" h="82">
                  <a:moveTo>
                    <a:pt x="56" y="24"/>
                  </a:moveTo>
                  <a:cubicBezTo>
                    <a:pt x="54" y="25"/>
                    <a:pt x="53" y="27"/>
                    <a:pt x="52" y="29"/>
                  </a:cubicBezTo>
                  <a:cubicBezTo>
                    <a:pt x="52" y="29"/>
                    <a:pt x="52" y="29"/>
                    <a:pt x="52" y="29"/>
                  </a:cubicBezTo>
                  <a:cubicBezTo>
                    <a:pt x="51" y="27"/>
                    <a:pt x="51" y="27"/>
                    <a:pt x="51" y="27"/>
                  </a:cubicBezTo>
                  <a:cubicBezTo>
                    <a:pt x="50" y="24"/>
                    <a:pt x="46" y="23"/>
                    <a:pt x="43" y="24"/>
                  </a:cubicBezTo>
                  <a:cubicBezTo>
                    <a:pt x="41" y="26"/>
                    <a:pt x="40" y="28"/>
                    <a:pt x="40" y="31"/>
                  </a:cubicBezTo>
                  <a:cubicBezTo>
                    <a:pt x="40" y="32"/>
                    <a:pt x="40" y="32"/>
                    <a:pt x="40" y="31"/>
                  </a:cubicBezTo>
                  <a:cubicBezTo>
                    <a:pt x="38" y="27"/>
                    <a:pt x="38" y="27"/>
                    <a:pt x="38" y="27"/>
                  </a:cubicBezTo>
                  <a:cubicBezTo>
                    <a:pt x="36" y="24"/>
                    <a:pt x="32" y="23"/>
                    <a:pt x="29" y="25"/>
                  </a:cubicBezTo>
                  <a:cubicBezTo>
                    <a:pt x="28" y="25"/>
                    <a:pt x="27" y="27"/>
                    <a:pt x="26" y="28"/>
                  </a:cubicBezTo>
                  <a:cubicBezTo>
                    <a:pt x="26" y="29"/>
                    <a:pt x="25" y="29"/>
                    <a:pt x="25" y="28"/>
                  </a:cubicBezTo>
                  <a:cubicBezTo>
                    <a:pt x="13" y="4"/>
                    <a:pt x="13" y="4"/>
                    <a:pt x="13" y="4"/>
                  </a:cubicBezTo>
                  <a:cubicBezTo>
                    <a:pt x="11" y="1"/>
                    <a:pt x="7" y="0"/>
                    <a:pt x="4" y="2"/>
                  </a:cubicBezTo>
                  <a:cubicBezTo>
                    <a:pt x="1" y="3"/>
                    <a:pt x="0" y="7"/>
                    <a:pt x="2" y="10"/>
                  </a:cubicBezTo>
                  <a:cubicBezTo>
                    <a:pt x="26" y="56"/>
                    <a:pt x="26" y="56"/>
                    <a:pt x="26" y="56"/>
                  </a:cubicBezTo>
                  <a:cubicBezTo>
                    <a:pt x="26" y="57"/>
                    <a:pt x="25" y="59"/>
                    <a:pt x="24" y="58"/>
                  </a:cubicBezTo>
                  <a:cubicBezTo>
                    <a:pt x="22" y="57"/>
                    <a:pt x="22" y="57"/>
                    <a:pt x="22" y="57"/>
                  </a:cubicBezTo>
                  <a:cubicBezTo>
                    <a:pt x="19" y="55"/>
                    <a:pt x="15" y="57"/>
                    <a:pt x="13" y="60"/>
                  </a:cubicBezTo>
                  <a:cubicBezTo>
                    <a:pt x="12" y="63"/>
                    <a:pt x="13" y="66"/>
                    <a:pt x="16" y="68"/>
                  </a:cubicBezTo>
                  <a:cubicBezTo>
                    <a:pt x="42" y="81"/>
                    <a:pt x="42" y="81"/>
                    <a:pt x="42" y="81"/>
                  </a:cubicBezTo>
                  <a:cubicBezTo>
                    <a:pt x="42" y="81"/>
                    <a:pt x="42" y="81"/>
                    <a:pt x="42" y="81"/>
                  </a:cubicBezTo>
                  <a:cubicBezTo>
                    <a:pt x="42" y="81"/>
                    <a:pt x="43" y="81"/>
                    <a:pt x="43" y="82"/>
                  </a:cubicBezTo>
                  <a:cubicBezTo>
                    <a:pt x="46" y="82"/>
                    <a:pt x="48" y="82"/>
                    <a:pt x="51" y="81"/>
                  </a:cubicBezTo>
                  <a:cubicBezTo>
                    <a:pt x="73" y="69"/>
                    <a:pt x="73" y="69"/>
                    <a:pt x="73" y="69"/>
                  </a:cubicBezTo>
                  <a:cubicBezTo>
                    <a:pt x="79" y="66"/>
                    <a:pt x="81" y="59"/>
                    <a:pt x="78" y="54"/>
                  </a:cubicBezTo>
                  <a:cubicBezTo>
                    <a:pt x="64" y="26"/>
                    <a:pt x="64" y="26"/>
                    <a:pt x="64" y="26"/>
                  </a:cubicBezTo>
                  <a:cubicBezTo>
                    <a:pt x="62" y="23"/>
                    <a:pt x="59" y="22"/>
                    <a:pt x="56" y="24"/>
                  </a:cubicBezTo>
                  <a:close/>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90">
              <a:extLst>
                <a:ext uri="{FF2B5EF4-FFF2-40B4-BE49-F238E27FC236}">
                  <a16:creationId xmlns:a16="http://schemas.microsoft.com/office/drawing/2014/main" id="{5D89DD88-851A-D2D7-3169-6A8D0C730075}"/>
                </a:ext>
              </a:extLst>
            </p:cNvPr>
            <p:cNvSpPr>
              <a:spLocks/>
            </p:cNvSpPr>
            <p:nvPr/>
          </p:nvSpPr>
          <p:spPr bwMode="auto">
            <a:xfrm>
              <a:off x="11260138" y="4194175"/>
              <a:ext cx="269875" cy="263525"/>
            </a:xfrm>
            <a:custGeom>
              <a:avLst/>
              <a:gdLst>
                <a:gd name="T0" fmla="*/ 89 w 98"/>
                <a:gd name="T1" fmla="*/ 74 h 96"/>
                <a:gd name="T2" fmla="*/ 91 w 98"/>
                <a:gd name="T3" fmla="*/ 31 h 96"/>
                <a:gd name="T4" fmla="*/ 30 w 98"/>
                <a:gd name="T5" fmla="*/ 11 h 96"/>
                <a:gd name="T6" fmla="*/ 11 w 98"/>
                <a:gd name="T7" fmla="*/ 72 h 96"/>
                <a:gd name="T8" fmla="*/ 48 w 98"/>
                <a:gd name="T9" fmla="*/ 96 h 96"/>
              </a:gdLst>
              <a:ahLst/>
              <a:cxnLst>
                <a:cxn ang="0">
                  <a:pos x="T0" y="T1"/>
                </a:cxn>
                <a:cxn ang="0">
                  <a:pos x="T2" y="T3"/>
                </a:cxn>
                <a:cxn ang="0">
                  <a:pos x="T4" y="T5"/>
                </a:cxn>
                <a:cxn ang="0">
                  <a:pos x="T6" y="T7"/>
                </a:cxn>
                <a:cxn ang="0">
                  <a:pos x="T8" y="T9"/>
                </a:cxn>
              </a:cxnLst>
              <a:rect l="0" t="0" r="r" b="b"/>
              <a:pathLst>
                <a:path w="98" h="96">
                  <a:moveTo>
                    <a:pt x="89" y="74"/>
                  </a:moveTo>
                  <a:cubicBezTo>
                    <a:pt x="97" y="62"/>
                    <a:pt x="98" y="45"/>
                    <a:pt x="91" y="31"/>
                  </a:cubicBezTo>
                  <a:cubicBezTo>
                    <a:pt x="80" y="9"/>
                    <a:pt x="53" y="0"/>
                    <a:pt x="30" y="11"/>
                  </a:cubicBezTo>
                  <a:cubicBezTo>
                    <a:pt x="8" y="23"/>
                    <a:pt x="0" y="50"/>
                    <a:pt x="11" y="72"/>
                  </a:cubicBezTo>
                  <a:cubicBezTo>
                    <a:pt x="18" y="87"/>
                    <a:pt x="33" y="95"/>
                    <a:pt x="48" y="96"/>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91">
              <a:extLst>
                <a:ext uri="{FF2B5EF4-FFF2-40B4-BE49-F238E27FC236}">
                  <a16:creationId xmlns:a16="http://schemas.microsoft.com/office/drawing/2014/main" id="{8CAD7F0B-D12F-82CA-94E1-92C73F175045}"/>
                </a:ext>
              </a:extLst>
            </p:cNvPr>
            <p:cNvSpPr>
              <a:spLocks/>
            </p:cNvSpPr>
            <p:nvPr/>
          </p:nvSpPr>
          <p:spPr bwMode="auto">
            <a:xfrm>
              <a:off x="11337926" y="4270375"/>
              <a:ext cx="120650" cy="115888"/>
            </a:xfrm>
            <a:custGeom>
              <a:avLst/>
              <a:gdLst>
                <a:gd name="T0" fmla="*/ 13 w 44"/>
                <a:gd name="T1" fmla="*/ 42 h 42"/>
                <a:gd name="T2" fmla="*/ 0 w 44"/>
                <a:gd name="T3" fmla="*/ 22 h 42"/>
                <a:gd name="T4" fmla="*/ 22 w 44"/>
                <a:gd name="T5" fmla="*/ 0 h 42"/>
                <a:gd name="T6" fmla="*/ 44 w 44"/>
                <a:gd name="T7" fmla="*/ 22 h 42"/>
              </a:gdLst>
              <a:ahLst/>
              <a:cxnLst>
                <a:cxn ang="0">
                  <a:pos x="T0" y="T1"/>
                </a:cxn>
                <a:cxn ang="0">
                  <a:pos x="T2" y="T3"/>
                </a:cxn>
                <a:cxn ang="0">
                  <a:pos x="T4" y="T5"/>
                </a:cxn>
                <a:cxn ang="0">
                  <a:pos x="T6" y="T7"/>
                </a:cxn>
              </a:cxnLst>
              <a:rect l="0" t="0" r="r" b="b"/>
              <a:pathLst>
                <a:path w="44" h="42">
                  <a:moveTo>
                    <a:pt x="13" y="42"/>
                  </a:moveTo>
                  <a:cubicBezTo>
                    <a:pt x="5" y="39"/>
                    <a:pt x="0" y="31"/>
                    <a:pt x="0" y="22"/>
                  </a:cubicBezTo>
                  <a:cubicBezTo>
                    <a:pt x="0" y="10"/>
                    <a:pt x="10" y="0"/>
                    <a:pt x="22" y="0"/>
                  </a:cubicBezTo>
                  <a:cubicBezTo>
                    <a:pt x="34" y="0"/>
                    <a:pt x="44" y="10"/>
                    <a:pt x="44" y="22"/>
                  </a:cubicBezTo>
                </a:path>
              </a:pathLst>
            </a:custGeom>
            <a:noFill/>
            <a:ln w="1270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 name="Group 5">
            <a:extLst>
              <a:ext uri="{FF2B5EF4-FFF2-40B4-BE49-F238E27FC236}">
                <a16:creationId xmlns:a16="http://schemas.microsoft.com/office/drawing/2014/main" id="{F9EA78A5-2787-7B3C-3465-4E2FD7E6FF96}"/>
              </a:ext>
            </a:extLst>
          </p:cNvPr>
          <p:cNvGrpSpPr/>
          <p:nvPr/>
        </p:nvGrpSpPr>
        <p:grpSpPr>
          <a:xfrm>
            <a:off x="363613" y="710038"/>
            <a:ext cx="3522587" cy="237588"/>
            <a:chOff x="280895" y="1300700"/>
            <a:chExt cx="2637669" cy="237588"/>
          </a:xfrm>
        </p:grpSpPr>
        <p:cxnSp>
          <p:nvCxnSpPr>
            <p:cNvPr id="7" name="Straight Connector 6">
              <a:extLst>
                <a:ext uri="{FF2B5EF4-FFF2-40B4-BE49-F238E27FC236}">
                  <a16:creationId xmlns:a16="http://schemas.microsoft.com/office/drawing/2014/main" id="{78B135E5-7DA5-432A-4A4C-7095D82E107F}"/>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E2883B7-C8C6-8ECC-BAD5-11981BED01DD}"/>
                </a:ext>
              </a:extLst>
            </p:cNvPr>
            <p:cNvSpPr txBox="1"/>
            <p:nvPr/>
          </p:nvSpPr>
          <p:spPr>
            <a:xfrm>
              <a:off x="280895" y="1300700"/>
              <a:ext cx="2637669" cy="230832"/>
            </a:xfrm>
            <a:prstGeom prst="rect">
              <a:avLst/>
            </a:prstGeom>
            <a:noFill/>
          </p:spPr>
          <p:txBody>
            <a:bodyPr wrap="square" rtlCol="0" anchor="b">
              <a:spAutoFit/>
            </a:bodyPr>
            <a:lstStyle/>
            <a:p>
              <a:r>
                <a:rPr lang="en-US" sz="900" b="1">
                  <a:solidFill>
                    <a:srgbClr val="C4984F"/>
                  </a:solidFill>
                  <a:latin typeface="Fund Light" pitchFamily="2" charset="-78"/>
                  <a:cs typeface="Fund Light" pitchFamily="2" charset="-78"/>
                </a:rPr>
                <a:t>LDC governance</a:t>
              </a:r>
            </a:p>
          </p:txBody>
        </p:sp>
      </p:grpSp>
      <p:grpSp>
        <p:nvGrpSpPr>
          <p:cNvPr id="9" name="Group 8">
            <a:extLst>
              <a:ext uri="{FF2B5EF4-FFF2-40B4-BE49-F238E27FC236}">
                <a16:creationId xmlns:a16="http://schemas.microsoft.com/office/drawing/2014/main" id="{C22958E5-357E-422E-69DE-5B003E5BA19A}"/>
              </a:ext>
            </a:extLst>
          </p:cNvPr>
          <p:cNvGrpSpPr/>
          <p:nvPr/>
        </p:nvGrpSpPr>
        <p:grpSpPr>
          <a:xfrm>
            <a:off x="3939541" y="710038"/>
            <a:ext cx="4877084" cy="237588"/>
            <a:chOff x="280895" y="1300700"/>
            <a:chExt cx="2637669" cy="237588"/>
          </a:xfrm>
        </p:grpSpPr>
        <p:cxnSp>
          <p:nvCxnSpPr>
            <p:cNvPr id="10" name="Straight Connector 9">
              <a:extLst>
                <a:ext uri="{FF2B5EF4-FFF2-40B4-BE49-F238E27FC236}">
                  <a16:creationId xmlns:a16="http://schemas.microsoft.com/office/drawing/2014/main" id="{504EB583-8827-5A6F-9E70-0DB0D78491DD}"/>
                </a:ext>
              </a:extLst>
            </p:cNvPr>
            <p:cNvCxnSpPr>
              <a:cxnSpLocks/>
            </p:cNvCxnSpPr>
            <p:nvPr/>
          </p:nvCxnSpPr>
          <p:spPr>
            <a:xfrm>
              <a:off x="280896" y="1538288"/>
              <a:ext cx="2637668" cy="0"/>
            </a:xfrm>
            <a:prstGeom prst="line">
              <a:avLst/>
            </a:prstGeom>
            <a:ln w="6350" cap="flat">
              <a:solidFill>
                <a:srgbClr val="C4984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A1CC74D-3457-A3DB-5A5B-946DC5695F0F}"/>
                </a:ext>
              </a:extLst>
            </p:cNvPr>
            <p:cNvSpPr txBox="1"/>
            <p:nvPr/>
          </p:nvSpPr>
          <p:spPr>
            <a:xfrm>
              <a:off x="280895" y="1300700"/>
              <a:ext cx="2637669" cy="230832"/>
            </a:xfrm>
            <a:prstGeom prst="rect">
              <a:avLst/>
            </a:prstGeom>
            <a:noFill/>
          </p:spPr>
          <p:txBody>
            <a:bodyPr wrap="square" rtlCol="0" anchor="b">
              <a:spAutoFit/>
            </a:bodyPr>
            <a:lstStyle/>
            <a:p>
              <a:r>
                <a:rPr lang="en-US" sz="900" b="1">
                  <a:solidFill>
                    <a:srgbClr val="C4984F"/>
                  </a:solidFill>
                  <a:latin typeface="Fund Light" pitchFamily="2" charset="-78"/>
                  <a:cs typeface="Fund Light" pitchFamily="2" charset="-78"/>
                </a:rPr>
                <a:t>Roles and responsibilities</a:t>
              </a:r>
            </a:p>
          </p:txBody>
        </p:sp>
      </p:grpSp>
      <p:cxnSp>
        <p:nvCxnSpPr>
          <p:cNvPr id="12" name="Straight Connector 11">
            <a:extLst>
              <a:ext uri="{FF2B5EF4-FFF2-40B4-BE49-F238E27FC236}">
                <a16:creationId xmlns:a16="http://schemas.microsoft.com/office/drawing/2014/main" id="{F2BAC036-C08F-B909-C51E-62E2D8EE2BC3}"/>
              </a:ext>
            </a:extLst>
          </p:cNvPr>
          <p:cNvCxnSpPr>
            <a:cxnSpLocks/>
          </p:cNvCxnSpPr>
          <p:nvPr/>
        </p:nvCxnSpPr>
        <p:spPr>
          <a:xfrm>
            <a:off x="3269054" y="1715201"/>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5E0368D-3B16-C83C-9FD7-18C40269F364}"/>
              </a:ext>
            </a:extLst>
          </p:cNvPr>
          <p:cNvCxnSpPr>
            <a:cxnSpLocks/>
          </p:cNvCxnSpPr>
          <p:nvPr/>
        </p:nvCxnSpPr>
        <p:spPr>
          <a:xfrm>
            <a:off x="3269054" y="2336383"/>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D0DB6A0-344E-2216-605C-5639E4106BFE}"/>
              </a:ext>
            </a:extLst>
          </p:cNvPr>
          <p:cNvCxnSpPr>
            <a:cxnSpLocks/>
          </p:cNvCxnSpPr>
          <p:nvPr/>
        </p:nvCxnSpPr>
        <p:spPr>
          <a:xfrm>
            <a:off x="3269054" y="3777744"/>
            <a:ext cx="5394960" cy="0"/>
          </a:xfrm>
          <a:prstGeom prst="line">
            <a:avLst/>
          </a:prstGeom>
          <a:ln w="6350" cap="flat">
            <a:solidFill>
              <a:srgbClr val="000000"/>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4EFC108-488B-0786-48AF-68F6D155E320}"/>
              </a:ext>
            </a:extLst>
          </p:cNvPr>
          <p:cNvSpPr txBox="1"/>
          <p:nvPr/>
        </p:nvSpPr>
        <p:spPr>
          <a:xfrm>
            <a:off x="3939540" y="1113475"/>
            <a:ext cx="4877084" cy="468853"/>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Approve of high-liability LDC agreements </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Set localization vision / targets at a company level</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6" name="TextBox 15">
            <a:extLst>
              <a:ext uri="{FF2B5EF4-FFF2-40B4-BE49-F238E27FC236}">
                <a16:creationId xmlns:a16="http://schemas.microsoft.com/office/drawing/2014/main" id="{1BA6A9A9-47F5-2DBE-90C5-1EBE2520C058}"/>
              </a:ext>
            </a:extLst>
          </p:cNvPr>
          <p:cNvSpPr txBox="1"/>
          <p:nvPr/>
        </p:nvSpPr>
        <p:spPr>
          <a:xfrm>
            <a:off x="3939540" y="1864373"/>
            <a:ext cx="4877084" cy="374240"/>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Approve of all LDC agreements</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Approve supplier selection based on the </a:t>
            </a:r>
            <a:r>
              <a:rPr lang="en-GB" sz="900" err="1">
                <a:solidFill>
                  <a:srgbClr val="000000"/>
                </a:solidFill>
                <a:latin typeface="Fund Light"/>
              </a:rPr>
              <a:t>RfP</a:t>
            </a:r>
            <a:r>
              <a:rPr lang="en-GB" sz="900">
                <a:solidFill>
                  <a:srgbClr val="000000"/>
                </a:solidFill>
                <a:latin typeface="Fund Light"/>
              </a:rPr>
              <a:t> responses</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7" name="TextBox 16">
            <a:extLst>
              <a:ext uri="{FF2B5EF4-FFF2-40B4-BE49-F238E27FC236}">
                <a16:creationId xmlns:a16="http://schemas.microsoft.com/office/drawing/2014/main" id="{2616E6E9-7BD5-DABD-BF78-B10D248DFB39}"/>
              </a:ext>
            </a:extLst>
          </p:cNvPr>
          <p:cNvSpPr txBox="1"/>
          <p:nvPr/>
        </p:nvSpPr>
        <p:spPr>
          <a:xfrm>
            <a:off x="3939540" y="2469347"/>
            <a:ext cx="4877084" cy="1147140"/>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[Product selection] Endorse recommendations of the LC unit</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[Feasibility assessment] Provide inputs to the LC unit to build the business case</a:t>
            </a:r>
          </a:p>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[Tender and award] Coordinate the </a:t>
            </a:r>
            <a:r>
              <a:rPr kumimoji="0" lang="en-GB" sz="900" b="0" i="0" u="none" strike="noStrike" kern="1200" cap="none" spc="0" normalizeH="0" baseline="0" noProof="0" err="1">
                <a:ln>
                  <a:noFill/>
                </a:ln>
                <a:solidFill>
                  <a:srgbClr val="000000"/>
                </a:solidFill>
                <a:effectLst/>
                <a:uLnTx/>
                <a:uFillTx/>
                <a:latin typeface="Fund Light"/>
                <a:ea typeface="+mn-ea"/>
                <a:cs typeface="+mn-cs"/>
              </a:rPr>
              <a:t>RfI</a:t>
            </a:r>
            <a:r>
              <a:rPr kumimoji="0" lang="en-GB" sz="900" b="0" i="0" u="none" strike="noStrike" kern="1200" cap="none" spc="0" normalizeH="0" baseline="0" noProof="0">
                <a:ln>
                  <a:noFill/>
                </a:ln>
                <a:solidFill>
                  <a:srgbClr val="000000"/>
                </a:solidFill>
                <a:effectLst/>
                <a:uLnTx/>
                <a:uFillTx/>
                <a:latin typeface="Fund Light"/>
                <a:ea typeface="+mn-ea"/>
                <a:cs typeface="+mn-cs"/>
              </a:rPr>
              <a:t> / </a:t>
            </a:r>
            <a:r>
              <a:rPr kumimoji="0" lang="en-GB" sz="900" b="0" i="0" u="none" strike="noStrike" kern="1200" cap="none" spc="0" normalizeH="0" baseline="0" noProof="0" err="1">
                <a:ln>
                  <a:noFill/>
                </a:ln>
                <a:solidFill>
                  <a:srgbClr val="000000"/>
                </a:solidFill>
                <a:effectLst/>
                <a:uLnTx/>
                <a:uFillTx/>
                <a:latin typeface="Fund Light"/>
                <a:ea typeface="+mn-ea"/>
                <a:cs typeface="+mn-cs"/>
              </a:rPr>
              <a:t>RfP</a:t>
            </a:r>
            <a:r>
              <a:rPr lang="en-GB" sz="900">
                <a:solidFill>
                  <a:srgbClr val="000000"/>
                </a:solidFill>
                <a:latin typeface="Fund Light"/>
              </a:rPr>
              <a:t> process across various stakeholders and provide inputs to the LC unit</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US" sz="900">
                <a:solidFill>
                  <a:srgbClr val="000000"/>
                </a:solidFill>
                <a:latin typeface="Fund Light"/>
              </a:rPr>
              <a:t>[Terms and conditions] Provide inputs as needed</a:t>
            </a:r>
            <a:endParaRPr lang="en-GB" sz="900">
              <a:solidFill>
                <a:srgbClr val="FF0000"/>
              </a:solidFill>
              <a:latin typeface="Fund Light"/>
            </a:endParaRPr>
          </a:p>
          <a:p>
            <a:pPr marL="228600" marR="0" lvl="0" indent="-228600" algn="l" defTabSz="914400" rtl="0" eaLnBrk="1" fontAlgn="auto" latinLnBrk="0" hangingPunct="1">
              <a:spcBef>
                <a:spcPts val="600"/>
              </a:spcBef>
              <a:spcAft>
                <a:spcPts val="0"/>
              </a:spcAft>
              <a:buClrTx/>
              <a:buSzTx/>
              <a:buFont typeface="+mj-lt"/>
              <a:buAutoNum type="arabicPeriod"/>
              <a:tabLst/>
              <a:defRPr/>
            </a:pPr>
            <a:r>
              <a:rPr lang="en-GB" sz="900">
                <a:solidFill>
                  <a:srgbClr val="000000"/>
                </a:solidFill>
                <a:latin typeface="Fund Light"/>
              </a:rPr>
              <a:t>[Monitoring] Oversee d</a:t>
            </a:r>
            <a:r>
              <a:rPr kumimoji="0" lang="en-GB" sz="900" b="0" i="0" u="none" strike="noStrike" kern="1200" cap="none" spc="0" normalizeH="0" baseline="0" noProof="0">
                <a:ln>
                  <a:noFill/>
                </a:ln>
                <a:solidFill>
                  <a:srgbClr val="000000"/>
                </a:solidFill>
                <a:effectLst/>
                <a:uLnTx/>
                <a:uFillTx/>
                <a:latin typeface="Fund Light"/>
                <a:ea typeface="+mn-ea"/>
                <a:cs typeface="+mn-cs"/>
              </a:rPr>
              <a:t>ay-to-day issue resolution / </a:t>
            </a:r>
            <a:r>
              <a:rPr lang="en-GB" sz="900">
                <a:solidFill>
                  <a:srgbClr val="000000"/>
                </a:solidFill>
                <a:latin typeface="Fund Light"/>
              </a:rPr>
              <a:t>manage and own tracking </a:t>
            </a:r>
          </a:p>
        </p:txBody>
      </p:sp>
      <p:sp>
        <p:nvSpPr>
          <p:cNvPr id="18" name="TextBox 17">
            <a:extLst>
              <a:ext uri="{FF2B5EF4-FFF2-40B4-BE49-F238E27FC236}">
                <a16:creationId xmlns:a16="http://schemas.microsoft.com/office/drawing/2014/main" id="{D764E8E5-47D1-2F9B-630E-01C7D220DD0F}"/>
              </a:ext>
            </a:extLst>
          </p:cNvPr>
          <p:cNvSpPr txBox="1"/>
          <p:nvPr/>
        </p:nvSpPr>
        <p:spPr>
          <a:xfrm>
            <a:off x="3939540" y="3854946"/>
            <a:ext cx="4877084" cy="468853"/>
          </a:xfrm>
          <a:prstGeom prst="rect">
            <a:avLst/>
          </a:prstGeom>
          <a:noFill/>
          <a:ln w="6350">
            <a:noFill/>
            <a:miter lim="800000"/>
          </a:ln>
        </p:spPr>
        <p:txBody>
          <a:bodyPr vert="horz" wrap="square" lIns="0" tIns="0" rIns="0" bIns="0" rtlCol="0">
            <a:noAutofit/>
          </a:bodyPr>
          <a:lstStyle/>
          <a:p>
            <a:pPr marL="228600" marR="0" lvl="0" indent="-228600" algn="l" defTabSz="914400" rtl="0" eaLnBrk="1" fontAlgn="auto" latinLnBrk="0" hangingPunct="1">
              <a:spcBef>
                <a:spcPts val="600"/>
              </a:spcBef>
              <a:spcAft>
                <a:spcPts val="0"/>
              </a:spcAft>
              <a:buClrTx/>
              <a:buSzTx/>
              <a:buFont typeface="+mj-lt"/>
              <a:buAutoNum type="arabicPeriod"/>
              <a:tabLst/>
              <a:defRPr/>
            </a:pPr>
            <a:r>
              <a:rPr kumimoji="0" lang="en-GB" sz="900" b="0" i="0" u="none" strike="noStrike" kern="1200" cap="none" spc="0" normalizeH="0" baseline="0" noProof="0">
                <a:ln>
                  <a:noFill/>
                </a:ln>
                <a:solidFill>
                  <a:srgbClr val="000000"/>
                </a:solidFill>
                <a:effectLst/>
                <a:uLnTx/>
                <a:uFillTx/>
                <a:latin typeface="Fund Light"/>
                <a:ea typeface="+mn-ea"/>
                <a:cs typeface="+mn-cs"/>
              </a:rPr>
              <a:t>Own all localization initiatives </a:t>
            </a:r>
            <a:r>
              <a:rPr lang="en-GB" sz="900">
                <a:solidFill>
                  <a:srgbClr val="000000"/>
                </a:solidFill>
                <a:latin typeface="Fund Light"/>
              </a:rPr>
              <a:t>including LDC mechanism</a:t>
            </a:r>
            <a:endParaRPr kumimoji="0" lang="en-GB" sz="900" b="0" i="0" u="none" strike="noStrike" kern="1200" cap="none" spc="0" normalizeH="0" baseline="0" noProof="0">
              <a:ln>
                <a:noFill/>
              </a:ln>
              <a:solidFill>
                <a:srgbClr val="000000"/>
              </a:solidFill>
              <a:effectLst/>
              <a:uLnTx/>
              <a:uFillTx/>
              <a:latin typeface="Fund Light"/>
              <a:ea typeface="+mn-ea"/>
              <a:cs typeface="+mn-cs"/>
            </a:endParaRPr>
          </a:p>
          <a:p>
            <a:pPr marL="228600" indent="-228600" defTabSz="914400">
              <a:spcBef>
                <a:spcPts val="600"/>
              </a:spcBef>
              <a:buFont typeface="+mj-lt"/>
              <a:buAutoNum type="arabicPeriod"/>
              <a:defRPr/>
            </a:pPr>
            <a:r>
              <a:rPr kumimoji="0" lang="en-GB" sz="900" b="0" i="0" u="none" strike="noStrike" kern="1200" cap="none" spc="0" normalizeH="0" baseline="0" noProof="0">
                <a:ln>
                  <a:noFill/>
                </a:ln>
                <a:solidFill>
                  <a:srgbClr val="000000"/>
                </a:solidFill>
                <a:effectLst/>
                <a:uLnTx/>
                <a:uFillTx/>
                <a:latin typeface="Fund Light"/>
                <a:ea typeface="+mn-ea"/>
                <a:cs typeface="+mn-cs"/>
              </a:rPr>
              <a:t>Manage and drive the LDC process, across the 5 steps</a:t>
            </a:r>
          </a:p>
        </p:txBody>
      </p:sp>
      <p:sp>
        <p:nvSpPr>
          <p:cNvPr id="20" name="Rectangle 19">
            <a:extLst>
              <a:ext uri="{FF2B5EF4-FFF2-40B4-BE49-F238E27FC236}">
                <a16:creationId xmlns:a16="http://schemas.microsoft.com/office/drawing/2014/main" id="{F72B63A3-0CF1-D01F-7103-2E76072B8863}"/>
              </a:ext>
            </a:extLst>
          </p:cNvPr>
          <p:cNvSpPr/>
          <p:nvPr/>
        </p:nvSpPr>
        <p:spPr>
          <a:xfrm>
            <a:off x="1104819" y="1327990"/>
            <a:ext cx="1705056" cy="235371"/>
          </a:xfrm>
          <a:prstGeom prst="rect">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Board of directors</a:t>
            </a:r>
          </a:p>
        </p:txBody>
      </p:sp>
      <p:sp>
        <p:nvSpPr>
          <p:cNvPr id="21" name="Rectangle 20">
            <a:extLst>
              <a:ext uri="{FF2B5EF4-FFF2-40B4-BE49-F238E27FC236}">
                <a16:creationId xmlns:a16="http://schemas.microsoft.com/office/drawing/2014/main" id="{CD42F3B5-F9AA-FAFA-2AD1-2C0071F0BEBE}"/>
              </a:ext>
            </a:extLst>
          </p:cNvPr>
          <p:cNvSpPr/>
          <p:nvPr/>
        </p:nvSpPr>
        <p:spPr>
          <a:xfrm>
            <a:off x="1020772" y="1924540"/>
            <a:ext cx="1873149" cy="235371"/>
          </a:xfrm>
          <a:prstGeom prst="rect">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Executive management</a:t>
            </a:r>
          </a:p>
        </p:txBody>
      </p:sp>
      <p:sp>
        <p:nvSpPr>
          <p:cNvPr id="22" name="Oval 21">
            <a:extLst>
              <a:ext uri="{FF2B5EF4-FFF2-40B4-BE49-F238E27FC236}">
                <a16:creationId xmlns:a16="http://schemas.microsoft.com/office/drawing/2014/main" id="{4A8D59EB-2529-BE3C-0395-8B4BF4D2ABDC}"/>
              </a:ext>
            </a:extLst>
          </p:cNvPr>
          <p:cNvSpPr/>
          <p:nvPr/>
        </p:nvSpPr>
        <p:spPr>
          <a:xfrm>
            <a:off x="1116012" y="2650205"/>
            <a:ext cx="1693863" cy="411558"/>
          </a:xfrm>
          <a:prstGeom prst="ellipse">
            <a:avLst/>
          </a:prstGeom>
          <a:solidFill>
            <a:schemeClr val="bg2">
              <a:lumMod val="20000"/>
              <a:lumOff val="80000"/>
            </a:schemeClr>
          </a:solidFill>
          <a:ln w="6350">
            <a:solidFill>
              <a:schemeClr val="bg2"/>
            </a:solid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2"/>
                </a:solidFill>
                <a:latin typeface="Fund Light" pitchFamily="2" charset="-78"/>
                <a:cs typeface="Fund Light" pitchFamily="2" charset="-78"/>
              </a:rPr>
              <a:t>LDC taskforce</a:t>
            </a:r>
          </a:p>
        </p:txBody>
      </p:sp>
      <p:sp>
        <p:nvSpPr>
          <p:cNvPr id="23" name="Rectangle 22">
            <a:extLst>
              <a:ext uri="{FF2B5EF4-FFF2-40B4-BE49-F238E27FC236}">
                <a16:creationId xmlns:a16="http://schemas.microsoft.com/office/drawing/2014/main" id="{7A3E6F99-E5ED-BA48-47E1-8C32E6813300}"/>
              </a:ext>
            </a:extLst>
          </p:cNvPr>
          <p:cNvSpPr/>
          <p:nvPr/>
        </p:nvSpPr>
        <p:spPr>
          <a:xfrm>
            <a:off x="363448" y="2981622"/>
            <a:ext cx="657324" cy="411558"/>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Ops / supply chain</a:t>
            </a:r>
          </a:p>
        </p:txBody>
      </p:sp>
      <p:sp>
        <p:nvSpPr>
          <p:cNvPr id="24" name="Rectangle 23">
            <a:extLst>
              <a:ext uri="{FF2B5EF4-FFF2-40B4-BE49-F238E27FC236}">
                <a16:creationId xmlns:a16="http://schemas.microsoft.com/office/drawing/2014/main" id="{010E1611-481D-73F0-5EE8-46D7A201198D}"/>
              </a:ext>
            </a:extLst>
          </p:cNvPr>
          <p:cNvSpPr/>
          <p:nvPr/>
        </p:nvSpPr>
        <p:spPr>
          <a:xfrm>
            <a:off x="1116012" y="3204931"/>
            <a:ext cx="65732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Finance</a:t>
            </a:r>
          </a:p>
        </p:txBody>
      </p:sp>
      <p:sp>
        <p:nvSpPr>
          <p:cNvPr id="25" name="Rectangle 24">
            <a:extLst>
              <a:ext uri="{FF2B5EF4-FFF2-40B4-BE49-F238E27FC236}">
                <a16:creationId xmlns:a16="http://schemas.microsoft.com/office/drawing/2014/main" id="{0D180F59-1B74-0AEA-B0B4-96FFA3677744}"/>
              </a:ext>
            </a:extLst>
          </p:cNvPr>
          <p:cNvSpPr/>
          <p:nvPr/>
        </p:nvSpPr>
        <p:spPr>
          <a:xfrm>
            <a:off x="1868576" y="3204930"/>
            <a:ext cx="65732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Business teams</a:t>
            </a:r>
          </a:p>
        </p:txBody>
      </p:sp>
      <p:sp>
        <p:nvSpPr>
          <p:cNvPr id="26" name="Rectangle 25">
            <a:extLst>
              <a:ext uri="{FF2B5EF4-FFF2-40B4-BE49-F238E27FC236}">
                <a16:creationId xmlns:a16="http://schemas.microsoft.com/office/drawing/2014/main" id="{B6C6B801-528E-445B-6E41-081ED71E5BB9}"/>
              </a:ext>
            </a:extLst>
          </p:cNvPr>
          <p:cNvSpPr/>
          <p:nvPr/>
        </p:nvSpPr>
        <p:spPr>
          <a:xfrm>
            <a:off x="2621140" y="3077004"/>
            <a:ext cx="752564" cy="411559"/>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Procurement team</a:t>
            </a:r>
          </a:p>
        </p:txBody>
      </p:sp>
      <p:sp>
        <p:nvSpPr>
          <p:cNvPr id="27" name="Rectangle 26">
            <a:extLst>
              <a:ext uri="{FF2B5EF4-FFF2-40B4-BE49-F238E27FC236}">
                <a16:creationId xmlns:a16="http://schemas.microsoft.com/office/drawing/2014/main" id="{CED2BEB7-6CD0-FDAB-C58F-8522ED5959E3}"/>
              </a:ext>
            </a:extLst>
          </p:cNvPr>
          <p:cNvSpPr/>
          <p:nvPr/>
        </p:nvSpPr>
        <p:spPr>
          <a:xfrm>
            <a:off x="150990" y="2700690"/>
            <a:ext cx="752564" cy="155294"/>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Legal</a:t>
            </a:r>
          </a:p>
        </p:txBody>
      </p:sp>
      <p:sp>
        <p:nvSpPr>
          <p:cNvPr id="36" name="Rectangle 35">
            <a:extLst>
              <a:ext uri="{FF2B5EF4-FFF2-40B4-BE49-F238E27FC236}">
                <a16:creationId xmlns:a16="http://schemas.microsoft.com/office/drawing/2014/main" id="{1F08CCE5-B9E8-F6A8-5EC9-D40F54301ECB}"/>
              </a:ext>
            </a:extLst>
          </p:cNvPr>
          <p:cNvSpPr/>
          <p:nvPr/>
        </p:nvSpPr>
        <p:spPr>
          <a:xfrm>
            <a:off x="733340" y="4088446"/>
            <a:ext cx="2448012" cy="235371"/>
          </a:xfrm>
          <a:prstGeom prst="rect">
            <a:avLst/>
          </a:prstGeom>
          <a:solidFill>
            <a:schemeClr val="tx1"/>
          </a:solidFill>
          <a:ln w="6350">
            <a:noFill/>
            <a:miter lim="800000"/>
          </a:ln>
        </p:spPr>
        <p:txBody>
          <a:bodyPr vert="horz" wrap="square" lIns="121920" tIns="121920" rIns="121920" bIns="121920" rtlCol="0" anchor="ctr" anchorCtr="0">
            <a:noAutofit/>
          </a:bodyPr>
          <a:lstStyle/>
          <a:p>
            <a:pPr algn="ctr" defTabSz="1219170">
              <a:spcAft>
                <a:spcPts val="800"/>
              </a:spcAft>
            </a:pPr>
            <a:r>
              <a:rPr lang="en-US" sz="900" b="1">
                <a:solidFill>
                  <a:schemeClr val="bg1"/>
                </a:solidFill>
                <a:latin typeface="Fund Light" pitchFamily="2" charset="-78"/>
                <a:cs typeface="Fund Light" pitchFamily="2" charset="-78"/>
              </a:rPr>
              <a:t>LC unit</a:t>
            </a:r>
          </a:p>
        </p:txBody>
      </p:sp>
      <p:sp>
        <p:nvSpPr>
          <p:cNvPr id="37" name="Rectangle 36">
            <a:extLst>
              <a:ext uri="{FF2B5EF4-FFF2-40B4-BE49-F238E27FC236}">
                <a16:creationId xmlns:a16="http://schemas.microsoft.com/office/drawing/2014/main" id="{11D78512-BA8D-1FDC-F930-8A39E510EC77}"/>
              </a:ext>
            </a:extLst>
          </p:cNvPr>
          <p:cNvSpPr/>
          <p:nvPr/>
        </p:nvSpPr>
        <p:spPr>
          <a:xfrm>
            <a:off x="2892772" y="2683874"/>
            <a:ext cx="752564" cy="211294"/>
          </a:xfrm>
          <a:prstGeom prst="rect">
            <a:avLst/>
          </a:prstGeom>
          <a:solidFill>
            <a:schemeClr val="bg2">
              <a:lumMod val="20000"/>
              <a:lumOff val="80000"/>
            </a:schemeClr>
          </a:solidFill>
          <a:ln w="6350">
            <a:solidFill>
              <a:schemeClr val="bg2"/>
            </a:solidFill>
            <a:miter lim="800000"/>
          </a:ln>
        </p:spPr>
        <p:txBody>
          <a:bodyPr vert="horz" wrap="square" lIns="0" tIns="121920" rIns="0" bIns="121920" rtlCol="0" anchor="ctr" anchorCtr="0">
            <a:noAutofit/>
          </a:bodyPr>
          <a:lstStyle/>
          <a:p>
            <a:pPr algn="ctr" defTabSz="1219170">
              <a:spcAft>
                <a:spcPts val="800"/>
              </a:spcAft>
            </a:pPr>
            <a:r>
              <a:rPr lang="en-US" sz="900">
                <a:solidFill>
                  <a:schemeClr val="bg2"/>
                </a:solidFill>
                <a:latin typeface="Fund Light" pitchFamily="2" charset="-78"/>
                <a:cs typeface="Fund Light" pitchFamily="2" charset="-78"/>
              </a:rPr>
              <a:t>….</a:t>
            </a:r>
          </a:p>
        </p:txBody>
      </p:sp>
      <p:sp>
        <p:nvSpPr>
          <p:cNvPr id="50" name="Rectangle 49">
            <a:extLst>
              <a:ext uri="{FF2B5EF4-FFF2-40B4-BE49-F238E27FC236}">
                <a16:creationId xmlns:a16="http://schemas.microsoft.com/office/drawing/2014/main" id="{6C0A9DEF-8C22-4FAB-DBB2-5BD1424804DD}"/>
              </a:ext>
            </a:extLst>
          </p:cNvPr>
          <p:cNvSpPr/>
          <p:nvPr/>
        </p:nvSpPr>
        <p:spPr>
          <a:xfrm>
            <a:off x="5461000" y="552128"/>
            <a:ext cx="3408966" cy="1764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i="1" u="sng">
                <a:solidFill>
                  <a:srgbClr val="000000"/>
                </a:solidFill>
                <a:latin typeface="Fund Light" pitchFamily="2" charset="-78"/>
                <a:cs typeface="Fund Light" pitchFamily="2" charset="-78"/>
              </a:rPr>
              <a:t>Illustrative – Should be customized with each company’s context </a:t>
            </a:r>
          </a:p>
        </p:txBody>
      </p:sp>
      <p:grpSp>
        <p:nvGrpSpPr>
          <p:cNvPr id="51" name="Group 50">
            <a:extLst>
              <a:ext uri="{FF2B5EF4-FFF2-40B4-BE49-F238E27FC236}">
                <a16:creationId xmlns:a16="http://schemas.microsoft.com/office/drawing/2014/main" id="{2FD568F2-497A-36CE-F3EE-7C988F4DAF6E}"/>
              </a:ext>
            </a:extLst>
          </p:cNvPr>
          <p:cNvGrpSpPr/>
          <p:nvPr/>
        </p:nvGrpSpPr>
        <p:grpSpPr>
          <a:xfrm>
            <a:off x="1867365" y="1591656"/>
            <a:ext cx="179965" cy="309098"/>
            <a:chOff x="1218132" y="1849871"/>
            <a:chExt cx="179965" cy="232230"/>
          </a:xfrm>
        </p:grpSpPr>
        <p:cxnSp>
          <p:nvCxnSpPr>
            <p:cNvPr id="52" name="Straight Arrow Connector 51">
              <a:extLst>
                <a:ext uri="{FF2B5EF4-FFF2-40B4-BE49-F238E27FC236}">
                  <a16:creationId xmlns:a16="http://schemas.microsoft.com/office/drawing/2014/main" id="{BDDAB7B2-DDFF-ECC3-5315-54EFC5D43CE1}"/>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B6EEB8D-589D-C879-9D1B-CB6D116546AE}"/>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4" name="Rectangle 53">
            <a:extLst>
              <a:ext uri="{FF2B5EF4-FFF2-40B4-BE49-F238E27FC236}">
                <a16:creationId xmlns:a16="http://schemas.microsoft.com/office/drawing/2014/main" id="{D7D3FC72-E4F8-4D56-77A8-4E0B59F721FC}"/>
              </a:ext>
            </a:extLst>
          </p:cNvPr>
          <p:cNvSpPr/>
          <p:nvPr/>
        </p:nvSpPr>
        <p:spPr>
          <a:xfrm>
            <a:off x="790840" y="1662831"/>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Direction and</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approvals</a:t>
            </a:r>
          </a:p>
        </p:txBody>
      </p:sp>
      <p:grpSp>
        <p:nvGrpSpPr>
          <p:cNvPr id="55" name="Group 54">
            <a:extLst>
              <a:ext uri="{FF2B5EF4-FFF2-40B4-BE49-F238E27FC236}">
                <a16:creationId xmlns:a16="http://schemas.microsoft.com/office/drawing/2014/main" id="{EDC392EC-81AE-A949-9203-C5736E691C2D}"/>
              </a:ext>
            </a:extLst>
          </p:cNvPr>
          <p:cNvGrpSpPr/>
          <p:nvPr/>
        </p:nvGrpSpPr>
        <p:grpSpPr>
          <a:xfrm>
            <a:off x="1867365" y="2241817"/>
            <a:ext cx="179965" cy="309098"/>
            <a:chOff x="1218132" y="1849871"/>
            <a:chExt cx="179965" cy="232230"/>
          </a:xfrm>
        </p:grpSpPr>
        <p:cxnSp>
          <p:nvCxnSpPr>
            <p:cNvPr id="56" name="Straight Arrow Connector 55">
              <a:extLst>
                <a:ext uri="{FF2B5EF4-FFF2-40B4-BE49-F238E27FC236}">
                  <a16:creationId xmlns:a16="http://schemas.microsoft.com/office/drawing/2014/main" id="{3D883991-5096-5D43-7DAD-C690EEB92331}"/>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8F49D99-B124-A86C-A8B4-309043F5C17D}"/>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Rectangle 57">
            <a:extLst>
              <a:ext uri="{FF2B5EF4-FFF2-40B4-BE49-F238E27FC236}">
                <a16:creationId xmlns:a16="http://schemas.microsoft.com/office/drawing/2014/main" id="{4D92814B-6829-1E25-4611-F4687C050C7A}"/>
              </a:ext>
            </a:extLst>
          </p:cNvPr>
          <p:cNvSpPr/>
          <p:nvPr/>
        </p:nvSpPr>
        <p:spPr>
          <a:xfrm>
            <a:off x="705811" y="2330410"/>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Direction and</a:t>
            </a:r>
            <a:br>
              <a:rPr lang="en-US" sz="800">
                <a:solidFill>
                  <a:srgbClr val="000000"/>
                </a:solidFill>
                <a:latin typeface="Fund Light" pitchFamily="2" charset="-78"/>
                <a:cs typeface="Fund Light" pitchFamily="2" charset="-78"/>
              </a:rPr>
            </a:br>
            <a:r>
              <a:rPr lang="en-US" sz="800">
                <a:solidFill>
                  <a:srgbClr val="000000"/>
                </a:solidFill>
                <a:latin typeface="Fund Light" pitchFamily="2" charset="-78"/>
                <a:cs typeface="Fund Light" pitchFamily="2" charset="-78"/>
              </a:rPr>
              <a:t>approvals</a:t>
            </a:r>
          </a:p>
        </p:txBody>
      </p:sp>
      <p:grpSp>
        <p:nvGrpSpPr>
          <p:cNvPr id="59" name="Group 58">
            <a:extLst>
              <a:ext uri="{FF2B5EF4-FFF2-40B4-BE49-F238E27FC236}">
                <a16:creationId xmlns:a16="http://schemas.microsoft.com/office/drawing/2014/main" id="{C3954D4E-E881-BAAB-E262-922F6C801BCA}"/>
              </a:ext>
            </a:extLst>
          </p:cNvPr>
          <p:cNvGrpSpPr/>
          <p:nvPr/>
        </p:nvGrpSpPr>
        <p:grpSpPr>
          <a:xfrm>
            <a:off x="1867365" y="3655607"/>
            <a:ext cx="179965" cy="411559"/>
            <a:chOff x="1218132" y="1849871"/>
            <a:chExt cx="179965" cy="232230"/>
          </a:xfrm>
        </p:grpSpPr>
        <p:cxnSp>
          <p:nvCxnSpPr>
            <p:cNvPr id="60" name="Straight Arrow Connector 59">
              <a:extLst>
                <a:ext uri="{FF2B5EF4-FFF2-40B4-BE49-F238E27FC236}">
                  <a16:creationId xmlns:a16="http://schemas.microsoft.com/office/drawing/2014/main" id="{FE973EB0-9CBA-587B-9D32-CD3A21871D37}"/>
                </a:ext>
              </a:extLst>
            </p:cNvPr>
            <p:cNvCxnSpPr/>
            <p:nvPr/>
          </p:nvCxnSpPr>
          <p:spPr>
            <a:xfrm>
              <a:off x="1218132" y="1849871"/>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5035D72-8610-F732-2149-23BB58B16AAB}"/>
                </a:ext>
              </a:extLst>
            </p:cNvPr>
            <p:cNvCxnSpPr/>
            <p:nvPr/>
          </p:nvCxnSpPr>
          <p:spPr>
            <a:xfrm flipV="1">
              <a:off x="1398097" y="1866339"/>
              <a:ext cx="0" cy="21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Rectangle 61">
            <a:extLst>
              <a:ext uri="{FF2B5EF4-FFF2-40B4-BE49-F238E27FC236}">
                <a16:creationId xmlns:a16="http://schemas.microsoft.com/office/drawing/2014/main" id="{71E45096-5B1C-3B26-1E7C-94D478E2D727}"/>
              </a:ext>
            </a:extLst>
          </p:cNvPr>
          <p:cNvSpPr/>
          <p:nvPr/>
        </p:nvSpPr>
        <p:spPr>
          <a:xfrm>
            <a:off x="716067" y="3819037"/>
            <a:ext cx="1061164" cy="1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800">
                <a:solidFill>
                  <a:srgbClr val="000000"/>
                </a:solidFill>
                <a:latin typeface="Fund Light" pitchFamily="2" charset="-78"/>
                <a:cs typeface="Fund Light" pitchFamily="2" charset="-78"/>
              </a:rPr>
              <a:t>Monitoring and support</a:t>
            </a:r>
          </a:p>
        </p:txBody>
      </p:sp>
    </p:spTree>
    <p:extLst>
      <p:ext uri="{BB962C8B-B14F-4D97-AF65-F5344CB8AC3E}">
        <p14:creationId xmlns:p14="http://schemas.microsoft.com/office/powerpoint/2010/main" val="15481110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8193A90-E647-0E0D-EF2D-D47E3E96B67C}"/>
              </a:ext>
            </a:extLst>
          </p:cNvPr>
          <p:cNvGraphicFramePr>
            <a:graphicFrameLocks noChangeAspect="1"/>
          </p:cNvGraphicFramePr>
          <p:nvPr>
            <p:custDataLst>
              <p:tags r:id="rId1"/>
            </p:custDataLst>
            <p:extLst>
              <p:ext uri="{D42A27DB-BD31-4B8C-83A1-F6EECF244321}">
                <p14:modId xmlns:p14="http://schemas.microsoft.com/office/powerpoint/2010/main" val="2607250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think-cell data - do not delete" hidden="1">
                        <a:extLst>
                          <a:ext uri="{FF2B5EF4-FFF2-40B4-BE49-F238E27FC236}">
                            <a16:creationId xmlns:a16="http://schemas.microsoft.com/office/drawing/2014/main" id="{78193A90-E647-0E0D-EF2D-D47E3E96B6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EBF5351-7027-F80C-2394-78F24A0D77FE}"/>
              </a:ext>
            </a:extLst>
          </p:cNvPr>
          <p:cNvSpPr>
            <a:spLocks noGrp="1"/>
          </p:cNvSpPr>
          <p:nvPr>
            <p:ph type="title"/>
          </p:nvPr>
        </p:nvSpPr>
        <p:spPr/>
        <p:txBody>
          <a:bodyPr vert="horz"/>
          <a:lstStyle/>
          <a:p>
            <a:r>
              <a:rPr lang="en-US"/>
              <a:t>Roles and responsibilities of the LDC taskforce</a:t>
            </a:r>
          </a:p>
        </p:txBody>
      </p:sp>
      <p:sp>
        <p:nvSpPr>
          <p:cNvPr id="11" name="Text Placeholder 6">
            <a:extLst>
              <a:ext uri="{FF2B5EF4-FFF2-40B4-BE49-F238E27FC236}">
                <a16:creationId xmlns:a16="http://schemas.microsoft.com/office/drawing/2014/main" id="{AC40A9B5-C441-18C3-F9B3-CD1BED7B3D7E}"/>
              </a:ext>
            </a:extLst>
          </p:cNvPr>
          <p:cNvSpPr txBox="1">
            <a:spLocks/>
          </p:cNvSpPr>
          <p:nvPr/>
        </p:nvSpPr>
        <p:spPr>
          <a:xfrm>
            <a:off x="7286672" y="46903"/>
            <a:ext cx="1529953" cy="251272"/>
          </a:xfrm>
          <a:prstGeom prst="rect">
            <a:avLst/>
          </a:prstGeom>
        </p:spPr>
        <p:txBody>
          <a:bodyPr vert="horz" lIns="68580" tIns="34290" rIns="68580" bIns="34290" rtlCol="0" anchor="ctr">
            <a:noAutofit/>
          </a:bodyPr>
          <a:lstStyle>
            <a:defPPr>
              <a:defRPr lang="en-US"/>
            </a:defPPr>
            <a:lvl1pPr indent="0" algn="r" defTabSz="914377">
              <a:lnSpc>
                <a:spcPct val="90000"/>
              </a:lnSpc>
              <a:spcBef>
                <a:spcPts val="1000"/>
              </a:spcBef>
              <a:buFont typeface="Arial" panose="020B0604020202020204" pitchFamily="34" charset="0"/>
              <a:buNone/>
              <a:defRPr sz="800">
                <a:solidFill>
                  <a:schemeClr val="bg2"/>
                </a:solidFill>
                <a:latin typeface="Fund Light" pitchFamily="2" charset="-78"/>
                <a:cs typeface="Fund Light" pitchFamily="2" charset="-78"/>
              </a:defRPr>
            </a:lvl1pPr>
            <a:lvl2pPr marL="685783" indent="-228594" defTabSz="914377">
              <a:lnSpc>
                <a:spcPct val="90000"/>
              </a:lnSpc>
              <a:spcBef>
                <a:spcPts val="500"/>
              </a:spcBef>
              <a:buFont typeface="Arial" panose="020B0604020202020204" pitchFamily="34" charset="0"/>
              <a:buChar char="•"/>
              <a:defRPr sz="2400"/>
            </a:lvl2pPr>
            <a:lvl3pPr marL="1142971" indent="-228594" defTabSz="914377">
              <a:lnSpc>
                <a:spcPct val="90000"/>
              </a:lnSpc>
              <a:spcBef>
                <a:spcPts val="500"/>
              </a:spcBef>
              <a:buFont typeface="Arial" panose="020B0604020202020204" pitchFamily="34" charset="0"/>
              <a:buChar char="•"/>
              <a:defRPr sz="2000"/>
            </a:lvl3pPr>
            <a:lvl4pPr marL="1600160" indent="-228594" defTabSz="914377">
              <a:lnSpc>
                <a:spcPct val="90000"/>
              </a:lnSpc>
              <a:spcBef>
                <a:spcPts val="500"/>
              </a:spcBef>
              <a:buFont typeface="Arial" panose="020B0604020202020204" pitchFamily="34" charset="0"/>
              <a:buChar char="•"/>
            </a:lvl4pPr>
            <a:lvl5pPr marL="2057349" indent="-228594" defTabSz="914377">
              <a:lnSpc>
                <a:spcPct val="90000"/>
              </a:lnSpc>
              <a:spcBef>
                <a:spcPts val="500"/>
              </a:spcBef>
              <a:buFont typeface="Arial" panose="020B0604020202020204" pitchFamily="34" charset="0"/>
              <a:buChar cha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pPr algn="l"/>
            <a:r>
              <a:rPr lang="en-US"/>
              <a:t>LDC governance</a:t>
            </a:r>
          </a:p>
        </p:txBody>
      </p:sp>
      <p:sp>
        <p:nvSpPr>
          <p:cNvPr id="25" name="Rectangle 24">
            <a:extLst>
              <a:ext uri="{FF2B5EF4-FFF2-40B4-BE49-F238E27FC236}">
                <a16:creationId xmlns:a16="http://schemas.microsoft.com/office/drawing/2014/main" id="{4458AF12-713B-DC74-9575-775EAF57BBF3}"/>
              </a:ext>
            </a:extLst>
          </p:cNvPr>
          <p:cNvSpPr/>
          <p:nvPr/>
        </p:nvSpPr>
        <p:spPr>
          <a:xfrm>
            <a:off x="478991" y="4218904"/>
            <a:ext cx="8263220" cy="36576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91440" rIns="0" bIns="91440" numCol="1" spcCol="0" rtlCol="0" fromWordArt="0" anchor="ctr" anchorCtr="0" forceAA="0" compatLnSpc="1">
            <a:prstTxWarp prst="textNoShape">
              <a:avLst/>
            </a:prstTxWarp>
            <a:noAutofit/>
          </a:bodyPr>
          <a:lstStyle/>
          <a:p>
            <a:pPr algn="ctr">
              <a:spcBef>
                <a:spcPts val="300"/>
              </a:spcBef>
              <a:spcAft>
                <a:spcPts val="300"/>
              </a:spcAft>
            </a:pPr>
            <a:r>
              <a:rPr lang="en-US" sz="1100" b="1">
                <a:solidFill>
                  <a:schemeClr val="bg1"/>
                </a:solidFill>
                <a:latin typeface="Fund Light" pitchFamily="2" charset="-78"/>
                <a:cs typeface="Fund Light" pitchFamily="2" charset="-78"/>
              </a:rPr>
              <a:t>Roles of stakeholder’s and cadence is orchestrated by the LC unit</a:t>
            </a:r>
            <a:endParaRPr lang="en-US" sz="1100" i="1">
              <a:solidFill>
                <a:schemeClr val="bg1"/>
              </a:solidFill>
              <a:latin typeface="Fund Light" pitchFamily="2" charset="-78"/>
              <a:cs typeface="Fund Light" pitchFamily="2" charset="-78"/>
            </a:endParaRPr>
          </a:p>
        </p:txBody>
      </p:sp>
      <p:graphicFrame>
        <p:nvGraphicFramePr>
          <p:cNvPr id="18" name="Table 17">
            <a:extLst>
              <a:ext uri="{FF2B5EF4-FFF2-40B4-BE49-F238E27FC236}">
                <a16:creationId xmlns:a16="http://schemas.microsoft.com/office/drawing/2014/main" id="{D790A923-6A0A-4F89-87A2-BE6251F18BE8}"/>
              </a:ext>
            </a:extLst>
          </p:cNvPr>
          <p:cNvGraphicFramePr>
            <a:graphicFrameLocks noGrp="1"/>
          </p:cNvGraphicFramePr>
          <p:nvPr>
            <p:extLst>
              <p:ext uri="{D42A27DB-BD31-4B8C-83A1-F6EECF244321}">
                <p14:modId xmlns:p14="http://schemas.microsoft.com/office/powerpoint/2010/main" val="536528869"/>
              </p:ext>
            </p:extLst>
          </p:nvPr>
        </p:nvGraphicFramePr>
        <p:xfrm>
          <a:off x="593667" y="1266573"/>
          <a:ext cx="8033868" cy="2735685"/>
        </p:xfrm>
        <a:graphic>
          <a:graphicData uri="http://schemas.openxmlformats.org/drawingml/2006/table">
            <a:tbl>
              <a:tblPr firstRow="1" bandRow="1">
                <a:tableStyleId>{5C22544A-7EE6-4342-B048-85BDC9FD1C3A}</a:tableStyleId>
              </a:tblPr>
              <a:tblGrid>
                <a:gridCol w="2268067">
                  <a:extLst>
                    <a:ext uri="{9D8B030D-6E8A-4147-A177-3AD203B41FA5}">
                      <a16:colId xmlns:a16="http://schemas.microsoft.com/office/drawing/2014/main" val="2008416963"/>
                    </a:ext>
                  </a:extLst>
                </a:gridCol>
                <a:gridCol w="406399">
                  <a:extLst>
                    <a:ext uri="{9D8B030D-6E8A-4147-A177-3AD203B41FA5}">
                      <a16:colId xmlns:a16="http://schemas.microsoft.com/office/drawing/2014/main" val="1207792861"/>
                    </a:ext>
                  </a:extLst>
                </a:gridCol>
                <a:gridCol w="5359402">
                  <a:extLst>
                    <a:ext uri="{9D8B030D-6E8A-4147-A177-3AD203B41FA5}">
                      <a16:colId xmlns:a16="http://schemas.microsoft.com/office/drawing/2014/main" val="4279981943"/>
                    </a:ext>
                  </a:extLst>
                </a:gridCol>
              </a:tblGrid>
              <a:tr h="547137">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r>
                        <a:rPr kumimoji="0" lang="en-US" sz="9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Legal team</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endParaRPr lang="en-US" sz="9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Contract management (LDC agreements, </a:t>
                      </a:r>
                      <a:r>
                        <a:rPr kumimoji="0" lang="en-US" sz="900" b="0" i="0" u="none" strike="noStrike" kern="1200" cap="none" spc="0" normalizeH="0" baseline="0" noProof="0" err="1">
                          <a:ln>
                            <a:noFill/>
                          </a:ln>
                          <a:solidFill>
                            <a:srgbClr val="000000"/>
                          </a:solidFill>
                          <a:effectLst/>
                          <a:uLnTx/>
                          <a:uFillTx/>
                          <a:latin typeface="Fund Light" pitchFamily="2" charset="-78"/>
                          <a:ea typeface="+mn-ea"/>
                          <a:cs typeface="Fund Light" pitchFamily="2" charset="-78"/>
                        </a:rPr>
                        <a:t>RfI</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 </a:t>
                      </a:r>
                      <a:r>
                        <a:rPr kumimoji="0" lang="en-US" sz="900" b="0" i="0" u="none" strike="noStrike" kern="1200" cap="none" spc="0" normalizeH="0" baseline="0" noProof="0" err="1">
                          <a:ln>
                            <a:noFill/>
                          </a:ln>
                          <a:solidFill>
                            <a:srgbClr val="000000"/>
                          </a:solidFill>
                          <a:effectLst/>
                          <a:uLnTx/>
                          <a:uFillTx/>
                          <a:latin typeface="Fund Light" pitchFamily="2" charset="-78"/>
                          <a:ea typeface="+mn-ea"/>
                          <a:cs typeface="Fund Light" pitchFamily="2" charset="-78"/>
                        </a:rPr>
                        <a:t>RfP</a:t>
                      </a: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a:t>
                      </a:r>
                    </a:p>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Managing buyer’s liability / risk </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3377560"/>
                  </a:ext>
                </a:extLst>
              </a:tr>
              <a:tr h="547137">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r>
                        <a:rPr kumimoji="0" lang="en-US" sz="9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Ops / supply chain team</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endParaRPr lang="en-US" sz="9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Provide inputs for feasibility assessment, e.g., through supplier sensing</a:t>
                      </a:r>
                    </a:p>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Track and manage supplier’s performance </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825323"/>
                  </a:ext>
                </a:extLst>
              </a:tr>
              <a:tr h="547137">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r>
                        <a:rPr kumimoji="0" lang="en-US" sz="9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Finance team</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endParaRPr lang="en-US" sz="9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Own the business case model and provide inputs across the process (E.g., IRR calculation)</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524895"/>
                  </a:ext>
                </a:extLst>
              </a:tr>
              <a:tr h="547137">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r>
                        <a:rPr kumimoji="0" lang="en-US" sz="9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Business team</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endParaRPr lang="en-US" sz="9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Provide inputs across the process (e.g., pricing for feasibility assessment)</a:t>
                      </a:r>
                    </a:p>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Highlight issues if any related extent of liability</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0951649"/>
                  </a:ext>
                </a:extLst>
              </a:tr>
              <a:tr h="547137">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r>
                        <a:rPr kumimoji="0" lang="en-US" sz="900" b="1" i="0" u="none" strike="noStrike" kern="1200" cap="none" spc="0" normalizeH="0" baseline="0" noProof="0">
                          <a:ln>
                            <a:noFill/>
                          </a:ln>
                          <a:solidFill>
                            <a:schemeClr val="bg2"/>
                          </a:solidFill>
                          <a:effectLst/>
                          <a:uLnTx/>
                          <a:uFillTx/>
                          <a:latin typeface="Fund Light" pitchFamily="2" charset="-78"/>
                          <a:ea typeface="+mn-ea"/>
                          <a:cs typeface="Fund Light" pitchFamily="2" charset="-78"/>
                        </a:rPr>
                        <a:t>Procurement team</a:t>
                      </a:r>
                    </a:p>
                  </a:txBody>
                  <a:tcPr marR="18288"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600"/>
                        </a:spcBef>
                        <a:spcAft>
                          <a:spcPts val="0"/>
                        </a:spcAft>
                        <a:buClrTx/>
                        <a:buSzTx/>
                        <a:buFont typeface="+mj-lt"/>
                        <a:buNone/>
                        <a:tabLst/>
                        <a:defRPr/>
                      </a:pPr>
                      <a:endParaRPr lang="en-US" sz="900" b="0" i="0" baseline="0">
                        <a:solidFill>
                          <a:srgbClr val="000000"/>
                        </a:solidFill>
                        <a:latin typeface="Fund Light" pitchFamily="2" charset="-78"/>
                        <a:cs typeface="Fund Light" pitchFamily="2" charset="-78"/>
                      </a:endParaRP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Provide inputs across the process (e.g., other suppliers for feasibility assessment)</a:t>
                      </a:r>
                    </a:p>
                    <a:p>
                      <a:pPr marL="171450" marR="0" lvl="0" indent="-171450" algn="l" defTabSz="6858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rPr>
                        <a:t>Own supplier evaluation and supplier liaison </a:t>
                      </a:r>
                    </a:p>
                  </a:txBody>
                  <a:tcPr marT="18288" marB="21328"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98221"/>
                  </a:ext>
                </a:extLst>
              </a:tr>
            </a:tbl>
          </a:graphicData>
        </a:graphic>
      </p:graphicFrame>
      <p:sp>
        <p:nvSpPr>
          <p:cNvPr id="23" name="TextBox 22">
            <a:extLst>
              <a:ext uri="{FF2B5EF4-FFF2-40B4-BE49-F238E27FC236}">
                <a16:creationId xmlns:a16="http://schemas.microsoft.com/office/drawing/2014/main" id="{7EE81228-956B-FFAD-A351-7C2229B476A3}"/>
              </a:ext>
            </a:extLst>
          </p:cNvPr>
          <p:cNvSpPr txBox="1"/>
          <p:nvPr/>
        </p:nvSpPr>
        <p:spPr>
          <a:xfrm>
            <a:off x="3229663" y="849581"/>
            <a:ext cx="5397871" cy="230832"/>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Roles and responsibilities</a:t>
            </a:r>
            <a:endParaRPr kumimoji="0" lang="en-US" sz="900" b="0" i="0" u="none" strike="noStrike" kern="1200" cap="none" spc="0" normalizeH="0" baseline="0" noProof="0">
              <a:ln>
                <a:noFill/>
              </a:ln>
              <a:solidFill>
                <a:srgbClr val="C3984D"/>
              </a:solidFill>
              <a:effectLst/>
              <a:uLnTx/>
              <a:uFillTx/>
              <a:latin typeface="Fund Light" pitchFamily="2" charset="-78"/>
              <a:ea typeface="+mn-ea"/>
              <a:cs typeface="Fund Light" pitchFamily="2" charset="-78"/>
            </a:endParaRPr>
          </a:p>
        </p:txBody>
      </p:sp>
      <p:grpSp>
        <p:nvGrpSpPr>
          <p:cNvPr id="9" name="Group 8">
            <a:extLst>
              <a:ext uri="{FF2B5EF4-FFF2-40B4-BE49-F238E27FC236}">
                <a16:creationId xmlns:a16="http://schemas.microsoft.com/office/drawing/2014/main" id="{53383326-DF40-3DD2-B551-78A76C66CE07}"/>
              </a:ext>
            </a:extLst>
          </p:cNvPr>
          <p:cNvGrpSpPr/>
          <p:nvPr/>
        </p:nvGrpSpPr>
        <p:grpSpPr>
          <a:xfrm>
            <a:off x="477555" y="1134896"/>
            <a:ext cx="8154522" cy="6339"/>
            <a:chOff x="477555" y="1134896"/>
            <a:chExt cx="8154522" cy="6339"/>
          </a:xfrm>
        </p:grpSpPr>
        <p:cxnSp>
          <p:nvCxnSpPr>
            <p:cNvPr id="22" name="Straight Connector 21">
              <a:extLst>
                <a:ext uri="{FF2B5EF4-FFF2-40B4-BE49-F238E27FC236}">
                  <a16:creationId xmlns:a16="http://schemas.microsoft.com/office/drawing/2014/main" id="{CF033DE3-C0E0-B018-CC4F-9DCA21053BEA}"/>
                </a:ext>
              </a:extLst>
            </p:cNvPr>
            <p:cNvCxnSpPr>
              <a:cxnSpLocks/>
            </p:cNvCxnSpPr>
            <p:nvPr/>
          </p:nvCxnSpPr>
          <p:spPr>
            <a:xfrm>
              <a:off x="3234206" y="1134896"/>
              <a:ext cx="5397871"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6E27BF1-3E2B-ED51-34E0-E7D775D3F0DE}"/>
                </a:ext>
              </a:extLst>
            </p:cNvPr>
            <p:cNvCxnSpPr>
              <a:cxnSpLocks/>
            </p:cNvCxnSpPr>
            <p:nvPr/>
          </p:nvCxnSpPr>
          <p:spPr>
            <a:xfrm>
              <a:off x="477555" y="1141235"/>
              <a:ext cx="210837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FF381F00-0656-9735-8DD6-89CC6F539AA2}"/>
              </a:ext>
            </a:extLst>
          </p:cNvPr>
          <p:cNvSpPr txBox="1">
            <a:spLocks/>
          </p:cNvSpPr>
          <p:nvPr/>
        </p:nvSpPr>
        <p:spPr>
          <a:xfrm>
            <a:off x="505163" y="849581"/>
            <a:ext cx="2108379" cy="230832"/>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LDC taskforce stakeholders</a:t>
            </a:r>
          </a:p>
        </p:txBody>
      </p:sp>
      <p:sp>
        <p:nvSpPr>
          <p:cNvPr id="37" name="Oval 36">
            <a:extLst>
              <a:ext uri="{FF2B5EF4-FFF2-40B4-BE49-F238E27FC236}">
                <a16:creationId xmlns:a16="http://schemas.microsoft.com/office/drawing/2014/main" id="{B46F1DAF-32BC-3F44-7966-CEC8C55AACCD}"/>
              </a:ext>
            </a:extLst>
          </p:cNvPr>
          <p:cNvSpPr/>
          <p:nvPr/>
        </p:nvSpPr>
        <p:spPr>
          <a:xfrm>
            <a:off x="431592" y="1416981"/>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1</a:t>
            </a:r>
          </a:p>
        </p:txBody>
      </p:sp>
      <p:sp>
        <p:nvSpPr>
          <p:cNvPr id="38" name="Oval 37">
            <a:extLst>
              <a:ext uri="{FF2B5EF4-FFF2-40B4-BE49-F238E27FC236}">
                <a16:creationId xmlns:a16="http://schemas.microsoft.com/office/drawing/2014/main" id="{DD4C70CE-9345-4804-F798-7AD067672F83}"/>
              </a:ext>
            </a:extLst>
          </p:cNvPr>
          <p:cNvSpPr/>
          <p:nvPr/>
        </p:nvSpPr>
        <p:spPr>
          <a:xfrm>
            <a:off x="431592" y="1968523"/>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2</a:t>
            </a:r>
          </a:p>
        </p:txBody>
      </p:sp>
      <p:sp>
        <p:nvSpPr>
          <p:cNvPr id="39" name="Oval 38">
            <a:extLst>
              <a:ext uri="{FF2B5EF4-FFF2-40B4-BE49-F238E27FC236}">
                <a16:creationId xmlns:a16="http://schemas.microsoft.com/office/drawing/2014/main" id="{40DD86D1-FC22-D008-10AF-6062AC80AD27}"/>
              </a:ext>
            </a:extLst>
          </p:cNvPr>
          <p:cNvSpPr/>
          <p:nvPr/>
        </p:nvSpPr>
        <p:spPr>
          <a:xfrm>
            <a:off x="425943" y="2520065"/>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3</a:t>
            </a:r>
          </a:p>
        </p:txBody>
      </p:sp>
      <p:sp>
        <p:nvSpPr>
          <p:cNvPr id="40" name="Oval 39">
            <a:extLst>
              <a:ext uri="{FF2B5EF4-FFF2-40B4-BE49-F238E27FC236}">
                <a16:creationId xmlns:a16="http://schemas.microsoft.com/office/drawing/2014/main" id="{439B24CF-A57B-CB73-D5C7-DE6B240725D0}"/>
              </a:ext>
            </a:extLst>
          </p:cNvPr>
          <p:cNvSpPr/>
          <p:nvPr/>
        </p:nvSpPr>
        <p:spPr>
          <a:xfrm>
            <a:off x="425943" y="3075268"/>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4</a:t>
            </a:r>
          </a:p>
        </p:txBody>
      </p:sp>
      <p:sp>
        <p:nvSpPr>
          <p:cNvPr id="41" name="Oval 40">
            <a:extLst>
              <a:ext uri="{FF2B5EF4-FFF2-40B4-BE49-F238E27FC236}">
                <a16:creationId xmlns:a16="http://schemas.microsoft.com/office/drawing/2014/main" id="{F91C17E9-CE59-32A2-084B-E8507DCEA654}"/>
              </a:ext>
            </a:extLst>
          </p:cNvPr>
          <p:cNvSpPr/>
          <p:nvPr/>
        </p:nvSpPr>
        <p:spPr>
          <a:xfrm>
            <a:off x="425943" y="3605039"/>
            <a:ext cx="228600" cy="228600"/>
          </a:xfrm>
          <a:prstGeom prst="ellipse">
            <a:avLst/>
          </a:prstGeom>
          <a:solidFill>
            <a:schemeClr val="bg2"/>
          </a:solidFill>
          <a:ln>
            <a:noFill/>
          </a:ln>
        </p:spPr>
        <p:txBody>
          <a:bodyPr wrap="square" lIns="0" tIns="0" rIns="0" bIns="0" rtlCol="0" anchor="ctr">
            <a:noAutofit/>
          </a:bodyPr>
          <a:lstStyle/>
          <a:p>
            <a:pPr algn="ctr" defTabSz="457189">
              <a:spcBef>
                <a:spcPts val="300"/>
              </a:spcBef>
              <a:spcAft>
                <a:spcPts val="300"/>
              </a:spcAft>
            </a:pPr>
            <a:r>
              <a:rPr lang="en-US" sz="1000" b="1">
                <a:solidFill>
                  <a:schemeClr val="bg1"/>
                </a:solidFill>
                <a:latin typeface="Fund Light"/>
                <a:cs typeface="Fund Regular" pitchFamily="2" charset="-78"/>
              </a:rPr>
              <a:t>5</a:t>
            </a:r>
          </a:p>
        </p:txBody>
      </p:sp>
      <p:cxnSp>
        <p:nvCxnSpPr>
          <p:cNvPr id="8" name="Straight Connector 7">
            <a:extLst>
              <a:ext uri="{FF2B5EF4-FFF2-40B4-BE49-F238E27FC236}">
                <a16:creationId xmlns:a16="http://schemas.microsoft.com/office/drawing/2014/main" id="{7E3FECB3-06C8-900D-0744-06C820BF310F}"/>
              </a:ext>
            </a:extLst>
          </p:cNvPr>
          <p:cNvCxnSpPr/>
          <p:nvPr/>
        </p:nvCxnSpPr>
        <p:spPr>
          <a:xfrm>
            <a:off x="477554" y="1821600"/>
            <a:ext cx="815452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177FEB-F331-ED6F-23EA-E9510178C867}"/>
              </a:ext>
            </a:extLst>
          </p:cNvPr>
          <p:cNvCxnSpPr/>
          <p:nvPr/>
        </p:nvCxnSpPr>
        <p:spPr>
          <a:xfrm>
            <a:off x="477554" y="2412000"/>
            <a:ext cx="815452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DAC59AD-BDF4-1460-97D9-1BB5F8ADC0D8}"/>
              </a:ext>
            </a:extLst>
          </p:cNvPr>
          <p:cNvCxnSpPr/>
          <p:nvPr/>
        </p:nvCxnSpPr>
        <p:spPr>
          <a:xfrm>
            <a:off x="477554" y="2894400"/>
            <a:ext cx="815452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C35EADD-6C71-0ACF-9A9A-487F4B036A9A}"/>
              </a:ext>
            </a:extLst>
          </p:cNvPr>
          <p:cNvCxnSpPr/>
          <p:nvPr/>
        </p:nvCxnSpPr>
        <p:spPr>
          <a:xfrm>
            <a:off x="477554" y="3470400"/>
            <a:ext cx="8154522"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8155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74C95B4B-A749-4D54-B01F-C44CDC7CC6C0}"/>
              </a:ext>
            </a:extLst>
          </p:cNvPr>
          <p:cNvSpPr txBox="1">
            <a:spLocks/>
          </p:cNvSpPr>
          <p:nvPr/>
        </p:nvSpPr>
        <p:spPr>
          <a:xfrm>
            <a:off x="297696" y="2293930"/>
            <a:ext cx="2559804" cy="555641"/>
          </a:xfrm>
          <a:prstGeom prst="rect">
            <a:avLst/>
          </a:prstGeom>
        </p:spPr>
        <p:txBody>
          <a:bodyPr tIns="91440" bIns="91440" anchor="ctr"/>
          <a:lstStyle>
            <a:lvl1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1pPr>
            <a:lvl2pPr marL="0" indent="-171450" algn="just" defTabSz="685800" rtl="0" eaLnBrk="1" latinLnBrk="0" hangingPunct="1">
              <a:lnSpc>
                <a:spcPct val="150000"/>
              </a:lnSpc>
              <a:spcBef>
                <a:spcPts val="0"/>
              </a:spcBef>
              <a:buClr>
                <a:schemeClr val="bg2"/>
              </a:buClr>
              <a:buFont typeface="Arial" panose="020B0604020202020204" pitchFamily="34" charset="0"/>
              <a:buChar char="•"/>
              <a:defRPr sz="700" b="0" i="0" kern="1200">
                <a:solidFill>
                  <a:schemeClr val="bg1">
                    <a:lumMod val="50000"/>
                  </a:schemeClr>
                </a:solidFill>
                <a:latin typeface="Fund Light" pitchFamily="2" charset="-78"/>
                <a:ea typeface="+mn-ea"/>
                <a:cs typeface="Fund Light" pitchFamily="2" charset="-78"/>
              </a:defRPr>
            </a:lvl2pPr>
            <a:lvl3pPr marL="353250" indent="-171450" algn="just" defTabSz="685800" rtl="0" eaLnBrk="1" latinLnBrk="0" hangingPunct="1">
              <a:lnSpc>
                <a:spcPct val="150000"/>
              </a:lnSpc>
              <a:spcBef>
                <a:spcPts val="0"/>
              </a:spcBef>
              <a:buClr>
                <a:schemeClr val="bg2"/>
              </a:buClr>
              <a:buFont typeface="Courier New" panose="02070309020205020404" pitchFamily="49" charset="0"/>
              <a:buChar char="o"/>
              <a:defRPr sz="700" b="0" i="0" kern="1200">
                <a:solidFill>
                  <a:schemeClr val="bg1">
                    <a:lumMod val="50000"/>
                  </a:schemeClr>
                </a:solidFill>
                <a:latin typeface="Fund Light" pitchFamily="2" charset="-78"/>
                <a:ea typeface="+mn-ea"/>
                <a:cs typeface="Fund Light" pitchFamily="2" charset="-78"/>
              </a:defRPr>
            </a:lvl3pPr>
            <a:lvl4pPr marL="0" indent="-84600" algn="just" defTabSz="685800" rtl="0" eaLnBrk="1" latinLnBrk="0" hangingPunct="1">
              <a:lnSpc>
                <a:spcPct val="150000"/>
              </a:lnSpc>
              <a:spcBef>
                <a:spcPts val="0"/>
              </a:spcBef>
              <a:buClr>
                <a:schemeClr val="bg2"/>
              </a:buClr>
              <a:buFont typeface="+mj-lt"/>
              <a:buAutoNum type="arabicPeriod"/>
              <a:defRPr sz="700" b="0" i="0" kern="1200">
                <a:solidFill>
                  <a:schemeClr val="bg1">
                    <a:lumMod val="50000"/>
                  </a:schemeClr>
                </a:solidFill>
                <a:latin typeface="Fund Light" pitchFamily="2" charset="-78"/>
                <a:ea typeface="+mn-ea"/>
                <a:cs typeface="Fund Light" pitchFamily="2" charset="-78"/>
              </a:defRPr>
            </a:lvl4pPr>
            <a:lvl5pPr marL="0" indent="0" algn="just" defTabSz="685800" rtl="0" eaLnBrk="1" latinLnBrk="0" hangingPunct="1">
              <a:lnSpc>
                <a:spcPct val="150000"/>
              </a:lnSpc>
              <a:spcBef>
                <a:spcPts val="0"/>
              </a:spcBef>
              <a:buClr>
                <a:schemeClr val="bg2"/>
              </a:buClr>
              <a:buFont typeface="Arial" panose="020B0604020202020204" pitchFamily="34" charset="0"/>
              <a:buNone/>
              <a:defRPr sz="700" b="0" i="0" kern="1200">
                <a:solidFill>
                  <a:schemeClr val="bg1">
                    <a:lumMod val="50000"/>
                  </a:schemeClr>
                </a:solidFill>
                <a:latin typeface="Fund Light" pitchFamily="2" charset="-78"/>
                <a:ea typeface="+mn-ea"/>
                <a:cs typeface="Fund Light" pitchFamily="2" charset="-78"/>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pPr>
            <a:r>
              <a:rPr lang="en-US" sz="1800" b="1">
                <a:solidFill>
                  <a:schemeClr val="bg2"/>
                </a:solidFill>
              </a:rPr>
              <a:t>Contents</a:t>
            </a:r>
          </a:p>
        </p:txBody>
      </p:sp>
      <p:sp>
        <p:nvSpPr>
          <p:cNvPr id="9" name="Rectangle 8">
            <a:extLst>
              <a:ext uri="{FF2B5EF4-FFF2-40B4-BE49-F238E27FC236}">
                <a16:creationId xmlns:a16="http://schemas.microsoft.com/office/drawing/2014/main" id="{7EE40D42-A09B-6F4B-5772-E22B3E275744}"/>
              </a:ext>
            </a:extLst>
          </p:cNvPr>
          <p:cNvSpPr/>
          <p:nvPr/>
        </p:nvSpPr>
        <p:spPr>
          <a:xfrm>
            <a:off x="3036661" y="555171"/>
            <a:ext cx="5526314" cy="37675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347472" indent="-347472">
              <a:spcAft>
                <a:spcPts val="2000"/>
              </a:spcAft>
              <a:buFont typeface="+mj-lt"/>
              <a:buAutoNum type="romanLcPeriod"/>
            </a:pPr>
            <a:r>
              <a:rPr lang="en-GB" sz="1200">
                <a:solidFill>
                  <a:schemeClr val="bg1">
                    <a:lumMod val="65000"/>
                  </a:schemeClr>
                </a:solidFill>
                <a:latin typeface="Fund Light" pitchFamily="2" charset="-78"/>
                <a:cs typeface="Fund Light" pitchFamily="2" charset="-78"/>
              </a:rPr>
              <a:t>Executive Summary</a:t>
            </a:r>
          </a:p>
          <a:p>
            <a:pPr marL="347472" indent="-347472">
              <a:spcAft>
                <a:spcPts val="2000"/>
              </a:spcAft>
              <a:buFont typeface="+mj-lt"/>
              <a:buAutoNum type="romanLcPeriod"/>
            </a:pPr>
            <a:r>
              <a:rPr lang="en-GB" sz="1200">
                <a:solidFill>
                  <a:schemeClr val="bg1">
                    <a:lumMod val="65000"/>
                  </a:schemeClr>
                </a:solidFill>
                <a:latin typeface="Fund Light" pitchFamily="2" charset="-78"/>
                <a:cs typeface="Fund Light" pitchFamily="2" charset="-78"/>
              </a:rPr>
              <a:t>LDC implementation guide – How to…</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…Select products for LDC</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…Assess feasibility of LDC products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…Tender and award LDC supplier agreements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…Define LDC terms and conditions</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…Monitor LDC progression and impact</a:t>
            </a:r>
          </a:p>
          <a:p>
            <a:pPr marL="804672" lvl="1" indent="-347472">
              <a:spcAft>
                <a:spcPts val="2000"/>
              </a:spcAft>
              <a:buFont typeface="+mj-lt"/>
              <a:buAutoNum type="alphaLcPeriod"/>
            </a:pPr>
            <a:r>
              <a:rPr lang="en-GB" sz="1200">
                <a:solidFill>
                  <a:schemeClr val="bg1">
                    <a:lumMod val="65000"/>
                  </a:schemeClr>
                </a:solidFill>
                <a:latin typeface="Fund Light" pitchFamily="2" charset="-78"/>
                <a:cs typeface="Fund Light" pitchFamily="2" charset="-78"/>
              </a:rPr>
              <a:t>…Set up and operate an LDC governance</a:t>
            </a:r>
          </a:p>
          <a:p>
            <a:pPr marL="347472" indent="-347472">
              <a:spcAft>
                <a:spcPts val="2000"/>
              </a:spcAft>
              <a:buFont typeface="+mj-lt"/>
              <a:buAutoNum type="romanLcPeriod"/>
            </a:pPr>
            <a:r>
              <a:rPr lang="en-GB" sz="1200" b="1">
                <a:solidFill>
                  <a:schemeClr val="tx2"/>
                </a:solidFill>
                <a:latin typeface="Fund Light" pitchFamily="2" charset="-78"/>
                <a:cs typeface="Fund Light" pitchFamily="2" charset="-78"/>
              </a:rPr>
              <a:t>Appendix (additional data and information)</a:t>
            </a:r>
          </a:p>
        </p:txBody>
      </p:sp>
      <p:sp>
        <p:nvSpPr>
          <p:cNvPr id="10" name="Oval 9">
            <a:extLst>
              <a:ext uri="{FF2B5EF4-FFF2-40B4-BE49-F238E27FC236}">
                <a16:creationId xmlns:a16="http://schemas.microsoft.com/office/drawing/2014/main" id="{921315BB-D02D-DE3A-3E88-BCDEB57A46FA}"/>
              </a:ext>
            </a:extLst>
          </p:cNvPr>
          <p:cNvSpPr/>
          <p:nvPr/>
        </p:nvSpPr>
        <p:spPr>
          <a:xfrm>
            <a:off x="3052264" y="57877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1</a:t>
            </a:r>
          </a:p>
        </p:txBody>
      </p:sp>
      <p:sp>
        <p:nvSpPr>
          <p:cNvPr id="11" name="Oval 10">
            <a:extLst>
              <a:ext uri="{FF2B5EF4-FFF2-40B4-BE49-F238E27FC236}">
                <a16:creationId xmlns:a16="http://schemas.microsoft.com/office/drawing/2014/main" id="{DFEDF955-EF82-35F0-79BE-CFDEDF3FA84F}"/>
              </a:ext>
            </a:extLst>
          </p:cNvPr>
          <p:cNvSpPr/>
          <p:nvPr/>
        </p:nvSpPr>
        <p:spPr>
          <a:xfrm>
            <a:off x="3052264" y="1019956"/>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2</a:t>
            </a:r>
          </a:p>
        </p:txBody>
      </p:sp>
      <p:sp>
        <p:nvSpPr>
          <p:cNvPr id="13" name="Oval 12">
            <a:extLst>
              <a:ext uri="{FF2B5EF4-FFF2-40B4-BE49-F238E27FC236}">
                <a16:creationId xmlns:a16="http://schemas.microsoft.com/office/drawing/2014/main" id="{61F3F2A1-9600-F2DE-3FFE-674D84E985BA}"/>
              </a:ext>
            </a:extLst>
          </p:cNvPr>
          <p:cNvSpPr/>
          <p:nvPr/>
        </p:nvSpPr>
        <p:spPr>
          <a:xfrm>
            <a:off x="3052264" y="4086153"/>
            <a:ext cx="228600" cy="228600"/>
          </a:xfrm>
          <a:prstGeom prst="ellipse">
            <a:avLst/>
          </a:prstGeom>
          <a:solidFill>
            <a:schemeClr val="tx2"/>
          </a:solidFill>
        </p:spPr>
        <p:txBody>
          <a:bodyPr wrap="square" rtlCol="0" anchor="ctr">
            <a:noAutofit/>
          </a:bodyPr>
          <a:lstStyle/>
          <a:p>
            <a:pPr algn="ctr">
              <a:spcBef>
                <a:spcPts val="300"/>
              </a:spcBef>
              <a:spcAft>
                <a:spcPts val="300"/>
              </a:spcAft>
            </a:pPr>
            <a:r>
              <a:rPr lang="en-GB" sz="1200" b="1">
                <a:solidFill>
                  <a:schemeClr val="bg1"/>
                </a:solidFill>
                <a:latin typeface="Fund Light" pitchFamily="2" charset="-78"/>
                <a:cs typeface="Fund Light" pitchFamily="2" charset="-78"/>
              </a:rPr>
              <a:t>3</a:t>
            </a:r>
          </a:p>
        </p:txBody>
      </p:sp>
    </p:spTree>
    <p:extLst>
      <p:ext uri="{BB962C8B-B14F-4D97-AF65-F5344CB8AC3E}">
        <p14:creationId xmlns:p14="http://schemas.microsoft.com/office/powerpoint/2010/main" val="34205546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1C0CA777-9195-0B7B-193D-4E6EAA67B2ED}"/>
              </a:ext>
            </a:extLst>
          </p:cNvPr>
          <p:cNvGraphicFramePr>
            <a:graphicFrameLocks noChangeAspect="1"/>
          </p:cNvGraphicFramePr>
          <p:nvPr>
            <p:custDataLst>
              <p:tags r:id="rId1"/>
            </p:custDataLst>
            <p:extLst>
              <p:ext uri="{D42A27DB-BD31-4B8C-83A1-F6EECF244321}">
                <p14:modId xmlns:p14="http://schemas.microsoft.com/office/powerpoint/2010/main" val="14526720"/>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2" name="think-cell data - do not delete" hidden="1">
                        <a:extLst>
                          <a:ext uri="{FF2B5EF4-FFF2-40B4-BE49-F238E27FC236}">
                            <a16:creationId xmlns:a16="http://schemas.microsoft.com/office/drawing/2014/main" id="{1C0CA777-9195-0B7B-193D-4E6EAA67B2E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385DA4EC-6653-4C24-BBFB-E47298436015}"/>
              </a:ext>
            </a:extLst>
          </p:cNvPr>
          <p:cNvSpPr>
            <a:spLocks noGrp="1"/>
          </p:cNvSpPr>
          <p:nvPr>
            <p:ph type="title"/>
          </p:nvPr>
        </p:nvSpPr>
        <p:spPr/>
        <p:txBody>
          <a:bodyPr vert="horz"/>
          <a:lstStyle/>
          <a:p>
            <a:r>
              <a:rPr lang="en-US"/>
              <a:t>In case of questions / request for support, reach out to PIF’s NDD team</a:t>
            </a:r>
          </a:p>
        </p:txBody>
      </p:sp>
      <p:graphicFrame>
        <p:nvGraphicFramePr>
          <p:cNvPr id="3" name="Table 2">
            <a:extLst>
              <a:ext uri="{FF2B5EF4-FFF2-40B4-BE49-F238E27FC236}">
                <a16:creationId xmlns:a16="http://schemas.microsoft.com/office/drawing/2014/main" id="{622CA3EE-877D-24FC-7C84-7076019BB0AC}"/>
              </a:ext>
            </a:extLst>
          </p:cNvPr>
          <p:cNvGraphicFramePr>
            <a:graphicFrameLocks noGrp="1"/>
          </p:cNvGraphicFramePr>
          <p:nvPr>
            <p:extLst>
              <p:ext uri="{D42A27DB-BD31-4B8C-83A1-F6EECF244321}">
                <p14:modId xmlns:p14="http://schemas.microsoft.com/office/powerpoint/2010/main" val="709681764"/>
              </p:ext>
            </p:extLst>
          </p:nvPr>
        </p:nvGraphicFramePr>
        <p:xfrm>
          <a:off x="400050" y="1838959"/>
          <a:ext cx="8412056" cy="2743200"/>
        </p:xfrm>
        <a:graphic>
          <a:graphicData uri="http://schemas.openxmlformats.org/drawingml/2006/table">
            <a:tbl>
              <a:tblPr firstRow="1" bandRow="1">
                <a:tableStyleId>{2D5ABB26-0587-4C30-8999-92F81FD0307C}</a:tableStyleId>
              </a:tblPr>
              <a:tblGrid>
                <a:gridCol w="3552319">
                  <a:extLst>
                    <a:ext uri="{9D8B030D-6E8A-4147-A177-3AD203B41FA5}">
                      <a16:colId xmlns:a16="http://schemas.microsoft.com/office/drawing/2014/main" val="1776317213"/>
                    </a:ext>
                  </a:extLst>
                </a:gridCol>
                <a:gridCol w="2113374">
                  <a:extLst>
                    <a:ext uri="{9D8B030D-6E8A-4147-A177-3AD203B41FA5}">
                      <a16:colId xmlns:a16="http://schemas.microsoft.com/office/drawing/2014/main" val="29261567"/>
                    </a:ext>
                  </a:extLst>
                </a:gridCol>
                <a:gridCol w="2746363">
                  <a:extLst>
                    <a:ext uri="{9D8B030D-6E8A-4147-A177-3AD203B41FA5}">
                      <a16:colId xmlns:a16="http://schemas.microsoft.com/office/drawing/2014/main" val="4149400445"/>
                    </a:ext>
                  </a:extLst>
                </a:gridCol>
              </a:tblGrid>
              <a:tr h="27432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b="1" kern="1200" dirty="0">
                          <a:solidFill>
                            <a:srgbClr val="000000"/>
                          </a:solidFill>
                          <a:latin typeface="Fund Light" pitchFamily="2" charset="-78"/>
                          <a:ea typeface="+mn-ea"/>
                          <a:cs typeface="Fund Light" pitchFamily="2" charset="-78"/>
                        </a:rPr>
                        <a:t>Sector </a:t>
                      </a:r>
                      <a:endParaRPr lang="en-US" sz="1000" b="1" i="0" kern="1200" dirty="0">
                        <a:solidFill>
                          <a:srgbClr val="000000"/>
                        </a:solidFill>
                        <a:latin typeface="Fund Light" pitchFamily="2" charset="-78"/>
                        <a:ea typeface="+mn-ea"/>
                        <a:cs typeface="Fund Light" pitchFamily="2" charset="-78"/>
                      </a:endParaRPr>
                    </a:p>
                  </a:txBody>
                  <a:tcPr marL="40500" marR="0" marT="0" marB="0" anchor="ctr">
                    <a:lnT w="12700" cap="flat" cmpd="sng" algn="ctr">
                      <a:solidFill>
                        <a:srgbClr val="000000"/>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algn="ctr" defTabSz="914400" rtl="0" eaLnBrk="1" latinLnBrk="0" hangingPunct="1">
                        <a:lnSpc>
                          <a:spcPct val="90000"/>
                        </a:lnSpc>
                        <a:spcBef>
                          <a:spcPct val="0"/>
                        </a:spcBef>
                        <a:spcAft>
                          <a:spcPct val="0"/>
                        </a:spcAft>
                      </a:pPr>
                      <a:r>
                        <a:rPr lang="en-US" sz="1000" b="1" kern="1200">
                          <a:solidFill>
                            <a:srgbClr val="000000"/>
                          </a:solidFill>
                          <a:latin typeface="Fund Light" pitchFamily="2" charset="-78"/>
                          <a:cs typeface="Fund Light" pitchFamily="2" charset="-78"/>
                        </a:rPr>
                        <a:t>Primary team contact</a:t>
                      </a:r>
                      <a:endParaRPr lang="en-US" sz="1000" b="1" i="0" kern="1200">
                        <a:solidFill>
                          <a:srgbClr val="000000"/>
                        </a:solidFill>
                        <a:latin typeface="Fund Light" pitchFamily="2" charset="-78"/>
                        <a:ea typeface="+mn-ea"/>
                        <a:cs typeface="Fund Light" pitchFamily="2" charset="-78"/>
                      </a:endParaRPr>
                    </a:p>
                  </a:txBody>
                  <a:tcPr marL="0" marR="0" marT="0" marB="0" anchor="ctr">
                    <a:lnT w="12700" cap="flat" cmpd="sng" algn="ctr">
                      <a:solidFill>
                        <a:srgbClr val="000000"/>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algn="ctr" defTabSz="914400" rtl="0" eaLnBrk="1" latinLnBrk="0" hangingPunct="1">
                        <a:lnSpc>
                          <a:spcPct val="90000"/>
                        </a:lnSpc>
                        <a:spcBef>
                          <a:spcPct val="0"/>
                        </a:spcBef>
                        <a:spcAft>
                          <a:spcPct val="0"/>
                        </a:spcAft>
                      </a:pPr>
                      <a:r>
                        <a:rPr lang="en-US" sz="1000" b="1" i="0" kern="1200">
                          <a:solidFill>
                            <a:srgbClr val="000000"/>
                          </a:solidFill>
                          <a:effectLst/>
                          <a:latin typeface="Fund Light" pitchFamily="2" charset="-78"/>
                          <a:ea typeface="+mn-ea"/>
                          <a:cs typeface="Fund Light" pitchFamily="2" charset="-78"/>
                        </a:rPr>
                        <a:t>To</a:t>
                      </a:r>
                      <a:r>
                        <a:rPr lang="en-US" sz="1000" b="1" i="0" kern="1200" baseline="0">
                          <a:solidFill>
                            <a:srgbClr val="000000"/>
                          </a:solidFill>
                          <a:effectLst/>
                          <a:latin typeface="Fund Light" pitchFamily="2" charset="-78"/>
                          <a:ea typeface="+mn-ea"/>
                          <a:cs typeface="Fund Light" pitchFamily="2" charset="-78"/>
                        </a:rPr>
                        <a:t> be copied on emails</a:t>
                      </a:r>
                      <a:endParaRPr lang="en-US" sz="1000" b="1" i="0" kern="1200">
                        <a:solidFill>
                          <a:srgbClr val="000000"/>
                        </a:solidFill>
                        <a:latin typeface="Fund Light" pitchFamily="2" charset="-78"/>
                        <a:ea typeface="+mn-ea"/>
                        <a:cs typeface="Fund Light" pitchFamily="2" charset="-78"/>
                      </a:endParaRPr>
                    </a:p>
                  </a:txBody>
                  <a:tcPr marL="0" marR="0" marT="0" marB="0" anchor="ctr">
                    <a:lnT w="12700" cap="flat" cmpd="sng" algn="ctr">
                      <a:solidFill>
                        <a:srgbClr val="000000"/>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030758101"/>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algn="l" defTabSz="914400" rtl="0" eaLnBrk="1" latinLnBrk="0" hangingPunct="1">
                        <a:lnSpc>
                          <a:spcPct val="90000"/>
                        </a:lnSpc>
                        <a:spcBef>
                          <a:spcPct val="0"/>
                        </a:spcBef>
                        <a:spcAft>
                          <a:spcPct val="0"/>
                        </a:spcAft>
                      </a:pPr>
                      <a:r>
                        <a:rPr lang="en-US" sz="1000" b="0" i="0" kern="1200" baseline="0">
                          <a:solidFill>
                            <a:srgbClr val="000000"/>
                          </a:solidFill>
                          <a:latin typeface="Fund Light" pitchFamily="2" charset="-78"/>
                          <a:ea typeface="+mn-ea"/>
                          <a:cs typeface="Fund Light" pitchFamily="2" charset="-78"/>
                        </a:rPr>
                        <a:t>Energy and utilities </a:t>
                      </a:r>
                      <a:endParaRPr lang="en-US" sz="1000" b="0" i="0" kern="1200">
                        <a:solidFill>
                          <a:srgbClr val="000000"/>
                        </a:solidFill>
                        <a:latin typeface="Fund Light" pitchFamily="2" charset="-78"/>
                        <a:ea typeface="+mn-ea"/>
                        <a:cs typeface="Fund Light" pitchFamily="2" charset="-78"/>
                      </a:endParaRPr>
                    </a:p>
                  </a:txBody>
                  <a:tcPr marL="40500" marR="0" marT="0" marB="0" anchor="ctr">
                    <a:lnT w="12700" cap="flat" cmpd="sng" algn="ctr">
                      <a:solidFill>
                        <a:schemeClr val="bg1">
                          <a:lumMod val="50000"/>
                        </a:schemeClr>
                      </a:solidFill>
                      <a:prstDash val="solid"/>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5">
                            <a:extLst>
                              <a:ext uri="{A12FA001-AC4F-418D-AE19-62706E023703}">
                                <ahyp:hlinkClr xmlns:ahyp="http://schemas.microsoft.com/office/drawing/2018/hyperlinkcolor" val="tx"/>
                              </a:ext>
                            </a:extLst>
                          </a:hlinkClick>
                        </a:rPr>
                        <a:t>NDD_Energy@pif.gov.sa</a:t>
                      </a:r>
                      <a:endParaRPr lang="en-US" sz="1000" b="0" i="0" kern="1200">
                        <a:solidFill>
                          <a:srgbClr val="000000"/>
                        </a:solidFill>
                        <a:latin typeface="Fund Light" pitchFamily="2" charset="-78"/>
                        <a:ea typeface="+mn-ea"/>
                        <a:cs typeface="Fund Light" pitchFamily="2" charset="-78"/>
                      </a:endParaRPr>
                    </a:p>
                  </a:txBody>
                  <a:tcPr marL="0" marR="0" marT="0" marB="0" anchor="ctr">
                    <a:lnT w="12700" cap="flat" cmpd="sng" algn="ctr">
                      <a:solidFill>
                        <a:schemeClr val="bg1">
                          <a:lumMod val="50000"/>
                        </a:schemeClr>
                      </a:solidFill>
                      <a:prstDash val="solid"/>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lang="en-US" sz="1000" b="0" i="0" kern="1200">
                        <a:solidFill>
                          <a:srgbClr val="000000"/>
                        </a:solidFill>
                        <a:latin typeface="Fund Light" pitchFamily="2" charset="-78"/>
                        <a:ea typeface="+mn-ea"/>
                        <a:cs typeface="Fund Light" pitchFamily="2" charset="-78"/>
                      </a:endParaRPr>
                    </a:p>
                  </a:txBody>
                  <a:tcPr marL="0" marR="0" marT="0" marB="0" anchor="ctr">
                    <a:lnT w="12700" cap="flat" cmpd="sng" algn="ctr">
                      <a:solidFill>
                        <a:schemeClr val="bg1">
                          <a:lumMod val="50000"/>
                        </a:schemeClr>
                      </a:solidFill>
                      <a:prstDash val="solid"/>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3898147214"/>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lang="en-US" sz="1000" b="0" i="0" kern="1200" baseline="0">
                          <a:solidFill>
                            <a:srgbClr val="000000"/>
                          </a:solidFill>
                          <a:latin typeface="Fund Light" pitchFamily="2" charset="-78"/>
                          <a:ea typeface="+mn-ea"/>
                          <a:cs typeface="Fund Light" pitchFamily="2" charset="-78"/>
                        </a:rPr>
                        <a:t>Industrials and mining</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7">
                            <a:extLst>
                              <a:ext uri="{A12FA001-AC4F-418D-AE19-62706E023703}">
                                <ahyp:hlinkClr xmlns:ahyp="http://schemas.microsoft.com/office/drawing/2018/hyperlinkcolor" val="tx"/>
                              </a:ext>
                            </a:extLst>
                          </a:hlinkClick>
                        </a:rPr>
                        <a:t>NDD_Industrials@pif.gov.sa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2249624798"/>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Automotive and mobility </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7">
                            <a:extLst>
                              <a:ext uri="{A12FA001-AC4F-418D-AE19-62706E023703}">
                                <ahyp:hlinkClr xmlns:ahyp="http://schemas.microsoft.com/office/drawing/2018/hyperlinkcolor" val="tx"/>
                              </a:ext>
                            </a:extLst>
                          </a:hlinkClick>
                        </a:rPr>
                        <a:t>NDD_Automotive@pif.gov.sa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400440010"/>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Fund Light" pitchFamily="2" charset="-78"/>
                          <a:ea typeface="+mn-ea"/>
                          <a:cs typeface="Fund Light" pitchFamily="2" charset="-78"/>
                        </a:rPr>
                        <a:t>Aerospace and defense </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8">
                            <a:extLst>
                              <a:ext uri="{A12FA001-AC4F-418D-AE19-62706E023703}">
                                <ahyp:hlinkClr xmlns:ahyp="http://schemas.microsoft.com/office/drawing/2018/hyperlinkcolor" val="tx"/>
                              </a:ext>
                            </a:extLst>
                          </a:hlinkClick>
                        </a:rPr>
                        <a:t>NDD_Aerospace@pif.gov.sa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1943609892"/>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kern="1200">
                          <a:solidFill>
                            <a:srgbClr val="000000"/>
                          </a:solidFill>
                          <a:latin typeface="Fund Light" pitchFamily="2" charset="-78"/>
                          <a:ea typeface="+mn-ea"/>
                          <a:cs typeface="Fund Light" pitchFamily="2" charset="-78"/>
                        </a:rPr>
                        <a:t>Aviation and security </a:t>
                      </a: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9">
                            <a:extLst>
                              <a:ext uri="{A12FA001-AC4F-418D-AE19-62706E023703}">
                                <ahyp:hlinkClr xmlns:ahyp="http://schemas.microsoft.com/office/drawing/2018/hyperlinkcolor" val="tx"/>
                              </a:ext>
                            </a:extLst>
                          </a:hlinkClick>
                        </a:rPr>
                        <a:t>NDD_Aviation@pif.gov.sa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838742398"/>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Fund Light" pitchFamily="2" charset="-78"/>
                          <a:ea typeface="+mn-ea"/>
                          <a:cs typeface="Fund Light" pitchFamily="2" charset="-78"/>
                        </a:rPr>
                        <a:t>Financial institutions (FI)</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2796159767"/>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GB" sz="1000" b="0" i="0" u="none" strike="noStrike" kern="0" cap="none" spc="0" normalizeH="0" baseline="0" noProof="0">
                          <a:ln>
                            <a:noFill/>
                          </a:ln>
                          <a:solidFill>
                            <a:srgbClr val="000000"/>
                          </a:solidFill>
                          <a:effectLst/>
                          <a:uLnTx/>
                          <a:uFillTx/>
                          <a:latin typeface="Fund Light" pitchFamily="2" charset="-78"/>
                          <a:ea typeface="+mn-ea"/>
                          <a:cs typeface="Fund Light" pitchFamily="2" charset="-78"/>
                        </a:rPr>
                        <a:t>Transport and logistics (T&amp;L)</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10">
                            <a:extLst>
                              <a:ext uri="{A12FA001-AC4F-418D-AE19-62706E023703}">
                                <ahyp:hlinkClr xmlns:ahyp="http://schemas.microsoft.com/office/drawing/2018/hyperlinkcolor" val="tx"/>
                              </a:ext>
                            </a:extLst>
                          </a:hlinkClick>
                        </a:rPr>
                        <a:t>NDD_TL@pif.gov.sa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1992430283"/>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1" eaLnBrk="1" fontAlgn="base" latinLnBrk="0" hangingPunct="1">
                        <a:lnSpc>
                          <a:spcPct val="100000"/>
                        </a:lnSpc>
                        <a:spcBef>
                          <a:spcPts val="0"/>
                        </a:spcBef>
                        <a:spcAft>
                          <a:spcPts val="0"/>
                        </a:spcAft>
                        <a:buClrTx/>
                        <a:buSzTx/>
                        <a:buFontTx/>
                        <a:buNone/>
                        <a:tabLst/>
                        <a:defRPr/>
                      </a:pPr>
                      <a:r>
                        <a:rPr kumimoji="0" lang="en-US" sz="1000" b="0" i="0" u="none" strike="noStrike" kern="0" cap="none" spc="-30" normalizeH="0" baseline="0" noProof="0">
                          <a:ln>
                            <a:noFill/>
                          </a:ln>
                          <a:solidFill>
                            <a:srgbClr val="000000"/>
                          </a:solidFill>
                          <a:effectLst/>
                          <a:uLnTx/>
                          <a:uFillTx/>
                          <a:latin typeface="Fund Light" pitchFamily="2" charset="-78"/>
                          <a:ea typeface="+mn-ea"/>
                          <a:cs typeface="Fund Light" pitchFamily="2" charset="-78"/>
                        </a:rPr>
                        <a:t>Telecom, media, and technology (TMT)</a:t>
                      </a: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7">
                            <a:extLst>
                              <a:ext uri="{A12FA001-AC4F-418D-AE19-62706E023703}">
                                <ahyp:hlinkClr xmlns:ahyp="http://schemas.microsoft.com/office/drawing/2018/hyperlinkcolor" val="tx"/>
                              </a:ext>
                            </a:extLst>
                          </a:hlinkClick>
                        </a:rPr>
                        <a:t>NDD_TMT@pif.gov.sa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3229917451"/>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Fund Light" pitchFamily="2" charset="-78"/>
                          <a:ea typeface="+mn-ea"/>
                          <a:cs typeface="Fund Light" pitchFamily="2" charset="-78"/>
                        </a:rPr>
                        <a:t>Healthcare (HC)</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7">
                            <a:extLst>
                              <a:ext uri="{A12FA001-AC4F-418D-AE19-62706E023703}">
                                <ahyp:hlinkClr xmlns:ahyp="http://schemas.microsoft.com/office/drawing/2018/hyperlinkcolor" val="tx"/>
                              </a:ext>
                            </a:extLst>
                          </a:hlinkClick>
                        </a:rPr>
                        <a:t>NDD_HC@pif.gov.sa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1443530346"/>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20" normalizeH="0" baseline="0" noProof="0" dirty="0">
                          <a:ln>
                            <a:noFill/>
                          </a:ln>
                          <a:solidFill>
                            <a:srgbClr val="000000"/>
                          </a:solidFill>
                          <a:effectLst/>
                          <a:uLnTx/>
                          <a:uFillTx/>
                          <a:latin typeface="Fund Light" pitchFamily="2" charset="-78"/>
                          <a:ea typeface="+mn-ea"/>
                          <a:cs typeface="Fund Light" pitchFamily="2" charset="-78"/>
                        </a:rPr>
                        <a:t>Consumer goods and retail (CG&amp;S)</a:t>
                      </a:r>
                      <a:br>
                        <a:rPr kumimoji="0" lang="en-US" sz="1000" b="0" i="0" u="none" strike="noStrike" kern="0" cap="none" spc="-20" normalizeH="0" baseline="0" noProof="0" dirty="0">
                          <a:ln>
                            <a:noFill/>
                          </a:ln>
                          <a:solidFill>
                            <a:srgbClr val="000000"/>
                          </a:solidFill>
                          <a:effectLst/>
                          <a:uLnTx/>
                          <a:uFillTx/>
                          <a:latin typeface="Fund Light" pitchFamily="2" charset="-78"/>
                          <a:ea typeface="+mn-ea"/>
                          <a:cs typeface="Fund Light" pitchFamily="2" charset="-78"/>
                        </a:rPr>
                      </a:br>
                      <a:r>
                        <a:rPr kumimoji="0" lang="en-US" sz="1000" b="0" i="0" u="none" strike="noStrike" kern="0" cap="none" spc="-20" normalizeH="0" baseline="0" noProof="0" dirty="0">
                          <a:ln>
                            <a:noFill/>
                          </a:ln>
                          <a:solidFill>
                            <a:srgbClr val="000000"/>
                          </a:solidFill>
                          <a:effectLst/>
                          <a:uLnTx/>
                          <a:uFillTx/>
                          <a:latin typeface="Fund Light" pitchFamily="2" charset="-78"/>
                          <a:ea typeface="+mn-ea"/>
                          <a:cs typeface="Fund Light" pitchFamily="2" charset="-78"/>
                        </a:rPr>
                        <a:t>Food and agriculture (F&amp;A) </a:t>
                      </a:r>
                      <a:endParaRPr lang="en-US" sz="1000" b="0" i="0" kern="1200" dirty="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11">
                            <a:extLst>
                              <a:ext uri="{A12FA001-AC4F-418D-AE19-62706E023703}">
                                <ahyp:hlinkClr xmlns:ahyp="http://schemas.microsoft.com/office/drawing/2018/hyperlinkcolor" val="tx"/>
                              </a:ext>
                            </a:extLst>
                          </a:hlinkClick>
                        </a:rPr>
                        <a:t>NDD_CGS@pif.gov.sa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330103403"/>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Fund Light" pitchFamily="2" charset="-78"/>
                          <a:ea typeface="+mn-ea"/>
                          <a:cs typeface="Fund Light" pitchFamily="2" charset="-78"/>
                        </a:rPr>
                        <a:t>Entertainment, leisure, education and sports (ELES)</a:t>
                      </a:r>
                      <a:endParaRPr lang="en-US" sz="1000" b="0" i="0" kern="1200">
                        <a:solidFill>
                          <a:srgbClr val="000000"/>
                        </a:solidFill>
                        <a:latin typeface="Fund Light" pitchFamily="2" charset="-78"/>
                        <a:ea typeface="+mn-ea"/>
                        <a:cs typeface="Fund Light" pitchFamily="2" charset="-78"/>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12">
                            <a:extLst>
                              <a:ext uri="{A12FA001-AC4F-418D-AE19-62706E023703}">
                                <ahyp:hlinkClr xmlns:ahyp="http://schemas.microsoft.com/office/drawing/2018/hyperlinkcolor" val="tx"/>
                              </a:ext>
                            </a:extLst>
                          </a:hlinkClick>
                        </a:rPr>
                        <a:t>NDD_ELES@pif.gov.sa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796458458"/>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lang="en-US" sz="1000" b="0" i="0" kern="1200">
                          <a:solidFill>
                            <a:srgbClr val="000000"/>
                          </a:solidFill>
                          <a:latin typeface="Fund Light" pitchFamily="2" charset="-78"/>
                          <a:ea typeface="+mn-ea"/>
                          <a:cs typeface="Fund Light" pitchFamily="2" charset="-78"/>
                        </a:rPr>
                        <a:t>Real</a:t>
                      </a:r>
                      <a:r>
                        <a:rPr lang="en-US" sz="1000" b="0" i="0" kern="1200" baseline="0">
                          <a:solidFill>
                            <a:srgbClr val="000000"/>
                          </a:solidFill>
                          <a:latin typeface="Fund Light" pitchFamily="2" charset="-78"/>
                          <a:ea typeface="+mn-ea"/>
                          <a:cs typeface="Fund Light" pitchFamily="2" charset="-78"/>
                        </a:rPr>
                        <a:t> estate and infrastructure</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sym typeface="+mn-lt"/>
                      </a:endParaRPr>
                    </a:p>
                  </a:txBody>
                  <a:tcPr marL="4050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lang="en-US" sz="1000" kern="1200">
                          <a:solidFill>
                            <a:srgbClr val="000000"/>
                          </a:solidFill>
                          <a:effectLst/>
                          <a:latin typeface="Fund Light" pitchFamily="2" charset="-78"/>
                          <a:ea typeface="+mn-ea"/>
                          <a:cs typeface="Fund Light" pitchFamily="2" charset="-78"/>
                          <a:hlinkClick r:id="rId13">
                            <a:extLst>
                              <a:ext uri="{A12FA001-AC4F-418D-AE19-62706E023703}">
                                <ahyp:hlinkClr xmlns:ahyp="http://schemas.microsoft.com/office/drawing/2018/hyperlinkcolor" val="tx"/>
                              </a:ext>
                            </a:extLst>
                          </a:hlinkClick>
                        </a:rPr>
                        <a:t>NDD_REI@pif.gov.sa</a:t>
                      </a:r>
                      <a:endParaRPr lang="en-US" sz="1000" b="0" i="0" kern="1200">
                        <a:solidFill>
                          <a:srgbClr val="000000"/>
                        </a:solidFill>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6350" cap="flat" cmpd="sng" algn="ctr">
                      <a:solidFill>
                        <a:srgbClr val="000000"/>
                      </a:solidFill>
                      <a:prstDash val="sysDash"/>
                      <a:round/>
                      <a:headEnd type="none" w="med" len="med"/>
                      <a:tailEnd type="none" w="med" len="med"/>
                    </a:lnB>
                  </a:tcPr>
                </a:tc>
                <a:extLst>
                  <a:ext uri="{0D108BD9-81ED-4DB2-BD59-A6C34878D82A}">
                    <a16:rowId xmlns:a16="http://schemas.microsoft.com/office/drawing/2014/main" val="2558043474"/>
                  </a:ext>
                </a:extLst>
              </a:tr>
              <a:tr h="182880">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lang="en-US" sz="1000">
                          <a:solidFill>
                            <a:srgbClr val="000000"/>
                          </a:solidFill>
                          <a:latin typeface="Fund Light" pitchFamily="2" charset="-78"/>
                          <a:cs typeface="Fund Light" pitchFamily="2" charset="-78"/>
                          <a:sym typeface="+mn-lt"/>
                        </a:rPr>
                        <a:t>Construction and building materials</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sym typeface="+mn-lt"/>
                      </a:endParaRPr>
                    </a:p>
                  </a:txBody>
                  <a:tcPr marL="40500" marR="0" marT="0" marB="0" anchor="ctr">
                    <a:lnT w="6350" cap="flat" cmpd="sng" algn="ctr">
                      <a:solidFill>
                        <a:srgbClr val="000000"/>
                      </a:solidFill>
                      <a:prstDash val="sysDash"/>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13">
                            <a:extLst>
                              <a:ext uri="{A12FA001-AC4F-418D-AE19-62706E023703}">
                                <ahyp:hlinkClr xmlns:ahyp="http://schemas.microsoft.com/office/drawing/2018/hyperlinkcolor" val="tx"/>
                              </a:ext>
                            </a:extLst>
                          </a:hlinkClick>
                        </a:rPr>
                        <a:t>NDD_CBM@pif.gov.sa</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Sakkal Majalla"/>
                        </a:defRPr>
                      </a:lvl1pPr>
                      <a:lvl2pPr marL="457200" algn="l" defTabSz="914400" rtl="0" eaLnBrk="1" latinLnBrk="0" hangingPunct="1">
                        <a:defRPr sz="1800" kern="1200">
                          <a:solidFill>
                            <a:schemeClr val="tx1"/>
                          </a:solidFill>
                          <a:latin typeface="Sakkal Majalla"/>
                        </a:defRPr>
                      </a:lvl2pPr>
                      <a:lvl3pPr marL="914400" algn="l" defTabSz="914400" rtl="0" eaLnBrk="1" latinLnBrk="0" hangingPunct="1">
                        <a:defRPr sz="1800" kern="1200">
                          <a:solidFill>
                            <a:schemeClr val="tx1"/>
                          </a:solidFill>
                          <a:latin typeface="Sakkal Majalla"/>
                        </a:defRPr>
                      </a:lvl3pPr>
                      <a:lvl4pPr marL="1371600" algn="l" defTabSz="914400" rtl="0" eaLnBrk="1" latinLnBrk="0" hangingPunct="1">
                        <a:defRPr sz="1800" kern="1200">
                          <a:solidFill>
                            <a:schemeClr val="tx1"/>
                          </a:solidFill>
                          <a:latin typeface="Sakkal Majalla"/>
                        </a:defRPr>
                      </a:lvl4pPr>
                      <a:lvl5pPr marL="1828800" algn="l" defTabSz="914400" rtl="0" eaLnBrk="1" latinLnBrk="0" hangingPunct="1">
                        <a:defRPr sz="1800" kern="1200">
                          <a:solidFill>
                            <a:schemeClr val="tx1"/>
                          </a:solidFill>
                          <a:latin typeface="Sakkal Majalla"/>
                        </a:defRPr>
                      </a:lvl5pPr>
                      <a:lvl6pPr marL="2286000" algn="l" defTabSz="914400" rtl="0" eaLnBrk="1" latinLnBrk="0" hangingPunct="1">
                        <a:defRPr sz="1800" kern="1200">
                          <a:solidFill>
                            <a:schemeClr val="tx1"/>
                          </a:solidFill>
                          <a:latin typeface="Sakkal Majalla"/>
                        </a:defRPr>
                      </a:lvl6pPr>
                      <a:lvl7pPr marL="2743200" algn="l" defTabSz="914400" rtl="0" eaLnBrk="1" latinLnBrk="0" hangingPunct="1">
                        <a:defRPr sz="1800" kern="1200">
                          <a:solidFill>
                            <a:schemeClr val="tx1"/>
                          </a:solidFill>
                          <a:latin typeface="Sakkal Majalla"/>
                        </a:defRPr>
                      </a:lvl7pPr>
                      <a:lvl8pPr marL="3200400" algn="l" defTabSz="914400" rtl="0" eaLnBrk="1" latinLnBrk="0" hangingPunct="1">
                        <a:defRPr sz="1800" kern="1200">
                          <a:solidFill>
                            <a:schemeClr val="tx1"/>
                          </a:solidFill>
                          <a:latin typeface="Sakkal Majalla"/>
                        </a:defRPr>
                      </a:lvl8pPr>
                      <a:lvl9pPr marL="3657600" algn="l" defTabSz="914400" rtl="0" eaLnBrk="1" latinLnBrk="0" hangingPunct="1">
                        <a:defRPr sz="1800" kern="1200">
                          <a:solidFill>
                            <a:schemeClr val="tx1"/>
                          </a:solidFill>
                          <a:latin typeface="Sakkal Majalla"/>
                        </a:defRPr>
                      </a:lvl9pPr>
                    </a:lstStyle>
                    <a:p>
                      <a:pPr marL="0" marR="0" lvl="0" indent="0" algn="ctr" defTabSz="914400" rtl="0" eaLnBrk="1" fontAlgn="auto" latinLnBrk="0" hangingPunct="1">
                        <a:lnSpc>
                          <a:spcPct val="90000"/>
                        </a:lnSpc>
                        <a:spcBef>
                          <a:spcPct val="0"/>
                        </a:spcBef>
                        <a:spcAft>
                          <a:spcPct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hlinkClick r:id="rId6">
                            <a:extLst>
                              <a:ext uri="{A12FA001-AC4F-418D-AE19-62706E023703}">
                                <ahyp:hlinkClr xmlns:ahyp="http://schemas.microsoft.com/office/drawing/2018/hyperlinkcolor" val="tx"/>
                              </a:ext>
                            </a:extLst>
                          </a:hlinkClick>
                        </a:rPr>
                        <a:t>NDD_FI@pif.gov.sa</a:t>
                      </a:r>
                      <a:r>
                        <a:rPr kumimoji="0" lang="en-US" sz="1000" b="0" i="0" u="none" strike="noStrike" kern="0" cap="none" spc="-50" normalizeH="0" baseline="0" noProof="0">
                          <a:ln>
                            <a:noFill/>
                          </a:ln>
                          <a:solidFill>
                            <a:srgbClr val="000000"/>
                          </a:solidFill>
                          <a:effectLst/>
                          <a:uLnTx/>
                          <a:uFillTx/>
                          <a:latin typeface="Fund Light" pitchFamily="2" charset="-78"/>
                          <a:ea typeface="+mn-ea"/>
                          <a:cs typeface="Fund Light" pitchFamily="2" charset="-78"/>
                        </a:rPr>
                        <a:t>  </a:t>
                      </a:r>
                      <a:endParaRPr kumimoji="0" lang="en-US" sz="1000" b="0" i="0" u="none" strike="noStrike" kern="1200" cap="none" spc="0" normalizeH="0" baseline="0" noProof="0">
                        <a:ln>
                          <a:noFill/>
                        </a:ln>
                        <a:solidFill>
                          <a:srgbClr val="000000"/>
                        </a:solidFill>
                        <a:effectLst/>
                        <a:uLnTx/>
                        <a:uFillTx/>
                        <a:latin typeface="Fund Light" pitchFamily="2" charset="-78"/>
                        <a:ea typeface="+mn-ea"/>
                        <a:cs typeface="Fund Light" pitchFamily="2" charset="-78"/>
                      </a:endParaRPr>
                    </a:p>
                  </a:txBody>
                  <a:tcPr marL="0" marR="0" marT="0" marB="0" anchor="ctr">
                    <a:lnT w="6350" cap="flat" cmpd="sng" algn="ctr">
                      <a:solidFill>
                        <a:srgbClr val="000000"/>
                      </a:solidFill>
                      <a:prstDash val="sysDash"/>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59452533"/>
                  </a:ext>
                </a:extLst>
              </a:tr>
            </a:tbl>
          </a:graphicData>
        </a:graphic>
      </p:graphicFrame>
      <p:grpSp>
        <p:nvGrpSpPr>
          <p:cNvPr id="14" name="Group 13">
            <a:extLst>
              <a:ext uri="{FF2B5EF4-FFF2-40B4-BE49-F238E27FC236}">
                <a16:creationId xmlns:a16="http://schemas.microsoft.com/office/drawing/2014/main" id="{B58520A1-7EF0-20FD-074B-662FF3CDF591}"/>
              </a:ext>
            </a:extLst>
          </p:cNvPr>
          <p:cNvGrpSpPr/>
          <p:nvPr/>
        </p:nvGrpSpPr>
        <p:grpSpPr>
          <a:xfrm>
            <a:off x="323850" y="756136"/>
            <a:ext cx="8549217" cy="264155"/>
            <a:chOff x="405353" y="756136"/>
            <a:chExt cx="1296929" cy="264155"/>
          </a:xfrm>
        </p:grpSpPr>
        <p:cxnSp>
          <p:nvCxnSpPr>
            <p:cNvPr id="15" name="Straight Connector 14">
              <a:extLst>
                <a:ext uri="{FF2B5EF4-FFF2-40B4-BE49-F238E27FC236}">
                  <a16:creationId xmlns:a16="http://schemas.microsoft.com/office/drawing/2014/main" id="{A731FADE-E900-1993-4474-3E2DDDB5900D}"/>
                </a:ext>
              </a:extLst>
            </p:cNvPr>
            <p:cNvCxnSpPr>
              <a:cxnSpLocks/>
            </p:cNvCxnSpPr>
            <p:nvPr/>
          </p:nvCxnSpPr>
          <p:spPr>
            <a:xfrm>
              <a:off x="405353" y="1020291"/>
              <a:ext cx="129692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2A6AA7C-2202-72F2-2F7B-6B35A503B84B}"/>
                </a:ext>
              </a:extLst>
            </p:cNvPr>
            <p:cNvSpPr txBox="1"/>
            <p:nvPr/>
          </p:nvSpPr>
          <p:spPr>
            <a:xfrm>
              <a:off x="405353" y="756136"/>
              <a:ext cx="1296929"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For queries on LDC concept or the implementation guide</a:t>
              </a:r>
            </a:p>
          </p:txBody>
        </p:sp>
      </p:grpSp>
      <p:sp>
        <p:nvSpPr>
          <p:cNvPr id="17" name="Rectangle: Rounded Corners 9">
            <a:extLst>
              <a:ext uri="{FF2B5EF4-FFF2-40B4-BE49-F238E27FC236}">
                <a16:creationId xmlns:a16="http://schemas.microsoft.com/office/drawing/2014/main" id="{A5096CC5-8ED6-4B37-B8D0-C382ED634D96}"/>
              </a:ext>
            </a:extLst>
          </p:cNvPr>
          <p:cNvSpPr>
            <a:spLocks/>
          </p:cNvSpPr>
          <p:nvPr/>
        </p:nvSpPr>
        <p:spPr>
          <a:xfrm>
            <a:off x="400050" y="1106807"/>
            <a:ext cx="7352524" cy="1823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oAutofit/>
          </a:bodyPr>
          <a:lstStyle/>
          <a:p>
            <a:pPr>
              <a:lnSpc>
                <a:spcPct val="90000"/>
              </a:lnSpc>
              <a:spcBef>
                <a:spcPct val="0"/>
              </a:spcBef>
              <a:spcAft>
                <a:spcPct val="0"/>
              </a:spcAft>
              <a:defRPr/>
            </a:pPr>
            <a:r>
              <a:rPr lang="en-US" sz="1000">
                <a:solidFill>
                  <a:srgbClr val="000000"/>
                </a:solidFill>
                <a:latin typeface="Fund Light" pitchFamily="2" charset="-78"/>
                <a:cs typeface="Fund Light" pitchFamily="2" charset="-78"/>
              </a:rPr>
              <a:t>Financial Institutions team from NDD (E: </a:t>
            </a:r>
            <a:r>
              <a:rPr lang="en-US" sz="1000" u="sng">
                <a:solidFill>
                  <a:srgbClr val="000000"/>
                </a:solidFill>
                <a:latin typeface="Fund Light" pitchFamily="2" charset="-78"/>
                <a:cs typeface="Fund Light" pitchFamily="2" charset="-78"/>
                <a:hlinkClick r:id="rId6">
                  <a:extLst>
                    <a:ext uri="{A12FA001-AC4F-418D-AE19-62706E023703}">
                      <ahyp:hlinkClr xmlns:ahyp="http://schemas.microsoft.com/office/drawing/2018/hyperlinkcolor" val="tx"/>
                    </a:ext>
                  </a:extLst>
                </a:hlinkClick>
              </a:rPr>
              <a:t>NDD_FI@pif.gov.sa</a:t>
            </a:r>
            <a:r>
              <a:rPr lang="en-US" sz="1000" u="sng" kern="0" spc="-50">
                <a:solidFill>
                  <a:srgbClr val="000000"/>
                </a:solidFill>
                <a:latin typeface="Fund Light" pitchFamily="2" charset="-78"/>
                <a:cs typeface="Fund Light" pitchFamily="2" charset="-78"/>
              </a:rPr>
              <a:t> </a:t>
            </a:r>
            <a:r>
              <a:rPr lang="en-US" sz="1000">
                <a:solidFill>
                  <a:srgbClr val="000000"/>
                </a:solidFill>
                <a:latin typeface="Fund Light" pitchFamily="2" charset="-78"/>
                <a:cs typeface="Fund Light" pitchFamily="2" charset="-78"/>
              </a:rPr>
              <a:t>)</a:t>
            </a:r>
          </a:p>
        </p:txBody>
      </p:sp>
      <p:grpSp>
        <p:nvGrpSpPr>
          <p:cNvPr id="18" name="Group 17">
            <a:extLst>
              <a:ext uri="{FF2B5EF4-FFF2-40B4-BE49-F238E27FC236}">
                <a16:creationId xmlns:a16="http://schemas.microsoft.com/office/drawing/2014/main" id="{24E65849-ABEF-0D5E-B44D-95024F42898D}"/>
              </a:ext>
            </a:extLst>
          </p:cNvPr>
          <p:cNvGrpSpPr/>
          <p:nvPr/>
        </p:nvGrpSpPr>
        <p:grpSpPr>
          <a:xfrm>
            <a:off x="297391" y="1467138"/>
            <a:ext cx="8549217" cy="264155"/>
            <a:chOff x="405353" y="756136"/>
            <a:chExt cx="1296929" cy="264155"/>
          </a:xfrm>
        </p:grpSpPr>
        <p:cxnSp>
          <p:nvCxnSpPr>
            <p:cNvPr id="19" name="Straight Connector 18">
              <a:extLst>
                <a:ext uri="{FF2B5EF4-FFF2-40B4-BE49-F238E27FC236}">
                  <a16:creationId xmlns:a16="http://schemas.microsoft.com/office/drawing/2014/main" id="{2F69FCB3-3FB9-DD93-FF4A-A2581402417D}"/>
                </a:ext>
              </a:extLst>
            </p:cNvPr>
            <p:cNvCxnSpPr>
              <a:cxnSpLocks/>
            </p:cNvCxnSpPr>
            <p:nvPr/>
          </p:nvCxnSpPr>
          <p:spPr>
            <a:xfrm>
              <a:off x="405353" y="1020291"/>
              <a:ext cx="1296929" cy="0"/>
            </a:xfrm>
            <a:prstGeom prst="line">
              <a:avLst/>
            </a:prstGeom>
            <a:ln w="6350" cap="flat">
              <a:solidFill>
                <a:schemeClr val="bg2"/>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636978C-CE6A-6B92-BBF7-308699D23B56}"/>
                </a:ext>
              </a:extLst>
            </p:cNvPr>
            <p:cNvSpPr txBox="1"/>
            <p:nvPr/>
          </p:nvSpPr>
          <p:spPr>
            <a:xfrm>
              <a:off x="405353" y="756136"/>
              <a:ext cx="1296929" cy="246221"/>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C3984D"/>
                  </a:solidFill>
                  <a:effectLst/>
                  <a:uLnTx/>
                  <a:uFillTx/>
                  <a:latin typeface="Fund Light" pitchFamily="2" charset="-78"/>
                  <a:ea typeface="+mn-ea"/>
                  <a:cs typeface="Fund Light" pitchFamily="2" charset="-78"/>
                </a:rPr>
                <a:t>For sector-specific queries</a:t>
              </a:r>
            </a:p>
          </p:txBody>
        </p:sp>
      </p:grpSp>
    </p:spTree>
    <p:extLst>
      <p:ext uri="{BB962C8B-B14F-4D97-AF65-F5344CB8AC3E}">
        <p14:creationId xmlns:p14="http://schemas.microsoft.com/office/powerpoint/2010/main" val="20301171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1C0CA777-9195-0B7B-193D-4E6EAA67B2ED}"/>
              </a:ext>
            </a:extLst>
          </p:cNvPr>
          <p:cNvGraphicFramePr>
            <a:graphicFrameLocks noChangeAspect="1"/>
          </p:cNvGraphicFramePr>
          <p:nvPr>
            <p:custDataLst>
              <p:tags r:id="rId1"/>
            </p:custDataLst>
            <p:extLst>
              <p:ext uri="{D42A27DB-BD31-4B8C-83A1-F6EECF244321}">
                <p14:modId xmlns:p14="http://schemas.microsoft.com/office/powerpoint/2010/main" val="3102637501"/>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2" name="think-cell data - do not delete" hidden="1">
                        <a:extLst>
                          <a:ext uri="{FF2B5EF4-FFF2-40B4-BE49-F238E27FC236}">
                            <a16:creationId xmlns:a16="http://schemas.microsoft.com/office/drawing/2014/main" id="{1C0CA777-9195-0B7B-193D-4E6EAA67B2E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385DA4EC-6653-4C24-BBFB-E47298436015}"/>
              </a:ext>
            </a:extLst>
          </p:cNvPr>
          <p:cNvSpPr>
            <a:spLocks noGrp="1"/>
          </p:cNvSpPr>
          <p:nvPr>
            <p:ph type="title"/>
          </p:nvPr>
        </p:nvSpPr>
        <p:spPr>
          <a:xfrm>
            <a:off x="1255077" y="255973"/>
            <a:ext cx="6400800" cy="241824"/>
          </a:xfrm>
        </p:spPr>
        <p:txBody>
          <a:bodyPr vert="horz"/>
          <a:lstStyle/>
          <a:p>
            <a:r>
              <a:rPr lang="en-US"/>
              <a:t>Factory database to understand presence of suppliers and / or other buyers for a product</a:t>
            </a:r>
          </a:p>
        </p:txBody>
      </p:sp>
      <p:grpSp>
        <p:nvGrpSpPr>
          <p:cNvPr id="15" name="Group 14">
            <a:extLst>
              <a:ext uri="{FF2B5EF4-FFF2-40B4-BE49-F238E27FC236}">
                <a16:creationId xmlns:a16="http://schemas.microsoft.com/office/drawing/2014/main" id="{B4E39247-A10D-E105-10A5-F0A6E3617F90}"/>
              </a:ext>
            </a:extLst>
          </p:cNvPr>
          <p:cNvGrpSpPr/>
          <p:nvPr/>
        </p:nvGrpSpPr>
        <p:grpSpPr>
          <a:xfrm>
            <a:off x="5087806" y="1139517"/>
            <a:ext cx="324224" cy="308347"/>
            <a:chOff x="-633491" y="3836409"/>
            <a:chExt cx="333089" cy="321367"/>
          </a:xfrm>
        </p:grpSpPr>
        <p:sp>
          <p:nvSpPr>
            <p:cNvPr id="16" name="Freeform 5">
              <a:extLst>
                <a:ext uri="{FF2B5EF4-FFF2-40B4-BE49-F238E27FC236}">
                  <a16:creationId xmlns:a16="http://schemas.microsoft.com/office/drawing/2014/main" id="{CF7B8EAA-E015-6D7D-DED2-1A2247131E72}"/>
                </a:ext>
              </a:extLst>
            </p:cNvPr>
            <p:cNvSpPr/>
            <p:nvPr/>
          </p:nvSpPr>
          <p:spPr>
            <a:xfrm rot="18900000">
              <a:off x="-633491" y="3836409"/>
              <a:ext cx="292405" cy="296818"/>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1350" kern="0">
                <a:solidFill>
                  <a:srgbClr val="000000"/>
                </a:solidFill>
                <a:latin typeface="Sakkal Majalla"/>
              </a:endParaRPr>
            </a:p>
          </p:txBody>
        </p:sp>
        <p:grpSp>
          <p:nvGrpSpPr>
            <p:cNvPr id="17" name="Graphic 2">
              <a:extLst>
                <a:ext uri="{FF2B5EF4-FFF2-40B4-BE49-F238E27FC236}">
                  <a16:creationId xmlns:a16="http://schemas.microsoft.com/office/drawing/2014/main" id="{BAF19958-59B8-B713-5254-63B81F2DFA4F}"/>
                </a:ext>
              </a:extLst>
            </p:cNvPr>
            <p:cNvGrpSpPr/>
            <p:nvPr/>
          </p:nvGrpSpPr>
          <p:grpSpPr>
            <a:xfrm>
              <a:off x="-540701" y="3931246"/>
              <a:ext cx="106833" cy="107143"/>
              <a:chOff x="4428863" y="1781847"/>
              <a:chExt cx="3335594" cy="3295537"/>
            </a:xfrm>
            <a:solidFill>
              <a:srgbClr val="FFFFFF"/>
            </a:solidFill>
          </p:grpSpPr>
          <p:sp>
            <p:nvSpPr>
              <p:cNvPr id="19" name="Freeform 7">
                <a:extLst>
                  <a:ext uri="{FF2B5EF4-FFF2-40B4-BE49-F238E27FC236}">
                    <a16:creationId xmlns:a16="http://schemas.microsoft.com/office/drawing/2014/main" id="{11C6D2E0-DCAE-6E3C-D296-CDFE4E9A0B0F}"/>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1350" kern="0">
                  <a:solidFill>
                    <a:srgbClr val="000000"/>
                  </a:solidFill>
                  <a:latin typeface="Sakkal Majalla"/>
                </a:endParaRPr>
              </a:p>
            </p:txBody>
          </p:sp>
          <p:sp>
            <p:nvSpPr>
              <p:cNvPr id="20" name="Freeform 8">
                <a:extLst>
                  <a:ext uri="{FF2B5EF4-FFF2-40B4-BE49-F238E27FC236}">
                    <a16:creationId xmlns:a16="http://schemas.microsoft.com/office/drawing/2014/main" id="{9F361ED8-75AB-D837-BA84-0E08266571A7}"/>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1350" kern="0">
                  <a:solidFill>
                    <a:srgbClr val="000000"/>
                  </a:solidFill>
                  <a:latin typeface="Sakkal Majalla"/>
                </a:endParaRPr>
              </a:p>
            </p:txBody>
          </p:sp>
        </p:grpSp>
        <p:sp>
          <p:nvSpPr>
            <p:cNvPr id="18" name="Graphic 11">
              <a:extLst>
                <a:ext uri="{FF2B5EF4-FFF2-40B4-BE49-F238E27FC236}">
                  <a16:creationId xmlns:a16="http://schemas.microsoft.com/office/drawing/2014/main" id="{63A428F3-78DC-6D3B-5BDC-A00D7B74B486}"/>
                </a:ext>
              </a:extLst>
            </p:cNvPr>
            <p:cNvSpPr/>
            <p:nvPr/>
          </p:nvSpPr>
          <p:spPr>
            <a:xfrm>
              <a:off x="-411909" y="4031131"/>
              <a:ext cx="111507" cy="126645"/>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1350" kern="0">
                <a:solidFill>
                  <a:srgbClr val="000000"/>
                </a:solidFill>
                <a:latin typeface="Sakkal Majalla"/>
              </a:endParaRPr>
            </a:p>
          </p:txBody>
        </p:sp>
      </p:grpSp>
      <p:sp>
        <p:nvSpPr>
          <p:cNvPr id="22" name="Isosceles Triangle 223">
            <a:extLst>
              <a:ext uri="{FF2B5EF4-FFF2-40B4-BE49-F238E27FC236}">
                <a16:creationId xmlns:a16="http://schemas.microsoft.com/office/drawing/2014/main" id="{385B5A0A-21F2-1DF3-A7B5-50F213304645}"/>
              </a:ext>
            </a:extLst>
          </p:cNvPr>
          <p:cNvSpPr/>
          <p:nvPr/>
        </p:nvSpPr>
        <p:spPr>
          <a:xfrm rot="5400000">
            <a:off x="6974121" y="2538694"/>
            <a:ext cx="443203" cy="133556"/>
          </a:xfrm>
          <a:custGeom>
            <a:avLst/>
            <a:gdLst>
              <a:gd name="connsiteX0" fmla="*/ 0 w 533605"/>
              <a:gd name="connsiteY0" fmla="*/ 157317 h 157317"/>
              <a:gd name="connsiteX1" fmla="*/ 266803 w 533605"/>
              <a:gd name="connsiteY1" fmla="*/ 0 h 157317"/>
              <a:gd name="connsiteX2" fmla="*/ 533605 w 533605"/>
              <a:gd name="connsiteY2" fmla="*/ 157317 h 157317"/>
              <a:gd name="connsiteX3" fmla="*/ 0 w 533605"/>
              <a:gd name="connsiteY3" fmla="*/ 157317 h 157317"/>
              <a:gd name="connsiteX0" fmla="*/ 0 w 533605"/>
              <a:gd name="connsiteY0" fmla="*/ 157317 h 248757"/>
              <a:gd name="connsiteX1" fmla="*/ 266803 w 533605"/>
              <a:gd name="connsiteY1" fmla="*/ 0 h 248757"/>
              <a:gd name="connsiteX2" fmla="*/ 533605 w 533605"/>
              <a:gd name="connsiteY2" fmla="*/ 157317 h 248757"/>
              <a:gd name="connsiteX3" fmla="*/ 91440 w 533605"/>
              <a:gd name="connsiteY3" fmla="*/ 248757 h 248757"/>
              <a:gd name="connsiteX0" fmla="*/ 0 w 533605"/>
              <a:gd name="connsiteY0" fmla="*/ 157317 h 248757"/>
              <a:gd name="connsiteX1" fmla="*/ 266803 w 533605"/>
              <a:gd name="connsiteY1" fmla="*/ 0 h 248757"/>
              <a:gd name="connsiteX2" fmla="*/ 533605 w 533605"/>
              <a:gd name="connsiteY2" fmla="*/ 157317 h 248757"/>
              <a:gd name="connsiteX3" fmla="*/ 80010 w 533605"/>
              <a:gd name="connsiteY3" fmla="*/ 248757 h 248757"/>
              <a:gd name="connsiteX0" fmla="*/ 0 w 533605"/>
              <a:gd name="connsiteY0" fmla="*/ 157317 h 157317"/>
              <a:gd name="connsiteX1" fmla="*/ 266803 w 533605"/>
              <a:gd name="connsiteY1" fmla="*/ 0 h 157317"/>
              <a:gd name="connsiteX2" fmla="*/ 533605 w 533605"/>
              <a:gd name="connsiteY2" fmla="*/ 157317 h 157317"/>
            </a:gdLst>
            <a:ahLst/>
            <a:cxnLst>
              <a:cxn ang="0">
                <a:pos x="connsiteX0" y="connsiteY0"/>
              </a:cxn>
              <a:cxn ang="0">
                <a:pos x="connsiteX1" y="connsiteY1"/>
              </a:cxn>
              <a:cxn ang="0">
                <a:pos x="connsiteX2" y="connsiteY2"/>
              </a:cxn>
            </a:cxnLst>
            <a:rect l="l" t="t" r="r" b="b"/>
            <a:pathLst>
              <a:path w="533605" h="157317">
                <a:moveTo>
                  <a:pt x="0" y="157317"/>
                </a:moveTo>
                <a:lnTo>
                  <a:pt x="266803" y="0"/>
                </a:lnTo>
                <a:lnTo>
                  <a:pt x="533605" y="157317"/>
                </a:lnTo>
              </a:path>
            </a:pathLst>
          </a:custGeom>
          <a:noFill/>
          <a:ln w="12700" cap="rnd" cmpd="sng" algn="ctr">
            <a:solidFill>
              <a:srgbClr val="C39A59"/>
            </a:solid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74099">
              <a:defRPr/>
            </a:pPr>
            <a:endParaRPr lang="en-GB" sz="1350" kern="0">
              <a:solidFill>
                <a:srgbClr val="000000"/>
              </a:solidFill>
              <a:latin typeface="Sakkal Majalla"/>
            </a:endParaRPr>
          </a:p>
        </p:txBody>
      </p:sp>
      <p:pic>
        <p:nvPicPr>
          <p:cNvPr id="23" name="Picture 22">
            <a:extLst>
              <a:ext uri="{FF2B5EF4-FFF2-40B4-BE49-F238E27FC236}">
                <a16:creationId xmlns:a16="http://schemas.microsoft.com/office/drawing/2014/main" id="{48530E2E-6864-012B-889F-9959B995601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8801" y="1072331"/>
            <a:ext cx="4629863" cy="2219325"/>
          </a:xfrm>
          <a:prstGeom prst="rect">
            <a:avLst/>
          </a:prstGeom>
          <a:ln>
            <a:solidFill>
              <a:srgbClr val="000000"/>
            </a:solidFill>
          </a:ln>
          <a:effectLst/>
        </p:spPr>
      </p:pic>
      <p:pic>
        <p:nvPicPr>
          <p:cNvPr id="26" name="Picture 25">
            <a:extLst>
              <a:ext uri="{FF2B5EF4-FFF2-40B4-BE49-F238E27FC236}">
                <a16:creationId xmlns:a16="http://schemas.microsoft.com/office/drawing/2014/main" id="{F052146B-51C5-2617-F24C-B244274943C7}"/>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6832"/>
          <a:stretch/>
        </p:blipFill>
        <p:spPr>
          <a:xfrm>
            <a:off x="1573285" y="2227650"/>
            <a:ext cx="5473151" cy="1991893"/>
          </a:xfrm>
          <a:prstGeom prst="rect">
            <a:avLst/>
          </a:prstGeom>
          <a:ln w="12700">
            <a:solidFill>
              <a:srgbClr val="C39A59"/>
            </a:solidFill>
          </a:ln>
          <a:effectLst/>
        </p:spPr>
      </p:pic>
      <p:sp>
        <p:nvSpPr>
          <p:cNvPr id="28" name="Rectangle 27">
            <a:extLst>
              <a:ext uri="{FF2B5EF4-FFF2-40B4-BE49-F238E27FC236}">
                <a16:creationId xmlns:a16="http://schemas.microsoft.com/office/drawing/2014/main" id="{168176ED-2FC1-5426-CFDD-CD4DC511C072}"/>
              </a:ext>
            </a:extLst>
          </p:cNvPr>
          <p:cNvSpPr/>
          <p:nvPr/>
        </p:nvSpPr>
        <p:spPr>
          <a:xfrm>
            <a:off x="1886359" y="2078617"/>
            <a:ext cx="508064" cy="64577"/>
          </a:xfrm>
          <a:prstGeom prst="rect">
            <a:avLst/>
          </a:prstGeom>
          <a:noFill/>
          <a:ln w="12700" cap="sq" cmpd="sng" algn="ctr">
            <a:solidFill>
              <a:srgbClr val="C39A59"/>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1200" kern="0">
              <a:solidFill>
                <a:srgbClr val="FFFFFF"/>
              </a:solidFill>
              <a:latin typeface="Sakkal Majalla"/>
            </a:endParaRPr>
          </a:p>
        </p:txBody>
      </p:sp>
      <p:cxnSp>
        <p:nvCxnSpPr>
          <p:cNvPr id="29" name="Straight Connector 28">
            <a:extLst>
              <a:ext uri="{FF2B5EF4-FFF2-40B4-BE49-F238E27FC236}">
                <a16:creationId xmlns:a16="http://schemas.microsoft.com/office/drawing/2014/main" id="{1523E710-8B3B-AE4E-DCDA-735DD032FC17}"/>
              </a:ext>
            </a:extLst>
          </p:cNvPr>
          <p:cNvCxnSpPr>
            <a:cxnSpLocks/>
          </p:cNvCxnSpPr>
          <p:nvPr/>
        </p:nvCxnSpPr>
        <p:spPr>
          <a:xfrm flipH="1">
            <a:off x="1565784" y="2142001"/>
            <a:ext cx="326669" cy="80456"/>
          </a:xfrm>
          <a:prstGeom prst="line">
            <a:avLst/>
          </a:prstGeom>
          <a:noFill/>
          <a:ln w="12700" cap="flat" cmpd="sng" algn="ctr">
            <a:solidFill>
              <a:srgbClr val="C39A59"/>
            </a:solidFill>
            <a:prstDash val="solid"/>
            <a:miter lim="800000"/>
            <a:tailEnd type="none"/>
          </a:ln>
          <a:effectLst/>
        </p:spPr>
      </p:cxnSp>
      <p:cxnSp>
        <p:nvCxnSpPr>
          <p:cNvPr id="30" name="Straight Connector 29">
            <a:extLst>
              <a:ext uri="{FF2B5EF4-FFF2-40B4-BE49-F238E27FC236}">
                <a16:creationId xmlns:a16="http://schemas.microsoft.com/office/drawing/2014/main" id="{DEB369F9-A00B-FA18-CBC6-528F7B413153}"/>
              </a:ext>
            </a:extLst>
          </p:cNvPr>
          <p:cNvCxnSpPr>
            <a:cxnSpLocks/>
          </p:cNvCxnSpPr>
          <p:nvPr/>
        </p:nvCxnSpPr>
        <p:spPr>
          <a:xfrm>
            <a:off x="2386456" y="2143194"/>
            <a:ext cx="4666814" cy="77792"/>
          </a:xfrm>
          <a:prstGeom prst="line">
            <a:avLst/>
          </a:prstGeom>
          <a:noFill/>
          <a:ln w="12700" cap="flat" cmpd="sng" algn="ctr">
            <a:solidFill>
              <a:srgbClr val="C39A59"/>
            </a:solidFill>
            <a:prstDash val="solid"/>
            <a:miter lim="800000"/>
            <a:tailEnd type="none"/>
          </a:ln>
          <a:effectLst/>
        </p:spPr>
      </p:cxnSp>
      <p:sp>
        <p:nvSpPr>
          <p:cNvPr id="31" name="Rectangle 30">
            <a:extLst>
              <a:ext uri="{FF2B5EF4-FFF2-40B4-BE49-F238E27FC236}">
                <a16:creationId xmlns:a16="http://schemas.microsoft.com/office/drawing/2014/main" id="{00C5D4F7-8538-25BE-C38C-61C03410681D}"/>
              </a:ext>
            </a:extLst>
          </p:cNvPr>
          <p:cNvSpPr/>
          <p:nvPr/>
        </p:nvSpPr>
        <p:spPr>
          <a:xfrm>
            <a:off x="5496662" y="999194"/>
            <a:ext cx="1625356" cy="648356"/>
          </a:xfrm>
          <a:prstGeom prst="rect">
            <a:avLst/>
          </a:prstGeom>
          <a:noFill/>
          <a:ln w="6350" cap="sq"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spcBef>
                <a:spcPts val="600"/>
              </a:spcBef>
              <a:spcAft>
                <a:spcPts val="225"/>
              </a:spcAft>
              <a:defRPr/>
            </a:pPr>
            <a:r>
              <a:rPr lang="en-US" sz="900">
                <a:solidFill>
                  <a:prstClr val="black">
                    <a:lumMod val="65000"/>
                    <a:lumOff val="35000"/>
                  </a:prstClr>
                </a:solidFill>
                <a:latin typeface="Fund Light" pitchFamily="2" charset="-78"/>
                <a:cs typeface="Fund Light" pitchFamily="2" charset="-78"/>
              </a:rPr>
              <a:t>Access the Saudi factories database, with 11,000+ local suppliers across 12,000+ products</a:t>
            </a:r>
          </a:p>
        </p:txBody>
      </p:sp>
      <p:sp>
        <p:nvSpPr>
          <p:cNvPr id="32" name="Rectangle: Rounded Corners 89">
            <a:extLst>
              <a:ext uri="{FF2B5EF4-FFF2-40B4-BE49-F238E27FC236}">
                <a16:creationId xmlns:a16="http://schemas.microsoft.com/office/drawing/2014/main" id="{3E5950B2-D0A7-A858-B354-7CC2F9876A46}"/>
              </a:ext>
            </a:extLst>
          </p:cNvPr>
          <p:cNvSpPr/>
          <p:nvPr/>
        </p:nvSpPr>
        <p:spPr>
          <a:xfrm>
            <a:off x="7360921" y="1387968"/>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Name</a:t>
            </a:r>
          </a:p>
        </p:txBody>
      </p:sp>
      <p:sp>
        <p:nvSpPr>
          <p:cNvPr id="33" name="Rectangle: Rounded Corners 91">
            <a:extLst>
              <a:ext uri="{FF2B5EF4-FFF2-40B4-BE49-F238E27FC236}">
                <a16:creationId xmlns:a16="http://schemas.microsoft.com/office/drawing/2014/main" id="{BCCE5180-7E33-2743-0A75-E94CA640BC68}"/>
              </a:ext>
            </a:extLst>
          </p:cNvPr>
          <p:cNvSpPr/>
          <p:nvPr/>
        </p:nvSpPr>
        <p:spPr>
          <a:xfrm>
            <a:off x="7360921" y="2460312"/>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Main activity</a:t>
            </a:r>
          </a:p>
        </p:txBody>
      </p:sp>
      <p:sp>
        <p:nvSpPr>
          <p:cNvPr id="34" name="Rectangle: Rounded Corners 92">
            <a:extLst>
              <a:ext uri="{FF2B5EF4-FFF2-40B4-BE49-F238E27FC236}">
                <a16:creationId xmlns:a16="http://schemas.microsoft.com/office/drawing/2014/main" id="{20422A23-BF39-4B33-CCF0-EEBE19D8FFE9}"/>
              </a:ext>
            </a:extLst>
          </p:cNvPr>
          <p:cNvSpPr/>
          <p:nvPr/>
        </p:nvSpPr>
        <p:spPr>
          <a:xfrm>
            <a:off x="7360921" y="2817760"/>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Region</a:t>
            </a:r>
          </a:p>
        </p:txBody>
      </p:sp>
      <p:sp>
        <p:nvSpPr>
          <p:cNvPr id="35" name="Rectangle: Rounded Corners 93">
            <a:extLst>
              <a:ext uri="{FF2B5EF4-FFF2-40B4-BE49-F238E27FC236}">
                <a16:creationId xmlns:a16="http://schemas.microsoft.com/office/drawing/2014/main" id="{63330066-CF62-8DE4-98D0-973C2940688E}"/>
              </a:ext>
            </a:extLst>
          </p:cNvPr>
          <p:cNvSpPr/>
          <p:nvPr/>
        </p:nvSpPr>
        <p:spPr>
          <a:xfrm>
            <a:off x="7360921" y="3175208"/>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Website</a:t>
            </a:r>
          </a:p>
        </p:txBody>
      </p:sp>
      <p:sp>
        <p:nvSpPr>
          <p:cNvPr id="36" name="Rectangle: Rounded Corners 94">
            <a:extLst>
              <a:ext uri="{FF2B5EF4-FFF2-40B4-BE49-F238E27FC236}">
                <a16:creationId xmlns:a16="http://schemas.microsoft.com/office/drawing/2014/main" id="{46915FB5-7A2C-81F5-8BBD-43557A80A93D}"/>
              </a:ext>
            </a:extLst>
          </p:cNvPr>
          <p:cNvSpPr/>
          <p:nvPr/>
        </p:nvSpPr>
        <p:spPr>
          <a:xfrm>
            <a:off x="7360921" y="3532656"/>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Email</a:t>
            </a:r>
          </a:p>
        </p:txBody>
      </p:sp>
      <p:sp>
        <p:nvSpPr>
          <p:cNvPr id="37" name="Rectangle: Rounded Corners 95">
            <a:extLst>
              <a:ext uri="{FF2B5EF4-FFF2-40B4-BE49-F238E27FC236}">
                <a16:creationId xmlns:a16="http://schemas.microsoft.com/office/drawing/2014/main" id="{200742AF-1F00-0BC9-566C-4573EE4F4EB5}"/>
              </a:ext>
            </a:extLst>
          </p:cNvPr>
          <p:cNvSpPr/>
          <p:nvPr/>
        </p:nvSpPr>
        <p:spPr>
          <a:xfrm>
            <a:off x="7360921" y="3890104"/>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Phone no.</a:t>
            </a:r>
          </a:p>
        </p:txBody>
      </p:sp>
      <p:sp>
        <p:nvSpPr>
          <p:cNvPr id="38" name="Rectangle: Rounded Corners 96">
            <a:extLst>
              <a:ext uri="{FF2B5EF4-FFF2-40B4-BE49-F238E27FC236}">
                <a16:creationId xmlns:a16="http://schemas.microsoft.com/office/drawing/2014/main" id="{EEA837DB-0B6F-14B9-2A37-85F4F5534DCF}"/>
              </a:ext>
            </a:extLst>
          </p:cNvPr>
          <p:cNvSpPr/>
          <p:nvPr/>
        </p:nvSpPr>
        <p:spPr>
          <a:xfrm>
            <a:off x="7360921" y="2107492"/>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Allowed amount of production</a:t>
            </a:r>
          </a:p>
        </p:txBody>
      </p:sp>
      <p:sp>
        <p:nvSpPr>
          <p:cNvPr id="39" name="Rectangle: Rounded Corners 106">
            <a:extLst>
              <a:ext uri="{FF2B5EF4-FFF2-40B4-BE49-F238E27FC236}">
                <a16:creationId xmlns:a16="http://schemas.microsoft.com/office/drawing/2014/main" id="{85BF63A7-CA53-9805-7820-1E7657AA2469}"/>
              </a:ext>
            </a:extLst>
          </p:cNvPr>
          <p:cNvSpPr/>
          <p:nvPr/>
        </p:nvSpPr>
        <p:spPr>
          <a:xfrm>
            <a:off x="7360921" y="1751827"/>
            <a:ext cx="1528979" cy="274703"/>
          </a:xfrm>
          <a:prstGeom prst="round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1000"/>
              </a:lnSpc>
              <a:defRPr/>
            </a:pPr>
            <a:r>
              <a:rPr lang="en-US" sz="900" spc="75">
                <a:solidFill>
                  <a:srgbClr val="FFFFFF"/>
                </a:solidFill>
                <a:latin typeface="Fund Light" pitchFamily="2" charset="-78"/>
                <a:cs typeface="Fund Light" pitchFamily="2" charset="-78"/>
              </a:rPr>
              <a:t>List of supplied products</a:t>
            </a:r>
          </a:p>
        </p:txBody>
      </p:sp>
      <p:sp>
        <p:nvSpPr>
          <p:cNvPr id="40" name="Rectangle 39">
            <a:extLst>
              <a:ext uri="{FF2B5EF4-FFF2-40B4-BE49-F238E27FC236}">
                <a16:creationId xmlns:a16="http://schemas.microsoft.com/office/drawing/2014/main" id="{8837CA8D-ACD9-ACAE-6DBA-FED74192EE1A}"/>
              </a:ext>
            </a:extLst>
          </p:cNvPr>
          <p:cNvSpPr/>
          <p:nvPr/>
        </p:nvSpPr>
        <p:spPr>
          <a:xfrm>
            <a:off x="7128944" y="1164755"/>
            <a:ext cx="1893057" cy="256635"/>
          </a:xfrm>
          <a:prstGeom prst="rect">
            <a:avLst/>
          </a:prstGeom>
          <a:noFill/>
          <a:ln w="6350" cap="sq"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9525" defTabSz="685800">
              <a:lnSpc>
                <a:spcPct val="90000"/>
              </a:lnSpc>
              <a:spcBef>
                <a:spcPts val="225"/>
              </a:spcBef>
              <a:spcAft>
                <a:spcPts val="225"/>
              </a:spcAft>
              <a:defRPr/>
            </a:pPr>
            <a:r>
              <a:rPr lang="en-US" sz="900" b="1">
                <a:solidFill>
                  <a:prstClr val="black">
                    <a:lumMod val="65000"/>
                    <a:lumOff val="35000"/>
                  </a:prstClr>
                </a:solidFill>
                <a:latin typeface="Fund Light" pitchFamily="2" charset="-78"/>
                <a:cs typeface="Fund Light" pitchFamily="2" charset="-78"/>
              </a:rPr>
              <a:t>Available company information</a:t>
            </a:r>
          </a:p>
        </p:txBody>
      </p:sp>
      <p:sp>
        <p:nvSpPr>
          <p:cNvPr id="41" name="Rectangle 40">
            <a:hlinkClick r:id="rId7"/>
            <a:extLst>
              <a:ext uri="{FF2B5EF4-FFF2-40B4-BE49-F238E27FC236}">
                <a16:creationId xmlns:a16="http://schemas.microsoft.com/office/drawing/2014/main" id="{3460FAEB-7D62-A1D0-222F-F29E03DC5F9F}"/>
              </a:ext>
            </a:extLst>
          </p:cNvPr>
          <p:cNvSpPr/>
          <p:nvPr/>
        </p:nvSpPr>
        <p:spPr>
          <a:xfrm>
            <a:off x="5059316" y="1131166"/>
            <a:ext cx="378457" cy="3238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17062318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1C0CA777-9195-0B7B-193D-4E6EAA67B2ED}"/>
              </a:ext>
            </a:extLst>
          </p:cNvPr>
          <p:cNvGraphicFramePr>
            <a:graphicFrameLocks noChangeAspect="1"/>
          </p:cNvGraphicFramePr>
          <p:nvPr>
            <p:custDataLst>
              <p:tags r:id="rId1"/>
            </p:custDataLst>
            <p:extLst>
              <p:ext uri="{D42A27DB-BD31-4B8C-83A1-F6EECF244321}">
                <p14:modId xmlns:p14="http://schemas.microsoft.com/office/powerpoint/2010/main" val="331200377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2" name="think-cell data - do not delete" hidden="1">
                        <a:extLst>
                          <a:ext uri="{FF2B5EF4-FFF2-40B4-BE49-F238E27FC236}">
                            <a16:creationId xmlns:a16="http://schemas.microsoft.com/office/drawing/2014/main" id="{1C0CA777-9195-0B7B-193D-4E6EAA67B2E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385DA4EC-6653-4C24-BBFB-E47298436015}"/>
              </a:ext>
            </a:extLst>
          </p:cNvPr>
          <p:cNvSpPr>
            <a:spLocks noGrp="1"/>
          </p:cNvSpPr>
          <p:nvPr>
            <p:ph type="title"/>
          </p:nvPr>
        </p:nvSpPr>
        <p:spPr/>
        <p:txBody>
          <a:bodyPr vert="horz"/>
          <a:lstStyle/>
          <a:p>
            <a:r>
              <a:rPr lang="en-US"/>
              <a:t>Typical sources for local data to inform the business model</a:t>
            </a:r>
          </a:p>
        </p:txBody>
      </p:sp>
      <p:cxnSp>
        <p:nvCxnSpPr>
          <p:cNvPr id="115" name="Straight Arrow Connector 114">
            <a:extLst>
              <a:ext uri="{FF2B5EF4-FFF2-40B4-BE49-F238E27FC236}">
                <a16:creationId xmlns:a16="http://schemas.microsoft.com/office/drawing/2014/main" id="{93934482-241D-6D20-4197-054C4287232E}"/>
              </a:ext>
            </a:extLst>
          </p:cNvPr>
          <p:cNvCxnSpPr>
            <a:cxnSpLocks/>
          </p:cNvCxnSpPr>
          <p:nvPr/>
        </p:nvCxnSpPr>
        <p:spPr>
          <a:xfrm>
            <a:off x="455129" y="3228998"/>
            <a:ext cx="7875463" cy="0"/>
          </a:xfrm>
          <a:prstGeom prst="straightConnector1">
            <a:avLst/>
          </a:prstGeom>
          <a:noFill/>
          <a:ln w="6350" cap="flat" cmpd="sng" algn="ctr">
            <a:solidFill>
              <a:schemeClr val="bg1">
                <a:lumMod val="75000"/>
              </a:schemeClr>
            </a:solidFill>
            <a:prstDash val="sysDot"/>
            <a:miter lim="800000"/>
            <a:tailEnd type="none"/>
          </a:ln>
          <a:effectLst/>
        </p:spPr>
      </p:cxnSp>
      <p:cxnSp>
        <p:nvCxnSpPr>
          <p:cNvPr id="116" name="Straight Arrow Connector 115">
            <a:extLst>
              <a:ext uri="{FF2B5EF4-FFF2-40B4-BE49-F238E27FC236}">
                <a16:creationId xmlns:a16="http://schemas.microsoft.com/office/drawing/2014/main" id="{20FE93EB-1F77-3624-0145-8000B859082F}"/>
              </a:ext>
            </a:extLst>
          </p:cNvPr>
          <p:cNvCxnSpPr>
            <a:cxnSpLocks/>
          </p:cNvCxnSpPr>
          <p:nvPr/>
        </p:nvCxnSpPr>
        <p:spPr>
          <a:xfrm>
            <a:off x="1670118" y="1745132"/>
            <a:ext cx="4297680" cy="0"/>
          </a:xfrm>
          <a:prstGeom prst="straightConnector1">
            <a:avLst/>
          </a:prstGeom>
          <a:noFill/>
          <a:ln w="6350" cap="flat" cmpd="sng" algn="ctr">
            <a:solidFill>
              <a:schemeClr val="bg1">
                <a:lumMod val="75000"/>
              </a:schemeClr>
            </a:solidFill>
            <a:prstDash val="sysDot"/>
            <a:miter lim="800000"/>
            <a:tailEnd type="none"/>
          </a:ln>
          <a:effectLst/>
        </p:spPr>
      </p:cxnSp>
      <p:cxnSp>
        <p:nvCxnSpPr>
          <p:cNvPr id="117" name="Straight Arrow Connector 116">
            <a:extLst>
              <a:ext uri="{FF2B5EF4-FFF2-40B4-BE49-F238E27FC236}">
                <a16:creationId xmlns:a16="http://schemas.microsoft.com/office/drawing/2014/main" id="{8C17BECB-AE91-15AE-9E93-449A5EDFF0AD}"/>
              </a:ext>
            </a:extLst>
          </p:cNvPr>
          <p:cNvCxnSpPr>
            <a:cxnSpLocks/>
          </p:cNvCxnSpPr>
          <p:nvPr/>
        </p:nvCxnSpPr>
        <p:spPr>
          <a:xfrm>
            <a:off x="455129" y="2239754"/>
            <a:ext cx="7875463" cy="0"/>
          </a:xfrm>
          <a:prstGeom prst="straightConnector1">
            <a:avLst/>
          </a:prstGeom>
          <a:noFill/>
          <a:ln w="6350" cap="flat" cmpd="sng" algn="ctr">
            <a:solidFill>
              <a:schemeClr val="bg1">
                <a:lumMod val="75000"/>
              </a:schemeClr>
            </a:solidFill>
            <a:prstDash val="sysDot"/>
            <a:miter lim="800000"/>
            <a:tailEnd type="none"/>
          </a:ln>
          <a:effectLst/>
        </p:spPr>
      </p:cxnSp>
      <p:cxnSp>
        <p:nvCxnSpPr>
          <p:cNvPr id="118" name="Straight Arrow Connector 117">
            <a:extLst>
              <a:ext uri="{FF2B5EF4-FFF2-40B4-BE49-F238E27FC236}">
                <a16:creationId xmlns:a16="http://schemas.microsoft.com/office/drawing/2014/main" id="{80A2C9DC-BB83-321F-74E7-46A87C3CF4AE}"/>
              </a:ext>
            </a:extLst>
          </p:cNvPr>
          <p:cNvCxnSpPr>
            <a:cxnSpLocks/>
          </p:cNvCxnSpPr>
          <p:nvPr/>
        </p:nvCxnSpPr>
        <p:spPr>
          <a:xfrm>
            <a:off x="455129" y="2734376"/>
            <a:ext cx="7875463" cy="0"/>
          </a:xfrm>
          <a:prstGeom prst="straightConnector1">
            <a:avLst/>
          </a:prstGeom>
          <a:noFill/>
          <a:ln w="6350" cap="flat" cmpd="sng" algn="ctr">
            <a:solidFill>
              <a:schemeClr val="bg1">
                <a:lumMod val="75000"/>
              </a:schemeClr>
            </a:solidFill>
            <a:prstDash val="sysDot"/>
            <a:miter lim="800000"/>
            <a:tailEnd type="none"/>
          </a:ln>
          <a:effectLst/>
        </p:spPr>
      </p:cxnSp>
      <p:cxnSp>
        <p:nvCxnSpPr>
          <p:cNvPr id="119" name="Straight Connector 118">
            <a:extLst>
              <a:ext uri="{FF2B5EF4-FFF2-40B4-BE49-F238E27FC236}">
                <a16:creationId xmlns:a16="http://schemas.microsoft.com/office/drawing/2014/main" id="{B9AA92EA-A29D-27D9-C536-05A444CEBFAA}"/>
              </a:ext>
            </a:extLst>
          </p:cNvPr>
          <p:cNvCxnSpPr>
            <a:cxnSpLocks/>
          </p:cNvCxnSpPr>
          <p:nvPr/>
        </p:nvCxnSpPr>
        <p:spPr>
          <a:xfrm>
            <a:off x="2796283" y="1222926"/>
            <a:ext cx="0" cy="1203478"/>
          </a:xfrm>
          <a:prstGeom prst="line">
            <a:avLst/>
          </a:prstGeom>
          <a:noFill/>
          <a:ln w="6350" cap="flat" cmpd="sng" algn="ctr">
            <a:solidFill>
              <a:srgbClr val="FFFFFF">
                <a:alpha val="22000"/>
              </a:srgbClr>
            </a:solidFill>
            <a:prstDash val="solid"/>
            <a:miter lim="800000"/>
            <a:tailEnd type="none"/>
          </a:ln>
          <a:effectLst/>
        </p:spPr>
      </p:cxnSp>
      <p:sp>
        <p:nvSpPr>
          <p:cNvPr id="120" name="Rectangle: Rounded Corners 178">
            <a:extLst>
              <a:ext uri="{FF2B5EF4-FFF2-40B4-BE49-F238E27FC236}">
                <a16:creationId xmlns:a16="http://schemas.microsoft.com/office/drawing/2014/main" id="{D67E60A1-7D3E-FD03-AF50-19801DACE1E5}"/>
              </a:ext>
            </a:extLst>
          </p:cNvPr>
          <p:cNvSpPr>
            <a:spLocks/>
          </p:cNvSpPr>
          <p:nvPr/>
        </p:nvSpPr>
        <p:spPr>
          <a:xfrm>
            <a:off x="455129" y="1268322"/>
            <a:ext cx="1164155" cy="950034"/>
          </a:xfrm>
          <a:prstGeom prst="roundRect">
            <a:avLst>
              <a:gd name="adj" fmla="val 2432"/>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p>
            <a:pPr defTabSz="685800">
              <a:lnSpc>
                <a:spcPts val="960"/>
              </a:lnSpc>
              <a:defRPr/>
            </a:pPr>
            <a:r>
              <a:rPr lang="en-US" sz="900">
                <a:solidFill>
                  <a:prstClr val="black">
                    <a:lumMod val="65000"/>
                    <a:lumOff val="35000"/>
                  </a:prstClr>
                </a:solidFill>
                <a:latin typeface="Fund Light" pitchFamily="2" charset="-78"/>
                <a:cs typeface="Fund Light" pitchFamily="2" charset="-78"/>
              </a:rPr>
              <a:t>Land prices</a:t>
            </a:r>
          </a:p>
        </p:txBody>
      </p:sp>
      <p:sp>
        <p:nvSpPr>
          <p:cNvPr id="123" name="TextBox 122">
            <a:extLst>
              <a:ext uri="{FF2B5EF4-FFF2-40B4-BE49-F238E27FC236}">
                <a16:creationId xmlns:a16="http://schemas.microsoft.com/office/drawing/2014/main" id="{395F82DB-9021-40A6-62B6-A00904F2AD23}"/>
              </a:ext>
            </a:extLst>
          </p:cNvPr>
          <p:cNvSpPr txBox="1">
            <a:spLocks/>
          </p:cNvSpPr>
          <p:nvPr/>
        </p:nvSpPr>
        <p:spPr>
          <a:xfrm>
            <a:off x="1670118" y="1268321"/>
            <a:ext cx="109958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endParaRPr lang="en-US" sz="900" spc="-15">
              <a:latin typeface="Fund Light" pitchFamily="2" charset="-78"/>
              <a:cs typeface="Fund Light" pitchFamily="2" charset="-78"/>
            </a:endParaRPr>
          </a:p>
        </p:txBody>
      </p:sp>
      <p:sp>
        <p:nvSpPr>
          <p:cNvPr id="124" name="TextBox 123">
            <a:extLst>
              <a:ext uri="{FF2B5EF4-FFF2-40B4-BE49-F238E27FC236}">
                <a16:creationId xmlns:a16="http://schemas.microsoft.com/office/drawing/2014/main" id="{2011A5CA-CE53-C6B5-3E30-A4BFD2CE1B3C}"/>
              </a:ext>
            </a:extLst>
          </p:cNvPr>
          <p:cNvSpPr txBox="1">
            <a:spLocks/>
          </p:cNvSpPr>
          <p:nvPr/>
        </p:nvSpPr>
        <p:spPr>
          <a:xfrm>
            <a:off x="2820535" y="1268321"/>
            <a:ext cx="316392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Land rental rates in special economic zones (SEZs)</a:t>
            </a:r>
          </a:p>
        </p:txBody>
      </p:sp>
      <p:sp>
        <p:nvSpPr>
          <p:cNvPr id="127" name="TextBox 126">
            <a:extLst>
              <a:ext uri="{FF2B5EF4-FFF2-40B4-BE49-F238E27FC236}">
                <a16:creationId xmlns:a16="http://schemas.microsoft.com/office/drawing/2014/main" id="{0A347FCE-FDE9-44FA-0343-EE7253F9E21A}"/>
              </a:ext>
            </a:extLst>
          </p:cNvPr>
          <p:cNvSpPr txBox="1">
            <a:spLocks/>
          </p:cNvSpPr>
          <p:nvPr/>
        </p:nvSpPr>
        <p:spPr>
          <a:xfrm>
            <a:off x="1670118" y="1762943"/>
            <a:ext cx="109958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endParaRPr lang="en-US" sz="900" spc="-15">
              <a:latin typeface="Fund Light" pitchFamily="2" charset="-78"/>
              <a:cs typeface="Fund Light" pitchFamily="2" charset="-78"/>
            </a:endParaRPr>
          </a:p>
        </p:txBody>
      </p:sp>
      <p:sp>
        <p:nvSpPr>
          <p:cNvPr id="128" name="TextBox 127">
            <a:extLst>
              <a:ext uri="{FF2B5EF4-FFF2-40B4-BE49-F238E27FC236}">
                <a16:creationId xmlns:a16="http://schemas.microsoft.com/office/drawing/2014/main" id="{EA4B97DD-C916-F847-4032-6B0DAB2E9A1E}"/>
              </a:ext>
            </a:extLst>
          </p:cNvPr>
          <p:cNvSpPr txBox="1">
            <a:spLocks/>
          </p:cNvSpPr>
          <p:nvPr/>
        </p:nvSpPr>
        <p:spPr>
          <a:xfrm>
            <a:off x="2820535" y="1762943"/>
            <a:ext cx="316392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Land rental rates in industrial cities</a:t>
            </a:r>
          </a:p>
        </p:txBody>
      </p:sp>
      <p:sp>
        <p:nvSpPr>
          <p:cNvPr id="131" name="TextBox 130">
            <a:extLst>
              <a:ext uri="{FF2B5EF4-FFF2-40B4-BE49-F238E27FC236}">
                <a16:creationId xmlns:a16="http://schemas.microsoft.com/office/drawing/2014/main" id="{204B3F13-1F3D-B071-1A7E-6AEE363EA956}"/>
              </a:ext>
            </a:extLst>
          </p:cNvPr>
          <p:cNvSpPr txBox="1">
            <a:spLocks/>
          </p:cNvSpPr>
          <p:nvPr/>
        </p:nvSpPr>
        <p:spPr>
          <a:xfrm>
            <a:off x="1670118" y="2257565"/>
            <a:ext cx="109958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endParaRPr lang="en-US" sz="900" spc="-15">
              <a:latin typeface="Fund Light" pitchFamily="2" charset="-78"/>
              <a:cs typeface="Fund Light" pitchFamily="2" charset="-78"/>
            </a:endParaRPr>
          </a:p>
        </p:txBody>
      </p:sp>
      <p:sp>
        <p:nvSpPr>
          <p:cNvPr id="132" name="Rectangle: Rounded Corners 179">
            <a:extLst>
              <a:ext uri="{FF2B5EF4-FFF2-40B4-BE49-F238E27FC236}">
                <a16:creationId xmlns:a16="http://schemas.microsoft.com/office/drawing/2014/main" id="{29DD1E39-B599-07B3-A3A2-142E09B7D6CF}"/>
              </a:ext>
            </a:extLst>
          </p:cNvPr>
          <p:cNvSpPr>
            <a:spLocks/>
          </p:cNvSpPr>
          <p:nvPr/>
        </p:nvSpPr>
        <p:spPr>
          <a:xfrm>
            <a:off x="455129" y="2257565"/>
            <a:ext cx="1164155" cy="459000"/>
          </a:xfrm>
          <a:prstGeom prst="roundRect">
            <a:avLst>
              <a:gd name="adj" fmla="val 6243"/>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p>
            <a:pPr defTabSz="685800">
              <a:lnSpc>
                <a:spcPts val="960"/>
              </a:lnSpc>
              <a:defRPr/>
            </a:pPr>
            <a:r>
              <a:rPr lang="en-US" sz="900">
                <a:solidFill>
                  <a:prstClr val="black">
                    <a:lumMod val="65000"/>
                    <a:lumOff val="35000"/>
                  </a:prstClr>
                </a:solidFill>
                <a:latin typeface="Fund Light" pitchFamily="2" charset="-78"/>
                <a:cs typeface="Fund Light" pitchFamily="2" charset="-78"/>
              </a:rPr>
              <a:t>Utilities and energy costs</a:t>
            </a:r>
          </a:p>
        </p:txBody>
      </p:sp>
      <p:sp>
        <p:nvSpPr>
          <p:cNvPr id="133" name="TextBox 132">
            <a:extLst>
              <a:ext uri="{FF2B5EF4-FFF2-40B4-BE49-F238E27FC236}">
                <a16:creationId xmlns:a16="http://schemas.microsoft.com/office/drawing/2014/main" id="{C99BAE04-D9BE-F0AD-79E3-F9830E38D6DF}"/>
              </a:ext>
            </a:extLst>
          </p:cNvPr>
          <p:cNvSpPr txBox="1">
            <a:spLocks/>
          </p:cNvSpPr>
          <p:nvPr/>
        </p:nvSpPr>
        <p:spPr>
          <a:xfrm>
            <a:off x="2820535" y="2257565"/>
            <a:ext cx="316392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Cost of utilities for industrial use (electricity, potable water, gas 1.27 USD/Mn BTU)</a:t>
            </a:r>
          </a:p>
        </p:txBody>
      </p:sp>
      <p:sp>
        <p:nvSpPr>
          <p:cNvPr id="134" name="TextBox 133">
            <a:extLst>
              <a:ext uri="{FF2B5EF4-FFF2-40B4-BE49-F238E27FC236}">
                <a16:creationId xmlns:a16="http://schemas.microsoft.com/office/drawing/2014/main" id="{5A399ECB-F4C7-652F-6B9B-92250874687B}"/>
              </a:ext>
            </a:extLst>
          </p:cNvPr>
          <p:cNvSpPr txBox="1">
            <a:spLocks/>
          </p:cNvSpPr>
          <p:nvPr/>
        </p:nvSpPr>
        <p:spPr>
          <a:xfrm>
            <a:off x="6091035" y="2257565"/>
            <a:ext cx="1792865"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Business model – for estimating cost utilities</a:t>
            </a:r>
          </a:p>
        </p:txBody>
      </p:sp>
      <p:sp>
        <p:nvSpPr>
          <p:cNvPr id="136" name="TextBox 135">
            <a:extLst>
              <a:ext uri="{FF2B5EF4-FFF2-40B4-BE49-F238E27FC236}">
                <a16:creationId xmlns:a16="http://schemas.microsoft.com/office/drawing/2014/main" id="{9E261FEB-5E4B-52F3-168A-A1EB397A35F9}"/>
              </a:ext>
            </a:extLst>
          </p:cNvPr>
          <p:cNvSpPr txBox="1">
            <a:spLocks/>
          </p:cNvSpPr>
          <p:nvPr/>
        </p:nvSpPr>
        <p:spPr>
          <a:xfrm>
            <a:off x="1670118" y="2752187"/>
            <a:ext cx="109958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endParaRPr lang="en-US" sz="900" spc="-15">
              <a:latin typeface="Fund Light" pitchFamily="2" charset="-78"/>
              <a:cs typeface="Fund Light" pitchFamily="2" charset="-78"/>
            </a:endParaRPr>
          </a:p>
        </p:txBody>
      </p:sp>
      <p:sp>
        <p:nvSpPr>
          <p:cNvPr id="137" name="Rectangle: Rounded Corners 181">
            <a:extLst>
              <a:ext uri="{FF2B5EF4-FFF2-40B4-BE49-F238E27FC236}">
                <a16:creationId xmlns:a16="http://schemas.microsoft.com/office/drawing/2014/main" id="{A6E4F74C-8CDD-F759-6140-BFEE4DD816A2}"/>
              </a:ext>
            </a:extLst>
          </p:cNvPr>
          <p:cNvSpPr>
            <a:spLocks/>
          </p:cNvSpPr>
          <p:nvPr/>
        </p:nvSpPr>
        <p:spPr>
          <a:xfrm>
            <a:off x="455129" y="2752187"/>
            <a:ext cx="1164155" cy="459000"/>
          </a:xfrm>
          <a:prstGeom prst="roundRect">
            <a:avLst>
              <a:gd name="adj" fmla="val 6243"/>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p>
            <a:pPr defTabSz="685800">
              <a:lnSpc>
                <a:spcPts val="960"/>
              </a:lnSpc>
              <a:defRPr/>
            </a:pPr>
            <a:r>
              <a:rPr lang="en-US" sz="900">
                <a:solidFill>
                  <a:prstClr val="black">
                    <a:lumMod val="65000"/>
                    <a:lumOff val="35000"/>
                  </a:prstClr>
                </a:solidFill>
                <a:latin typeface="Fund Light" pitchFamily="2" charset="-78"/>
                <a:cs typeface="Fund Light" pitchFamily="2" charset="-78"/>
              </a:rPr>
              <a:t>Saudization exemption (SEZ)</a:t>
            </a:r>
          </a:p>
        </p:txBody>
      </p:sp>
      <p:sp>
        <p:nvSpPr>
          <p:cNvPr id="138" name="TextBox 137">
            <a:extLst>
              <a:ext uri="{FF2B5EF4-FFF2-40B4-BE49-F238E27FC236}">
                <a16:creationId xmlns:a16="http://schemas.microsoft.com/office/drawing/2014/main" id="{A1039DA2-8345-9539-18EA-BE6FD44DCE6E}"/>
              </a:ext>
            </a:extLst>
          </p:cNvPr>
          <p:cNvSpPr txBox="1">
            <a:spLocks/>
          </p:cNvSpPr>
          <p:nvPr/>
        </p:nvSpPr>
        <p:spPr>
          <a:xfrm>
            <a:off x="2820535" y="2752187"/>
            <a:ext cx="316392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Requirements for SEZ residents</a:t>
            </a:r>
          </a:p>
        </p:txBody>
      </p:sp>
      <p:sp>
        <p:nvSpPr>
          <p:cNvPr id="139" name="TextBox 138">
            <a:extLst>
              <a:ext uri="{FF2B5EF4-FFF2-40B4-BE49-F238E27FC236}">
                <a16:creationId xmlns:a16="http://schemas.microsoft.com/office/drawing/2014/main" id="{F6A8E5A6-0504-2D70-3D64-2F0B29DC46E7}"/>
              </a:ext>
            </a:extLst>
          </p:cNvPr>
          <p:cNvSpPr txBox="1">
            <a:spLocks/>
          </p:cNvSpPr>
          <p:nvPr/>
        </p:nvSpPr>
        <p:spPr>
          <a:xfrm>
            <a:off x="6091035" y="2752187"/>
            <a:ext cx="1792865"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Business model – for estimating relevant locations for the facility</a:t>
            </a:r>
          </a:p>
        </p:txBody>
      </p:sp>
      <p:sp>
        <p:nvSpPr>
          <p:cNvPr id="140" name="Rectangle: Top Corners Rounded 139">
            <a:extLst>
              <a:ext uri="{FF2B5EF4-FFF2-40B4-BE49-F238E27FC236}">
                <a16:creationId xmlns:a16="http://schemas.microsoft.com/office/drawing/2014/main" id="{0D3B7BF1-6C3B-EC5D-E6D0-1B042E9B1EDA}"/>
              </a:ext>
            </a:extLst>
          </p:cNvPr>
          <p:cNvSpPr>
            <a:spLocks/>
          </p:cNvSpPr>
          <p:nvPr/>
        </p:nvSpPr>
        <p:spPr>
          <a:xfrm>
            <a:off x="455129" y="858523"/>
            <a:ext cx="1164155" cy="377160"/>
          </a:xfrm>
          <a:prstGeom prst="round2SameRect">
            <a:avLst/>
          </a:prstGeom>
          <a:solidFill>
            <a:srgbClr val="C39A59"/>
          </a:solidFill>
          <a:ln w="12700" cap="sq" cmpd="sng" algn="ctr">
            <a:noFill/>
            <a:prstDash val="solid"/>
            <a:miter lim="800000"/>
          </a:ln>
          <a:effectLst>
            <a:outerShdw dist="25400" dir="5400000" algn="t" rotWithShape="0">
              <a:srgbClr val="FFFFFF"/>
            </a:outerShdw>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960"/>
              </a:lnSpc>
              <a:defRPr/>
            </a:pPr>
            <a:r>
              <a:rPr lang="en-US" sz="900" spc="75">
                <a:solidFill>
                  <a:srgbClr val="FFFFFF"/>
                </a:solidFill>
                <a:latin typeface="Fund Light" pitchFamily="2" charset="-78"/>
                <a:cs typeface="Fund Light" pitchFamily="2" charset="-78"/>
              </a:rPr>
              <a:t>Source</a:t>
            </a:r>
          </a:p>
        </p:txBody>
      </p:sp>
      <p:sp>
        <p:nvSpPr>
          <p:cNvPr id="142" name="Rectangle: Top Corners Rounded 90">
            <a:extLst>
              <a:ext uri="{FF2B5EF4-FFF2-40B4-BE49-F238E27FC236}">
                <a16:creationId xmlns:a16="http://schemas.microsoft.com/office/drawing/2014/main" id="{CFB60BFA-F24D-A6A0-8FF2-6E59AC3073B0}"/>
              </a:ext>
            </a:extLst>
          </p:cNvPr>
          <p:cNvSpPr>
            <a:spLocks/>
          </p:cNvSpPr>
          <p:nvPr/>
        </p:nvSpPr>
        <p:spPr>
          <a:xfrm>
            <a:off x="1670118" y="858523"/>
            <a:ext cx="1099582" cy="377160"/>
          </a:xfrm>
          <a:prstGeom prst="round2Same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960"/>
              </a:lnSpc>
              <a:defRPr/>
            </a:pPr>
            <a:r>
              <a:rPr lang="en-US" sz="900" spc="75">
                <a:solidFill>
                  <a:srgbClr val="FFFFFF"/>
                </a:solidFill>
                <a:latin typeface="Fund Light" pitchFamily="2" charset="-78"/>
                <a:cs typeface="Fund Light" pitchFamily="2" charset="-78"/>
              </a:rPr>
              <a:t>Entity</a:t>
            </a:r>
          </a:p>
        </p:txBody>
      </p:sp>
      <p:sp>
        <p:nvSpPr>
          <p:cNvPr id="143" name="Rectangle: Top Corners Rounded 102">
            <a:extLst>
              <a:ext uri="{FF2B5EF4-FFF2-40B4-BE49-F238E27FC236}">
                <a16:creationId xmlns:a16="http://schemas.microsoft.com/office/drawing/2014/main" id="{D48D22A8-AC2E-B530-8102-1D7F0CB4D22D}"/>
              </a:ext>
            </a:extLst>
          </p:cNvPr>
          <p:cNvSpPr>
            <a:spLocks/>
          </p:cNvSpPr>
          <p:nvPr/>
        </p:nvSpPr>
        <p:spPr>
          <a:xfrm>
            <a:off x="6091035" y="858523"/>
            <a:ext cx="1792865" cy="377160"/>
          </a:xfrm>
          <a:prstGeom prst="round2Same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960"/>
              </a:lnSpc>
              <a:defRPr/>
            </a:pPr>
            <a:r>
              <a:rPr lang="en-US" sz="900" spc="75">
                <a:solidFill>
                  <a:srgbClr val="FFFFFF"/>
                </a:solidFill>
                <a:latin typeface="Fund Light" pitchFamily="2" charset="-78"/>
                <a:cs typeface="Fund Light" pitchFamily="2" charset="-78"/>
              </a:rPr>
              <a:t>Applicability</a:t>
            </a:r>
          </a:p>
        </p:txBody>
      </p:sp>
      <p:sp>
        <p:nvSpPr>
          <p:cNvPr id="144" name="Rectangle: Top Corners Rounded 103">
            <a:extLst>
              <a:ext uri="{FF2B5EF4-FFF2-40B4-BE49-F238E27FC236}">
                <a16:creationId xmlns:a16="http://schemas.microsoft.com/office/drawing/2014/main" id="{DD4CD516-CC12-3255-5E94-60BCB4A08821}"/>
              </a:ext>
            </a:extLst>
          </p:cNvPr>
          <p:cNvSpPr>
            <a:spLocks/>
          </p:cNvSpPr>
          <p:nvPr/>
        </p:nvSpPr>
        <p:spPr>
          <a:xfrm>
            <a:off x="2820534" y="858523"/>
            <a:ext cx="3163922" cy="377160"/>
          </a:xfrm>
          <a:prstGeom prst="round2Same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960"/>
              </a:lnSpc>
              <a:defRPr/>
            </a:pPr>
            <a:r>
              <a:rPr lang="en-US" sz="900" spc="75">
                <a:solidFill>
                  <a:srgbClr val="FFFFFF"/>
                </a:solidFill>
                <a:latin typeface="Fund Light" pitchFamily="2" charset="-78"/>
                <a:cs typeface="Fund Light" pitchFamily="2" charset="-78"/>
              </a:rPr>
              <a:t> Source description</a:t>
            </a:r>
          </a:p>
        </p:txBody>
      </p:sp>
      <p:sp>
        <p:nvSpPr>
          <p:cNvPr id="145" name="Rectangle: Top Corners Rounded 104">
            <a:extLst>
              <a:ext uri="{FF2B5EF4-FFF2-40B4-BE49-F238E27FC236}">
                <a16:creationId xmlns:a16="http://schemas.microsoft.com/office/drawing/2014/main" id="{34B5C3A7-CF4B-97D2-B5CB-DEC94AD65A77}"/>
              </a:ext>
            </a:extLst>
          </p:cNvPr>
          <p:cNvSpPr/>
          <p:nvPr/>
        </p:nvSpPr>
        <p:spPr>
          <a:xfrm>
            <a:off x="7982104" y="858523"/>
            <a:ext cx="627622" cy="377160"/>
          </a:xfrm>
          <a:prstGeom prst="round2SameRect">
            <a:avLst/>
          </a:prstGeom>
          <a:solidFill>
            <a:srgbClr val="C39A59"/>
          </a:solidFill>
          <a:ln w="12700" cap="sq" cmpd="sng" algn="ctr">
            <a:noFill/>
            <a:prstDash val="solid"/>
            <a:miter lim="800000"/>
          </a:ln>
          <a:effectLst/>
        </p:spPr>
        <p:txBody>
          <a:bodyPr rot="0" spcFirstLastPara="0" vertOverflow="overflow" horzOverflow="overflow" vert="horz" wrap="square" lIns="27000" tIns="34290" rIns="27000" bIns="0" numCol="1" spcCol="0" rtlCol="0" fromWordArt="0" anchor="ctr" anchorCtr="0" forceAA="0" compatLnSpc="1">
            <a:prstTxWarp prst="textNoShape">
              <a:avLst/>
            </a:prstTxWarp>
            <a:noAutofit/>
          </a:bodyPr>
          <a:lstStyle/>
          <a:p>
            <a:pPr algn="ctr" defTabSz="685800">
              <a:lnSpc>
                <a:spcPts val="960"/>
              </a:lnSpc>
              <a:defRPr/>
            </a:pPr>
            <a:r>
              <a:rPr lang="en-US" sz="900" spc="75">
                <a:solidFill>
                  <a:srgbClr val="FFFFFF"/>
                </a:solidFill>
                <a:latin typeface="Fund Light" pitchFamily="2" charset="-78"/>
                <a:cs typeface="Fund Light" pitchFamily="2" charset="-78"/>
              </a:rPr>
              <a:t>Link</a:t>
            </a:r>
          </a:p>
        </p:txBody>
      </p:sp>
      <p:cxnSp>
        <p:nvCxnSpPr>
          <p:cNvPr id="146" name="Straight Connector 145">
            <a:extLst>
              <a:ext uri="{FF2B5EF4-FFF2-40B4-BE49-F238E27FC236}">
                <a16:creationId xmlns:a16="http://schemas.microsoft.com/office/drawing/2014/main" id="{F2A04D9F-C9BC-F23C-103E-F3C94B93D88D}"/>
              </a:ext>
            </a:extLst>
          </p:cNvPr>
          <p:cNvCxnSpPr>
            <a:cxnSpLocks/>
          </p:cNvCxnSpPr>
          <p:nvPr/>
        </p:nvCxnSpPr>
        <p:spPr>
          <a:xfrm>
            <a:off x="6035248" y="1261860"/>
            <a:ext cx="0" cy="2938577"/>
          </a:xfrm>
          <a:prstGeom prst="line">
            <a:avLst/>
          </a:prstGeom>
          <a:noFill/>
          <a:ln w="6350" cap="flat" cmpd="sng" algn="ctr">
            <a:solidFill>
              <a:schemeClr val="bg1">
                <a:lumMod val="75000"/>
              </a:schemeClr>
            </a:solidFill>
            <a:prstDash val="sysDot"/>
            <a:miter lim="800000"/>
            <a:tailEnd type="none"/>
          </a:ln>
          <a:effectLst/>
        </p:spPr>
      </p:cxnSp>
      <p:cxnSp>
        <p:nvCxnSpPr>
          <p:cNvPr id="147" name="Straight Connector 146">
            <a:extLst>
              <a:ext uri="{FF2B5EF4-FFF2-40B4-BE49-F238E27FC236}">
                <a16:creationId xmlns:a16="http://schemas.microsoft.com/office/drawing/2014/main" id="{FB99C155-B079-0C9C-EBC2-26629DF2909F}"/>
              </a:ext>
            </a:extLst>
          </p:cNvPr>
          <p:cNvCxnSpPr>
            <a:cxnSpLocks/>
          </p:cNvCxnSpPr>
          <p:nvPr/>
        </p:nvCxnSpPr>
        <p:spPr>
          <a:xfrm>
            <a:off x="7931271" y="1261858"/>
            <a:ext cx="0" cy="2938577"/>
          </a:xfrm>
          <a:prstGeom prst="line">
            <a:avLst/>
          </a:prstGeom>
          <a:noFill/>
          <a:ln w="6350" cap="flat" cmpd="sng" algn="ctr">
            <a:solidFill>
              <a:schemeClr val="bg1">
                <a:lumMod val="75000"/>
              </a:schemeClr>
            </a:solidFill>
            <a:prstDash val="sysDot"/>
            <a:miter lim="800000"/>
            <a:tailEnd type="none"/>
          </a:ln>
          <a:effectLst/>
        </p:spPr>
      </p:cxnSp>
      <p:sp>
        <p:nvSpPr>
          <p:cNvPr id="148" name="Freeform 5">
            <a:extLst>
              <a:ext uri="{FF2B5EF4-FFF2-40B4-BE49-F238E27FC236}">
                <a16:creationId xmlns:a16="http://schemas.microsoft.com/office/drawing/2014/main" id="{2B70FD4D-211A-CAC2-E339-746B2EBE85B9}"/>
              </a:ext>
            </a:extLst>
          </p:cNvPr>
          <p:cNvSpPr/>
          <p:nvPr/>
        </p:nvSpPr>
        <p:spPr>
          <a:xfrm rot="18900000">
            <a:off x="8172711" y="1384721"/>
            <a:ext cx="216311" cy="216441"/>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nvGrpSpPr>
          <p:cNvPr id="150" name="Graphic 2">
            <a:extLst>
              <a:ext uri="{FF2B5EF4-FFF2-40B4-BE49-F238E27FC236}">
                <a16:creationId xmlns:a16="http://schemas.microsoft.com/office/drawing/2014/main" id="{8386F411-E8F1-6ABA-BCCD-E1BBDE2735DB}"/>
              </a:ext>
            </a:extLst>
          </p:cNvPr>
          <p:cNvGrpSpPr/>
          <p:nvPr/>
        </p:nvGrpSpPr>
        <p:grpSpPr>
          <a:xfrm>
            <a:off x="8241354" y="1453876"/>
            <a:ext cx="79031" cy="78129"/>
            <a:chOff x="4428863" y="1781847"/>
            <a:chExt cx="3335594" cy="3295537"/>
          </a:xfrm>
          <a:solidFill>
            <a:srgbClr val="FFFFFF"/>
          </a:solidFill>
        </p:grpSpPr>
        <p:sp>
          <p:nvSpPr>
            <p:cNvPr id="153" name="Freeform 7">
              <a:extLst>
                <a:ext uri="{FF2B5EF4-FFF2-40B4-BE49-F238E27FC236}">
                  <a16:creationId xmlns:a16="http://schemas.microsoft.com/office/drawing/2014/main" id="{87CB294D-8FD9-D426-2FBA-BF642A5902B5}"/>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54" name="Freeform 8">
              <a:extLst>
                <a:ext uri="{FF2B5EF4-FFF2-40B4-BE49-F238E27FC236}">
                  <a16:creationId xmlns:a16="http://schemas.microsoft.com/office/drawing/2014/main" id="{F6581CB7-1BEE-75D3-3F27-84A16641F0BF}"/>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51" name="Graphic 11">
            <a:extLst>
              <a:ext uri="{FF2B5EF4-FFF2-40B4-BE49-F238E27FC236}">
                <a16:creationId xmlns:a16="http://schemas.microsoft.com/office/drawing/2014/main" id="{F4603E21-201E-BA2F-9AC1-50C10BD7F24B}"/>
              </a:ext>
            </a:extLst>
          </p:cNvPr>
          <p:cNvSpPr/>
          <p:nvPr/>
        </p:nvSpPr>
        <p:spPr>
          <a:xfrm>
            <a:off x="8336630" y="1526713"/>
            <a:ext cx="82489" cy="92350"/>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52" name="Oval 151">
            <a:hlinkClick r:id="rId5"/>
            <a:extLst>
              <a:ext uri="{FF2B5EF4-FFF2-40B4-BE49-F238E27FC236}">
                <a16:creationId xmlns:a16="http://schemas.microsoft.com/office/drawing/2014/main" id="{A7624DD9-050D-8707-8802-C909381D7B6D}"/>
              </a:ext>
            </a:extLst>
          </p:cNvPr>
          <p:cNvSpPr>
            <a:spLocks/>
          </p:cNvSpPr>
          <p:nvPr/>
        </p:nvSpPr>
        <p:spPr>
          <a:xfrm>
            <a:off x="8172711" y="1384721"/>
            <a:ext cx="246408" cy="234342"/>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900">
              <a:solidFill>
                <a:srgbClr val="FFFFFF"/>
              </a:solidFill>
              <a:latin typeface="Fund Light" pitchFamily="2" charset="-78"/>
              <a:cs typeface="Fund Light" pitchFamily="2" charset="-78"/>
            </a:endParaRPr>
          </a:p>
        </p:txBody>
      </p:sp>
      <p:grpSp>
        <p:nvGrpSpPr>
          <p:cNvPr id="156" name="Group 155">
            <a:extLst>
              <a:ext uri="{FF2B5EF4-FFF2-40B4-BE49-F238E27FC236}">
                <a16:creationId xmlns:a16="http://schemas.microsoft.com/office/drawing/2014/main" id="{5A8C5066-6831-4566-FBB5-6CD29430E1B0}"/>
              </a:ext>
            </a:extLst>
          </p:cNvPr>
          <p:cNvGrpSpPr/>
          <p:nvPr/>
        </p:nvGrpSpPr>
        <p:grpSpPr>
          <a:xfrm>
            <a:off x="8172711" y="2366729"/>
            <a:ext cx="246408" cy="234342"/>
            <a:chOff x="-633491" y="3836409"/>
            <a:chExt cx="333089" cy="321367"/>
          </a:xfrm>
        </p:grpSpPr>
        <p:sp>
          <p:nvSpPr>
            <p:cNvPr id="158" name="Freeform 5">
              <a:extLst>
                <a:ext uri="{FF2B5EF4-FFF2-40B4-BE49-F238E27FC236}">
                  <a16:creationId xmlns:a16="http://schemas.microsoft.com/office/drawing/2014/main" id="{EF754D4D-38BE-6E31-60E8-FA80D4D8732D}"/>
                </a:ext>
              </a:extLst>
            </p:cNvPr>
            <p:cNvSpPr/>
            <p:nvPr/>
          </p:nvSpPr>
          <p:spPr>
            <a:xfrm rot="18900000">
              <a:off x="-633491" y="3836409"/>
              <a:ext cx="292405" cy="296818"/>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nvGrpSpPr>
            <p:cNvPr id="159" name="Graphic 2">
              <a:extLst>
                <a:ext uri="{FF2B5EF4-FFF2-40B4-BE49-F238E27FC236}">
                  <a16:creationId xmlns:a16="http://schemas.microsoft.com/office/drawing/2014/main" id="{6336A716-9335-7822-11B9-44D1B52E7E19}"/>
                </a:ext>
              </a:extLst>
            </p:cNvPr>
            <p:cNvGrpSpPr/>
            <p:nvPr/>
          </p:nvGrpSpPr>
          <p:grpSpPr>
            <a:xfrm>
              <a:off x="-540701" y="3931246"/>
              <a:ext cx="106833" cy="107143"/>
              <a:chOff x="4428863" y="1781847"/>
              <a:chExt cx="3335594" cy="3295537"/>
            </a:xfrm>
            <a:solidFill>
              <a:srgbClr val="FFFFFF"/>
            </a:solidFill>
          </p:grpSpPr>
          <p:sp>
            <p:nvSpPr>
              <p:cNvPr id="161" name="Freeform 7">
                <a:extLst>
                  <a:ext uri="{FF2B5EF4-FFF2-40B4-BE49-F238E27FC236}">
                    <a16:creationId xmlns:a16="http://schemas.microsoft.com/office/drawing/2014/main" id="{6CF1EAE4-0702-715D-891E-112F2DE65DD6}"/>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62" name="Freeform 8">
                <a:extLst>
                  <a:ext uri="{FF2B5EF4-FFF2-40B4-BE49-F238E27FC236}">
                    <a16:creationId xmlns:a16="http://schemas.microsoft.com/office/drawing/2014/main" id="{87CF4865-8DE3-67D6-E2E3-B8CF4A14AFA5}"/>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60" name="Graphic 11">
              <a:extLst>
                <a:ext uri="{FF2B5EF4-FFF2-40B4-BE49-F238E27FC236}">
                  <a16:creationId xmlns:a16="http://schemas.microsoft.com/office/drawing/2014/main" id="{92A11CE0-2C1F-9254-8DDE-5E4EDE34DA05}"/>
                </a:ext>
              </a:extLst>
            </p:cNvPr>
            <p:cNvSpPr/>
            <p:nvPr/>
          </p:nvSpPr>
          <p:spPr>
            <a:xfrm>
              <a:off x="-411909" y="4031131"/>
              <a:ext cx="111507" cy="126645"/>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57" name="Oval 156">
            <a:hlinkClick r:id="rId5"/>
            <a:extLst>
              <a:ext uri="{FF2B5EF4-FFF2-40B4-BE49-F238E27FC236}">
                <a16:creationId xmlns:a16="http://schemas.microsoft.com/office/drawing/2014/main" id="{D7B17E42-81BA-CAA0-2BF5-91CDD3C9341E}"/>
              </a:ext>
            </a:extLst>
          </p:cNvPr>
          <p:cNvSpPr>
            <a:spLocks/>
          </p:cNvSpPr>
          <p:nvPr/>
        </p:nvSpPr>
        <p:spPr>
          <a:xfrm>
            <a:off x="8172711" y="2366729"/>
            <a:ext cx="246408" cy="234342"/>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900">
              <a:solidFill>
                <a:srgbClr val="FFFFFF"/>
              </a:solidFill>
              <a:latin typeface="Fund Light" pitchFamily="2" charset="-78"/>
              <a:cs typeface="Fund Light" pitchFamily="2" charset="-78"/>
            </a:endParaRPr>
          </a:p>
        </p:txBody>
      </p:sp>
      <p:grpSp>
        <p:nvGrpSpPr>
          <p:cNvPr id="164" name="Group 163">
            <a:extLst>
              <a:ext uri="{FF2B5EF4-FFF2-40B4-BE49-F238E27FC236}">
                <a16:creationId xmlns:a16="http://schemas.microsoft.com/office/drawing/2014/main" id="{D6F1A250-722A-6354-CF8D-9E7814E62B43}"/>
              </a:ext>
            </a:extLst>
          </p:cNvPr>
          <p:cNvGrpSpPr/>
          <p:nvPr/>
        </p:nvGrpSpPr>
        <p:grpSpPr>
          <a:xfrm>
            <a:off x="8172711" y="2862564"/>
            <a:ext cx="246408" cy="234342"/>
            <a:chOff x="-633491" y="3836409"/>
            <a:chExt cx="333089" cy="321367"/>
          </a:xfrm>
        </p:grpSpPr>
        <p:sp>
          <p:nvSpPr>
            <p:cNvPr id="166" name="Freeform 5">
              <a:extLst>
                <a:ext uri="{FF2B5EF4-FFF2-40B4-BE49-F238E27FC236}">
                  <a16:creationId xmlns:a16="http://schemas.microsoft.com/office/drawing/2014/main" id="{46DD64EA-865A-938E-68EE-9CBD5DF1F4BE}"/>
                </a:ext>
              </a:extLst>
            </p:cNvPr>
            <p:cNvSpPr/>
            <p:nvPr/>
          </p:nvSpPr>
          <p:spPr>
            <a:xfrm rot="18900000">
              <a:off x="-633491" y="3836409"/>
              <a:ext cx="292405" cy="296818"/>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nvGrpSpPr>
            <p:cNvPr id="167" name="Graphic 2">
              <a:extLst>
                <a:ext uri="{FF2B5EF4-FFF2-40B4-BE49-F238E27FC236}">
                  <a16:creationId xmlns:a16="http://schemas.microsoft.com/office/drawing/2014/main" id="{6194BB04-DA4E-2D83-C5D2-76A199FAD8B5}"/>
                </a:ext>
              </a:extLst>
            </p:cNvPr>
            <p:cNvGrpSpPr/>
            <p:nvPr/>
          </p:nvGrpSpPr>
          <p:grpSpPr>
            <a:xfrm>
              <a:off x="-540701" y="3931246"/>
              <a:ext cx="106833" cy="107143"/>
              <a:chOff x="4428863" y="1781847"/>
              <a:chExt cx="3335594" cy="3295537"/>
            </a:xfrm>
            <a:solidFill>
              <a:srgbClr val="FFFFFF"/>
            </a:solidFill>
          </p:grpSpPr>
          <p:sp>
            <p:nvSpPr>
              <p:cNvPr id="169" name="Freeform 7">
                <a:extLst>
                  <a:ext uri="{FF2B5EF4-FFF2-40B4-BE49-F238E27FC236}">
                    <a16:creationId xmlns:a16="http://schemas.microsoft.com/office/drawing/2014/main" id="{DD8347F3-53E8-C9DC-58E9-498F747BDE82}"/>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70" name="Freeform 8">
                <a:extLst>
                  <a:ext uri="{FF2B5EF4-FFF2-40B4-BE49-F238E27FC236}">
                    <a16:creationId xmlns:a16="http://schemas.microsoft.com/office/drawing/2014/main" id="{E83BB862-2344-F9FF-E821-4B714B3AE748}"/>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68" name="Graphic 11">
              <a:extLst>
                <a:ext uri="{FF2B5EF4-FFF2-40B4-BE49-F238E27FC236}">
                  <a16:creationId xmlns:a16="http://schemas.microsoft.com/office/drawing/2014/main" id="{2B1E1ABE-0605-2C88-72E4-AE88D5F5E164}"/>
                </a:ext>
              </a:extLst>
            </p:cNvPr>
            <p:cNvSpPr/>
            <p:nvPr/>
          </p:nvSpPr>
          <p:spPr>
            <a:xfrm>
              <a:off x="-411909" y="4031131"/>
              <a:ext cx="111507" cy="126645"/>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65" name="Oval 164">
            <a:hlinkClick r:id="rId5"/>
            <a:extLst>
              <a:ext uri="{FF2B5EF4-FFF2-40B4-BE49-F238E27FC236}">
                <a16:creationId xmlns:a16="http://schemas.microsoft.com/office/drawing/2014/main" id="{67A5BC77-67C2-50FC-3405-B1BA8B8AD1D6}"/>
              </a:ext>
            </a:extLst>
          </p:cNvPr>
          <p:cNvSpPr>
            <a:spLocks/>
          </p:cNvSpPr>
          <p:nvPr/>
        </p:nvSpPr>
        <p:spPr>
          <a:xfrm>
            <a:off x="8172711" y="2862564"/>
            <a:ext cx="246408" cy="234342"/>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900">
              <a:solidFill>
                <a:srgbClr val="FFFFFF"/>
              </a:solidFill>
              <a:latin typeface="Fund Light" pitchFamily="2" charset="-78"/>
              <a:cs typeface="Fund Light" pitchFamily="2" charset="-78"/>
            </a:endParaRPr>
          </a:p>
        </p:txBody>
      </p:sp>
      <p:grpSp>
        <p:nvGrpSpPr>
          <p:cNvPr id="172" name="Group 171">
            <a:extLst>
              <a:ext uri="{FF2B5EF4-FFF2-40B4-BE49-F238E27FC236}">
                <a16:creationId xmlns:a16="http://schemas.microsoft.com/office/drawing/2014/main" id="{365A545D-E5BD-9CB3-16BD-52C05FE808A7}"/>
              </a:ext>
            </a:extLst>
          </p:cNvPr>
          <p:cNvGrpSpPr/>
          <p:nvPr/>
        </p:nvGrpSpPr>
        <p:grpSpPr>
          <a:xfrm>
            <a:off x="8000756" y="1879343"/>
            <a:ext cx="246409" cy="234329"/>
            <a:chOff x="-633494" y="3836426"/>
            <a:chExt cx="333092" cy="321350"/>
          </a:xfrm>
        </p:grpSpPr>
        <p:sp>
          <p:nvSpPr>
            <p:cNvPr id="180" name="Freeform 5">
              <a:extLst>
                <a:ext uri="{FF2B5EF4-FFF2-40B4-BE49-F238E27FC236}">
                  <a16:creationId xmlns:a16="http://schemas.microsoft.com/office/drawing/2014/main" id="{5BC207E8-BEED-F05C-0E3A-9F18C20994F1}"/>
                </a:ext>
              </a:extLst>
            </p:cNvPr>
            <p:cNvSpPr/>
            <p:nvPr/>
          </p:nvSpPr>
          <p:spPr>
            <a:xfrm rot="18900000">
              <a:off x="-633494" y="3836426"/>
              <a:ext cx="292406" cy="296820"/>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nvGrpSpPr>
            <p:cNvPr id="181" name="Graphic 2">
              <a:extLst>
                <a:ext uri="{FF2B5EF4-FFF2-40B4-BE49-F238E27FC236}">
                  <a16:creationId xmlns:a16="http://schemas.microsoft.com/office/drawing/2014/main" id="{39E1FD7C-CB07-2B82-9B98-E205E76F1B40}"/>
                </a:ext>
              </a:extLst>
            </p:cNvPr>
            <p:cNvGrpSpPr/>
            <p:nvPr/>
          </p:nvGrpSpPr>
          <p:grpSpPr>
            <a:xfrm>
              <a:off x="-540703" y="3931256"/>
              <a:ext cx="106833" cy="107143"/>
              <a:chOff x="4428863" y="1781847"/>
              <a:chExt cx="3335594" cy="3295537"/>
            </a:xfrm>
            <a:solidFill>
              <a:srgbClr val="FFFFFF"/>
            </a:solidFill>
          </p:grpSpPr>
          <p:sp>
            <p:nvSpPr>
              <p:cNvPr id="183" name="Freeform 7">
                <a:extLst>
                  <a:ext uri="{FF2B5EF4-FFF2-40B4-BE49-F238E27FC236}">
                    <a16:creationId xmlns:a16="http://schemas.microsoft.com/office/drawing/2014/main" id="{E7BD2DFE-4634-4D88-5370-97E0A58DF33A}"/>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84" name="Freeform 8">
                <a:extLst>
                  <a:ext uri="{FF2B5EF4-FFF2-40B4-BE49-F238E27FC236}">
                    <a16:creationId xmlns:a16="http://schemas.microsoft.com/office/drawing/2014/main" id="{7ABE63B8-718F-F0B4-0F01-9FC6892C40D4}"/>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82" name="Graphic 11">
              <a:extLst>
                <a:ext uri="{FF2B5EF4-FFF2-40B4-BE49-F238E27FC236}">
                  <a16:creationId xmlns:a16="http://schemas.microsoft.com/office/drawing/2014/main" id="{5BEB86E8-9A45-E7CE-27BF-E23B081B3131}"/>
                </a:ext>
              </a:extLst>
            </p:cNvPr>
            <p:cNvSpPr/>
            <p:nvPr/>
          </p:nvSpPr>
          <p:spPr>
            <a:xfrm>
              <a:off x="-411909" y="4031131"/>
              <a:ext cx="111507" cy="126645"/>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73" name="Freeform 5">
            <a:extLst>
              <a:ext uri="{FF2B5EF4-FFF2-40B4-BE49-F238E27FC236}">
                <a16:creationId xmlns:a16="http://schemas.microsoft.com/office/drawing/2014/main" id="{58ADC87A-83A2-33CA-DF05-49FD975DD0D9}"/>
              </a:ext>
            </a:extLst>
          </p:cNvPr>
          <p:cNvSpPr/>
          <p:nvPr/>
        </p:nvSpPr>
        <p:spPr>
          <a:xfrm rot="18900000">
            <a:off x="8332725" y="1879343"/>
            <a:ext cx="216311" cy="216441"/>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nvGrpSpPr>
          <p:cNvPr id="174" name="Graphic 2">
            <a:extLst>
              <a:ext uri="{FF2B5EF4-FFF2-40B4-BE49-F238E27FC236}">
                <a16:creationId xmlns:a16="http://schemas.microsoft.com/office/drawing/2014/main" id="{9E008A09-23BC-B177-1408-456BEB855D0F}"/>
              </a:ext>
            </a:extLst>
          </p:cNvPr>
          <p:cNvGrpSpPr/>
          <p:nvPr/>
        </p:nvGrpSpPr>
        <p:grpSpPr>
          <a:xfrm>
            <a:off x="8401370" y="1948493"/>
            <a:ext cx="79032" cy="78129"/>
            <a:chOff x="4428863" y="1781847"/>
            <a:chExt cx="3335594" cy="3295537"/>
          </a:xfrm>
          <a:solidFill>
            <a:srgbClr val="FFFFFF"/>
          </a:solidFill>
        </p:grpSpPr>
        <p:sp>
          <p:nvSpPr>
            <p:cNvPr id="178" name="Freeform 7">
              <a:extLst>
                <a:ext uri="{FF2B5EF4-FFF2-40B4-BE49-F238E27FC236}">
                  <a16:creationId xmlns:a16="http://schemas.microsoft.com/office/drawing/2014/main" id="{EE1DC1B1-E803-5177-600B-6AB9B9E317C9}"/>
                </a:ext>
              </a:extLst>
            </p:cNvPr>
            <p:cNvSpPr/>
            <p:nvPr/>
          </p:nvSpPr>
          <p:spPr>
            <a:xfrm>
              <a:off x="4428863" y="2164890"/>
              <a:ext cx="2912500" cy="2912494"/>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79" name="Freeform 8">
              <a:extLst>
                <a:ext uri="{FF2B5EF4-FFF2-40B4-BE49-F238E27FC236}">
                  <a16:creationId xmlns:a16="http://schemas.microsoft.com/office/drawing/2014/main" id="{07E57FAB-AD7A-A897-B90F-7C9986BE0AA7}"/>
                </a:ext>
              </a:extLst>
            </p:cNvPr>
            <p:cNvSpPr/>
            <p:nvPr/>
          </p:nvSpPr>
          <p:spPr>
            <a:xfrm>
              <a:off x="5420092" y="1781847"/>
              <a:ext cx="2344365" cy="2344320"/>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grpSp>
      <p:sp>
        <p:nvSpPr>
          <p:cNvPr id="175" name="Graphic 11">
            <a:extLst>
              <a:ext uri="{FF2B5EF4-FFF2-40B4-BE49-F238E27FC236}">
                <a16:creationId xmlns:a16="http://schemas.microsoft.com/office/drawing/2014/main" id="{26FAA3E6-28B9-575D-3163-5204CCF9C272}"/>
              </a:ext>
            </a:extLst>
          </p:cNvPr>
          <p:cNvSpPr/>
          <p:nvPr/>
        </p:nvSpPr>
        <p:spPr>
          <a:xfrm>
            <a:off x="8496645" y="2021322"/>
            <a:ext cx="82489" cy="92350"/>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900" kern="0">
              <a:solidFill>
                <a:srgbClr val="000000"/>
              </a:solidFill>
              <a:latin typeface="Fund Light" pitchFamily="2" charset="-78"/>
              <a:cs typeface="Fund Light" pitchFamily="2" charset="-78"/>
            </a:endParaRPr>
          </a:p>
        </p:txBody>
      </p:sp>
      <p:sp>
        <p:nvSpPr>
          <p:cNvPr id="176" name="Oval 175">
            <a:hlinkClick r:id="rId6"/>
            <a:extLst>
              <a:ext uri="{FF2B5EF4-FFF2-40B4-BE49-F238E27FC236}">
                <a16:creationId xmlns:a16="http://schemas.microsoft.com/office/drawing/2014/main" id="{56A826EF-0C41-6505-07B4-7D63C76E0697}"/>
              </a:ext>
            </a:extLst>
          </p:cNvPr>
          <p:cNvSpPr>
            <a:spLocks/>
          </p:cNvSpPr>
          <p:nvPr/>
        </p:nvSpPr>
        <p:spPr>
          <a:xfrm>
            <a:off x="8000756" y="1879336"/>
            <a:ext cx="246408" cy="234342"/>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900">
              <a:solidFill>
                <a:srgbClr val="FFFFFF"/>
              </a:solidFill>
              <a:latin typeface="Fund Light" pitchFamily="2" charset="-78"/>
              <a:cs typeface="Fund Light" pitchFamily="2" charset="-78"/>
            </a:endParaRPr>
          </a:p>
        </p:txBody>
      </p:sp>
      <p:sp>
        <p:nvSpPr>
          <p:cNvPr id="177" name="Oval 176">
            <a:hlinkClick r:id="rId7"/>
            <a:extLst>
              <a:ext uri="{FF2B5EF4-FFF2-40B4-BE49-F238E27FC236}">
                <a16:creationId xmlns:a16="http://schemas.microsoft.com/office/drawing/2014/main" id="{C9E753BA-F42B-4327-1141-5E4CBF167051}"/>
              </a:ext>
            </a:extLst>
          </p:cNvPr>
          <p:cNvSpPr>
            <a:spLocks/>
          </p:cNvSpPr>
          <p:nvPr/>
        </p:nvSpPr>
        <p:spPr>
          <a:xfrm>
            <a:off x="8332725" y="1879336"/>
            <a:ext cx="246408" cy="234342"/>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900">
              <a:solidFill>
                <a:srgbClr val="FFFFFF"/>
              </a:solidFill>
              <a:latin typeface="Fund Light" pitchFamily="2" charset="-78"/>
              <a:cs typeface="Fund Light" pitchFamily="2" charset="-78"/>
            </a:endParaRPr>
          </a:p>
        </p:txBody>
      </p:sp>
      <p:pic>
        <p:nvPicPr>
          <p:cNvPr id="200" name="Picture 2" descr="About Us">
            <a:extLst>
              <a:ext uri="{FF2B5EF4-FFF2-40B4-BE49-F238E27FC236}">
                <a16:creationId xmlns:a16="http://schemas.microsoft.com/office/drawing/2014/main" id="{D134B901-143F-5302-BEAB-9FE94B55DA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2643" y="2848823"/>
            <a:ext cx="354531" cy="213405"/>
          </a:xfrm>
          <a:prstGeom prst="rect">
            <a:avLst/>
          </a:prstGeom>
          <a:noFill/>
          <a:extLst>
            <a:ext uri="{909E8E84-426E-40DD-AFC4-6F175D3DCCD1}">
              <a14:hiddenFill xmlns:a14="http://schemas.microsoft.com/office/drawing/2010/main">
                <a:solidFill>
                  <a:srgbClr val="FFFFFF"/>
                </a:solidFill>
              </a14:hiddenFill>
            </a:ext>
          </a:extLst>
        </p:spPr>
      </p:pic>
      <p:pic>
        <p:nvPicPr>
          <p:cNvPr id="201" name="Picture 2" descr="About Us">
            <a:extLst>
              <a:ext uri="{FF2B5EF4-FFF2-40B4-BE49-F238E27FC236}">
                <a16:creationId xmlns:a16="http://schemas.microsoft.com/office/drawing/2014/main" id="{62FA94AE-5E9D-FCBC-0FFE-FF38096458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2643" y="2357773"/>
            <a:ext cx="354531" cy="213405"/>
          </a:xfrm>
          <a:prstGeom prst="rect">
            <a:avLst/>
          </a:prstGeom>
          <a:noFill/>
          <a:extLst>
            <a:ext uri="{909E8E84-426E-40DD-AFC4-6F175D3DCCD1}">
              <a14:hiddenFill xmlns:a14="http://schemas.microsoft.com/office/drawing/2010/main">
                <a:solidFill>
                  <a:srgbClr val="FFFFFF"/>
                </a:solidFill>
              </a14:hiddenFill>
            </a:ext>
          </a:extLst>
        </p:spPr>
      </p:pic>
      <p:pic>
        <p:nvPicPr>
          <p:cNvPr id="202" name="Picture 2" descr="About Us">
            <a:extLst>
              <a:ext uri="{FF2B5EF4-FFF2-40B4-BE49-F238E27FC236}">
                <a16:creationId xmlns:a16="http://schemas.microsoft.com/office/drawing/2014/main" id="{C8E3F0E0-3FD8-C243-C800-AA9F89A29A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2643" y="1400610"/>
            <a:ext cx="354531" cy="213405"/>
          </a:xfrm>
          <a:prstGeom prst="rect">
            <a:avLst/>
          </a:prstGeom>
          <a:noFill/>
          <a:extLst>
            <a:ext uri="{909E8E84-426E-40DD-AFC4-6F175D3DCCD1}">
              <a14:hiddenFill xmlns:a14="http://schemas.microsoft.com/office/drawing/2010/main">
                <a:solidFill>
                  <a:srgbClr val="FFFFFF"/>
                </a:solidFill>
              </a14:hiddenFill>
            </a:ext>
          </a:extLst>
        </p:spPr>
      </p:pic>
      <p:pic>
        <p:nvPicPr>
          <p:cNvPr id="204" name="Picture 9" descr="File:Royal Commission at Yanbu Logo.GIF">
            <a:extLst>
              <a:ext uri="{FF2B5EF4-FFF2-40B4-BE49-F238E27FC236}">
                <a16:creationId xmlns:a16="http://schemas.microsoft.com/office/drawing/2014/main" id="{D01A9F6E-CF47-0661-B637-1586083929BA}"/>
              </a:ext>
            </a:extLst>
          </p:cNvPr>
          <p:cNvPicPr preferRelativeResize="0">
            <a:picLocks noChangeArrowheads="1"/>
          </p:cNvPicPr>
          <p:nvPr/>
        </p:nvPicPr>
        <p:blipFill>
          <a:blip r:embed="rId9"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836654" y="1884184"/>
            <a:ext cx="199800" cy="199323"/>
          </a:xfrm>
          <a:prstGeom prst="rect">
            <a:avLst/>
          </a:prstGeom>
          <a:noFill/>
          <a:extLst>
            <a:ext uri="{909E8E84-426E-40DD-AFC4-6F175D3DCCD1}">
              <a14:hiddenFill xmlns:a14="http://schemas.microsoft.com/office/drawing/2010/main">
                <a:solidFill>
                  <a:srgbClr val="FFFFFF"/>
                </a:solidFill>
              </a14:hiddenFill>
            </a:ext>
          </a:extLst>
        </p:spPr>
      </p:pic>
      <p:pic>
        <p:nvPicPr>
          <p:cNvPr id="205" name="Picture 2" descr="اتفاقية بين &quot;مدن&quot; و&quot;منافع&quot; توفر حلولاً تمويلية جديدة لقطاع المنشآت الصغيرة  والمتوسطة - صحيفة مال">
            <a:extLst>
              <a:ext uri="{FF2B5EF4-FFF2-40B4-BE49-F238E27FC236}">
                <a16:creationId xmlns:a16="http://schemas.microsoft.com/office/drawing/2014/main" id="{2663E5EA-4579-1DD5-A358-FF75BFB56D3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7459" t="19524" r="9574" b="13418"/>
          <a:stretch/>
        </p:blipFill>
        <p:spPr bwMode="auto">
          <a:xfrm>
            <a:off x="2054640" y="1858929"/>
            <a:ext cx="548524" cy="249833"/>
          </a:xfrm>
          <a:prstGeom prst="rect">
            <a:avLst/>
          </a:prstGeom>
          <a:noFill/>
          <a:extLst>
            <a:ext uri="{909E8E84-426E-40DD-AFC4-6F175D3DCCD1}">
              <a14:hiddenFill xmlns:a14="http://schemas.microsoft.com/office/drawing/2010/main">
                <a:solidFill>
                  <a:srgbClr val="FFFFFF"/>
                </a:solidFill>
              </a14:hiddenFill>
            </a:ext>
          </a:extLst>
        </p:spPr>
      </p:pic>
      <p:sp>
        <p:nvSpPr>
          <p:cNvPr id="125" name="TextBox 124">
            <a:extLst>
              <a:ext uri="{FF2B5EF4-FFF2-40B4-BE49-F238E27FC236}">
                <a16:creationId xmlns:a16="http://schemas.microsoft.com/office/drawing/2014/main" id="{6AFC4EC4-2176-5751-0EAB-A48CC09AEF20}"/>
              </a:ext>
            </a:extLst>
          </p:cNvPr>
          <p:cNvSpPr txBox="1">
            <a:spLocks/>
          </p:cNvSpPr>
          <p:nvPr/>
        </p:nvSpPr>
        <p:spPr>
          <a:xfrm>
            <a:off x="6091036" y="1268320"/>
            <a:ext cx="1792865" cy="950033"/>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r>
              <a:rPr lang="en-US" sz="900" spc="-15">
                <a:latin typeface="Fund Light" pitchFamily="2" charset="-78"/>
                <a:cs typeface="Fund Light" pitchFamily="2" charset="-78"/>
              </a:rPr>
              <a:t>Business model – for estimating cost of land to set up a facility </a:t>
            </a:r>
          </a:p>
        </p:txBody>
      </p:sp>
      <p:cxnSp>
        <p:nvCxnSpPr>
          <p:cNvPr id="221" name="Straight Arrow Connector 220">
            <a:extLst>
              <a:ext uri="{FF2B5EF4-FFF2-40B4-BE49-F238E27FC236}">
                <a16:creationId xmlns:a16="http://schemas.microsoft.com/office/drawing/2014/main" id="{894025EF-A718-7510-6FC9-77A23CA6DE5D}"/>
              </a:ext>
            </a:extLst>
          </p:cNvPr>
          <p:cNvCxnSpPr>
            <a:cxnSpLocks/>
          </p:cNvCxnSpPr>
          <p:nvPr/>
        </p:nvCxnSpPr>
        <p:spPr>
          <a:xfrm>
            <a:off x="7955910" y="1727321"/>
            <a:ext cx="640080" cy="0"/>
          </a:xfrm>
          <a:prstGeom prst="straightConnector1">
            <a:avLst/>
          </a:prstGeom>
          <a:noFill/>
          <a:ln w="6350" cap="flat" cmpd="sng" algn="ctr">
            <a:solidFill>
              <a:schemeClr val="bg1">
                <a:lumMod val="75000"/>
              </a:schemeClr>
            </a:solidFill>
            <a:prstDash val="sysDot"/>
            <a:miter lim="800000"/>
            <a:tailEnd type="none"/>
          </a:ln>
          <a:effectLst/>
        </p:spPr>
      </p:cxnSp>
      <p:sp>
        <p:nvSpPr>
          <p:cNvPr id="223" name="Rectangle: Rounded Corners 176">
            <a:extLst>
              <a:ext uri="{FF2B5EF4-FFF2-40B4-BE49-F238E27FC236}">
                <a16:creationId xmlns:a16="http://schemas.microsoft.com/office/drawing/2014/main" id="{574E3B0E-12D4-B18B-7961-37E3BBBF06A4}"/>
              </a:ext>
            </a:extLst>
          </p:cNvPr>
          <p:cNvSpPr>
            <a:spLocks/>
          </p:cNvSpPr>
          <p:nvPr/>
        </p:nvSpPr>
        <p:spPr>
          <a:xfrm>
            <a:off x="455129" y="3274866"/>
            <a:ext cx="1164155" cy="459000"/>
          </a:xfrm>
          <a:prstGeom prst="roundRect">
            <a:avLst>
              <a:gd name="adj" fmla="val 6243"/>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p>
            <a:pPr defTabSz="685800">
              <a:lnSpc>
                <a:spcPts val="960"/>
              </a:lnSpc>
            </a:pPr>
            <a:r>
              <a:rPr lang="en-US" sz="900">
                <a:solidFill>
                  <a:prstClr val="black">
                    <a:lumMod val="65000"/>
                    <a:lumOff val="35000"/>
                  </a:prstClr>
                </a:solidFill>
                <a:latin typeface="Fund Light" pitchFamily="2" charset="-78"/>
                <a:cs typeface="Fund Light" pitchFamily="2" charset="-78"/>
              </a:rPr>
              <a:t>Mandatory list</a:t>
            </a:r>
          </a:p>
        </p:txBody>
      </p:sp>
      <p:sp>
        <p:nvSpPr>
          <p:cNvPr id="224" name="TextBox 223">
            <a:extLst>
              <a:ext uri="{FF2B5EF4-FFF2-40B4-BE49-F238E27FC236}">
                <a16:creationId xmlns:a16="http://schemas.microsoft.com/office/drawing/2014/main" id="{79384581-B8D1-2597-2E45-784537FEFC50}"/>
              </a:ext>
            </a:extLst>
          </p:cNvPr>
          <p:cNvSpPr txBox="1">
            <a:spLocks/>
          </p:cNvSpPr>
          <p:nvPr/>
        </p:nvSpPr>
        <p:spPr>
          <a:xfrm>
            <a:off x="2820535" y="3274866"/>
            <a:ext cx="316392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defTabSz="685800">
              <a:lnSpc>
                <a:spcPts val="960"/>
              </a:lnSpc>
              <a:defRPr sz="900" spc="-15">
                <a:solidFill>
                  <a:prstClr val="black">
                    <a:lumMod val="65000"/>
                    <a:lumOff val="35000"/>
                  </a:prstClr>
                </a:solidFill>
                <a:latin typeface="Fund Light" pitchFamily="2" charset="-78"/>
                <a:cs typeface="Fund Light"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Requirement to procure products listed in the mandatory list from local companies</a:t>
            </a:r>
          </a:p>
        </p:txBody>
      </p:sp>
      <p:sp>
        <p:nvSpPr>
          <p:cNvPr id="225" name="TextBox 224">
            <a:extLst>
              <a:ext uri="{FF2B5EF4-FFF2-40B4-BE49-F238E27FC236}">
                <a16:creationId xmlns:a16="http://schemas.microsoft.com/office/drawing/2014/main" id="{B32BBDD1-21EC-86FD-832E-F8178C88FBE3}"/>
              </a:ext>
            </a:extLst>
          </p:cNvPr>
          <p:cNvSpPr txBox="1">
            <a:spLocks/>
          </p:cNvSpPr>
          <p:nvPr/>
        </p:nvSpPr>
        <p:spPr>
          <a:xfrm>
            <a:off x="6091035" y="3274866"/>
            <a:ext cx="1789437"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defTabSz="685800">
              <a:lnSpc>
                <a:spcPts val="960"/>
              </a:lnSpc>
              <a:defRPr sz="900" spc="-15">
                <a:solidFill>
                  <a:prstClr val="black">
                    <a:lumMod val="65000"/>
                    <a:lumOff val="35000"/>
                  </a:prstClr>
                </a:solidFill>
                <a:latin typeface="Fund Light" pitchFamily="2" charset="-78"/>
                <a:cs typeface="Fund Light"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To estimate investor risk </a:t>
            </a:r>
          </a:p>
        </p:txBody>
      </p:sp>
      <p:pic>
        <p:nvPicPr>
          <p:cNvPr id="226" name="Picture 2" descr="Visual Identity">
            <a:extLst>
              <a:ext uri="{FF2B5EF4-FFF2-40B4-BE49-F238E27FC236}">
                <a16:creationId xmlns:a16="http://schemas.microsoft.com/office/drawing/2014/main" id="{8FE12BDE-DF36-ED91-60BB-EABDDAF2A15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58864" y="3414665"/>
            <a:ext cx="744300" cy="212825"/>
          </a:xfrm>
          <a:prstGeom prst="rect">
            <a:avLst/>
          </a:prstGeom>
          <a:noFill/>
          <a:extLst>
            <a:ext uri="{909E8E84-426E-40DD-AFC4-6F175D3DCCD1}">
              <a14:hiddenFill xmlns:a14="http://schemas.microsoft.com/office/drawing/2010/main">
                <a:solidFill>
                  <a:srgbClr val="FFFFFF"/>
                </a:solidFill>
              </a14:hiddenFill>
            </a:ext>
          </a:extLst>
        </p:spPr>
      </p:pic>
      <p:sp>
        <p:nvSpPr>
          <p:cNvPr id="227" name="TextBox 226">
            <a:extLst>
              <a:ext uri="{FF2B5EF4-FFF2-40B4-BE49-F238E27FC236}">
                <a16:creationId xmlns:a16="http://schemas.microsoft.com/office/drawing/2014/main" id="{7C660825-E9F5-BE5A-BF1C-3D95108C07AB}"/>
              </a:ext>
            </a:extLst>
          </p:cNvPr>
          <p:cNvSpPr txBox="1">
            <a:spLocks/>
          </p:cNvSpPr>
          <p:nvPr/>
        </p:nvSpPr>
        <p:spPr>
          <a:xfrm>
            <a:off x="1670117" y="3274866"/>
            <a:ext cx="1099582" cy="459000"/>
          </a:xfrm>
          <a:prstGeom prst="rect">
            <a:avLst/>
          </a:prstGeom>
          <a:solidFill>
            <a:srgbClr val="C39A59">
              <a:alpha val="10000"/>
            </a:srgbClr>
          </a:solidFill>
          <a:ln w="6350" cap="sq" cmpd="sng" algn="ctr">
            <a:noFill/>
            <a:prstDash val="solid"/>
            <a:miter lim="800000"/>
          </a:ln>
          <a:effectLst/>
        </p:spPr>
        <p:txBody>
          <a:bodyPr rot="0" spcFirstLastPara="0" vertOverflow="overflow" horzOverflow="overflow" vert="horz" wrap="square" lIns="81000" tIns="81000" rIns="81000" bIns="81000" numCol="1" spcCol="0" rtlCol="0" fromWordArt="0" anchor="ctr" anchorCtr="0" forceAA="0" compatLnSpc="1">
            <a:prstTxWarp prst="textNoShape">
              <a:avLst/>
            </a:prstTxWarp>
            <a:noAutofit/>
          </a:bodyPr>
          <a:lstStyle>
            <a:defPPr>
              <a:defRPr lang="en-US"/>
            </a:defPPr>
            <a:lvl1pPr>
              <a:lnSpc>
                <a:spcPts val="1280"/>
              </a:lnSpc>
              <a:defRPr sz="1400">
                <a:solidFill>
                  <a:prstClr val="black">
                    <a:lumMod val="65000"/>
                    <a:lumOff val="35000"/>
                  </a:prstClr>
                </a:solidFill>
                <a:latin typeface="Sakkal Majalla" panose="02000000000000000000" pitchFamily="2" charset="-78"/>
                <a:cs typeface="Sakkal Majalla" panose="02000000000000000000" pitchFamily="2" charset="-7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800">
              <a:lnSpc>
                <a:spcPts val="960"/>
              </a:lnSpc>
              <a:defRPr/>
            </a:pPr>
            <a:endParaRPr lang="en-US" sz="900" spc="-15">
              <a:latin typeface="Fund Light" pitchFamily="2" charset="-78"/>
              <a:cs typeface="Fund Light" pitchFamily="2" charset="-78"/>
            </a:endParaRPr>
          </a:p>
        </p:txBody>
      </p:sp>
      <p:grpSp>
        <p:nvGrpSpPr>
          <p:cNvPr id="228" name="Group 227">
            <a:extLst>
              <a:ext uri="{FF2B5EF4-FFF2-40B4-BE49-F238E27FC236}">
                <a16:creationId xmlns:a16="http://schemas.microsoft.com/office/drawing/2014/main" id="{31B109DB-A071-767C-66E6-CAD21AFFC4E9}"/>
              </a:ext>
            </a:extLst>
          </p:cNvPr>
          <p:cNvGrpSpPr/>
          <p:nvPr/>
        </p:nvGrpSpPr>
        <p:grpSpPr>
          <a:xfrm>
            <a:off x="8172711" y="3384065"/>
            <a:ext cx="246408" cy="234342"/>
            <a:chOff x="11274350" y="2922565"/>
            <a:chExt cx="328544" cy="312456"/>
          </a:xfrm>
        </p:grpSpPr>
        <p:grpSp>
          <p:nvGrpSpPr>
            <p:cNvPr id="229" name="Group 228">
              <a:extLst>
                <a:ext uri="{FF2B5EF4-FFF2-40B4-BE49-F238E27FC236}">
                  <a16:creationId xmlns:a16="http://schemas.microsoft.com/office/drawing/2014/main" id="{88085AF6-EEE0-A495-F576-6CFCA9999D5F}"/>
                </a:ext>
              </a:extLst>
            </p:cNvPr>
            <p:cNvGrpSpPr/>
            <p:nvPr/>
          </p:nvGrpSpPr>
          <p:grpSpPr>
            <a:xfrm>
              <a:off x="11274350" y="2922565"/>
              <a:ext cx="328544" cy="312456"/>
              <a:chOff x="-633491" y="3836409"/>
              <a:chExt cx="333089" cy="321367"/>
            </a:xfrm>
          </p:grpSpPr>
          <p:sp>
            <p:nvSpPr>
              <p:cNvPr id="231" name="Freeform 5">
                <a:extLst>
                  <a:ext uri="{FF2B5EF4-FFF2-40B4-BE49-F238E27FC236}">
                    <a16:creationId xmlns:a16="http://schemas.microsoft.com/office/drawing/2014/main" id="{08DBB609-0596-A841-0FF6-BABDFFEF4B71}"/>
                  </a:ext>
                </a:extLst>
              </p:cNvPr>
              <p:cNvSpPr/>
              <p:nvPr/>
            </p:nvSpPr>
            <p:spPr>
              <a:xfrm rot="18900000">
                <a:off x="-633491" y="3836409"/>
                <a:ext cx="292405" cy="296818"/>
              </a:xfrm>
              <a:custGeom>
                <a:avLst/>
                <a:gdLst>
                  <a:gd name="connsiteX0" fmla="*/ 6859233 w 6859232"/>
                  <a:gd name="connsiteY0" fmla="*/ 3429616 h 6859232"/>
                  <a:gd name="connsiteX1" fmla="*/ 3429616 w 6859232"/>
                  <a:gd name="connsiteY1" fmla="*/ 6859233 h 6859232"/>
                  <a:gd name="connsiteX2" fmla="*/ 0 w 6859232"/>
                  <a:gd name="connsiteY2" fmla="*/ 3429616 h 6859232"/>
                  <a:gd name="connsiteX3" fmla="*/ 3429616 w 6859232"/>
                  <a:gd name="connsiteY3" fmla="*/ 0 h 6859232"/>
                  <a:gd name="connsiteX4" fmla="*/ 6859233 w 6859232"/>
                  <a:gd name="connsiteY4" fmla="*/ 3429616 h 6859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9232" h="6859232">
                    <a:moveTo>
                      <a:pt x="6859233" y="3429616"/>
                    </a:moveTo>
                    <a:cubicBezTo>
                      <a:pt x="6859233" y="5323741"/>
                      <a:pt x="5323741" y="6859233"/>
                      <a:pt x="3429616" y="6859233"/>
                    </a:cubicBezTo>
                    <a:cubicBezTo>
                      <a:pt x="1535492" y="6859233"/>
                      <a:pt x="0" y="5323741"/>
                      <a:pt x="0" y="3429616"/>
                    </a:cubicBezTo>
                    <a:cubicBezTo>
                      <a:pt x="0" y="1535492"/>
                      <a:pt x="1535492" y="0"/>
                      <a:pt x="3429616" y="0"/>
                    </a:cubicBezTo>
                    <a:cubicBezTo>
                      <a:pt x="5323741" y="0"/>
                      <a:pt x="6859233" y="1535492"/>
                      <a:pt x="6859233" y="3429616"/>
                    </a:cubicBezTo>
                    <a:close/>
                  </a:path>
                </a:pathLst>
              </a:custGeom>
              <a:solidFill>
                <a:srgbClr val="C39A59"/>
              </a:solidFill>
              <a:ln w="8804" cap="flat">
                <a:noFill/>
                <a:prstDash val="solid"/>
                <a:miter/>
              </a:ln>
            </p:spPr>
            <p:txBody>
              <a:bodyPr rtlCol="0" anchor="ctr"/>
              <a:lstStyle/>
              <a:p>
                <a:pPr defTabSz="685800">
                  <a:defRPr/>
                </a:pPr>
                <a:endParaRPr lang="en-US" sz="1050" kern="0">
                  <a:solidFill>
                    <a:srgbClr val="000000"/>
                  </a:solidFill>
                  <a:latin typeface="Sakkal Majalla"/>
                </a:endParaRPr>
              </a:p>
            </p:txBody>
          </p:sp>
          <p:grpSp>
            <p:nvGrpSpPr>
              <p:cNvPr id="232" name="Graphic 2">
                <a:extLst>
                  <a:ext uri="{FF2B5EF4-FFF2-40B4-BE49-F238E27FC236}">
                    <a16:creationId xmlns:a16="http://schemas.microsoft.com/office/drawing/2014/main" id="{8702E357-4B48-D644-1690-EAF2240575CD}"/>
                  </a:ext>
                </a:extLst>
              </p:cNvPr>
              <p:cNvGrpSpPr/>
              <p:nvPr/>
            </p:nvGrpSpPr>
            <p:grpSpPr>
              <a:xfrm>
                <a:off x="-540701" y="3931246"/>
                <a:ext cx="106833" cy="107143"/>
                <a:chOff x="4428863" y="1781847"/>
                <a:chExt cx="3335594" cy="3295537"/>
              </a:xfrm>
              <a:solidFill>
                <a:srgbClr val="FFFFFF"/>
              </a:solidFill>
            </p:grpSpPr>
            <p:sp>
              <p:nvSpPr>
                <p:cNvPr id="234" name="Freeform 7">
                  <a:extLst>
                    <a:ext uri="{FF2B5EF4-FFF2-40B4-BE49-F238E27FC236}">
                      <a16:creationId xmlns:a16="http://schemas.microsoft.com/office/drawing/2014/main" id="{F4FE896D-9468-8491-BA01-3608B68041F9}"/>
                    </a:ext>
                  </a:extLst>
                </p:cNvPr>
                <p:cNvSpPr/>
                <p:nvPr/>
              </p:nvSpPr>
              <p:spPr>
                <a:xfrm>
                  <a:off x="4428863" y="2164891"/>
                  <a:ext cx="2912493" cy="2912493"/>
                </a:xfrm>
                <a:custGeom>
                  <a:avLst/>
                  <a:gdLst>
                    <a:gd name="connsiteX0" fmla="*/ 2740823 w 2912493"/>
                    <a:gd name="connsiteY0" fmla="*/ 1721543 h 2912493"/>
                    <a:gd name="connsiteX1" fmla="*/ 2569153 w 2912493"/>
                    <a:gd name="connsiteY1" fmla="*/ 1893213 h 2912493"/>
                    <a:gd name="connsiteX2" fmla="*/ 2569153 w 2912493"/>
                    <a:gd name="connsiteY2" fmla="*/ 2146316 h 2912493"/>
                    <a:gd name="connsiteX3" fmla="*/ 2146316 w 2912493"/>
                    <a:gd name="connsiteY3" fmla="*/ 2569153 h 2912493"/>
                    <a:gd name="connsiteX4" fmla="*/ 766177 w 2912493"/>
                    <a:gd name="connsiteY4" fmla="*/ 2569153 h 2912493"/>
                    <a:gd name="connsiteX5" fmla="*/ 343340 w 2912493"/>
                    <a:gd name="connsiteY5" fmla="*/ 2146316 h 2912493"/>
                    <a:gd name="connsiteX6" fmla="*/ 343340 w 2912493"/>
                    <a:gd name="connsiteY6" fmla="*/ 766177 h 2912493"/>
                    <a:gd name="connsiteX7" fmla="*/ 766177 w 2912493"/>
                    <a:gd name="connsiteY7" fmla="*/ 343340 h 2912493"/>
                    <a:gd name="connsiteX8" fmla="*/ 1099129 w 2912493"/>
                    <a:gd name="connsiteY8" fmla="*/ 343340 h 2912493"/>
                    <a:gd name="connsiteX9" fmla="*/ 1270799 w 2912493"/>
                    <a:gd name="connsiteY9" fmla="*/ 171670 h 2912493"/>
                    <a:gd name="connsiteX10" fmla="*/ 1099129 w 2912493"/>
                    <a:gd name="connsiteY10" fmla="*/ 0 h 2912493"/>
                    <a:gd name="connsiteX11" fmla="*/ 766177 w 2912493"/>
                    <a:gd name="connsiteY11" fmla="*/ 0 h 2912493"/>
                    <a:gd name="connsiteX12" fmla="*/ 0 w 2912493"/>
                    <a:gd name="connsiteY12" fmla="*/ 766177 h 2912493"/>
                    <a:gd name="connsiteX13" fmla="*/ 0 w 2912493"/>
                    <a:gd name="connsiteY13" fmla="*/ 2146316 h 2912493"/>
                    <a:gd name="connsiteX14" fmla="*/ 766177 w 2912493"/>
                    <a:gd name="connsiteY14" fmla="*/ 2912493 h 2912493"/>
                    <a:gd name="connsiteX15" fmla="*/ 2146316 w 2912493"/>
                    <a:gd name="connsiteY15" fmla="*/ 2912493 h 2912493"/>
                    <a:gd name="connsiteX16" fmla="*/ 2912493 w 2912493"/>
                    <a:gd name="connsiteY16" fmla="*/ 2146316 h 2912493"/>
                    <a:gd name="connsiteX17" fmla="*/ 2912493 w 2912493"/>
                    <a:gd name="connsiteY17" fmla="*/ 1893213 h 2912493"/>
                    <a:gd name="connsiteX18" fmla="*/ 2740823 w 2912493"/>
                    <a:gd name="connsiteY18" fmla="*/ 1721543 h 29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12493" h="2912493">
                      <a:moveTo>
                        <a:pt x="2740823" y="1721543"/>
                      </a:moveTo>
                      <a:cubicBezTo>
                        <a:pt x="2646008" y="1721543"/>
                        <a:pt x="2569153" y="1798398"/>
                        <a:pt x="2569153" y="1893213"/>
                      </a:cubicBezTo>
                      <a:lnTo>
                        <a:pt x="2569153" y="2146316"/>
                      </a:lnTo>
                      <a:cubicBezTo>
                        <a:pt x="2569153" y="2379436"/>
                        <a:pt x="2379436" y="2569153"/>
                        <a:pt x="2146316" y="2569153"/>
                      </a:cubicBezTo>
                      <a:lnTo>
                        <a:pt x="766177" y="2569153"/>
                      </a:lnTo>
                      <a:cubicBezTo>
                        <a:pt x="533058" y="2569153"/>
                        <a:pt x="343340" y="2379436"/>
                        <a:pt x="343340" y="2146316"/>
                      </a:cubicBezTo>
                      <a:lnTo>
                        <a:pt x="343340" y="766177"/>
                      </a:lnTo>
                      <a:cubicBezTo>
                        <a:pt x="343340" y="533058"/>
                        <a:pt x="533058" y="343340"/>
                        <a:pt x="766177" y="343340"/>
                      </a:cubicBezTo>
                      <a:lnTo>
                        <a:pt x="1099129" y="343340"/>
                      </a:lnTo>
                      <a:cubicBezTo>
                        <a:pt x="1193943" y="343340"/>
                        <a:pt x="1270799" y="266485"/>
                        <a:pt x="1270799" y="171670"/>
                      </a:cubicBezTo>
                      <a:cubicBezTo>
                        <a:pt x="1270799" y="76855"/>
                        <a:pt x="1193943" y="0"/>
                        <a:pt x="1099129" y="0"/>
                      </a:cubicBezTo>
                      <a:lnTo>
                        <a:pt x="766177" y="0"/>
                      </a:lnTo>
                      <a:cubicBezTo>
                        <a:pt x="343692" y="0"/>
                        <a:pt x="0" y="343692"/>
                        <a:pt x="0" y="766177"/>
                      </a:cubicBezTo>
                      <a:lnTo>
                        <a:pt x="0" y="2146316"/>
                      </a:lnTo>
                      <a:cubicBezTo>
                        <a:pt x="0" y="2568801"/>
                        <a:pt x="343692" y="2912493"/>
                        <a:pt x="766177" y="2912493"/>
                      </a:cubicBezTo>
                      <a:lnTo>
                        <a:pt x="2146316" y="2912493"/>
                      </a:lnTo>
                      <a:cubicBezTo>
                        <a:pt x="2568801" y="2912493"/>
                        <a:pt x="2912493" y="2568801"/>
                        <a:pt x="2912493" y="2146316"/>
                      </a:cubicBezTo>
                      <a:lnTo>
                        <a:pt x="2912493" y="1893213"/>
                      </a:lnTo>
                      <a:cubicBezTo>
                        <a:pt x="2912493" y="1798398"/>
                        <a:pt x="2835638" y="1721543"/>
                        <a:pt x="2740823" y="1721543"/>
                      </a:cubicBezTo>
                      <a:close/>
                    </a:path>
                  </a:pathLst>
                </a:custGeom>
                <a:solidFill>
                  <a:srgbClr val="FFFFFF"/>
                </a:solidFill>
                <a:ln w="8804" cap="flat">
                  <a:noFill/>
                  <a:prstDash val="solid"/>
                  <a:miter/>
                </a:ln>
              </p:spPr>
              <p:txBody>
                <a:bodyPr rtlCol="0" anchor="ctr"/>
                <a:lstStyle/>
                <a:p>
                  <a:pPr defTabSz="685800">
                    <a:defRPr/>
                  </a:pPr>
                  <a:endParaRPr lang="en-US" sz="1050" kern="0">
                    <a:solidFill>
                      <a:srgbClr val="000000"/>
                    </a:solidFill>
                    <a:latin typeface="Sakkal Majalla"/>
                  </a:endParaRPr>
                </a:p>
              </p:txBody>
            </p:sp>
            <p:sp>
              <p:nvSpPr>
                <p:cNvPr id="235" name="Freeform 8">
                  <a:extLst>
                    <a:ext uri="{FF2B5EF4-FFF2-40B4-BE49-F238E27FC236}">
                      <a16:creationId xmlns:a16="http://schemas.microsoft.com/office/drawing/2014/main" id="{55E65B90-4EAB-8776-1FE5-40C49DAD2447}"/>
                    </a:ext>
                  </a:extLst>
                </p:cNvPr>
                <p:cNvSpPr/>
                <p:nvPr/>
              </p:nvSpPr>
              <p:spPr>
                <a:xfrm>
                  <a:off x="5420104" y="1781847"/>
                  <a:ext cx="2344353" cy="2344309"/>
                </a:xfrm>
                <a:custGeom>
                  <a:avLst/>
                  <a:gdLst>
                    <a:gd name="connsiteX0" fmla="*/ 2343385 w 2344353"/>
                    <a:gd name="connsiteY0" fmla="*/ 154767 h 2344309"/>
                    <a:gd name="connsiteX1" fmla="*/ 2342328 w 2344353"/>
                    <a:gd name="connsiteY1" fmla="*/ 147284 h 2344309"/>
                    <a:gd name="connsiteX2" fmla="*/ 2340920 w 2344353"/>
                    <a:gd name="connsiteY2" fmla="*/ 138128 h 2344309"/>
                    <a:gd name="connsiteX3" fmla="*/ 2338895 w 2344353"/>
                    <a:gd name="connsiteY3" fmla="*/ 129765 h 2344309"/>
                    <a:gd name="connsiteX4" fmla="*/ 2336870 w 2344353"/>
                    <a:gd name="connsiteY4" fmla="*/ 121842 h 2344309"/>
                    <a:gd name="connsiteX5" fmla="*/ 2334053 w 2344353"/>
                    <a:gd name="connsiteY5" fmla="*/ 113831 h 2344309"/>
                    <a:gd name="connsiteX6" fmla="*/ 2331148 w 2344353"/>
                    <a:gd name="connsiteY6" fmla="*/ 105995 h 2344309"/>
                    <a:gd name="connsiteX7" fmla="*/ 2327803 w 2344353"/>
                    <a:gd name="connsiteY7" fmla="*/ 98688 h 2344309"/>
                    <a:gd name="connsiteX8" fmla="*/ 2324017 w 2344353"/>
                    <a:gd name="connsiteY8" fmla="*/ 90765 h 2344309"/>
                    <a:gd name="connsiteX9" fmla="*/ 2320055 w 2344353"/>
                    <a:gd name="connsiteY9" fmla="*/ 84074 h 2344309"/>
                    <a:gd name="connsiteX10" fmla="*/ 2315389 w 2344353"/>
                    <a:gd name="connsiteY10" fmla="*/ 76415 h 2344309"/>
                    <a:gd name="connsiteX11" fmla="*/ 2310195 w 2344353"/>
                    <a:gd name="connsiteY11" fmla="*/ 69284 h 2344309"/>
                    <a:gd name="connsiteX12" fmla="*/ 2305441 w 2344353"/>
                    <a:gd name="connsiteY12" fmla="*/ 62858 h 2344309"/>
                    <a:gd name="connsiteX13" fmla="*/ 2294789 w 2344353"/>
                    <a:gd name="connsiteY13" fmla="*/ 51061 h 2344309"/>
                    <a:gd name="connsiteX14" fmla="*/ 2294085 w 2344353"/>
                    <a:gd name="connsiteY14" fmla="*/ 50269 h 2344309"/>
                    <a:gd name="connsiteX15" fmla="*/ 2293205 w 2344353"/>
                    <a:gd name="connsiteY15" fmla="*/ 49476 h 2344309"/>
                    <a:gd name="connsiteX16" fmla="*/ 2281496 w 2344353"/>
                    <a:gd name="connsiteY16" fmla="*/ 38912 h 2344309"/>
                    <a:gd name="connsiteX17" fmla="*/ 2274981 w 2344353"/>
                    <a:gd name="connsiteY17" fmla="*/ 34070 h 2344309"/>
                    <a:gd name="connsiteX18" fmla="*/ 2268026 w 2344353"/>
                    <a:gd name="connsiteY18" fmla="*/ 28964 h 2344309"/>
                    <a:gd name="connsiteX19" fmla="*/ 2260191 w 2344353"/>
                    <a:gd name="connsiteY19" fmla="*/ 24210 h 2344309"/>
                    <a:gd name="connsiteX20" fmla="*/ 2253588 w 2344353"/>
                    <a:gd name="connsiteY20" fmla="*/ 20336 h 2344309"/>
                    <a:gd name="connsiteX21" fmla="*/ 2245489 w 2344353"/>
                    <a:gd name="connsiteY21" fmla="*/ 16375 h 2344309"/>
                    <a:gd name="connsiteX22" fmla="*/ 2238446 w 2344353"/>
                    <a:gd name="connsiteY22" fmla="*/ 13117 h 2344309"/>
                    <a:gd name="connsiteX23" fmla="*/ 2230347 w 2344353"/>
                    <a:gd name="connsiteY23" fmla="*/ 10124 h 2344309"/>
                    <a:gd name="connsiteX24" fmla="*/ 2222600 w 2344353"/>
                    <a:gd name="connsiteY24" fmla="*/ 7395 h 2344309"/>
                    <a:gd name="connsiteX25" fmla="*/ 2214236 w 2344353"/>
                    <a:gd name="connsiteY25" fmla="*/ 5282 h 2344309"/>
                    <a:gd name="connsiteX26" fmla="*/ 2206313 w 2344353"/>
                    <a:gd name="connsiteY26" fmla="*/ 3345 h 2344309"/>
                    <a:gd name="connsiteX27" fmla="*/ 2196365 w 2344353"/>
                    <a:gd name="connsiteY27" fmla="*/ 1849 h 2344309"/>
                    <a:gd name="connsiteX28" fmla="*/ 2189674 w 2344353"/>
                    <a:gd name="connsiteY28" fmla="*/ 880 h 2344309"/>
                    <a:gd name="connsiteX29" fmla="*/ 2172507 w 2344353"/>
                    <a:gd name="connsiteY29" fmla="*/ 0 h 2344309"/>
                    <a:gd name="connsiteX30" fmla="*/ 1327098 w 2344353"/>
                    <a:gd name="connsiteY30" fmla="*/ 0 h 2344309"/>
                    <a:gd name="connsiteX31" fmla="*/ 1155428 w 2344353"/>
                    <a:gd name="connsiteY31" fmla="*/ 171670 h 2344309"/>
                    <a:gd name="connsiteX32" fmla="*/ 1327098 w 2344353"/>
                    <a:gd name="connsiteY32" fmla="*/ 343340 h 2344309"/>
                    <a:gd name="connsiteX33" fmla="*/ 1758210 w 2344353"/>
                    <a:gd name="connsiteY33" fmla="*/ 343340 h 2344309"/>
                    <a:gd name="connsiteX34" fmla="*/ 50313 w 2344353"/>
                    <a:gd name="connsiteY34" fmla="*/ 2051238 h 2344309"/>
                    <a:gd name="connsiteX35" fmla="*/ 50313 w 2344353"/>
                    <a:gd name="connsiteY35" fmla="*/ 2294041 h 2344309"/>
                    <a:gd name="connsiteX36" fmla="*/ 171714 w 2344353"/>
                    <a:gd name="connsiteY36" fmla="*/ 2344309 h 2344309"/>
                    <a:gd name="connsiteX37" fmla="*/ 293116 w 2344353"/>
                    <a:gd name="connsiteY37" fmla="*/ 2294041 h 2344309"/>
                    <a:gd name="connsiteX38" fmla="*/ 2001013 w 2344353"/>
                    <a:gd name="connsiteY38" fmla="*/ 586055 h 2344309"/>
                    <a:gd name="connsiteX39" fmla="*/ 2001013 w 2344353"/>
                    <a:gd name="connsiteY39" fmla="*/ 1017167 h 2344309"/>
                    <a:gd name="connsiteX40" fmla="*/ 2172683 w 2344353"/>
                    <a:gd name="connsiteY40" fmla="*/ 1188838 h 2344309"/>
                    <a:gd name="connsiteX41" fmla="*/ 2344353 w 2344353"/>
                    <a:gd name="connsiteY41" fmla="*/ 1017167 h 2344309"/>
                    <a:gd name="connsiteX42" fmla="*/ 2344353 w 2344353"/>
                    <a:gd name="connsiteY42" fmla="*/ 171582 h 2344309"/>
                    <a:gd name="connsiteX43" fmla="*/ 2344353 w 2344353"/>
                    <a:gd name="connsiteY43" fmla="*/ 171582 h 2344309"/>
                    <a:gd name="connsiteX44" fmla="*/ 2343473 w 2344353"/>
                    <a:gd name="connsiteY44" fmla="*/ 154679 h 234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44353" h="2344309">
                      <a:moveTo>
                        <a:pt x="2343385" y="154767"/>
                      </a:moveTo>
                      <a:cubicBezTo>
                        <a:pt x="2343121" y="152214"/>
                        <a:pt x="2342681" y="149749"/>
                        <a:pt x="2342328" y="147284"/>
                      </a:cubicBezTo>
                      <a:cubicBezTo>
                        <a:pt x="2341888" y="144203"/>
                        <a:pt x="2341536" y="141210"/>
                        <a:pt x="2340920" y="138128"/>
                      </a:cubicBezTo>
                      <a:cubicBezTo>
                        <a:pt x="2340392" y="135311"/>
                        <a:pt x="2339599" y="132494"/>
                        <a:pt x="2338895" y="129765"/>
                      </a:cubicBezTo>
                      <a:cubicBezTo>
                        <a:pt x="2338191" y="127124"/>
                        <a:pt x="2337663" y="124483"/>
                        <a:pt x="2336870" y="121842"/>
                      </a:cubicBezTo>
                      <a:cubicBezTo>
                        <a:pt x="2336078" y="119113"/>
                        <a:pt x="2335022" y="116472"/>
                        <a:pt x="2334053" y="113831"/>
                      </a:cubicBezTo>
                      <a:cubicBezTo>
                        <a:pt x="2333085" y="111189"/>
                        <a:pt x="2332293" y="108548"/>
                        <a:pt x="2331148" y="105995"/>
                      </a:cubicBezTo>
                      <a:cubicBezTo>
                        <a:pt x="2330092" y="103530"/>
                        <a:pt x="2328947" y="101153"/>
                        <a:pt x="2327803" y="98688"/>
                      </a:cubicBezTo>
                      <a:cubicBezTo>
                        <a:pt x="2326570" y="96047"/>
                        <a:pt x="2325337" y="93318"/>
                        <a:pt x="2324017" y="90765"/>
                      </a:cubicBezTo>
                      <a:cubicBezTo>
                        <a:pt x="2322784" y="88476"/>
                        <a:pt x="2321376" y="86275"/>
                        <a:pt x="2320055" y="84074"/>
                      </a:cubicBezTo>
                      <a:cubicBezTo>
                        <a:pt x="2318559" y="81521"/>
                        <a:pt x="2317062" y="78880"/>
                        <a:pt x="2315389" y="76415"/>
                      </a:cubicBezTo>
                      <a:cubicBezTo>
                        <a:pt x="2313717" y="73950"/>
                        <a:pt x="2311956" y="71661"/>
                        <a:pt x="2310195" y="69284"/>
                      </a:cubicBezTo>
                      <a:cubicBezTo>
                        <a:pt x="2308611" y="67171"/>
                        <a:pt x="2307114" y="64971"/>
                        <a:pt x="2305441" y="62858"/>
                      </a:cubicBezTo>
                      <a:cubicBezTo>
                        <a:pt x="2302096" y="58720"/>
                        <a:pt x="2298486" y="54846"/>
                        <a:pt x="2294789" y="51061"/>
                      </a:cubicBezTo>
                      <a:cubicBezTo>
                        <a:pt x="2294525" y="50797"/>
                        <a:pt x="2294349" y="50533"/>
                        <a:pt x="2294085" y="50269"/>
                      </a:cubicBezTo>
                      <a:cubicBezTo>
                        <a:pt x="2293821" y="50004"/>
                        <a:pt x="2293468" y="49740"/>
                        <a:pt x="2293205" y="49476"/>
                      </a:cubicBezTo>
                      <a:cubicBezTo>
                        <a:pt x="2289507" y="45779"/>
                        <a:pt x="2285545" y="42257"/>
                        <a:pt x="2281496" y="38912"/>
                      </a:cubicBezTo>
                      <a:cubicBezTo>
                        <a:pt x="2279383" y="37151"/>
                        <a:pt x="2277182" y="35655"/>
                        <a:pt x="2274981" y="34070"/>
                      </a:cubicBezTo>
                      <a:cubicBezTo>
                        <a:pt x="2272692" y="32309"/>
                        <a:pt x="2270403" y="30548"/>
                        <a:pt x="2268026" y="28964"/>
                      </a:cubicBezTo>
                      <a:cubicBezTo>
                        <a:pt x="2265473" y="27291"/>
                        <a:pt x="2262832" y="25795"/>
                        <a:pt x="2260191" y="24210"/>
                      </a:cubicBezTo>
                      <a:cubicBezTo>
                        <a:pt x="2257990" y="22889"/>
                        <a:pt x="2255877" y="21569"/>
                        <a:pt x="2253588" y="20336"/>
                      </a:cubicBezTo>
                      <a:cubicBezTo>
                        <a:pt x="2250947" y="18928"/>
                        <a:pt x="2248218" y="17695"/>
                        <a:pt x="2245489" y="16375"/>
                      </a:cubicBezTo>
                      <a:cubicBezTo>
                        <a:pt x="2243112" y="15230"/>
                        <a:pt x="2240823" y="14086"/>
                        <a:pt x="2238446" y="13117"/>
                      </a:cubicBezTo>
                      <a:cubicBezTo>
                        <a:pt x="2235805" y="11973"/>
                        <a:pt x="2233076" y="11093"/>
                        <a:pt x="2230347" y="10124"/>
                      </a:cubicBezTo>
                      <a:cubicBezTo>
                        <a:pt x="2227794" y="9244"/>
                        <a:pt x="2225241" y="8187"/>
                        <a:pt x="2222600" y="7395"/>
                      </a:cubicBezTo>
                      <a:cubicBezTo>
                        <a:pt x="2219870" y="6515"/>
                        <a:pt x="2217053" y="5899"/>
                        <a:pt x="2214236" y="5282"/>
                      </a:cubicBezTo>
                      <a:cubicBezTo>
                        <a:pt x="2211595" y="4666"/>
                        <a:pt x="2208954" y="3874"/>
                        <a:pt x="2206313" y="3345"/>
                      </a:cubicBezTo>
                      <a:cubicBezTo>
                        <a:pt x="2203055" y="2729"/>
                        <a:pt x="2199710" y="2289"/>
                        <a:pt x="2196365" y="1849"/>
                      </a:cubicBezTo>
                      <a:cubicBezTo>
                        <a:pt x="2194164" y="1585"/>
                        <a:pt x="2191963" y="1145"/>
                        <a:pt x="2189674" y="880"/>
                      </a:cubicBezTo>
                      <a:cubicBezTo>
                        <a:pt x="2183952" y="352"/>
                        <a:pt x="2178230" y="0"/>
                        <a:pt x="2172507" y="0"/>
                      </a:cubicBezTo>
                      <a:lnTo>
                        <a:pt x="1327098" y="0"/>
                      </a:lnTo>
                      <a:cubicBezTo>
                        <a:pt x="1232283" y="0"/>
                        <a:pt x="1155428" y="76855"/>
                        <a:pt x="1155428" y="171670"/>
                      </a:cubicBezTo>
                      <a:cubicBezTo>
                        <a:pt x="1155428" y="266485"/>
                        <a:pt x="1232283" y="343340"/>
                        <a:pt x="1327098" y="343340"/>
                      </a:cubicBezTo>
                      <a:lnTo>
                        <a:pt x="1758210" y="343340"/>
                      </a:lnTo>
                      <a:lnTo>
                        <a:pt x="50313" y="2051238"/>
                      </a:lnTo>
                      <a:cubicBezTo>
                        <a:pt x="-16771" y="2118321"/>
                        <a:pt x="-16771" y="2226957"/>
                        <a:pt x="50313" y="2294041"/>
                      </a:cubicBezTo>
                      <a:cubicBezTo>
                        <a:pt x="83854" y="2327583"/>
                        <a:pt x="127784" y="2344309"/>
                        <a:pt x="171714" y="2344309"/>
                      </a:cubicBezTo>
                      <a:cubicBezTo>
                        <a:pt x="215644" y="2344309"/>
                        <a:pt x="259574" y="2327583"/>
                        <a:pt x="293116" y="2294041"/>
                      </a:cubicBezTo>
                      <a:lnTo>
                        <a:pt x="2001013" y="586055"/>
                      </a:lnTo>
                      <a:lnTo>
                        <a:pt x="2001013" y="1017167"/>
                      </a:lnTo>
                      <a:cubicBezTo>
                        <a:pt x="2001013" y="1111982"/>
                        <a:pt x="2077868" y="1188838"/>
                        <a:pt x="2172683" y="1188838"/>
                      </a:cubicBezTo>
                      <a:cubicBezTo>
                        <a:pt x="2267498" y="1188838"/>
                        <a:pt x="2344353" y="1111982"/>
                        <a:pt x="2344353" y="1017167"/>
                      </a:cubicBezTo>
                      <a:lnTo>
                        <a:pt x="2344353" y="171582"/>
                      </a:lnTo>
                      <a:lnTo>
                        <a:pt x="2344353" y="171582"/>
                      </a:lnTo>
                      <a:cubicBezTo>
                        <a:pt x="2344353" y="165948"/>
                        <a:pt x="2344089" y="160314"/>
                        <a:pt x="2343473" y="154679"/>
                      </a:cubicBezTo>
                      <a:close/>
                    </a:path>
                  </a:pathLst>
                </a:custGeom>
                <a:solidFill>
                  <a:srgbClr val="FFFFFF"/>
                </a:solidFill>
                <a:ln w="8804" cap="flat">
                  <a:noFill/>
                  <a:prstDash val="solid"/>
                  <a:miter/>
                </a:ln>
              </p:spPr>
              <p:txBody>
                <a:bodyPr rtlCol="0" anchor="ctr"/>
                <a:lstStyle/>
                <a:p>
                  <a:pPr defTabSz="685800">
                    <a:defRPr/>
                  </a:pPr>
                  <a:endParaRPr lang="en-US" sz="1050" kern="0">
                    <a:solidFill>
                      <a:srgbClr val="000000"/>
                    </a:solidFill>
                    <a:latin typeface="Sakkal Majalla"/>
                  </a:endParaRPr>
                </a:p>
              </p:txBody>
            </p:sp>
          </p:grpSp>
          <p:sp>
            <p:nvSpPr>
              <p:cNvPr id="233" name="Graphic 11">
                <a:extLst>
                  <a:ext uri="{FF2B5EF4-FFF2-40B4-BE49-F238E27FC236}">
                    <a16:creationId xmlns:a16="http://schemas.microsoft.com/office/drawing/2014/main" id="{99766369-D461-8B7D-7FD5-F3361FB4AF8A}"/>
                  </a:ext>
                </a:extLst>
              </p:cNvPr>
              <p:cNvSpPr/>
              <p:nvPr/>
            </p:nvSpPr>
            <p:spPr>
              <a:xfrm>
                <a:off x="-411909" y="4031131"/>
                <a:ext cx="111507" cy="126645"/>
              </a:xfrm>
              <a:custGeom>
                <a:avLst/>
                <a:gdLst>
                  <a:gd name="connsiteX0" fmla="*/ 6129750 w 6131742"/>
                  <a:gd name="connsiteY0" fmla="*/ 3516229 h 6860668"/>
                  <a:gd name="connsiteX1" fmla="*/ 6129750 w 6131742"/>
                  <a:gd name="connsiteY1" fmla="*/ 3445892 h 6860668"/>
                  <a:gd name="connsiteX2" fmla="*/ 5369627 w 6131742"/>
                  <a:gd name="connsiteY2" fmla="*/ 2685769 h 6860668"/>
                  <a:gd name="connsiteX3" fmla="*/ 5100678 w 6131742"/>
                  <a:gd name="connsiteY3" fmla="*/ 2735058 h 6860668"/>
                  <a:gd name="connsiteX4" fmla="*/ 4356129 w 6131742"/>
                  <a:gd name="connsiteY4" fmla="*/ 2128345 h 6860668"/>
                  <a:gd name="connsiteX5" fmla="*/ 4074343 w 6131742"/>
                  <a:gd name="connsiteY5" fmla="*/ 2182736 h 6860668"/>
                  <a:gd name="connsiteX6" fmla="*/ 3325740 w 6131742"/>
                  <a:gd name="connsiteY6" fmla="*/ 1621596 h 6860668"/>
                  <a:gd name="connsiteX7" fmla="*/ 3055474 w 6131742"/>
                  <a:gd name="connsiteY7" fmla="*/ 1672811 h 6860668"/>
                  <a:gd name="connsiteX8" fmla="*/ 3055474 w 6131742"/>
                  <a:gd name="connsiteY8" fmla="*/ 760123 h 6860668"/>
                  <a:gd name="connsiteX9" fmla="*/ 2295351 w 6131742"/>
                  <a:gd name="connsiteY9" fmla="*/ 0 h 6860668"/>
                  <a:gd name="connsiteX10" fmla="*/ 1535228 w 6131742"/>
                  <a:gd name="connsiteY10" fmla="*/ 760123 h 6860668"/>
                  <a:gd name="connsiteX11" fmla="*/ 1535228 w 6131742"/>
                  <a:gd name="connsiteY11" fmla="*/ 2998568 h 6860668"/>
                  <a:gd name="connsiteX12" fmla="*/ 1056553 w 6131742"/>
                  <a:gd name="connsiteY12" fmla="*/ 2604283 h 6860668"/>
                  <a:gd name="connsiteX13" fmla="*/ 425921 w 6131742"/>
                  <a:gd name="connsiteY13" fmla="*/ 2633742 h 6860668"/>
                  <a:gd name="connsiteX14" fmla="*/ 78730 w 6131742"/>
                  <a:gd name="connsiteY14" fmla="*/ 3665753 h 6860668"/>
                  <a:gd name="connsiteX15" fmla="*/ 1022972 w 6131742"/>
                  <a:gd name="connsiteY15" fmla="*/ 5576635 h 6860668"/>
                  <a:gd name="connsiteX16" fmla="*/ 2848045 w 6131742"/>
                  <a:gd name="connsiteY16" fmla="*/ 6860669 h 6860668"/>
                  <a:gd name="connsiteX17" fmla="*/ 4199375 w 6131742"/>
                  <a:gd name="connsiteY17" fmla="*/ 6860669 h 6860668"/>
                  <a:gd name="connsiteX18" fmla="*/ 6131743 w 6131742"/>
                  <a:gd name="connsiteY18" fmla="*/ 4917929 h 6860668"/>
                  <a:gd name="connsiteX19" fmla="*/ 6130696 w 6131742"/>
                  <a:gd name="connsiteY19" fmla="*/ 3516229 h 6860668"/>
                  <a:gd name="connsiteX20" fmla="*/ 6129750 w 6131742"/>
                  <a:gd name="connsiteY20" fmla="*/ 3516229 h 6860668"/>
                  <a:gd name="connsiteX21" fmla="*/ 4199409 w 6131742"/>
                  <a:gd name="connsiteY21" fmla="*/ 6353920 h 6860668"/>
                  <a:gd name="connsiteX22" fmla="*/ 2848079 w 6131742"/>
                  <a:gd name="connsiteY22" fmla="*/ 6353920 h 6860668"/>
                  <a:gd name="connsiteX23" fmla="*/ 1474924 w 6131742"/>
                  <a:gd name="connsiteY23" fmla="*/ 5347315 h 6860668"/>
                  <a:gd name="connsiteX24" fmla="*/ 533047 w 6131742"/>
                  <a:gd name="connsiteY24" fmla="*/ 3441263 h 6860668"/>
                  <a:gd name="connsiteX25" fmla="*/ 655647 w 6131742"/>
                  <a:gd name="connsiteY25" fmla="*/ 3085458 h 6860668"/>
                  <a:gd name="connsiteX26" fmla="*/ 863684 w 6131742"/>
                  <a:gd name="connsiteY26" fmla="*/ 3072891 h 6860668"/>
                  <a:gd name="connsiteX27" fmla="*/ 1525363 w 6131742"/>
                  <a:gd name="connsiteY27" fmla="*/ 4061558 h 6860668"/>
                  <a:gd name="connsiteX28" fmla="*/ 1606780 w 6131742"/>
                  <a:gd name="connsiteY28" fmla="*/ 4306791 h 6860668"/>
                  <a:gd name="connsiteX29" fmla="*/ 2042010 w 6131742"/>
                  <a:gd name="connsiteY29" fmla="*/ 4152773 h 6860668"/>
                  <a:gd name="connsiteX30" fmla="*/ 2042010 w 6131742"/>
                  <a:gd name="connsiteY30" fmla="*/ 760123 h 6860668"/>
                  <a:gd name="connsiteX31" fmla="*/ 2295385 w 6131742"/>
                  <a:gd name="connsiteY31" fmla="*/ 506749 h 6860668"/>
                  <a:gd name="connsiteX32" fmla="*/ 2548759 w 6131742"/>
                  <a:gd name="connsiteY32" fmla="*/ 760123 h 6860668"/>
                  <a:gd name="connsiteX33" fmla="*/ 2548759 w 6131742"/>
                  <a:gd name="connsiteY33" fmla="*/ 3682375 h 6860668"/>
                  <a:gd name="connsiteX34" fmla="*/ 2553353 w 6131742"/>
                  <a:gd name="connsiteY34" fmla="*/ 3682375 h 6860668"/>
                  <a:gd name="connsiteX35" fmla="*/ 3055508 w 6131742"/>
                  <a:gd name="connsiteY35" fmla="*/ 3682375 h 6860668"/>
                  <a:gd name="connsiteX36" fmla="*/ 3060102 w 6131742"/>
                  <a:gd name="connsiteY36" fmla="*/ 3682375 h 6860668"/>
                  <a:gd name="connsiteX37" fmla="*/ 3060102 w 6131742"/>
                  <a:gd name="connsiteY37" fmla="*/ 2398611 h 6860668"/>
                  <a:gd name="connsiteX38" fmla="*/ 3325774 w 6131742"/>
                  <a:gd name="connsiteY38" fmla="*/ 2128345 h 6860668"/>
                  <a:gd name="connsiteX39" fmla="*/ 3596040 w 6131742"/>
                  <a:gd name="connsiteY39" fmla="*/ 2381719 h 6860668"/>
                  <a:gd name="connsiteX40" fmla="*/ 3596040 w 6131742"/>
                  <a:gd name="connsiteY40" fmla="*/ 2888468 h 6860668"/>
                  <a:gd name="connsiteX41" fmla="*/ 3596040 w 6131742"/>
                  <a:gd name="connsiteY41" fmla="*/ 3766833 h 6860668"/>
                  <a:gd name="connsiteX42" fmla="*/ 4102788 w 6131742"/>
                  <a:gd name="connsiteY42" fmla="*/ 3766833 h 6860668"/>
                  <a:gd name="connsiteX43" fmla="*/ 4102788 w 6131742"/>
                  <a:gd name="connsiteY43" fmla="*/ 2888468 h 6860668"/>
                  <a:gd name="connsiteX44" fmla="*/ 4356163 w 6131742"/>
                  <a:gd name="connsiteY44" fmla="*/ 2635094 h 6860668"/>
                  <a:gd name="connsiteX45" fmla="*/ 4609537 w 6131742"/>
                  <a:gd name="connsiteY45" fmla="*/ 2888468 h 6860668"/>
                  <a:gd name="connsiteX46" fmla="*/ 4609537 w 6131742"/>
                  <a:gd name="connsiteY46" fmla="*/ 3445892 h 6860668"/>
                  <a:gd name="connsiteX47" fmla="*/ 4609537 w 6131742"/>
                  <a:gd name="connsiteY47" fmla="*/ 4003315 h 6860668"/>
                  <a:gd name="connsiteX48" fmla="*/ 5116286 w 6131742"/>
                  <a:gd name="connsiteY48" fmla="*/ 4003315 h 6860668"/>
                  <a:gd name="connsiteX49" fmla="*/ 5116286 w 6131742"/>
                  <a:gd name="connsiteY49" fmla="*/ 3445892 h 6860668"/>
                  <a:gd name="connsiteX50" fmla="*/ 5369660 w 6131742"/>
                  <a:gd name="connsiteY50" fmla="*/ 3192517 h 6860668"/>
                  <a:gd name="connsiteX51" fmla="*/ 5623035 w 6131742"/>
                  <a:gd name="connsiteY51" fmla="*/ 3445892 h 6860668"/>
                  <a:gd name="connsiteX52" fmla="*/ 5623035 w 6131742"/>
                  <a:gd name="connsiteY52" fmla="*/ 3808285 h 6860668"/>
                  <a:gd name="connsiteX53" fmla="*/ 5624217 w 6131742"/>
                  <a:gd name="connsiteY53" fmla="*/ 3808285 h 6860668"/>
                  <a:gd name="connsiteX54" fmla="*/ 5625062 w 6131742"/>
                  <a:gd name="connsiteY54" fmla="*/ 4918132 h 6860668"/>
                  <a:gd name="connsiteX55" fmla="*/ 4199409 w 6131742"/>
                  <a:gd name="connsiteY55" fmla="*/ 6353920 h 68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131742" h="6860668">
                    <a:moveTo>
                      <a:pt x="6129750" y="3516229"/>
                    </a:moveTo>
                    <a:lnTo>
                      <a:pt x="6129750" y="3445892"/>
                    </a:lnTo>
                    <a:cubicBezTo>
                      <a:pt x="6129750" y="3026743"/>
                      <a:pt x="5788742" y="2685769"/>
                      <a:pt x="5369627" y="2685769"/>
                    </a:cubicBezTo>
                    <a:cubicBezTo>
                      <a:pt x="5274966" y="2685769"/>
                      <a:pt x="5184359" y="2703302"/>
                      <a:pt x="5100678" y="2735058"/>
                    </a:cubicBezTo>
                    <a:cubicBezTo>
                      <a:pt x="5029564" y="2389219"/>
                      <a:pt x="4722745" y="2128345"/>
                      <a:pt x="4356129" y="2128345"/>
                    </a:cubicBezTo>
                    <a:cubicBezTo>
                      <a:pt x="4256570" y="2128345"/>
                      <a:pt x="4161537" y="2147770"/>
                      <a:pt x="4074343" y="2182736"/>
                    </a:cubicBezTo>
                    <a:cubicBezTo>
                      <a:pt x="3982351" y="1863552"/>
                      <a:pt x="3676849" y="1621596"/>
                      <a:pt x="3325740" y="1621596"/>
                    </a:cubicBezTo>
                    <a:cubicBezTo>
                      <a:pt x="3231214" y="1621596"/>
                      <a:pt x="3140067" y="1639873"/>
                      <a:pt x="3055474" y="1672811"/>
                    </a:cubicBezTo>
                    <a:lnTo>
                      <a:pt x="3055474" y="760123"/>
                    </a:lnTo>
                    <a:cubicBezTo>
                      <a:pt x="3055474" y="340974"/>
                      <a:pt x="2714466" y="0"/>
                      <a:pt x="2295351" y="0"/>
                    </a:cubicBezTo>
                    <a:cubicBezTo>
                      <a:pt x="1876236" y="0"/>
                      <a:pt x="1535228" y="340974"/>
                      <a:pt x="1535228" y="760123"/>
                    </a:cubicBezTo>
                    <a:lnTo>
                      <a:pt x="1535228" y="2998568"/>
                    </a:lnTo>
                    <a:cubicBezTo>
                      <a:pt x="1402189" y="2828672"/>
                      <a:pt x="1242225" y="2680600"/>
                      <a:pt x="1056553" y="2604283"/>
                    </a:cubicBezTo>
                    <a:cubicBezTo>
                      <a:pt x="849360" y="2519150"/>
                      <a:pt x="631323" y="2529318"/>
                      <a:pt x="425921" y="2633742"/>
                    </a:cubicBezTo>
                    <a:cubicBezTo>
                      <a:pt x="48156" y="2825834"/>
                      <a:pt x="-107584" y="3288766"/>
                      <a:pt x="78730" y="3665753"/>
                    </a:cubicBezTo>
                    <a:lnTo>
                      <a:pt x="1022972" y="5576635"/>
                    </a:lnTo>
                    <a:cubicBezTo>
                      <a:pt x="1049661" y="5629067"/>
                      <a:pt x="1689549" y="6860669"/>
                      <a:pt x="2848045" y="6860669"/>
                    </a:cubicBezTo>
                    <a:lnTo>
                      <a:pt x="4199375" y="6860669"/>
                    </a:lnTo>
                    <a:cubicBezTo>
                      <a:pt x="5264899" y="6860669"/>
                      <a:pt x="6131743" y="5989264"/>
                      <a:pt x="6131743" y="4917929"/>
                    </a:cubicBezTo>
                    <a:lnTo>
                      <a:pt x="6130696" y="3516229"/>
                    </a:lnTo>
                    <a:lnTo>
                      <a:pt x="6129750" y="3516229"/>
                    </a:lnTo>
                    <a:close/>
                    <a:moveTo>
                      <a:pt x="4199409" y="6353920"/>
                    </a:moveTo>
                    <a:lnTo>
                      <a:pt x="2848079" y="6353920"/>
                    </a:lnTo>
                    <a:cubicBezTo>
                      <a:pt x="2013565" y="6353920"/>
                      <a:pt x="1493674" y="5383057"/>
                      <a:pt x="1474924" y="5347315"/>
                    </a:cubicBezTo>
                    <a:lnTo>
                      <a:pt x="533047" y="3441263"/>
                    </a:lnTo>
                    <a:cubicBezTo>
                      <a:pt x="468048" y="3309745"/>
                      <a:pt x="521899" y="3153464"/>
                      <a:pt x="655647" y="3085458"/>
                    </a:cubicBezTo>
                    <a:cubicBezTo>
                      <a:pt x="729362" y="3047959"/>
                      <a:pt x="793516" y="3044141"/>
                      <a:pt x="863684" y="3072891"/>
                    </a:cubicBezTo>
                    <a:cubicBezTo>
                      <a:pt x="1143443" y="3187585"/>
                      <a:pt x="1418067" y="3740313"/>
                      <a:pt x="1525363" y="4061558"/>
                    </a:cubicBezTo>
                    <a:lnTo>
                      <a:pt x="1606780" y="4306791"/>
                    </a:lnTo>
                    <a:lnTo>
                      <a:pt x="2042010" y="4152773"/>
                    </a:lnTo>
                    <a:lnTo>
                      <a:pt x="2042010" y="760123"/>
                    </a:lnTo>
                    <a:cubicBezTo>
                      <a:pt x="2042010" y="620396"/>
                      <a:pt x="2155657" y="506749"/>
                      <a:pt x="2295385" y="506749"/>
                    </a:cubicBezTo>
                    <a:cubicBezTo>
                      <a:pt x="2435112" y="506749"/>
                      <a:pt x="2548759" y="620396"/>
                      <a:pt x="2548759" y="760123"/>
                    </a:cubicBezTo>
                    <a:lnTo>
                      <a:pt x="2548759" y="3682375"/>
                    </a:lnTo>
                    <a:lnTo>
                      <a:pt x="2553353" y="3682375"/>
                    </a:lnTo>
                    <a:lnTo>
                      <a:pt x="3055508" y="3682375"/>
                    </a:lnTo>
                    <a:lnTo>
                      <a:pt x="3060102" y="3682375"/>
                    </a:lnTo>
                    <a:lnTo>
                      <a:pt x="3060102" y="2398611"/>
                    </a:lnTo>
                    <a:cubicBezTo>
                      <a:pt x="3060102" y="2257161"/>
                      <a:pt x="3186722" y="2128345"/>
                      <a:pt x="3325774" y="2128345"/>
                    </a:cubicBezTo>
                    <a:cubicBezTo>
                      <a:pt x="3469758" y="2128345"/>
                      <a:pt x="3596040" y="2246755"/>
                      <a:pt x="3596040" y="2381719"/>
                    </a:cubicBezTo>
                    <a:lnTo>
                      <a:pt x="3596040" y="2888468"/>
                    </a:lnTo>
                    <a:lnTo>
                      <a:pt x="3596040" y="3766833"/>
                    </a:lnTo>
                    <a:lnTo>
                      <a:pt x="4102788" y="3766833"/>
                    </a:lnTo>
                    <a:lnTo>
                      <a:pt x="4102788" y="2888468"/>
                    </a:lnTo>
                    <a:cubicBezTo>
                      <a:pt x="4102788" y="2748741"/>
                      <a:pt x="4216435" y="2635094"/>
                      <a:pt x="4356163" y="2635094"/>
                    </a:cubicBezTo>
                    <a:cubicBezTo>
                      <a:pt x="4495890" y="2635094"/>
                      <a:pt x="4609537" y="2748741"/>
                      <a:pt x="4609537" y="2888468"/>
                    </a:cubicBezTo>
                    <a:lnTo>
                      <a:pt x="4609537" y="3445892"/>
                    </a:lnTo>
                    <a:lnTo>
                      <a:pt x="4609537" y="4003315"/>
                    </a:lnTo>
                    <a:lnTo>
                      <a:pt x="5116286" y="4003315"/>
                    </a:lnTo>
                    <a:lnTo>
                      <a:pt x="5116286" y="3445892"/>
                    </a:lnTo>
                    <a:cubicBezTo>
                      <a:pt x="5116286" y="3306164"/>
                      <a:pt x="5229933" y="3192517"/>
                      <a:pt x="5369660" y="3192517"/>
                    </a:cubicBezTo>
                    <a:cubicBezTo>
                      <a:pt x="5509388" y="3192517"/>
                      <a:pt x="5623035" y="3306164"/>
                      <a:pt x="5623035" y="3445892"/>
                    </a:cubicBezTo>
                    <a:lnTo>
                      <a:pt x="5623035" y="3808285"/>
                    </a:lnTo>
                    <a:lnTo>
                      <a:pt x="5624217" y="3808285"/>
                    </a:lnTo>
                    <a:lnTo>
                      <a:pt x="5625062" y="4918132"/>
                    </a:lnTo>
                    <a:cubicBezTo>
                      <a:pt x="5625028" y="5709843"/>
                      <a:pt x="4985477" y="6353920"/>
                      <a:pt x="4199409" y="6353920"/>
                    </a:cubicBezTo>
                    <a:close/>
                  </a:path>
                </a:pathLst>
              </a:custGeom>
              <a:solidFill>
                <a:schemeClr val="tx2"/>
              </a:solidFill>
              <a:ln w="33783" cap="flat">
                <a:noFill/>
                <a:prstDash val="solid"/>
                <a:miter/>
              </a:ln>
            </p:spPr>
            <p:txBody>
              <a:bodyPr rtlCol="0" anchor="ctr"/>
              <a:lstStyle/>
              <a:p>
                <a:pPr defTabSz="685800">
                  <a:defRPr/>
                </a:pPr>
                <a:endParaRPr lang="en-US" sz="1050" kern="0">
                  <a:solidFill>
                    <a:srgbClr val="000000"/>
                  </a:solidFill>
                  <a:latin typeface="Sakkal Majalla"/>
                </a:endParaRPr>
              </a:p>
            </p:txBody>
          </p:sp>
        </p:grpSp>
        <p:sp>
          <p:nvSpPr>
            <p:cNvPr id="230" name="Oval 229">
              <a:hlinkClick r:id="rId12"/>
              <a:extLst>
                <a:ext uri="{FF2B5EF4-FFF2-40B4-BE49-F238E27FC236}">
                  <a16:creationId xmlns:a16="http://schemas.microsoft.com/office/drawing/2014/main" id="{B6DD9FA7-FB6E-62A0-4FF4-352C4F0EBFDB}"/>
                </a:ext>
              </a:extLst>
            </p:cNvPr>
            <p:cNvSpPr>
              <a:spLocks/>
            </p:cNvSpPr>
            <p:nvPr/>
          </p:nvSpPr>
          <p:spPr>
            <a:xfrm>
              <a:off x="11274350" y="2922565"/>
              <a:ext cx="328544" cy="312456"/>
            </a:xfrm>
            <a:prstGeom prst="ellipse">
              <a:avLst/>
            </a:prstGeom>
            <a:solidFill>
              <a:schemeClr val="bg1">
                <a:alpha val="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spcBef>
                  <a:spcPts val="225"/>
                </a:spcBef>
                <a:spcAft>
                  <a:spcPts val="225"/>
                </a:spcAft>
                <a:defRPr/>
              </a:pPr>
              <a:endParaRPr lang="en-US" sz="1200">
                <a:solidFill>
                  <a:srgbClr val="FFFFFF"/>
                </a:solidFill>
                <a:latin typeface="Sakkal Majalla"/>
              </a:endParaRPr>
            </a:p>
          </p:txBody>
        </p:sp>
      </p:grpSp>
      <p:sp>
        <p:nvSpPr>
          <p:cNvPr id="6" name="TextBox 5">
            <a:extLst>
              <a:ext uri="{FF2B5EF4-FFF2-40B4-BE49-F238E27FC236}">
                <a16:creationId xmlns:a16="http://schemas.microsoft.com/office/drawing/2014/main" id="{201C952E-9FB1-B84C-E2ED-C257E24D3F72}"/>
              </a:ext>
            </a:extLst>
          </p:cNvPr>
          <p:cNvSpPr txBox="1"/>
          <p:nvPr/>
        </p:nvSpPr>
        <p:spPr>
          <a:xfrm>
            <a:off x="416811" y="3846192"/>
            <a:ext cx="7565293" cy="215444"/>
          </a:xfrm>
          <a:prstGeom prst="rect">
            <a:avLst/>
          </a:prstGeom>
          <a:noFill/>
        </p:spPr>
        <p:txBody>
          <a:bodyPr wrap="square">
            <a:spAutoFit/>
          </a:bodyPr>
          <a:lstStyle/>
          <a:p>
            <a:r>
              <a:rPr kumimoji="0" lang="en-US" sz="800" b="0" i="1" u="none" strike="noStrike" kern="0" cap="none" spc="0" normalizeH="0" baseline="0" noProof="0">
                <a:ln>
                  <a:noFill/>
                </a:ln>
                <a:solidFill>
                  <a:srgbClr val="000000"/>
                </a:solidFill>
                <a:effectLst/>
                <a:uLnTx/>
                <a:uFillTx/>
                <a:latin typeface="Fund Light" pitchFamily="2" charset="-78"/>
                <a:cs typeface="Fund Light" pitchFamily="2" charset="-78"/>
                <a:sym typeface="Arial"/>
              </a:rPr>
              <a:t>Last accessed: October 2024</a:t>
            </a:r>
            <a:endParaRPr lang="en-US" sz="800" i="1"/>
          </a:p>
        </p:txBody>
      </p:sp>
    </p:spTree>
    <p:extLst>
      <p:ext uri="{BB962C8B-B14F-4D97-AF65-F5344CB8AC3E}">
        <p14:creationId xmlns:p14="http://schemas.microsoft.com/office/powerpoint/2010/main" val="1140808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3AAF1EC-B757-4A96-22AD-C4B02E1D14DD}"/>
              </a:ext>
            </a:extLst>
          </p:cNvPr>
          <p:cNvGraphicFramePr>
            <a:graphicFrameLocks noChangeAspect="1"/>
          </p:cNvGraphicFramePr>
          <p:nvPr>
            <p:custDataLst>
              <p:tags r:id="rId1"/>
            </p:custDataLst>
            <p:extLst>
              <p:ext uri="{D42A27DB-BD31-4B8C-83A1-F6EECF244321}">
                <p14:modId xmlns:p14="http://schemas.microsoft.com/office/powerpoint/2010/main" val="2311928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3AAF1EC-B757-4A96-22AD-C4B02E1D14D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00EFF62-63F3-604D-23F7-B153A3DCBA0B}"/>
              </a:ext>
            </a:extLst>
          </p:cNvPr>
          <p:cNvSpPr>
            <a:spLocks noGrp="1"/>
          </p:cNvSpPr>
          <p:nvPr>
            <p:ph type="title"/>
          </p:nvPr>
        </p:nvSpPr>
        <p:spPr/>
        <p:txBody>
          <a:bodyPr vert="horz"/>
          <a:lstStyle/>
          <a:p>
            <a:r>
              <a:rPr lang="en-US"/>
              <a:t>LCGPA LC score sheet</a:t>
            </a:r>
          </a:p>
        </p:txBody>
      </p:sp>
      <p:sp>
        <p:nvSpPr>
          <p:cNvPr id="8" name="Rectangle 7">
            <a:extLst>
              <a:ext uri="{FF2B5EF4-FFF2-40B4-BE49-F238E27FC236}">
                <a16:creationId xmlns:a16="http://schemas.microsoft.com/office/drawing/2014/main" id="{C9262C7C-175C-FC21-A1CC-F32D52E47BF1}"/>
              </a:ext>
            </a:extLst>
          </p:cNvPr>
          <p:cNvSpPr/>
          <p:nvPr/>
        </p:nvSpPr>
        <p:spPr>
          <a:xfrm>
            <a:off x="331817" y="4230565"/>
            <a:ext cx="8312727" cy="250033"/>
          </a:xfrm>
          <a:prstGeom prst="rect">
            <a:avLst/>
          </a:prstGeom>
          <a:solidFill>
            <a:srgbClr val="EDF6F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0000"/>
                </a:solidFill>
                <a:latin typeface="Fund Light" pitchFamily="2" charset="-78"/>
                <a:cs typeface="Fund Light" pitchFamily="2" charset="-78"/>
              </a:rPr>
              <a:t>Sample LC score sheet which is shared by the supplier with LCGPA, every year</a:t>
            </a:r>
          </a:p>
        </p:txBody>
      </p:sp>
      <p:pic>
        <p:nvPicPr>
          <p:cNvPr id="5" name="Picture 4">
            <a:extLst>
              <a:ext uri="{FF2B5EF4-FFF2-40B4-BE49-F238E27FC236}">
                <a16:creationId xmlns:a16="http://schemas.microsoft.com/office/drawing/2014/main" id="{D212C4C7-2544-5C71-30B8-DAE5A8A3D05F}"/>
              </a:ext>
            </a:extLst>
          </p:cNvPr>
          <p:cNvPicPr>
            <a:picLocks noChangeAspect="1"/>
          </p:cNvPicPr>
          <p:nvPr/>
        </p:nvPicPr>
        <p:blipFill>
          <a:blip r:embed="rId5"/>
          <a:srcRect t="3393" b="613"/>
          <a:stretch/>
        </p:blipFill>
        <p:spPr>
          <a:xfrm>
            <a:off x="331817" y="899159"/>
            <a:ext cx="8312727" cy="3147061"/>
          </a:xfrm>
          <a:prstGeom prst="rect">
            <a:avLst/>
          </a:prstGeom>
        </p:spPr>
      </p:pic>
    </p:spTree>
    <p:extLst>
      <p:ext uri="{BB962C8B-B14F-4D97-AF65-F5344CB8AC3E}">
        <p14:creationId xmlns:p14="http://schemas.microsoft.com/office/powerpoint/2010/main" val="41079320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2D49C66-3176-00DD-9B53-60E20648D232}"/>
              </a:ext>
            </a:extLst>
          </p:cNvPr>
          <p:cNvGraphicFramePr>
            <a:graphicFrameLocks noChangeAspect="1"/>
          </p:cNvGraphicFramePr>
          <p:nvPr>
            <p:custDataLst>
              <p:tags r:id="rId1"/>
            </p:custDataLst>
            <p:extLst>
              <p:ext uri="{D42A27DB-BD31-4B8C-83A1-F6EECF244321}">
                <p14:modId xmlns:p14="http://schemas.microsoft.com/office/powerpoint/2010/main" val="34936207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32D49C66-3176-00DD-9B53-60E20648D2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773FD9-1029-6A69-58E5-1E2B388B96E5}"/>
              </a:ext>
            </a:extLst>
          </p:cNvPr>
          <p:cNvSpPr>
            <a:spLocks noGrp="1"/>
          </p:cNvSpPr>
          <p:nvPr>
            <p:ph type="title"/>
          </p:nvPr>
        </p:nvSpPr>
        <p:spPr/>
        <p:txBody>
          <a:bodyPr vert="horz"/>
          <a:lstStyle/>
          <a:p>
            <a:r>
              <a:rPr lang="en-US"/>
              <a:t>Components used to measure total cost of operations</a:t>
            </a:r>
          </a:p>
        </p:txBody>
      </p:sp>
      <p:sp>
        <p:nvSpPr>
          <p:cNvPr id="32" name="Subtitle 2">
            <a:extLst>
              <a:ext uri="{FF2B5EF4-FFF2-40B4-BE49-F238E27FC236}">
                <a16:creationId xmlns:a16="http://schemas.microsoft.com/office/drawing/2014/main" id="{1A13A3A2-DDF0-ACC6-85CA-9F606099B5E5}"/>
              </a:ext>
            </a:extLst>
          </p:cNvPr>
          <p:cNvSpPr txBox="1">
            <a:spLocks/>
          </p:cNvSpPr>
          <p:nvPr/>
        </p:nvSpPr>
        <p:spPr>
          <a:xfrm>
            <a:off x="7654281" y="2750122"/>
            <a:ext cx="1172219" cy="1319708"/>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Depreciation</a:t>
            </a:r>
            <a:r>
              <a:rPr kumimoji="0" lang="en-US" sz="900" b="0"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 in KSA (100% of purchased or built assets)</a:t>
            </a:r>
          </a:p>
        </p:txBody>
      </p:sp>
      <p:sp>
        <p:nvSpPr>
          <p:cNvPr id="33" name="TextBox 32">
            <a:extLst>
              <a:ext uri="{FF2B5EF4-FFF2-40B4-BE49-F238E27FC236}">
                <a16:creationId xmlns:a16="http://schemas.microsoft.com/office/drawing/2014/main" id="{68F5ACBA-EAE0-2337-BCC0-76383BF0120A}"/>
              </a:ext>
            </a:extLst>
          </p:cNvPr>
          <p:cNvSpPr txBox="1"/>
          <p:nvPr/>
        </p:nvSpPr>
        <p:spPr>
          <a:xfrm>
            <a:off x="7654281" y="1714818"/>
            <a:ext cx="972567" cy="4154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BD9B60"/>
                </a:solidFill>
                <a:effectLst/>
                <a:uLnTx/>
                <a:uFillTx/>
                <a:latin typeface="Fund Light"/>
                <a:ea typeface="+mn-ea"/>
                <a:cs typeface="+mn-cs"/>
              </a:rPr>
              <a:t>Depreciation of capital and assets</a:t>
            </a:r>
          </a:p>
        </p:txBody>
      </p:sp>
      <p:grpSp>
        <p:nvGrpSpPr>
          <p:cNvPr id="9" name="Group 8">
            <a:extLst>
              <a:ext uri="{FF2B5EF4-FFF2-40B4-BE49-F238E27FC236}">
                <a16:creationId xmlns:a16="http://schemas.microsoft.com/office/drawing/2014/main" id="{FE5B2041-647D-1700-8C52-EFBB7E2663B2}"/>
              </a:ext>
            </a:extLst>
          </p:cNvPr>
          <p:cNvGrpSpPr/>
          <p:nvPr/>
        </p:nvGrpSpPr>
        <p:grpSpPr>
          <a:xfrm>
            <a:off x="7984358" y="1071879"/>
            <a:ext cx="512064" cy="512064"/>
            <a:chOff x="7883665" y="1498599"/>
            <a:chExt cx="512064" cy="512064"/>
          </a:xfrm>
        </p:grpSpPr>
        <p:sp>
          <p:nvSpPr>
            <p:cNvPr id="10" name="Oval 9">
              <a:extLst>
                <a:ext uri="{FF2B5EF4-FFF2-40B4-BE49-F238E27FC236}">
                  <a16:creationId xmlns:a16="http://schemas.microsoft.com/office/drawing/2014/main" id="{0811248A-648C-A917-8920-30307CAFC3DB}"/>
                </a:ext>
              </a:extLst>
            </p:cNvPr>
            <p:cNvSpPr/>
            <p:nvPr/>
          </p:nvSpPr>
          <p:spPr>
            <a:xfrm>
              <a:off x="7883665" y="1498599"/>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11" name="Group 10">
              <a:extLst>
                <a:ext uri="{FF2B5EF4-FFF2-40B4-BE49-F238E27FC236}">
                  <a16:creationId xmlns:a16="http://schemas.microsoft.com/office/drawing/2014/main" id="{FA3F3495-28C4-C4A8-82F0-1482E1A0CDA0}"/>
                </a:ext>
              </a:extLst>
            </p:cNvPr>
            <p:cNvGrpSpPr/>
            <p:nvPr/>
          </p:nvGrpSpPr>
          <p:grpSpPr>
            <a:xfrm>
              <a:off x="7999134" y="1613982"/>
              <a:ext cx="281127" cy="281298"/>
              <a:chOff x="444501" y="5575959"/>
              <a:chExt cx="719549" cy="675616"/>
            </a:xfrm>
          </p:grpSpPr>
          <p:grpSp>
            <p:nvGrpSpPr>
              <p:cNvPr id="12" name="Group 11">
                <a:extLst>
                  <a:ext uri="{FF2B5EF4-FFF2-40B4-BE49-F238E27FC236}">
                    <a16:creationId xmlns:a16="http://schemas.microsoft.com/office/drawing/2014/main" id="{95DCA23A-8AFC-5FF0-E484-000DDF47598D}"/>
                  </a:ext>
                </a:extLst>
              </p:cNvPr>
              <p:cNvGrpSpPr/>
              <p:nvPr/>
            </p:nvGrpSpPr>
            <p:grpSpPr>
              <a:xfrm>
                <a:off x="444501" y="5575959"/>
                <a:ext cx="719549" cy="675616"/>
                <a:chOff x="4690787" y="3024710"/>
                <a:chExt cx="558583" cy="524478"/>
              </a:xfrm>
            </p:grpSpPr>
            <p:sp>
              <p:nvSpPr>
                <p:cNvPr id="16" name="Freeform 565">
                  <a:extLst>
                    <a:ext uri="{FF2B5EF4-FFF2-40B4-BE49-F238E27FC236}">
                      <a16:creationId xmlns:a16="http://schemas.microsoft.com/office/drawing/2014/main" id="{ED24C37D-BDF3-7B0D-3891-8A66BAF2D9AB}"/>
                    </a:ext>
                  </a:extLst>
                </p:cNvPr>
                <p:cNvSpPr>
                  <a:spLocks/>
                </p:cNvSpPr>
                <p:nvPr/>
              </p:nvSpPr>
              <p:spPr bwMode="auto">
                <a:xfrm>
                  <a:off x="4690787" y="3024710"/>
                  <a:ext cx="558583" cy="155776"/>
                </a:xfrm>
                <a:custGeom>
                  <a:avLst/>
                  <a:gdLst>
                    <a:gd name="T0" fmla="*/ 302 w 606"/>
                    <a:gd name="T1" fmla="*/ 0 h 169"/>
                    <a:gd name="T2" fmla="*/ 0 w 606"/>
                    <a:gd name="T3" fmla="*/ 169 h 169"/>
                    <a:gd name="T4" fmla="*/ 606 w 606"/>
                    <a:gd name="T5" fmla="*/ 169 h 169"/>
                    <a:gd name="T6" fmla="*/ 302 w 606"/>
                    <a:gd name="T7" fmla="*/ 0 h 169"/>
                  </a:gdLst>
                  <a:ahLst/>
                  <a:cxnLst>
                    <a:cxn ang="0">
                      <a:pos x="T0" y="T1"/>
                    </a:cxn>
                    <a:cxn ang="0">
                      <a:pos x="T2" y="T3"/>
                    </a:cxn>
                    <a:cxn ang="0">
                      <a:pos x="T4" y="T5"/>
                    </a:cxn>
                    <a:cxn ang="0">
                      <a:pos x="T6" y="T7"/>
                    </a:cxn>
                  </a:cxnLst>
                  <a:rect l="0" t="0" r="r" b="b"/>
                  <a:pathLst>
                    <a:path w="606" h="169">
                      <a:moveTo>
                        <a:pt x="302" y="0"/>
                      </a:moveTo>
                      <a:lnTo>
                        <a:pt x="0" y="169"/>
                      </a:lnTo>
                      <a:lnTo>
                        <a:pt x="606" y="169"/>
                      </a:lnTo>
                      <a:lnTo>
                        <a:pt x="302" y="0"/>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7" name="Freeform 566">
                  <a:extLst>
                    <a:ext uri="{FF2B5EF4-FFF2-40B4-BE49-F238E27FC236}">
                      <a16:creationId xmlns:a16="http://schemas.microsoft.com/office/drawing/2014/main" id="{5229C55B-D672-A04A-18F9-16BD2917BA2F}"/>
                    </a:ext>
                  </a:extLst>
                </p:cNvPr>
                <p:cNvSpPr>
                  <a:spLocks/>
                </p:cNvSpPr>
                <p:nvPr/>
              </p:nvSpPr>
              <p:spPr bwMode="auto">
                <a:xfrm>
                  <a:off x="4730423" y="3180487"/>
                  <a:ext cx="479312" cy="34105"/>
                </a:xfrm>
                <a:custGeom>
                  <a:avLst/>
                  <a:gdLst>
                    <a:gd name="T0" fmla="*/ 520 w 520"/>
                    <a:gd name="T1" fmla="*/ 0 h 37"/>
                    <a:gd name="T2" fmla="*/ 520 w 520"/>
                    <a:gd name="T3" fmla="*/ 37 h 37"/>
                    <a:gd name="T4" fmla="*/ 0 w 520"/>
                    <a:gd name="T5" fmla="*/ 37 h 37"/>
                    <a:gd name="T6" fmla="*/ 0 w 520"/>
                    <a:gd name="T7" fmla="*/ 0 h 37"/>
                  </a:gdLst>
                  <a:ahLst/>
                  <a:cxnLst>
                    <a:cxn ang="0">
                      <a:pos x="T0" y="T1"/>
                    </a:cxn>
                    <a:cxn ang="0">
                      <a:pos x="T2" y="T3"/>
                    </a:cxn>
                    <a:cxn ang="0">
                      <a:pos x="T4" y="T5"/>
                    </a:cxn>
                    <a:cxn ang="0">
                      <a:pos x="T6" y="T7"/>
                    </a:cxn>
                  </a:cxnLst>
                  <a:rect l="0" t="0" r="r" b="b"/>
                  <a:pathLst>
                    <a:path w="520" h="37">
                      <a:moveTo>
                        <a:pt x="520" y="0"/>
                      </a:moveTo>
                      <a:lnTo>
                        <a:pt x="520" y="37"/>
                      </a:lnTo>
                      <a:lnTo>
                        <a:pt x="0" y="37"/>
                      </a:lnTo>
                      <a:lnTo>
                        <a:pt x="0" y="0"/>
                      </a:ln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8" name="Freeform 567">
                  <a:extLst>
                    <a:ext uri="{FF2B5EF4-FFF2-40B4-BE49-F238E27FC236}">
                      <a16:creationId xmlns:a16="http://schemas.microsoft.com/office/drawing/2014/main" id="{0C7FAF46-37FE-737D-40E1-613B05E173F5}"/>
                    </a:ext>
                  </a:extLst>
                </p:cNvPr>
                <p:cNvSpPr>
                  <a:spLocks/>
                </p:cNvSpPr>
                <p:nvPr/>
              </p:nvSpPr>
              <p:spPr bwMode="auto">
                <a:xfrm>
                  <a:off x="4730423" y="3465308"/>
                  <a:ext cx="479312" cy="45166"/>
                </a:xfrm>
                <a:custGeom>
                  <a:avLst/>
                  <a:gdLst>
                    <a:gd name="T0" fmla="*/ 520 w 520"/>
                    <a:gd name="T1" fmla="*/ 49 h 49"/>
                    <a:gd name="T2" fmla="*/ 520 w 520"/>
                    <a:gd name="T3" fmla="*/ 0 h 49"/>
                    <a:gd name="T4" fmla="*/ 0 w 520"/>
                    <a:gd name="T5" fmla="*/ 0 h 49"/>
                    <a:gd name="T6" fmla="*/ 0 w 520"/>
                    <a:gd name="T7" fmla="*/ 49 h 49"/>
                  </a:gdLst>
                  <a:ahLst/>
                  <a:cxnLst>
                    <a:cxn ang="0">
                      <a:pos x="T0" y="T1"/>
                    </a:cxn>
                    <a:cxn ang="0">
                      <a:pos x="T2" y="T3"/>
                    </a:cxn>
                    <a:cxn ang="0">
                      <a:pos x="T4" y="T5"/>
                    </a:cxn>
                    <a:cxn ang="0">
                      <a:pos x="T6" y="T7"/>
                    </a:cxn>
                  </a:cxnLst>
                  <a:rect l="0" t="0" r="r" b="b"/>
                  <a:pathLst>
                    <a:path w="520" h="49">
                      <a:moveTo>
                        <a:pt x="520" y="49"/>
                      </a:moveTo>
                      <a:lnTo>
                        <a:pt x="520" y="0"/>
                      </a:lnTo>
                      <a:lnTo>
                        <a:pt x="0" y="0"/>
                      </a:lnTo>
                      <a:lnTo>
                        <a:pt x="0" y="49"/>
                      </a:ln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9" name="Freeform 568">
                  <a:extLst>
                    <a:ext uri="{FF2B5EF4-FFF2-40B4-BE49-F238E27FC236}">
                      <a16:creationId xmlns:a16="http://schemas.microsoft.com/office/drawing/2014/main" id="{8539E9A5-2952-5C50-4E0D-D8E4AA6955B0}"/>
                    </a:ext>
                  </a:extLst>
                </p:cNvPr>
                <p:cNvSpPr>
                  <a:spLocks/>
                </p:cNvSpPr>
                <p:nvPr/>
              </p:nvSpPr>
              <p:spPr bwMode="auto">
                <a:xfrm>
                  <a:off x="4730423" y="3214591"/>
                  <a:ext cx="88488" cy="44244"/>
                </a:xfrm>
                <a:custGeom>
                  <a:avLst/>
                  <a:gdLst>
                    <a:gd name="T0" fmla="*/ 36 w 36"/>
                    <a:gd name="T1" fmla="*/ 12 h 18"/>
                    <a:gd name="T2" fmla="*/ 30 w 36"/>
                    <a:gd name="T3" fmla="*/ 18 h 18"/>
                    <a:gd name="T4" fmla="*/ 24 w 36"/>
                    <a:gd name="T5" fmla="*/ 12 h 18"/>
                    <a:gd name="T6" fmla="*/ 12 w 36"/>
                    <a:gd name="T7" fmla="*/ 12 h 18"/>
                    <a:gd name="T8" fmla="*/ 6 w 36"/>
                    <a:gd name="T9" fmla="*/ 18 h 18"/>
                    <a:gd name="T10" fmla="*/ 0 w 36"/>
                    <a:gd name="T11" fmla="*/ 12 h 18"/>
                    <a:gd name="T12" fmla="*/ 0 w 36"/>
                    <a:gd name="T13" fmla="*/ 0 h 18"/>
                    <a:gd name="T14" fmla="*/ 36 w 36"/>
                    <a:gd name="T15" fmla="*/ 0 h 18"/>
                    <a:gd name="T16" fmla="*/ 36 w 36"/>
                    <a:gd name="T17"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12"/>
                      </a:moveTo>
                      <a:cubicBezTo>
                        <a:pt x="36" y="16"/>
                        <a:pt x="33" y="18"/>
                        <a:pt x="30" y="18"/>
                      </a:cubicBezTo>
                      <a:cubicBezTo>
                        <a:pt x="26" y="18"/>
                        <a:pt x="24" y="16"/>
                        <a:pt x="24" y="12"/>
                      </a:cubicBezTo>
                      <a:cubicBezTo>
                        <a:pt x="12" y="12"/>
                        <a:pt x="12" y="12"/>
                        <a:pt x="12" y="12"/>
                      </a:cubicBezTo>
                      <a:cubicBezTo>
                        <a:pt x="12" y="16"/>
                        <a:pt x="10" y="18"/>
                        <a:pt x="6" y="18"/>
                      </a:cubicBezTo>
                      <a:cubicBezTo>
                        <a:pt x="3" y="18"/>
                        <a:pt x="0" y="16"/>
                        <a:pt x="0" y="12"/>
                      </a:cubicBezTo>
                      <a:cubicBezTo>
                        <a:pt x="0" y="0"/>
                        <a:pt x="0" y="0"/>
                        <a:pt x="0" y="0"/>
                      </a:cubicBezTo>
                      <a:cubicBezTo>
                        <a:pt x="36" y="0"/>
                        <a:pt x="36" y="0"/>
                        <a:pt x="36" y="0"/>
                      </a:cubicBezTo>
                      <a:lnTo>
                        <a:pt x="36" y="12"/>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0" name="Freeform 569">
                  <a:extLst>
                    <a:ext uri="{FF2B5EF4-FFF2-40B4-BE49-F238E27FC236}">
                      <a16:creationId xmlns:a16="http://schemas.microsoft.com/office/drawing/2014/main" id="{CCCBCD69-1491-65AE-E97C-702B7CD72069}"/>
                    </a:ext>
                  </a:extLst>
                </p:cNvPr>
                <p:cNvSpPr>
                  <a:spLocks/>
                </p:cNvSpPr>
                <p:nvPr/>
              </p:nvSpPr>
              <p:spPr bwMode="auto">
                <a:xfrm>
                  <a:off x="4730423" y="3421064"/>
                  <a:ext cx="88488" cy="44244"/>
                </a:xfrm>
                <a:custGeom>
                  <a:avLst/>
                  <a:gdLst>
                    <a:gd name="T0" fmla="*/ 36 w 36"/>
                    <a:gd name="T1" fmla="*/ 6 h 18"/>
                    <a:gd name="T2" fmla="*/ 30 w 36"/>
                    <a:gd name="T3" fmla="*/ 0 h 18"/>
                    <a:gd name="T4" fmla="*/ 24 w 36"/>
                    <a:gd name="T5" fmla="*/ 6 h 18"/>
                    <a:gd name="T6" fmla="*/ 12 w 36"/>
                    <a:gd name="T7" fmla="*/ 6 h 18"/>
                    <a:gd name="T8" fmla="*/ 6 w 36"/>
                    <a:gd name="T9" fmla="*/ 0 h 18"/>
                    <a:gd name="T10" fmla="*/ 0 w 36"/>
                    <a:gd name="T11" fmla="*/ 6 h 18"/>
                    <a:gd name="T12" fmla="*/ 0 w 36"/>
                    <a:gd name="T13" fmla="*/ 18 h 18"/>
                    <a:gd name="T14" fmla="*/ 36 w 36"/>
                    <a:gd name="T15" fmla="*/ 18 h 18"/>
                    <a:gd name="T16" fmla="*/ 36 w 36"/>
                    <a:gd name="T17"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6"/>
                      </a:moveTo>
                      <a:cubicBezTo>
                        <a:pt x="36" y="3"/>
                        <a:pt x="33" y="0"/>
                        <a:pt x="30" y="0"/>
                      </a:cubicBezTo>
                      <a:cubicBezTo>
                        <a:pt x="26" y="0"/>
                        <a:pt x="24" y="3"/>
                        <a:pt x="24" y="6"/>
                      </a:cubicBezTo>
                      <a:cubicBezTo>
                        <a:pt x="12" y="6"/>
                        <a:pt x="12" y="6"/>
                        <a:pt x="12" y="6"/>
                      </a:cubicBezTo>
                      <a:cubicBezTo>
                        <a:pt x="12" y="3"/>
                        <a:pt x="10" y="0"/>
                        <a:pt x="6" y="0"/>
                      </a:cubicBezTo>
                      <a:cubicBezTo>
                        <a:pt x="3" y="0"/>
                        <a:pt x="0" y="3"/>
                        <a:pt x="0" y="6"/>
                      </a:cubicBezTo>
                      <a:cubicBezTo>
                        <a:pt x="0" y="18"/>
                        <a:pt x="0" y="18"/>
                        <a:pt x="0" y="18"/>
                      </a:cubicBezTo>
                      <a:cubicBezTo>
                        <a:pt x="36" y="18"/>
                        <a:pt x="36" y="18"/>
                        <a:pt x="36" y="18"/>
                      </a:cubicBezTo>
                      <a:lnTo>
                        <a:pt x="36" y="6"/>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1" name="Freeform 570">
                  <a:extLst>
                    <a:ext uri="{FF2B5EF4-FFF2-40B4-BE49-F238E27FC236}">
                      <a16:creationId xmlns:a16="http://schemas.microsoft.com/office/drawing/2014/main" id="{5A98E066-9B6A-5ECA-5B90-D4EF9A8DACFA}"/>
                    </a:ext>
                  </a:extLst>
                </p:cNvPr>
                <p:cNvSpPr>
                  <a:spLocks/>
                </p:cNvSpPr>
                <p:nvPr/>
              </p:nvSpPr>
              <p:spPr bwMode="auto">
                <a:xfrm>
                  <a:off x="4924913" y="3421064"/>
                  <a:ext cx="88488" cy="44244"/>
                </a:xfrm>
                <a:custGeom>
                  <a:avLst/>
                  <a:gdLst>
                    <a:gd name="T0" fmla="*/ 36 w 36"/>
                    <a:gd name="T1" fmla="*/ 6 h 18"/>
                    <a:gd name="T2" fmla="*/ 30 w 36"/>
                    <a:gd name="T3" fmla="*/ 0 h 18"/>
                    <a:gd name="T4" fmla="*/ 24 w 36"/>
                    <a:gd name="T5" fmla="*/ 6 h 18"/>
                    <a:gd name="T6" fmla="*/ 13 w 36"/>
                    <a:gd name="T7" fmla="*/ 6 h 18"/>
                    <a:gd name="T8" fmla="*/ 7 w 36"/>
                    <a:gd name="T9" fmla="*/ 0 h 18"/>
                    <a:gd name="T10" fmla="*/ 0 w 36"/>
                    <a:gd name="T11" fmla="*/ 6 h 18"/>
                    <a:gd name="T12" fmla="*/ 0 w 36"/>
                    <a:gd name="T13" fmla="*/ 18 h 18"/>
                    <a:gd name="T14" fmla="*/ 36 w 36"/>
                    <a:gd name="T15" fmla="*/ 18 h 18"/>
                    <a:gd name="T16" fmla="*/ 36 w 36"/>
                    <a:gd name="T17"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6"/>
                      </a:moveTo>
                      <a:cubicBezTo>
                        <a:pt x="36" y="3"/>
                        <a:pt x="34" y="0"/>
                        <a:pt x="30" y="0"/>
                      </a:cubicBezTo>
                      <a:cubicBezTo>
                        <a:pt x="27" y="0"/>
                        <a:pt x="24" y="3"/>
                        <a:pt x="24" y="6"/>
                      </a:cubicBezTo>
                      <a:cubicBezTo>
                        <a:pt x="13" y="6"/>
                        <a:pt x="13" y="6"/>
                        <a:pt x="13" y="6"/>
                      </a:cubicBezTo>
                      <a:cubicBezTo>
                        <a:pt x="13" y="3"/>
                        <a:pt x="10" y="0"/>
                        <a:pt x="7" y="0"/>
                      </a:cubicBezTo>
                      <a:cubicBezTo>
                        <a:pt x="3" y="0"/>
                        <a:pt x="0" y="3"/>
                        <a:pt x="0" y="6"/>
                      </a:cubicBezTo>
                      <a:cubicBezTo>
                        <a:pt x="0" y="18"/>
                        <a:pt x="0" y="18"/>
                        <a:pt x="0" y="18"/>
                      </a:cubicBezTo>
                      <a:cubicBezTo>
                        <a:pt x="36" y="18"/>
                        <a:pt x="36" y="18"/>
                        <a:pt x="36" y="18"/>
                      </a:cubicBezTo>
                      <a:lnTo>
                        <a:pt x="36" y="6"/>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2" name="Freeform 571">
                  <a:extLst>
                    <a:ext uri="{FF2B5EF4-FFF2-40B4-BE49-F238E27FC236}">
                      <a16:creationId xmlns:a16="http://schemas.microsoft.com/office/drawing/2014/main" id="{5AC5AE0A-40F7-9825-8842-EAD97D65796C}"/>
                    </a:ext>
                  </a:extLst>
                </p:cNvPr>
                <p:cNvSpPr>
                  <a:spLocks/>
                </p:cNvSpPr>
                <p:nvPr/>
              </p:nvSpPr>
              <p:spPr bwMode="auto">
                <a:xfrm>
                  <a:off x="5121246" y="3421064"/>
                  <a:ext cx="88488" cy="44244"/>
                </a:xfrm>
                <a:custGeom>
                  <a:avLst/>
                  <a:gdLst>
                    <a:gd name="T0" fmla="*/ 36 w 36"/>
                    <a:gd name="T1" fmla="*/ 6 h 18"/>
                    <a:gd name="T2" fmla="*/ 30 w 36"/>
                    <a:gd name="T3" fmla="*/ 0 h 18"/>
                    <a:gd name="T4" fmla="*/ 23 w 36"/>
                    <a:gd name="T5" fmla="*/ 6 h 18"/>
                    <a:gd name="T6" fmla="*/ 12 w 36"/>
                    <a:gd name="T7" fmla="*/ 6 h 18"/>
                    <a:gd name="T8" fmla="*/ 6 w 36"/>
                    <a:gd name="T9" fmla="*/ 0 h 18"/>
                    <a:gd name="T10" fmla="*/ 0 w 36"/>
                    <a:gd name="T11" fmla="*/ 6 h 18"/>
                    <a:gd name="T12" fmla="*/ 0 w 36"/>
                    <a:gd name="T13" fmla="*/ 18 h 18"/>
                    <a:gd name="T14" fmla="*/ 36 w 36"/>
                    <a:gd name="T15" fmla="*/ 18 h 18"/>
                    <a:gd name="T16" fmla="*/ 36 w 36"/>
                    <a:gd name="T17" fmla="*/ 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6"/>
                      </a:moveTo>
                      <a:cubicBezTo>
                        <a:pt x="36" y="3"/>
                        <a:pt x="33" y="0"/>
                        <a:pt x="30" y="0"/>
                      </a:cubicBezTo>
                      <a:cubicBezTo>
                        <a:pt x="26" y="0"/>
                        <a:pt x="23" y="3"/>
                        <a:pt x="23" y="6"/>
                      </a:cubicBezTo>
                      <a:cubicBezTo>
                        <a:pt x="12" y="6"/>
                        <a:pt x="12" y="6"/>
                        <a:pt x="12" y="6"/>
                      </a:cubicBezTo>
                      <a:cubicBezTo>
                        <a:pt x="12" y="3"/>
                        <a:pt x="9" y="0"/>
                        <a:pt x="6" y="0"/>
                      </a:cubicBezTo>
                      <a:cubicBezTo>
                        <a:pt x="3" y="0"/>
                        <a:pt x="0" y="3"/>
                        <a:pt x="0" y="6"/>
                      </a:cubicBezTo>
                      <a:cubicBezTo>
                        <a:pt x="0" y="18"/>
                        <a:pt x="0" y="18"/>
                        <a:pt x="0" y="18"/>
                      </a:cubicBezTo>
                      <a:cubicBezTo>
                        <a:pt x="36" y="18"/>
                        <a:pt x="36" y="18"/>
                        <a:pt x="36" y="18"/>
                      </a:cubicBezTo>
                      <a:lnTo>
                        <a:pt x="36" y="6"/>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3" name="Freeform 572">
                  <a:extLst>
                    <a:ext uri="{FF2B5EF4-FFF2-40B4-BE49-F238E27FC236}">
                      <a16:creationId xmlns:a16="http://schemas.microsoft.com/office/drawing/2014/main" id="{74E001FF-C1AF-8069-3425-84BC8EC93F3B}"/>
                    </a:ext>
                  </a:extLst>
                </p:cNvPr>
                <p:cNvSpPr>
                  <a:spLocks/>
                </p:cNvSpPr>
                <p:nvPr/>
              </p:nvSpPr>
              <p:spPr bwMode="auto">
                <a:xfrm>
                  <a:off x="4924913" y="3214591"/>
                  <a:ext cx="88488" cy="44244"/>
                </a:xfrm>
                <a:custGeom>
                  <a:avLst/>
                  <a:gdLst>
                    <a:gd name="T0" fmla="*/ 36 w 36"/>
                    <a:gd name="T1" fmla="*/ 12 h 18"/>
                    <a:gd name="T2" fmla="*/ 30 w 36"/>
                    <a:gd name="T3" fmla="*/ 18 h 18"/>
                    <a:gd name="T4" fmla="*/ 24 w 36"/>
                    <a:gd name="T5" fmla="*/ 12 h 18"/>
                    <a:gd name="T6" fmla="*/ 13 w 36"/>
                    <a:gd name="T7" fmla="*/ 12 h 18"/>
                    <a:gd name="T8" fmla="*/ 7 w 36"/>
                    <a:gd name="T9" fmla="*/ 18 h 18"/>
                    <a:gd name="T10" fmla="*/ 0 w 36"/>
                    <a:gd name="T11" fmla="*/ 12 h 18"/>
                    <a:gd name="T12" fmla="*/ 0 w 36"/>
                    <a:gd name="T13" fmla="*/ 0 h 18"/>
                    <a:gd name="T14" fmla="*/ 36 w 36"/>
                    <a:gd name="T15" fmla="*/ 0 h 18"/>
                    <a:gd name="T16" fmla="*/ 36 w 36"/>
                    <a:gd name="T17"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12"/>
                      </a:moveTo>
                      <a:cubicBezTo>
                        <a:pt x="36" y="16"/>
                        <a:pt x="34" y="18"/>
                        <a:pt x="30" y="18"/>
                      </a:cubicBezTo>
                      <a:cubicBezTo>
                        <a:pt x="27" y="18"/>
                        <a:pt x="24" y="16"/>
                        <a:pt x="24" y="12"/>
                      </a:cubicBezTo>
                      <a:cubicBezTo>
                        <a:pt x="13" y="12"/>
                        <a:pt x="13" y="12"/>
                        <a:pt x="13" y="12"/>
                      </a:cubicBezTo>
                      <a:cubicBezTo>
                        <a:pt x="13" y="16"/>
                        <a:pt x="10" y="18"/>
                        <a:pt x="7" y="18"/>
                      </a:cubicBezTo>
                      <a:cubicBezTo>
                        <a:pt x="3" y="18"/>
                        <a:pt x="0" y="16"/>
                        <a:pt x="0" y="12"/>
                      </a:cubicBezTo>
                      <a:cubicBezTo>
                        <a:pt x="0" y="0"/>
                        <a:pt x="0" y="0"/>
                        <a:pt x="0" y="0"/>
                      </a:cubicBezTo>
                      <a:cubicBezTo>
                        <a:pt x="36" y="0"/>
                        <a:pt x="36" y="0"/>
                        <a:pt x="36" y="0"/>
                      </a:cubicBezTo>
                      <a:lnTo>
                        <a:pt x="36" y="12"/>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4" name="Freeform 573">
                  <a:extLst>
                    <a:ext uri="{FF2B5EF4-FFF2-40B4-BE49-F238E27FC236}">
                      <a16:creationId xmlns:a16="http://schemas.microsoft.com/office/drawing/2014/main" id="{0086BF77-C279-6684-D4CB-FED5A481B076}"/>
                    </a:ext>
                  </a:extLst>
                </p:cNvPr>
                <p:cNvSpPr>
                  <a:spLocks/>
                </p:cNvSpPr>
                <p:nvPr/>
              </p:nvSpPr>
              <p:spPr bwMode="auto">
                <a:xfrm>
                  <a:off x="5121246" y="3214591"/>
                  <a:ext cx="88488" cy="44244"/>
                </a:xfrm>
                <a:custGeom>
                  <a:avLst/>
                  <a:gdLst>
                    <a:gd name="T0" fmla="*/ 36 w 36"/>
                    <a:gd name="T1" fmla="*/ 12 h 18"/>
                    <a:gd name="T2" fmla="*/ 30 w 36"/>
                    <a:gd name="T3" fmla="*/ 18 h 18"/>
                    <a:gd name="T4" fmla="*/ 23 w 36"/>
                    <a:gd name="T5" fmla="*/ 12 h 18"/>
                    <a:gd name="T6" fmla="*/ 12 w 36"/>
                    <a:gd name="T7" fmla="*/ 12 h 18"/>
                    <a:gd name="T8" fmla="*/ 6 w 36"/>
                    <a:gd name="T9" fmla="*/ 18 h 18"/>
                    <a:gd name="T10" fmla="*/ 0 w 36"/>
                    <a:gd name="T11" fmla="*/ 12 h 18"/>
                    <a:gd name="T12" fmla="*/ 0 w 36"/>
                    <a:gd name="T13" fmla="*/ 0 h 18"/>
                    <a:gd name="T14" fmla="*/ 36 w 36"/>
                    <a:gd name="T15" fmla="*/ 0 h 18"/>
                    <a:gd name="T16" fmla="*/ 36 w 36"/>
                    <a:gd name="T17"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8">
                      <a:moveTo>
                        <a:pt x="36" y="12"/>
                      </a:moveTo>
                      <a:cubicBezTo>
                        <a:pt x="36" y="16"/>
                        <a:pt x="33" y="18"/>
                        <a:pt x="30" y="18"/>
                      </a:cubicBezTo>
                      <a:cubicBezTo>
                        <a:pt x="26" y="18"/>
                        <a:pt x="23" y="16"/>
                        <a:pt x="23" y="12"/>
                      </a:cubicBezTo>
                      <a:cubicBezTo>
                        <a:pt x="12" y="12"/>
                        <a:pt x="12" y="12"/>
                        <a:pt x="12" y="12"/>
                      </a:cubicBezTo>
                      <a:cubicBezTo>
                        <a:pt x="12" y="16"/>
                        <a:pt x="9" y="18"/>
                        <a:pt x="6" y="18"/>
                      </a:cubicBezTo>
                      <a:cubicBezTo>
                        <a:pt x="3" y="18"/>
                        <a:pt x="0" y="16"/>
                        <a:pt x="0" y="12"/>
                      </a:cubicBezTo>
                      <a:cubicBezTo>
                        <a:pt x="0" y="0"/>
                        <a:pt x="0" y="0"/>
                        <a:pt x="0" y="0"/>
                      </a:cubicBezTo>
                      <a:cubicBezTo>
                        <a:pt x="36" y="0"/>
                        <a:pt x="36" y="0"/>
                        <a:pt x="36" y="0"/>
                      </a:cubicBezTo>
                      <a:lnTo>
                        <a:pt x="36" y="12"/>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5" name="Line 574">
                  <a:extLst>
                    <a:ext uri="{FF2B5EF4-FFF2-40B4-BE49-F238E27FC236}">
                      <a16:creationId xmlns:a16="http://schemas.microsoft.com/office/drawing/2014/main" id="{86B1A579-939E-2DED-0138-F07CEE359F44}"/>
                    </a:ext>
                  </a:extLst>
                </p:cNvPr>
                <p:cNvSpPr>
                  <a:spLocks noChangeShapeType="1"/>
                </p:cNvSpPr>
                <p:nvPr/>
              </p:nvSpPr>
              <p:spPr bwMode="auto">
                <a:xfrm>
                  <a:off x="4745171"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6" name="Line 575">
                  <a:extLst>
                    <a:ext uri="{FF2B5EF4-FFF2-40B4-BE49-F238E27FC236}">
                      <a16:creationId xmlns:a16="http://schemas.microsoft.com/office/drawing/2014/main" id="{59BD7C7F-0E54-1069-102C-3ACD7738E0BA}"/>
                    </a:ext>
                  </a:extLst>
                </p:cNvPr>
                <p:cNvSpPr>
                  <a:spLocks noChangeShapeType="1"/>
                </p:cNvSpPr>
                <p:nvPr/>
              </p:nvSpPr>
              <p:spPr bwMode="auto">
                <a:xfrm>
                  <a:off x="4804163"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7" name="Line 576">
                  <a:extLst>
                    <a:ext uri="{FF2B5EF4-FFF2-40B4-BE49-F238E27FC236}">
                      <a16:creationId xmlns:a16="http://schemas.microsoft.com/office/drawing/2014/main" id="{974F01A9-1387-7D09-88DE-5A5A293FD7C3}"/>
                    </a:ext>
                  </a:extLst>
                </p:cNvPr>
                <p:cNvSpPr>
                  <a:spLocks noChangeShapeType="1"/>
                </p:cNvSpPr>
                <p:nvPr/>
              </p:nvSpPr>
              <p:spPr bwMode="auto">
                <a:xfrm>
                  <a:off x="4941504"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8" name="Line 577">
                  <a:extLst>
                    <a:ext uri="{FF2B5EF4-FFF2-40B4-BE49-F238E27FC236}">
                      <a16:creationId xmlns:a16="http://schemas.microsoft.com/office/drawing/2014/main" id="{02447269-3990-E47A-4DA1-E785BB1EC226}"/>
                    </a:ext>
                  </a:extLst>
                </p:cNvPr>
                <p:cNvSpPr>
                  <a:spLocks noChangeShapeType="1"/>
                </p:cNvSpPr>
                <p:nvPr/>
              </p:nvSpPr>
              <p:spPr bwMode="auto">
                <a:xfrm>
                  <a:off x="4998653"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29" name="Line 578">
                  <a:extLst>
                    <a:ext uri="{FF2B5EF4-FFF2-40B4-BE49-F238E27FC236}">
                      <a16:creationId xmlns:a16="http://schemas.microsoft.com/office/drawing/2014/main" id="{B04CEBCB-D3DC-9311-2E7B-459D2A45FEAD}"/>
                    </a:ext>
                  </a:extLst>
                </p:cNvPr>
                <p:cNvSpPr>
                  <a:spLocks noChangeShapeType="1"/>
                </p:cNvSpPr>
                <p:nvPr/>
              </p:nvSpPr>
              <p:spPr bwMode="auto">
                <a:xfrm>
                  <a:off x="5135994"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30" name="Line 579">
                  <a:extLst>
                    <a:ext uri="{FF2B5EF4-FFF2-40B4-BE49-F238E27FC236}">
                      <a16:creationId xmlns:a16="http://schemas.microsoft.com/office/drawing/2014/main" id="{239985E7-1B90-17AD-44C1-2BB8411C4191}"/>
                    </a:ext>
                  </a:extLst>
                </p:cNvPr>
                <p:cNvSpPr>
                  <a:spLocks noChangeShapeType="1"/>
                </p:cNvSpPr>
                <p:nvPr/>
              </p:nvSpPr>
              <p:spPr bwMode="auto">
                <a:xfrm>
                  <a:off x="5194986" y="3258836"/>
                  <a:ext cx="0" cy="162229"/>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31" name="Freeform 580">
                  <a:extLst>
                    <a:ext uri="{FF2B5EF4-FFF2-40B4-BE49-F238E27FC236}">
                      <a16:creationId xmlns:a16="http://schemas.microsoft.com/office/drawing/2014/main" id="{E91B6CA8-D48E-7FF6-1383-D5B8D5FEA049}"/>
                    </a:ext>
                  </a:extLst>
                </p:cNvPr>
                <p:cNvSpPr>
                  <a:spLocks/>
                </p:cNvSpPr>
                <p:nvPr/>
              </p:nvSpPr>
              <p:spPr bwMode="auto">
                <a:xfrm>
                  <a:off x="4690787" y="3510474"/>
                  <a:ext cx="558583" cy="38714"/>
                </a:xfrm>
                <a:custGeom>
                  <a:avLst/>
                  <a:gdLst>
                    <a:gd name="T0" fmla="*/ 227 w 227"/>
                    <a:gd name="T1" fmla="*/ 16 h 16"/>
                    <a:gd name="T2" fmla="*/ 0 w 227"/>
                    <a:gd name="T3" fmla="*/ 16 h 16"/>
                    <a:gd name="T4" fmla="*/ 0 w 227"/>
                    <a:gd name="T5" fmla="*/ 16 h 16"/>
                    <a:gd name="T6" fmla="*/ 15 w 227"/>
                    <a:gd name="T7" fmla="*/ 0 h 16"/>
                    <a:gd name="T8" fmla="*/ 212 w 227"/>
                    <a:gd name="T9" fmla="*/ 0 h 16"/>
                    <a:gd name="T10" fmla="*/ 227 w 227"/>
                    <a:gd name="T11" fmla="*/ 16 h 16"/>
                  </a:gdLst>
                  <a:ahLst/>
                  <a:cxnLst>
                    <a:cxn ang="0">
                      <a:pos x="T0" y="T1"/>
                    </a:cxn>
                    <a:cxn ang="0">
                      <a:pos x="T2" y="T3"/>
                    </a:cxn>
                    <a:cxn ang="0">
                      <a:pos x="T4" y="T5"/>
                    </a:cxn>
                    <a:cxn ang="0">
                      <a:pos x="T6" y="T7"/>
                    </a:cxn>
                    <a:cxn ang="0">
                      <a:pos x="T8" y="T9"/>
                    </a:cxn>
                    <a:cxn ang="0">
                      <a:pos x="T10" y="T11"/>
                    </a:cxn>
                  </a:cxnLst>
                  <a:rect l="0" t="0" r="r" b="b"/>
                  <a:pathLst>
                    <a:path w="227" h="16">
                      <a:moveTo>
                        <a:pt x="227" y="16"/>
                      </a:moveTo>
                      <a:cubicBezTo>
                        <a:pt x="0" y="16"/>
                        <a:pt x="0" y="16"/>
                        <a:pt x="0" y="16"/>
                      </a:cubicBezTo>
                      <a:cubicBezTo>
                        <a:pt x="0" y="16"/>
                        <a:pt x="0" y="16"/>
                        <a:pt x="0" y="16"/>
                      </a:cubicBezTo>
                      <a:cubicBezTo>
                        <a:pt x="0" y="7"/>
                        <a:pt x="7" y="0"/>
                        <a:pt x="15" y="0"/>
                      </a:cubicBezTo>
                      <a:cubicBezTo>
                        <a:pt x="212" y="0"/>
                        <a:pt x="212" y="0"/>
                        <a:pt x="212" y="0"/>
                      </a:cubicBezTo>
                      <a:cubicBezTo>
                        <a:pt x="220" y="0"/>
                        <a:pt x="227" y="7"/>
                        <a:pt x="227" y="16"/>
                      </a:cubicBez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nvGrpSpPr>
              <p:cNvPr id="13" name="Group 12">
                <a:extLst>
                  <a:ext uri="{FF2B5EF4-FFF2-40B4-BE49-F238E27FC236}">
                    <a16:creationId xmlns:a16="http://schemas.microsoft.com/office/drawing/2014/main" id="{7E23CD10-CCAD-2F65-1C68-03C029BBCA59}"/>
                  </a:ext>
                </a:extLst>
              </p:cNvPr>
              <p:cNvGrpSpPr/>
              <p:nvPr/>
            </p:nvGrpSpPr>
            <p:grpSpPr>
              <a:xfrm>
                <a:off x="770351" y="5610543"/>
                <a:ext cx="67850" cy="138526"/>
                <a:chOff x="-986171" y="4631913"/>
                <a:chExt cx="35703" cy="72894"/>
              </a:xfrm>
            </p:grpSpPr>
            <p:sp>
              <p:nvSpPr>
                <p:cNvPr id="14" name="Freeform 445">
                  <a:extLst>
                    <a:ext uri="{FF2B5EF4-FFF2-40B4-BE49-F238E27FC236}">
                      <a16:creationId xmlns:a16="http://schemas.microsoft.com/office/drawing/2014/main" id="{7C81689A-B731-0CC9-1208-43A97A5901E6}"/>
                    </a:ext>
                  </a:extLst>
                </p:cNvPr>
                <p:cNvSpPr>
                  <a:spLocks/>
                </p:cNvSpPr>
                <p:nvPr/>
              </p:nvSpPr>
              <p:spPr bwMode="auto">
                <a:xfrm>
                  <a:off x="-986171" y="4639847"/>
                  <a:ext cx="35703" cy="54547"/>
                </a:xfrm>
                <a:custGeom>
                  <a:avLst/>
                  <a:gdLst>
                    <a:gd name="T0" fmla="*/ 21 w 27"/>
                    <a:gd name="T1" fmla="*/ 8 h 41"/>
                    <a:gd name="T2" fmla="*/ 12 w 27"/>
                    <a:gd name="T3" fmla="*/ 0 h 41"/>
                    <a:gd name="T4" fmla="*/ 1 w 27"/>
                    <a:gd name="T5" fmla="*/ 11 h 41"/>
                    <a:gd name="T6" fmla="*/ 11 w 27"/>
                    <a:gd name="T7" fmla="*/ 20 h 41"/>
                    <a:gd name="T8" fmla="*/ 22 w 27"/>
                    <a:gd name="T9" fmla="*/ 34 h 41"/>
                    <a:gd name="T10" fmla="*/ 12 w 27"/>
                    <a:gd name="T11" fmla="*/ 41 h 41"/>
                    <a:gd name="T12" fmla="*/ 0 w 27"/>
                    <a:gd name="T13" fmla="*/ 31 h 41"/>
                  </a:gdLst>
                  <a:ahLst/>
                  <a:cxnLst>
                    <a:cxn ang="0">
                      <a:pos x="T0" y="T1"/>
                    </a:cxn>
                    <a:cxn ang="0">
                      <a:pos x="T2" y="T3"/>
                    </a:cxn>
                    <a:cxn ang="0">
                      <a:pos x="T4" y="T5"/>
                    </a:cxn>
                    <a:cxn ang="0">
                      <a:pos x="T6" y="T7"/>
                    </a:cxn>
                    <a:cxn ang="0">
                      <a:pos x="T8" y="T9"/>
                    </a:cxn>
                    <a:cxn ang="0">
                      <a:pos x="T10" y="T11"/>
                    </a:cxn>
                    <a:cxn ang="0">
                      <a:pos x="T12" y="T13"/>
                    </a:cxn>
                  </a:cxnLst>
                  <a:rect l="0" t="0" r="r" b="b"/>
                  <a:pathLst>
                    <a:path w="27" h="41">
                      <a:moveTo>
                        <a:pt x="21" y="8"/>
                      </a:moveTo>
                      <a:cubicBezTo>
                        <a:pt x="21" y="8"/>
                        <a:pt x="21" y="0"/>
                        <a:pt x="12" y="0"/>
                      </a:cubicBezTo>
                      <a:cubicBezTo>
                        <a:pt x="3" y="0"/>
                        <a:pt x="1" y="7"/>
                        <a:pt x="1" y="11"/>
                      </a:cubicBezTo>
                      <a:cubicBezTo>
                        <a:pt x="1" y="14"/>
                        <a:pt x="4" y="19"/>
                        <a:pt x="11" y="20"/>
                      </a:cubicBezTo>
                      <a:cubicBezTo>
                        <a:pt x="18" y="21"/>
                        <a:pt x="27" y="25"/>
                        <a:pt x="22" y="34"/>
                      </a:cubicBezTo>
                      <a:cubicBezTo>
                        <a:pt x="20" y="38"/>
                        <a:pt x="19" y="41"/>
                        <a:pt x="12" y="41"/>
                      </a:cubicBezTo>
                      <a:cubicBezTo>
                        <a:pt x="7" y="41"/>
                        <a:pt x="2" y="38"/>
                        <a:pt x="0" y="31"/>
                      </a:cubicBez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5" name="Line 446">
                  <a:extLst>
                    <a:ext uri="{FF2B5EF4-FFF2-40B4-BE49-F238E27FC236}">
                      <a16:creationId xmlns:a16="http://schemas.microsoft.com/office/drawing/2014/main" id="{8DDA3CBE-D24B-0A2B-0CF7-49AE1FDE4711}"/>
                    </a:ext>
                  </a:extLst>
                </p:cNvPr>
                <p:cNvSpPr>
                  <a:spLocks noChangeShapeType="1"/>
                </p:cNvSpPr>
                <p:nvPr/>
              </p:nvSpPr>
              <p:spPr bwMode="auto">
                <a:xfrm>
                  <a:off x="-970303" y="4631913"/>
                  <a:ext cx="0" cy="72894"/>
                </a:xfrm>
                <a:prstGeom prst="line">
                  <a:avLst/>
                </a:prstGeom>
                <a:noFill/>
                <a:ln w="6350"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grpSp>
      <p:grpSp>
        <p:nvGrpSpPr>
          <p:cNvPr id="34" name="Group 33">
            <a:extLst>
              <a:ext uri="{FF2B5EF4-FFF2-40B4-BE49-F238E27FC236}">
                <a16:creationId xmlns:a16="http://schemas.microsoft.com/office/drawing/2014/main" id="{5AB54AFD-EC1D-3AB8-6364-288F9EBD3F79}"/>
              </a:ext>
            </a:extLst>
          </p:cNvPr>
          <p:cNvGrpSpPr/>
          <p:nvPr/>
        </p:nvGrpSpPr>
        <p:grpSpPr>
          <a:xfrm>
            <a:off x="1468101" y="1827865"/>
            <a:ext cx="241130" cy="748128"/>
            <a:chOff x="1382889" y="2269323"/>
            <a:chExt cx="241130" cy="748128"/>
          </a:xfrm>
        </p:grpSpPr>
        <p:cxnSp>
          <p:nvCxnSpPr>
            <p:cNvPr id="35" name="Straight Connector 34">
              <a:extLst>
                <a:ext uri="{FF2B5EF4-FFF2-40B4-BE49-F238E27FC236}">
                  <a16:creationId xmlns:a16="http://schemas.microsoft.com/office/drawing/2014/main" id="{D0245D43-AFC4-746D-D5D5-6C861DC77F91}"/>
                </a:ext>
              </a:extLst>
            </p:cNvPr>
            <p:cNvCxnSpPr/>
            <p:nvPr/>
          </p:nvCxnSpPr>
          <p:spPr>
            <a:xfrm>
              <a:off x="1503454" y="2269323"/>
              <a:ext cx="0" cy="748128"/>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216AB7F-A3FA-FE22-1175-3B207777A681}"/>
                </a:ext>
              </a:extLst>
            </p:cNvPr>
            <p:cNvSpPr txBox="1"/>
            <p:nvPr/>
          </p:nvSpPr>
          <p:spPr>
            <a:xfrm>
              <a:off x="1382889" y="2524515"/>
              <a:ext cx="241130" cy="237744"/>
            </a:xfrm>
            <a:prstGeom prst="ellipse">
              <a:avLst/>
            </a:prstGeom>
            <a:solidFill>
              <a:schemeClr val="bg1"/>
            </a:solidFill>
            <a:ln>
              <a:solidFill>
                <a:schemeClr val="tx1"/>
              </a:solidFill>
            </a:ln>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4325"/>
                  </a:solidFill>
                  <a:effectLst/>
                  <a:uLnTx/>
                  <a:uFillTx/>
                  <a:latin typeface="Fund Light"/>
                  <a:ea typeface="+mn-ea"/>
                  <a:cs typeface="+mn-cs"/>
                </a:rPr>
                <a:t>+</a:t>
              </a:r>
            </a:p>
          </p:txBody>
        </p:sp>
      </p:grpSp>
      <p:sp>
        <p:nvSpPr>
          <p:cNvPr id="47" name="Subtitle 2">
            <a:extLst>
              <a:ext uri="{FF2B5EF4-FFF2-40B4-BE49-F238E27FC236}">
                <a16:creationId xmlns:a16="http://schemas.microsoft.com/office/drawing/2014/main" id="{C82F291F-062E-86B6-1302-C9E12BF49153}"/>
              </a:ext>
            </a:extLst>
          </p:cNvPr>
          <p:cNvSpPr txBox="1">
            <a:spLocks/>
          </p:cNvSpPr>
          <p:nvPr/>
        </p:nvSpPr>
        <p:spPr>
          <a:xfrm>
            <a:off x="1811186" y="2750122"/>
            <a:ext cx="1206749" cy="1136126"/>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Salaries </a:t>
            </a:r>
            <a:r>
              <a:rPr kumimoji="0" lang="en-US" sz="900" b="0"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in KSA</a:t>
            </a:r>
          </a:p>
        </p:txBody>
      </p:sp>
      <p:sp>
        <p:nvSpPr>
          <p:cNvPr id="48" name="TextBox 47">
            <a:extLst>
              <a:ext uri="{FF2B5EF4-FFF2-40B4-BE49-F238E27FC236}">
                <a16:creationId xmlns:a16="http://schemas.microsoft.com/office/drawing/2014/main" id="{E3A74BD6-CC86-726D-C2B7-D28648411933}"/>
              </a:ext>
            </a:extLst>
          </p:cNvPr>
          <p:cNvSpPr txBox="1"/>
          <p:nvPr/>
        </p:nvSpPr>
        <p:spPr>
          <a:xfrm>
            <a:off x="1811186" y="1714818"/>
            <a:ext cx="114142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BD9B60"/>
                </a:solidFill>
                <a:effectLst/>
                <a:uLnTx/>
                <a:uFillTx/>
                <a:latin typeface="Fund Light"/>
                <a:ea typeface="+mn-ea"/>
                <a:cs typeface="+mn-cs"/>
              </a:rPr>
              <a:t>Total spend on labor compensation</a:t>
            </a:r>
            <a:endParaRPr kumimoji="0" lang="en-US" sz="900" b="0" i="0" u="none" strike="noStrike" kern="1200" cap="none" spc="0" normalizeH="0" baseline="0" noProof="0">
              <a:ln>
                <a:noFill/>
              </a:ln>
              <a:solidFill>
                <a:srgbClr val="BD9B60"/>
              </a:solidFill>
              <a:effectLst/>
              <a:uLnTx/>
              <a:uFillTx/>
              <a:latin typeface="Fund Light"/>
              <a:ea typeface="+mn-ea"/>
              <a:cs typeface="+mn-cs"/>
            </a:endParaRPr>
          </a:p>
        </p:txBody>
      </p:sp>
      <p:grpSp>
        <p:nvGrpSpPr>
          <p:cNvPr id="39" name="Group 38">
            <a:extLst>
              <a:ext uri="{FF2B5EF4-FFF2-40B4-BE49-F238E27FC236}">
                <a16:creationId xmlns:a16="http://schemas.microsoft.com/office/drawing/2014/main" id="{ECBBFE93-6CC0-E67B-625B-22E8CDC4B326}"/>
              </a:ext>
            </a:extLst>
          </p:cNvPr>
          <p:cNvGrpSpPr/>
          <p:nvPr/>
        </p:nvGrpSpPr>
        <p:grpSpPr>
          <a:xfrm>
            <a:off x="2158528" y="1071878"/>
            <a:ext cx="512064" cy="512064"/>
            <a:chOff x="2048893" y="1498598"/>
            <a:chExt cx="512064" cy="512064"/>
          </a:xfrm>
        </p:grpSpPr>
        <p:sp>
          <p:nvSpPr>
            <p:cNvPr id="40" name="Oval 39">
              <a:extLst>
                <a:ext uri="{FF2B5EF4-FFF2-40B4-BE49-F238E27FC236}">
                  <a16:creationId xmlns:a16="http://schemas.microsoft.com/office/drawing/2014/main" id="{2856F6D1-28C8-9AE3-D956-444845293534}"/>
                </a:ext>
              </a:extLst>
            </p:cNvPr>
            <p:cNvSpPr/>
            <p:nvPr/>
          </p:nvSpPr>
          <p:spPr>
            <a:xfrm>
              <a:off x="2048893" y="1498598"/>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41" name="Group 40">
              <a:extLst>
                <a:ext uri="{FF2B5EF4-FFF2-40B4-BE49-F238E27FC236}">
                  <a16:creationId xmlns:a16="http://schemas.microsoft.com/office/drawing/2014/main" id="{1179D94D-73A0-5503-F00C-215C8535EEDD}"/>
                </a:ext>
              </a:extLst>
            </p:cNvPr>
            <p:cNvGrpSpPr/>
            <p:nvPr/>
          </p:nvGrpSpPr>
          <p:grpSpPr>
            <a:xfrm>
              <a:off x="2148838" y="1638623"/>
              <a:ext cx="312174" cy="232015"/>
              <a:chOff x="2151303" y="1629965"/>
              <a:chExt cx="312174" cy="232015"/>
            </a:xfrm>
          </p:grpSpPr>
          <p:sp>
            <p:nvSpPr>
              <p:cNvPr id="42" name="Freeform 5">
                <a:extLst>
                  <a:ext uri="{FF2B5EF4-FFF2-40B4-BE49-F238E27FC236}">
                    <a16:creationId xmlns:a16="http://schemas.microsoft.com/office/drawing/2014/main" id="{C0ED95B9-6800-722C-739F-B6DCFD959BE4}"/>
                  </a:ext>
                </a:extLst>
              </p:cNvPr>
              <p:cNvSpPr>
                <a:spLocks/>
              </p:cNvSpPr>
              <p:nvPr/>
            </p:nvSpPr>
            <p:spPr bwMode="auto">
              <a:xfrm>
                <a:off x="2340193" y="1629965"/>
                <a:ext cx="123284" cy="195796"/>
              </a:xfrm>
              <a:custGeom>
                <a:avLst/>
                <a:gdLst>
                  <a:gd name="T0" fmla="*/ 22 w 49"/>
                  <a:gd name="T1" fmla="*/ 50 h 88"/>
                  <a:gd name="T2" fmla="*/ 31 w 49"/>
                  <a:gd name="T3" fmla="*/ 42 h 88"/>
                  <a:gd name="T4" fmla="*/ 32 w 49"/>
                  <a:gd name="T5" fmla="*/ 33 h 88"/>
                  <a:gd name="T6" fmla="*/ 32 w 49"/>
                  <a:gd name="T7" fmla="*/ 33 h 88"/>
                  <a:gd name="T8" fmla="*/ 23 w 49"/>
                  <a:gd name="T9" fmla="*/ 32 h 88"/>
                  <a:gd name="T10" fmla="*/ 8 w 49"/>
                  <a:gd name="T11" fmla="*/ 45 h 88"/>
                  <a:gd name="T12" fmla="*/ 4 w 49"/>
                  <a:gd name="T13" fmla="*/ 66 h 88"/>
                  <a:gd name="T14" fmla="*/ 8 w 49"/>
                  <a:gd name="T15" fmla="*/ 82 h 88"/>
                  <a:gd name="T16" fmla="*/ 29 w 49"/>
                  <a:gd name="T17" fmla="*/ 88 h 88"/>
                  <a:gd name="T18" fmla="*/ 24 w 49"/>
                  <a:gd name="T19" fmla="*/ 68 h 88"/>
                  <a:gd name="T20" fmla="*/ 42 w 49"/>
                  <a:gd name="T21" fmla="*/ 53 h 88"/>
                  <a:gd name="T22" fmla="*/ 48 w 49"/>
                  <a:gd name="T23" fmla="*/ 41 h 88"/>
                  <a:gd name="T24" fmla="*/ 46 w 49"/>
                  <a:gd name="T25" fmla="*/ 34 h 88"/>
                  <a:gd name="T26" fmla="*/ 37 w 49"/>
                  <a:gd name="T27" fmla="*/ 5 h 88"/>
                  <a:gd name="T28" fmla="*/ 31 w 49"/>
                  <a:gd name="T29" fmla="*/ 1 h 88"/>
                  <a:gd name="T30" fmla="*/ 31 w 49"/>
                  <a:gd name="T31" fmla="*/ 1 h 88"/>
                  <a:gd name="T32" fmla="*/ 27 w 49"/>
                  <a:gd name="T33" fmla="*/ 7 h 88"/>
                  <a:gd name="T34" fmla="*/ 29 w 49"/>
                  <a:gd name="T35" fmla="*/ 3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88">
                    <a:moveTo>
                      <a:pt x="22" y="50"/>
                    </a:moveTo>
                    <a:cubicBezTo>
                      <a:pt x="31" y="42"/>
                      <a:pt x="31" y="42"/>
                      <a:pt x="31" y="42"/>
                    </a:cubicBezTo>
                    <a:cubicBezTo>
                      <a:pt x="34" y="40"/>
                      <a:pt x="34" y="36"/>
                      <a:pt x="32" y="33"/>
                    </a:cubicBezTo>
                    <a:cubicBezTo>
                      <a:pt x="32" y="33"/>
                      <a:pt x="32" y="33"/>
                      <a:pt x="32" y="33"/>
                    </a:cubicBezTo>
                    <a:cubicBezTo>
                      <a:pt x="30" y="31"/>
                      <a:pt x="26" y="30"/>
                      <a:pt x="23" y="32"/>
                    </a:cubicBezTo>
                    <a:cubicBezTo>
                      <a:pt x="8" y="45"/>
                      <a:pt x="8" y="45"/>
                      <a:pt x="8" y="45"/>
                    </a:cubicBezTo>
                    <a:cubicBezTo>
                      <a:pt x="8" y="45"/>
                      <a:pt x="0" y="49"/>
                      <a:pt x="4" y="66"/>
                    </a:cubicBezTo>
                    <a:cubicBezTo>
                      <a:pt x="8" y="82"/>
                      <a:pt x="8" y="82"/>
                      <a:pt x="8" y="82"/>
                    </a:cubicBezTo>
                    <a:cubicBezTo>
                      <a:pt x="29" y="88"/>
                      <a:pt x="29" y="88"/>
                      <a:pt x="29" y="88"/>
                    </a:cubicBezTo>
                    <a:cubicBezTo>
                      <a:pt x="24" y="68"/>
                      <a:pt x="24" y="68"/>
                      <a:pt x="24" y="68"/>
                    </a:cubicBezTo>
                    <a:cubicBezTo>
                      <a:pt x="24" y="68"/>
                      <a:pt x="35" y="59"/>
                      <a:pt x="42" y="53"/>
                    </a:cubicBezTo>
                    <a:cubicBezTo>
                      <a:pt x="49" y="48"/>
                      <a:pt x="48" y="41"/>
                      <a:pt x="48" y="41"/>
                    </a:cubicBezTo>
                    <a:cubicBezTo>
                      <a:pt x="46" y="34"/>
                      <a:pt x="46" y="34"/>
                      <a:pt x="46" y="34"/>
                    </a:cubicBezTo>
                    <a:cubicBezTo>
                      <a:pt x="37" y="5"/>
                      <a:pt x="37" y="5"/>
                      <a:pt x="37" y="5"/>
                    </a:cubicBezTo>
                    <a:cubicBezTo>
                      <a:pt x="37" y="2"/>
                      <a:pt x="34" y="0"/>
                      <a:pt x="31" y="1"/>
                    </a:cubicBezTo>
                    <a:cubicBezTo>
                      <a:pt x="31" y="1"/>
                      <a:pt x="31" y="1"/>
                      <a:pt x="31" y="1"/>
                    </a:cubicBezTo>
                    <a:cubicBezTo>
                      <a:pt x="28" y="1"/>
                      <a:pt x="26" y="4"/>
                      <a:pt x="27" y="7"/>
                    </a:cubicBezTo>
                    <a:cubicBezTo>
                      <a:pt x="29" y="31"/>
                      <a:pt x="29" y="31"/>
                      <a:pt x="29" y="31"/>
                    </a:cubicBez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43" name="Freeform 6">
                <a:extLst>
                  <a:ext uri="{FF2B5EF4-FFF2-40B4-BE49-F238E27FC236}">
                    <a16:creationId xmlns:a16="http://schemas.microsoft.com/office/drawing/2014/main" id="{EF5EDAB6-C586-9B3F-CF22-044940555471}"/>
                  </a:ext>
                </a:extLst>
              </p:cNvPr>
              <p:cNvSpPr>
                <a:spLocks/>
              </p:cNvSpPr>
              <p:nvPr/>
            </p:nvSpPr>
            <p:spPr bwMode="auto">
              <a:xfrm>
                <a:off x="2354115" y="1816989"/>
                <a:ext cx="80935" cy="44991"/>
              </a:xfrm>
              <a:custGeom>
                <a:avLst/>
                <a:gdLst>
                  <a:gd name="T0" fmla="*/ 0 w 86"/>
                  <a:gd name="T1" fmla="*/ 30 h 54"/>
                  <a:gd name="T2" fmla="*/ 75 w 86"/>
                  <a:gd name="T3" fmla="*/ 54 h 54"/>
                  <a:gd name="T4" fmla="*/ 86 w 86"/>
                  <a:gd name="T5" fmla="*/ 24 h 54"/>
                  <a:gd name="T6" fmla="*/ 11 w 86"/>
                  <a:gd name="T7" fmla="*/ 0 h 54"/>
                  <a:gd name="T8" fmla="*/ 0 w 86"/>
                  <a:gd name="T9" fmla="*/ 30 h 54"/>
                </a:gdLst>
                <a:ahLst/>
                <a:cxnLst>
                  <a:cxn ang="0">
                    <a:pos x="T0" y="T1"/>
                  </a:cxn>
                  <a:cxn ang="0">
                    <a:pos x="T2" y="T3"/>
                  </a:cxn>
                  <a:cxn ang="0">
                    <a:pos x="T4" y="T5"/>
                  </a:cxn>
                  <a:cxn ang="0">
                    <a:pos x="T6" y="T7"/>
                  </a:cxn>
                  <a:cxn ang="0">
                    <a:pos x="T8" y="T9"/>
                  </a:cxn>
                </a:cxnLst>
                <a:rect l="0" t="0" r="r" b="b"/>
                <a:pathLst>
                  <a:path w="86" h="54">
                    <a:moveTo>
                      <a:pt x="0" y="30"/>
                    </a:moveTo>
                    <a:lnTo>
                      <a:pt x="75" y="54"/>
                    </a:lnTo>
                    <a:lnTo>
                      <a:pt x="86" y="24"/>
                    </a:lnTo>
                    <a:lnTo>
                      <a:pt x="11" y="0"/>
                    </a:lnTo>
                    <a:lnTo>
                      <a:pt x="0" y="30"/>
                    </a:ln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44" name="Freeform 7">
                <a:extLst>
                  <a:ext uri="{FF2B5EF4-FFF2-40B4-BE49-F238E27FC236}">
                    <a16:creationId xmlns:a16="http://schemas.microsoft.com/office/drawing/2014/main" id="{FDE4B57E-EC14-54CA-2F4D-85EA00D52639}"/>
                  </a:ext>
                </a:extLst>
              </p:cNvPr>
              <p:cNvSpPr>
                <a:spLocks/>
              </p:cNvSpPr>
              <p:nvPr/>
            </p:nvSpPr>
            <p:spPr bwMode="auto">
              <a:xfrm>
                <a:off x="2151303" y="1629966"/>
                <a:ext cx="123284" cy="195796"/>
              </a:xfrm>
              <a:custGeom>
                <a:avLst/>
                <a:gdLst>
                  <a:gd name="T0" fmla="*/ 27 w 49"/>
                  <a:gd name="T1" fmla="*/ 50 h 88"/>
                  <a:gd name="T2" fmla="*/ 17 w 49"/>
                  <a:gd name="T3" fmla="*/ 42 h 88"/>
                  <a:gd name="T4" fmla="*/ 17 w 49"/>
                  <a:gd name="T5" fmla="*/ 33 h 88"/>
                  <a:gd name="T6" fmla="*/ 17 w 49"/>
                  <a:gd name="T7" fmla="*/ 33 h 88"/>
                  <a:gd name="T8" fmla="*/ 26 w 49"/>
                  <a:gd name="T9" fmla="*/ 32 h 88"/>
                  <a:gd name="T10" fmla="*/ 41 w 49"/>
                  <a:gd name="T11" fmla="*/ 45 h 88"/>
                  <a:gd name="T12" fmla="*/ 45 w 49"/>
                  <a:gd name="T13" fmla="*/ 66 h 88"/>
                  <a:gd name="T14" fmla="*/ 41 w 49"/>
                  <a:gd name="T15" fmla="*/ 82 h 88"/>
                  <a:gd name="T16" fmla="*/ 20 w 49"/>
                  <a:gd name="T17" fmla="*/ 88 h 88"/>
                  <a:gd name="T18" fmla="*/ 25 w 49"/>
                  <a:gd name="T19" fmla="*/ 68 h 88"/>
                  <a:gd name="T20" fmla="*/ 7 w 49"/>
                  <a:gd name="T21" fmla="*/ 53 h 88"/>
                  <a:gd name="T22" fmla="*/ 1 w 49"/>
                  <a:gd name="T23" fmla="*/ 41 h 88"/>
                  <a:gd name="T24" fmla="*/ 2 w 49"/>
                  <a:gd name="T25" fmla="*/ 34 h 88"/>
                  <a:gd name="T26" fmla="*/ 11 w 49"/>
                  <a:gd name="T27" fmla="*/ 5 h 88"/>
                  <a:gd name="T28" fmla="*/ 18 w 49"/>
                  <a:gd name="T29" fmla="*/ 1 h 88"/>
                  <a:gd name="T30" fmla="*/ 18 w 49"/>
                  <a:gd name="T31" fmla="*/ 1 h 88"/>
                  <a:gd name="T32" fmla="*/ 22 w 49"/>
                  <a:gd name="T33" fmla="*/ 7 h 88"/>
                  <a:gd name="T34" fmla="*/ 20 w 49"/>
                  <a:gd name="T35" fmla="*/ 3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88">
                    <a:moveTo>
                      <a:pt x="27" y="50"/>
                    </a:moveTo>
                    <a:cubicBezTo>
                      <a:pt x="17" y="42"/>
                      <a:pt x="17" y="42"/>
                      <a:pt x="17" y="42"/>
                    </a:cubicBezTo>
                    <a:cubicBezTo>
                      <a:pt x="15" y="40"/>
                      <a:pt x="14" y="36"/>
                      <a:pt x="17" y="33"/>
                    </a:cubicBezTo>
                    <a:cubicBezTo>
                      <a:pt x="17" y="33"/>
                      <a:pt x="17" y="33"/>
                      <a:pt x="17" y="33"/>
                    </a:cubicBezTo>
                    <a:cubicBezTo>
                      <a:pt x="19" y="31"/>
                      <a:pt x="23" y="30"/>
                      <a:pt x="26" y="32"/>
                    </a:cubicBezTo>
                    <a:cubicBezTo>
                      <a:pt x="41" y="45"/>
                      <a:pt x="41" y="45"/>
                      <a:pt x="41" y="45"/>
                    </a:cubicBezTo>
                    <a:cubicBezTo>
                      <a:pt x="41" y="45"/>
                      <a:pt x="49" y="49"/>
                      <a:pt x="45" y="66"/>
                    </a:cubicBezTo>
                    <a:cubicBezTo>
                      <a:pt x="41" y="82"/>
                      <a:pt x="41" y="82"/>
                      <a:pt x="41" y="82"/>
                    </a:cubicBezTo>
                    <a:cubicBezTo>
                      <a:pt x="20" y="88"/>
                      <a:pt x="20" y="88"/>
                      <a:pt x="20" y="88"/>
                    </a:cubicBezTo>
                    <a:cubicBezTo>
                      <a:pt x="25" y="68"/>
                      <a:pt x="25" y="68"/>
                      <a:pt x="25" y="68"/>
                    </a:cubicBezTo>
                    <a:cubicBezTo>
                      <a:pt x="25" y="68"/>
                      <a:pt x="14" y="59"/>
                      <a:pt x="7" y="53"/>
                    </a:cubicBezTo>
                    <a:cubicBezTo>
                      <a:pt x="0" y="48"/>
                      <a:pt x="1" y="41"/>
                      <a:pt x="1" y="41"/>
                    </a:cubicBezTo>
                    <a:cubicBezTo>
                      <a:pt x="2" y="34"/>
                      <a:pt x="2" y="34"/>
                      <a:pt x="2" y="34"/>
                    </a:cubicBezTo>
                    <a:cubicBezTo>
                      <a:pt x="11" y="5"/>
                      <a:pt x="11" y="5"/>
                      <a:pt x="11" y="5"/>
                    </a:cubicBezTo>
                    <a:cubicBezTo>
                      <a:pt x="12" y="2"/>
                      <a:pt x="15" y="0"/>
                      <a:pt x="18" y="1"/>
                    </a:cubicBezTo>
                    <a:cubicBezTo>
                      <a:pt x="18" y="1"/>
                      <a:pt x="18" y="1"/>
                      <a:pt x="18" y="1"/>
                    </a:cubicBezTo>
                    <a:cubicBezTo>
                      <a:pt x="21" y="1"/>
                      <a:pt x="23" y="4"/>
                      <a:pt x="22" y="7"/>
                    </a:cubicBezTo>
                    <a:cubicBezTo>
                      <a:pt x="20" y="31"/>
                      <a:pt x="20" y="31"/>
                      <a:pt x="20" y="31"/>
                    </a:cubicBezTo>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45" name="Freeform 8">
                <a:extLst>
                  <a:ext uri="{FF2B5EF4-FFF2-40B4-BE49-F238E27FC236}">
                    <a16:creationId xmlns:a16="http://schemas.microsoft.com/office/drawing/2014/main" id="{EEFD705A-3C24-B36F-2C40-1D89A08D1DEF}"/>
                  </a:ext>
                </a:extLst>
              </p:cNvPr>
              <p:cNvSpPr>
                <a:spLocks/>
              </p:cNvSpPr>
              <p:nvPr/>
            </p:nvSpPr>
            <p:spPr bwMode="auto">
              <a:xfrm>
                <a:off x="2195650" y="1816019"/>
                <a:ext cx="78111" cy="44991"/>
              </a:xfrm>
              <a:custGeom>
                <a:avLst/>
                <a:gdLst>
                  <a:gd name="T0" fmla="*/ 83 w 83"/>
                  <a:gd name="T1" fmla="*/ 30 h 54"/>
                  <a:gd name="T2" fmla="*/ 11 w 83"/>
                  <a:gd name="T3" fmla="*/ 54 h 54"/>
                  <a:gd name="T4" fmla="*/ 0 w 83"/>
                  <a:gd name="T5" fmla="*/ 24 h 54"/>
                  <a:gd name="T6" fmla="*/ 75 w 83"/>
                  <a:gd name="T7" fmla="*/ 0 h 54"/>
                  <a:gd name="T8" fmla="*/ 83 w 83"/>
                  <a:gd name="T9" fmla="*/ 30 h 54"/>
                </a:gdLst>
                <a:ahLst/>
                <a:cxnLst>
                  <a:cxn ang="0">
                    <a:pos x="T0" y="T1"/>
                  </a:cxn>
                  <a:cxn ang="0">
                    <a:pos x="T2" y="T3"/>
                  </a:cxn>
                  <a:cxn ang="0">
                    <a:pos x="T4" y="T5"/>
                  </a:cxn>
                  <a:cxn ang="0">
                    <a:pos x="T6" y="T7"/>
                  </a:cxn>
                  <a:cxn ang="0">
                    <a:pos x="T8" y="T9"/>
                  </a:cxn>
                </a:cxnLst>
                <a:rect l="0" t="0" r="r" b="b"/>
                <a:pathLst>
                  <a:path w="83" h="54">
                    <a:moveTo>
                      <a:pt x="83" y="30"/>
                    </a:moveTo>
                    <a:lnTo>
                      <a:pt x="11" y="54"/>
                    </a:lnTo>
                    <a:lnTo>
                      <a:pt x="0" y="24"/>
                    </a:lnTo>
                    <a:lnTo>
                      <a:pt x="75" y="0"/>
                    </a:lnTo>
                    <a:lnTo>
                      <a:pt x="83" y="30"/>
                    </a:ln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46" name="Freeform 9">
                <a:extLst>
                  <a:ext uri="{FF2B5EF4-FFF2-40B4-BE49-F238E27FC236}">
                    <a16:creationId xmlns:a16="http://schemas.microsoft.com/office/drawing/2014/main" id="{39D6D091-E55A-5CA5-1524-E46BCC8D5D02}"/>
                  </a:ext>
                </a:extLst>
              </p:cNvPr>
              <p:cNvSpPr>
                <a:spLocks/>
              </p:cNvSpPr>
              <p:nvPr/>
            </p:nvSpPr>
            <p:spPr bwMode="auto">
              <a:xfrm>
                <a:off x="2281111" y="1638001"/>
                <a:ext cx="64936" cy="88317"/>
              </a:xfrm>
              <a:custGeom>
                <a:avLst/>
                <a:gdLst>
                  <a:gd name="T0" fmla="*/ 21 w 26"/>
                  <a:gd name="T1" fmla="*/ 8 h 40"/>
                  <a:gd name="T2" fmla="*/ 11 w 26"/>
                  <a:gd name="T3" fmla="*/ 0 h 40"/>
                  <a:gd name="T4" fmla="*/ 1 w 26"/>
                  <a:gd name="T5" fmla="*/ 10 h 40"/>
                  <a:gd name="T6" fmla="*/ 11 w 26"/>
                  <a:gd name="T7" fmla="*/ 19 h 40"/>
                  <a:gd name="T8" fmla="*/ 22 w 26"/>
                  <a:gd name="T9" fmla="*/ 33 h 40"/>
                  <a:gd name="T10" fmla="*/ 11 w 26"/>
                  <a:gd name="T11" fmla="*/ 40 h 40"/>
                  <a:gd name="T12" fmla="*/ 0 w 26"/>
                  <a:gd name="T13" fmla="*/ 30 h 40"/>
                </a:gdLst>
                <a:ahLst/>
                <a:cxnLst>
                  <a:cxn ang="0">
                    <a:pos x="T0" y="T1"/>
                  </a:cxn>
                  <a:cxn ang="0">
                    <a:pos x="T2" y="T3"/>
                  </a:cxn>
                  <a:cxn ang="0">
                    <a:pos x="T4" y="T5"/>
                  </a:cxn>
                  <a:cxn ang="0">
                    <a:pos x="T6" y="T7"/>
                  </a:cxn>
                  <a:cxn ang="0">
                    <a:pos x="T8" y="T9"/>
                  </a:cxn>
                  <a:cxn ang="0">
                    <a:pos x="T10" y="T11"/>
                  </a:cxn>
                  <a:cxn ang="0">
                    <a:pos x="T12" y="T13"/>
                  </a:cxn>
                </a:cxnLst>
                <a:rect l="0" t="0" r="r" b="b"/>
                <a:pathLst>
                  <a:path w="26" h="40">
                    <a:moveTo>
                      <a:pt x="21" y="8"/>
                    </a:moveTo>
                    <a:cubicBezTo>
                      <a:pt x="21" y="8"/>
                      <a:pt x="20" y="0"/>
                      <a:pt x="11" y="0"/>
                    </a:cubicBezTo>
                    <a:cubicBezTo>
                      <a:pt x="2" y="0"/>
                      <a:pt x="1" y="6"/>
                      <a:pt x="1" y="10"/>
                    </a:cubicBezTo>
                    <a:cubicBezTo>
                      <a:pt x="1" y="14"/>
                      <a:pt x="4" y="19"/>
                      <a:pt x="11" y="19"/>
                    </a:cubicBezTo>
                    <a:cubicBezTo>
                      <a:pt x="18" y="20"/>
                      <a:pt x="26" y="24"/>
                      <a:pt x="22" y="33"/>
                    </a:cubicBezTo>
                    <a:cubicBezTo>
                      <a:pt x="19" y="36"/>
                      <a:pt x="18" y="39"/>
                      <a:pt x="11" y="40"/>
                    </a:cubicBezTo>
                    <a:cubicBezTo>
                      <a:pt x="7" y="39"/>
                      <a:pt x="2" y="37"/>
                      <a:pt x="0" y="30"/>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grpSp>
        <p:nvGrpSpPr>
          <p:cNvPr id="50" name="Group 49">
            <a:extLst>
              <a:ext uri="{FF2B5EF4-FFF2-40B4-BE49-F238E27FC236}">
                <a16:creationId xmlns:a16="http://schemas.microsoft.com/office/drawing/2014/main" id="{DD014981-CB12-904B-09F1-77539253A241}"/>
              </a:ext>
            </a:extLst>
          </p:cNvPr>
          <p:cNvGrpSpPr/>
          <p:nvPr/>
        </p:nvGrpSpPr>
        <p:grpSpPr>
          <a:xfrm>
            <a:off x="581074" y="1071878"/>
            <a:ext cx="512064" cy="512064"/>
            <a:chOff x="527401" y="1498598"/>
            <a:chExt cx="512064" cy="512064"/>
          </a:xfrm>
        </p:grpSpPr>
        <p:sp>
          <p:nvSpPr>
            <p:cNvPr id="54" name="Oval 53">
              <a:extLst>
                <a:ext uri="{FF2B5EF4-FFF2-40B4-BE49-F238E27FC236}">
                  <a16:creationId xmlns:a16="http://schemas.microsoft.com/office/drawing/2014/main" id="{2B338FCB-396E-3443-BED6-45A9997FF13B}"/>
                </a:ext>
              </a:extLst>
            </p:cNvPr>
            <p:cNvSpPr/>
            <p:nvPr/>
          </p:nvSpPr>
          <p:spPr>
            <a:xfrm>
              <a:off x="527401" y="1498598"/>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55" name="Group 54">
              <a:extLst>
                <a:ext uri="{FF2B5EF4-FFF2-40B4-BE49-F238E27FC236}">
                  <a16:creationId xmlns:a16="http://schemas.microsoft.com/office/drawing/2014/main" id="{1996E591-4634-3BA9-A564-1C6C4608A8A8}"/>
                </a:ext>
              </a:extLst>
            </p:cNvPr>
            <p:cNvGrpSpPr/>
            <p:nvPr/>
          </p:nvGrpSpPr>
          <p:grpSpPr>
            <a:xfrm>
              <a:off x="603012" y="1633762"/>
              <a:ext cx="360842" cy="241736"/>
              <a:chOff x="7038493" y="4034952"/>
              <a:chExt cx="412945" cy="312474"/>
            </a:xfrm>
          </p:grpSpPr>
          <p:sp>
            <p:nvSpPr>
              <p:cNvPr id="56" name="Freeform 759">
                <a:extLst>
                  <a:ext uri="{FF2B5EF4-FFF2-40B4-BE49-F238E27FC236}">
                    <a16:creationId xmlns:a16="http://schemas.microsoft.com/office/drawing/2014/main" id="{37FF9D72-89FC-F626-CC43-C15BCF2695B1}"/>
                  </a:ext>
                </a:extLst>
              </p:cNvPr>
              <p:cNvSpPr>
                <a:spLocks/>
              </p:cNvSpPr>
              <p:nvPr/>
            </p:nvSpPr>
            <p:spPr bwMode="auto">
              <a:xfrm>
                <a:off x="7212704" y="4209163"/>
                <a:ext cx="238734" cy="138263"/>
              </a:xfrm>
              <a:custGeom>
                <a:avLst/>
                <a:gdLst>
                  <a:gd name="T0" fmla="*/ 214 w 259"/>
                  <a:gd name="T1" fmla="*/ 102 h 150"/>
                  <a:gd name="T2" fmla="*/ 214 w 259"/>
                  <a:gd name="T3" fmla="*/ 0 h 150"/>
                  <a:gd name="T4" fmla="*/ 259 w 259"/>
                  <a:gd name="T5" fmla="*/ 0 h 150"/>
                  <a:gd name="T6" fmla="*/ 259 w 259"/>
                  <a:gd name="T7" fmla="*/ 150 h 150"/>
                  <a:gd name="T8" fmla="*/ 0 w 259"/>
                  <a:gd name="T9" fmla="*/ 150 h 150"/>
                  <a:gd name="T10" fmla="*/ 0 w 259"/>
                  <a:gd name="T11" fmla="*/ 102 h 150"/>
                  <a:gd name="T12" fmla="*/ 214 w 259"/>
                  <a:gd name="T13" fmla="*/ 102 h 150"/>
                </a:gdLst>
                <a:ahLst/>
                <a:cxnLst>
                  <a:cxn ang="0">
                    <a:pos x="T0" y="T1"/>
                  </a:cxn>
                  <a:cxn ang="0">
                    <a:pos x="T2" y="T3"/>
                  </a:cxn>
                  <a:cxn ang="0">
                    <a:pos x="T4" y="T5"/>
                  </a:cxn>
                  <a:cxn ang="0">
                    <a:pos x="T6" y="T7"/>
                  </a:cxn>
                  <a:cxn ang="0">
                    <a:pos x="T8" y="T9"/>
                  </a:cxn>
                  <a:cxn ang="0">
                    <a:pos x="T10" y="T11"/>
                  </a:cxn>
                  <a:cxn ang="0">
                    <a:pos x="T12" y="T13"/>
                  </a:cxn>
                </a:cxnLst>
                <a:rect l="0" t="0" r="r" b="b"/>
                <a:pathLst>
                  <a:path w="259" h="150">
                    <a:moveTo>
                      <a:pt x="214" y="102"/>
                    </a:moveTo>
                    <a:lnTo>
                      <a:pt x="214" y="0"/>
                    </a:lnTo>
                    <a:lnTo>
                      <a:pt x="259" y="0"/>
                    </a:lnTo>
                    <a:lnTo>
                      <a:pt x="259" y="150"/>
                    </a:lnTo>
                    <a:lnTo>
                      <a:pt x="0" y="150"/>
                    </a:lnTo>
                    <a:lnTo>
                      <a:pt x="0" y="102"/>
                    </a:lnTo>
                    <a:lnTo>
                      <a:pt x="214" y="102"/>
                    </a:ln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57" name="Freeform 760">
                <a:extLst>
                  <a:ext uri="{FF2B5EF4-FFF2-40B4-BE49-F238E27FC236}">
                    <a16:creationId xmlns:a16="http://schemas.microsoft.com/office/drawing/2014/main" id="{149930FD-537F-11ED-C150-27E3946F6661}"/>
                  </a:ext>
                </a:extLst>
              </p:cNvPr>
              <p:cNvSpPr>
                <a:spLocks/>
              </p:cNvSpPr>
              <p:nvPr/>
            </p:nvSpPr>
            <p:spPr bwMode="auto">
              <a:xfrm>
                <a:off x="7212704" y="4209163"/>
                <a:ext cx="238734" cy="138263"/>
              </a:xfrm>
              <a:custGeom>
                <a:avLst/>
                <a:gdLst>
                  <a:gd name="T0" fmla="*/ 214 w 259"/>
                  <a:gd name="T1" fmla="*/ 0 h 150"/>
                  <a:gd name="T2" fmla="*/ 259 w 259"/>
                  <a:gd name="T3" fmla="*/ 0 h 150"/>
                  <a:gd name="T4" fmla="*/ 259 w 259"/>
                  <a:gd name="T5" fmla="*/ 150 h 150"/>
                  <a:gd name="T6" fmla="*/ 0 w 259"/>
                  <a:gd name="T7" fmla="*/ 150 h 150"/>
                  <a:gd name="T8" fmla="*/ 0 w 259"/>
                  <a:gd name="T9" fmla="*/ 102 h 150"/>
                </a:gdLst>
                <a:ahLst/>
                <a:cxnLst>
                  <a:cxn ang="0">
                    <a:pos x="T0" y="T1"/>
                  </a:cxn>
                  <a:cxn ang="0">
                    <a:pos x="T2" y="T3"/>
                  </a:cxn>
                  <a:cxn ang="0">
                    <a:pos x="T4" y="T5"/>
                  </a:cxn>
                  <a:cxn ang="0">
                    <a:pos x="T6" y="T7"/>
                  </a:cxn>
                  <a:cxn ang="0">
                    <a:pos x="T8" y="T9"/>
                  </a:cxn>
                </a:cxnLst>
                <a:rect l="0" t="0" r="r" b="b"/>
                <a:pathLst>
                  <a:path w="259" h="150">
                    <a:moveTo>
                      <a:pt x="214" y="0"/>
                    </a:moveTo>
                    <a:lnTo>
                      <a:pt x="259" y="0"/>
                    </a:lnTo>
                    <a:lnTo>
                      <a:pt x="259" y="150"/>
                    </a:lnTo>
                    <a:lnTo>
                      <a:pt x="0" y="150"/>
                    </a:lnTo>
                    <a:lnTo>
                      <a:pt x="0" y="102"/>
                    </a:ln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58" name="Freeform 761">
                <a:extLst>
                  <a:ext uri="{FF2B5EF4-FFF2-40B4-BE49-F238E27FC236}">
                    <a16:creationId xmlns:a16="http://schemas.microsoft.com/office/drawing/2014/main" id="{45F3B443-B58E-C4B2-6FEF-BCA70DBF5F06}"/>
                  </a:ext>
                </a:extLst>
              </p:cNvPr>
              <p:cNvSpPr>
                <a:spLocks/>
              </p:cNvSpPr>
              <p:nvPr/>
            </p:nvSpPr>
            <p:spPr bwMode="auto">
              <a:xfrm>
                <a:off x="7168460" y="4164919"/>
                <a:ext cx="241499" cy="138263"/>
              </a:xfrm>
              <a:custGeom>
                <a:avLst/>
                <a:gdLst>
                  <a:gd name="T0" fmla="*/ 214 w 262"/>
                  <a:gd name="T1" fmla="*/ 0 h 150"/>
                  <a:gd name="T2" fmla="*/ 262 w 262"/>
                  <a:gd name="T3" fmla="*/ 0 h 150"/>
                  <a:gd name="T4" fmla="*/ 262 w 262"/>
                  <a:gd name="T5" fmla="*/ 48 h 150"/>
                  <a:gd name="T6" fmla="*/ 262 w 262"/>
                  <a:gd name="T7" fmla="*/ 150 h 150"/>
                  <a:gd name="T8" fmla="*/ 0 w 262"/>
                  <a:gd name="T9" fmla="*/ 150 h 150"/>
                  <a:gd name="T10" fmla="*/ 0 w 262"/>
                  <a:gd name="T11" fmla="*/ 104 h 150"/>
                </a:gdLst>
                <a:ahLst/>
                <a:cxnLst>
                  <a:cxn ang="0">
                    <a:pos x="T0" y="T1"/>
                  </a:cxn>
                  <a:cxn ang="0">
                    <a:pos x="T2" y="T3"/>
                  </a:cxn>
                  <a:cxn ang="0">
                    <a:pos x="T4" y="T5"/>
                  </a:cxn>
                  <a:cxn ang="0">
                    <a:pos x="T6" y="T7"/>
                  </a:cxn>
                  <a:cxn ang="0">
                    <a:pos x="T8" y="T9"/>
                  </a:cxn>
                  <a:cxn ang="0">
                    <a:pos x="T10" y="T11"/>
                  </a:cxn>
                </a:cxnLst>
                <a:rect l="0" t="0" r="r" b="b"/>
                <a:pathLst>
                  <a:path w="262" h="150">
                    <a:moveTo>
                      <a:pt x="214" y="0"/>
                    </a:moveTo>
                    <a:lnTo>
                      <a:pt x="262" y="0"/>
                    </a:lnTo>
                    <a:lnTo>
                      <a:pt x="262" y="48"/>
                    </a:lnTo>
                    <a:lnTo>
                      <a:pt x="262" y="150"/>
                    </a:lnTo>
                    <a:lnTo>
                      <a:pt x="0" y="150"/>
                    </a:lnTo>
                    <a:lnTo>
                      <a:pt x="0" y="104"/>
                    </a:ln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59" name="Freeform 762">
                <a:extLst>
                  <a:ext uri="{FF2B5EF4-FFF2-40B4-BE49-F238E27FC236}">
                    <a16:creationId xmlns:a16="http://schemas.microsoft.com/office/drawing/2014/main" id="{F1A2D9C7-7ECA-1029-E871-703BC9C1AAD5}"/>
                  </a:ext>
                </a:extLst>
              </p:cNvPr>
              <p:cNvSpPr>
                <a:spLocks/>
              </p:cNvSpPr>
              <p:nvPr/>
            </p:nvSpPr>
            <p:spPr bwMode="auto">
              <a:xfrm>
                <a:off x="7126981" y="4123441"/>
                <a:ext cx="238734" cy="137342"/>
              </a:xfrm>
              <a:custGeom>
                <a:avLst/>
                <a:gdLst>
                  <a:gd name="T0" fmla="*/ 213 w 259"/>
                  <a:gd name="T1" fmla="*/ 101 h 149"/>
                  <a:gd name="T2" fmla="*/ 213 w 259"/>
                  <a:gd name="T3" fmla="*/ 0 h 149"/>
                  <a:gd name="T4" fmla="*/ 259 w 259"/>
                  <a:gd name="T5" fmla="*/ 0 h 149"/>
                  <a:gd name="T6" fmla="*/ 259 w 259"/>
                  <a:gd name="T7" fmla="*/ 149 h 149"/>
                  <a:gd name="T8" fmla="*/ 0 w 259"/>
                  <a:gd name="T9" fmla="*/ 149 h 149"/>
                  <a:gd name="T10" fmla="*/ 0 w 259"/>
                  <a:gd name="T11" fmla="*/ 101 h 149"/>
                  <a:gd name="T12" fmla="*/ 213 w 259"/>
                  <a:gd name="T13" fmla="*/ 101 h 149"/>
                </a:gdLst>
                <a:ahLst/>
                <a:cxnLst>
                  <a:cxn ang="0">
                    <a:pos x="T0" y="T1"/>
                  </a:cxn>
                  <a:cxn ang="0">
                    <a:pos x="T2" y="T3"/>
                  </a:cxn>
                  <a:cxn ang="0">
                    <a:pos x="T4" y="T5"/>
                  </a:cxn>
                  <a:cxn ang="0">
                    <a:pos x="T6" y="T7"/>
                  </a:cxn>
                  <a:cxn ang="0">
                    <a:pos x="T8" y="T9"/>
                  </a:cxn>
                  <a:cxn ang="0">
                    <a:pos x="T10" y="T11"/>
                  </a:cxn>
                  <a:cxn ang="0">
                    <a:pos x="T12" y="T13"/>
                  </a:cxn>
                </a:cxnLst>
                <a:rect l="0" t="0" r="r" b="b"/>
                <a:pathLst>
                  <a:path w="259" h="149">
                    <a:moveTo>
                      <a:pt x="213" y="101"/>
                    </a:moveTo>
                    <a:lnTo>
                      <a:pt x="213" y="0"/>
                    </a:lnTo>
                    <a:lnTo>
                      <a:pt x="259" y="0"/>
                    </a:lnTo>
                    <a:lnTo>
                      <a:pt x="259" y="149"/>
                    </a:lnTo>
                    <a:lnTo>
                      <a:pt x="0" y="149"/>
                    </a:lnTo>
                    <a:lnTo>
                      <a:pt x="0" y="101"/>
                    </a:lnTo>
                    <a:lnTo>
                      <a:pt x="213" y="101"/>
                    </a:ln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0" name="Freeform 763">
                <a:extLst>
                  <a:ext uri="{FF2B5EF4-FFF2-40B4-BE49-F238E27FC236}">
                    <a16:creationId xmlns:a16="http://schemas.microsoft.com/office/drawing/2014/main" id="{3BBD612F-74DF-2B30-4014-A5CB1DEE026D}"/>
                  </a:ext>
                </a:extLst>
              </p:cNvPr>
              <p:cNvSpPr>
                <a:spLocks/>
              </p:cNvSpPr>
              <p:nvPr/>
            </p:nvSpPr>
            <p:spPr bwMode="auto">
              <a:xfrm>
                <a:off x="7126981" y="4123441"/>
                <a:ext cx="238734" cy="137342"/>
              </a:xfrm>
              <a:custGeom>
                <a:avLst/>
                <a:gdLst>
                  <a:gd name="T0" fmla="*/ 213 w 259"/>
                  <a:gd name="T1" fmla="*/ 0 h 149"/>
                  <a:gd name="T2" fmla="*/ 259 w 259"/>
                  <a:gd name="T3" fmla="*/ 0 h 149"/>
                  <a:gd name="T4" fmla="*/ 259 w 259"/>
                  <a:gd name="T5" fmla="*/ 149 h 149"/>
                  <a:gd name="T6" fmla="*/ 0 w 259"/>
                  <a:gd name="T7" fmla="*/ 149 h 149"/>
                  <a:gd name="T8" fmla="*/ 0 w 259"/>
                  <a:gd name="T9" fmla="*/ 101 h 149"/>
                </a:gdLst>
                <a:ahLst/>
                <a:cxnLst>
                  <a:cxn ang="0">
                    <a:pos x="T0" y="T1"/>
                  </a:cxn>
                  <a:cxn ang="0">
                    <a:pos x="T2" y="T3"/>
                  </a:cxn>
                  <a:cxn ang="0">
                    <a:pos x="T4" y="T5"/>
                  </a:cxn>
                  <a:cxn ang="0">
                    <a:pos x="T6" y="T7"/>
                  </a:cxn>
                  <a:cxn ang="0">
                    <a:pos x="T8" y="T9"/>
                  </a:cxn>
                </a:cxnLst>
                <a:rect l="0" t="0" r="r" b="b"/>
                <a:pathLst>
                  <a:path w="259" h="149">
                    <a:moveTo>
                      <a:pt x="213" y="0"/>
                    </a:moveTo>
                    <a:lnTo>
                      <a:pt x="259" y="0"/>
                    </a:lnTo>
                    <a:lnTo>
                      <a:pt x="259" y="149"/>
                    </a:lnTo>
                    <a:lnTo>
                      <a:pt x="0" y="149"/>
                    </a:lnTo>
                    <a:lnTo>
                      <a:pt x="0" y="101"/>
                    </a:ln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1" name="Freeform 764">
                <a:extLst>
                  <a:ext uri="{FF2B5EF4-FFF2-40B4-BE49-F238E27FC236}">
                    <a16:creationId xmlns:a16="http://schemas.microsoft.com/office/drawing/2014/main" id="{FF77D54D-F37D-5F30-348A-8E405ABAB35D}"/>
                  </a:ext>
                </a:extLst>
              </p:cNvPr>
              <p:cNvSpPr>
                <a:spLocks/>
              </p:cNvSpPr>
              <p:nvPr/>
            </p:nvSpPr>
            <p:spPr bwMode="auto">
              <a:xfrm>
                <a:off x="7085502" y="4079196"/>
                <a:ext cx="237812" cy="137342"/>
              </a:xfrm>
              <a:custGeom>
                <a:avLst/>
                <a:gdLst>
                  <a:gd name="T0" fmla="*/ 208 w 258"/>
                  <a:gd name="T1" fmla="*/ 0 h 149"/>
                  <a:gd name="T2" fmla="*/ 258 w 258"/>
                  <a:gd name="T3" fmla="*/ 0 h 149"/>
                  <a:gd name="T4" fmla="*/ 258 w 258"/>
                  <a:gd name="T5" fmla="*/ 149 h 149"/>
                  <a:gd name="T6" fmla="*/ 0 w 258"/>
                  <a:gd name="T7" fmla="*/ 149 h 149"/>
                  <a:gd name="T8" fmla="*/ 0 w 258"/>
                  <a:gd name="T9" fmla="*/ 98 h 149"/>
                </a:gdLst>
                <a:ahLst/>
                <a:cxnLst>
                  <a:cxn ang="0">
                    <a:pos x="T0" y="T1"/>
                  </a:cxn>
                  <a:cxn ang="0">
                    <a:pos x="T2" y="T3"/>
                  </a:cxn>
                  <a:cxn ang="0">
                    <a:pos x="T4" y="T5"/>
                  </a:cxn>
                  <a:cxn ang="0">
                    <a:pos x="T6" y="T7"/>
                  </a:cxn>
                  <a:cxn ang="0">
                    <a:pos x="T8" y="T9"/>
                  </a:cxn>
                </a:cxnLst>
                <a:rect l="0" t="0" r="r" b="b"/>
                <a:pathLst>
                  <a:path w="258" h="149">
                    <a:moveTo>
                      <a:pt x="208" y="0"/>
                    </a:moveTo>
                    <a:lnTo>
                      <a:pt x="258" y="0"/>
                    </a:lnTo>
                    <a:lnTo>
                      <a:pt x="258" y="149"/>
                    </a:lnTo>
                    <a:lnTo>
                      <a:pt x="0" y="149"/>
                    </a:lnTo>
                    <a:lnTo>
                      <a:pt x="0" y="98"/>
                    </a:ln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2" name="Freeform 765">
                <a:extLst>
                  <a:ext uri="{FF2B5EF4-FFF2-40B4-BE49-F238E27FC236}">
                    <a16:creationId xmlns:a16="http://schemas.microsoft.com/office/drawing/2014/main" id="{AAF9E984-DEC8-2C22-871F-5D4F4F0AC002}"/>
                  </a:ext>
                </a:extLst>
              </p:cNvPr>
              <p:cNvSpPr>
                <a:spLocks noEditPoints="1"/>
              </p:cNvSpPr>
              <p:nvPr/>
            </p:nvSpPr>
            <p:spPr bwMode="auto">
              <a:xfrm>
                <a:off x="7038493" y="4034952"/>
                <a:ext cx="238734" cy="134576"/>
              </a:xfrm>
              <a:custGeom>
                <a:avLst/>
                <a:gdLst>
                  <a:gd name="T0" fmla="*/ 97 w 97"/>
                  <a:gd name="T1" fmla="*/ 55 h 55"/>
                  <a:gd name="T2" fmla="*/ 97 w 97"/>
                  <a:gd name="T3" fmla="*/ 0 h 55"/>
                  <a:gd name="T4" fmla="*/ 0 w 97"/>
                  <a:gd name="T5" fmla="*/ 0 h 55"/>
                  <a:gd name="T6" fmla="*/ 0 w 97"/>
                  <a:gd name="T7" fmla="*/ 55 h 55"/>
                  <a:gd name="T8" fmla="*/ 97 w 97"/>
                  <a:gd name="T9" fmla="*/ 55 h 55"/>
                  <a:gd name="T10" fmla="*/ 48 w 97"/>
                  <a:gd name="T11" fmla="*/ 7 h 55"/>
                  <a:gd name="T12" fmla="*/ 69 w 97"/>
                  <a:gd name="T13" fmla="*/ 27 h 55"/>
                  <a:gd name="T14" fmla="*/ 48 w 97"/>
                  <a:gd name="T15" fmla="*/ 48 h 55"/>
                  <a:gd name="T16" fmla="*/ 28 w 97"/>
                  <a:gd name="T17" fmla="*/ 27 h 55"/>
                  <a:gd name="T18" fmla="*/ 48 w 97"/>
                  <a:gd name="T19" fmla="*/ 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55">
                    <a:moveTo>
                      <a:pt x="97" y="55"/>
                    </a:moveTo>
                    <a:cubicBezTo>
                      <a:pt x="97" y="0"/>
                      <a:pt x="97" y="0"/>
                      <a:pt x="97" y="0"/>
                    </a:cubicBezTo>
                    <a:cubicBezTo>
                      <a:pt x="0" y="0"/>
                      <a:pt x="0" y="0"/>
                      <a:pt x="0" y="0"/>
                    </a:cubicBezTo>
                    <a:cubicBezTo>
                      <a:pt x="0" y="55"/>
                      <a:pt x="0" y="55"/>
                      <a:pt x="0" y="55"/>
                    </a:cubicBezTo>
                    <a:lnTo>
                      <a:pt x="97" y="55"/>
                    </a:lnTo>
                    <a:close/>
                    <a:moveTo>
                      <a:pt x="48" y="7"/>
                    </a:moveTo>
                    <a:cubicBezTo>
                      <a:pt x="60" y="7"/>
                      <a:pt x="69" y="16"/>
                      <a:pt x="69" y="27"/>
                    </a:cubicBezTo>
                    <a:cubicBezTo>
                      <a:pt x="69" y="39"/>
                      <a:pt x="60" y="48"/>
                      <a:pt x="48" y="48"/>
                    </a:cubicBezTo>
                    <a:cubicBezTo>
                      <a:pt x="37" y="48"/>
                      <a:pt x="28" y="39"/>
                      <a:pt x="28" y="27"/>
                    </a:cubicBezTo>
                    <a:cubicBezTo>
                      <a:pt x="28" y="16"/>
                      <a:pt x="37" y="7"/>
                      <a:pt x="48" y="7"/>
                    </a:cubicBez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3" name="Oval 766">
                <a:extLst>
                  <a:ext uri="{FF2B5EF4-FFF2-40B4-BE49-F238E27FC236}">
                    <a16:creationId xmlns:a16="http://schemas.microsoft.com/office/drawing/2014/main" id="{B750254E-4957-D167-739E-5F127CA0C44F}"/>
                  </a:ext>
                </a:extLst>
              </p:cNvPr>
              <p:cNvSpPr>
                <a:spLocks noChangeArrowheads="1"/>
              </p:cNvSpPr>
              <p:nvPr/>
            </p:nvSpPr>
            <p:spPr bwMode="auto">
              <a:xfrm>
                <a:off x="7232983" y="4101318"/>
                <a:ext cx="11983" cy="9218"/>
              </a:xfrm>
              <a:prstGeom prst="ellipse">
                <a:avLst/>
              </a:pr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4" name="Rectangle 767">
                <a:extLst>
                  <a:ext uri="{FF2B5EF4-FFF2-40B4-BE49-F238E27FC236}">
                    <a16:creationId xmlns:a16="http://schemas.microsoft.com/office/drawing/2014/main" id="{EE428333-DE2D-1348-AEAB-94B80BBE3D6A}"/>
                  </a:ext>
                </a:extLst>
              </p:cNvPr>
              <p:cNvSpPr>
                <a:spLocks noChangeArrowheads="1"/>
              </p:cNvSpPr>
              <p:nvPr/>
            </p:nvSpPr>
            <p:spPr bwMode="auto">
              <a:xfrm>
                <a:off x="7038493" y="4034952"/>
                <a:ext cx="238734" cy="134576"/>
              </a:xfrm>
              <a:prstGeom prst="rect">
                <a:avLst/>
              </a:pr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5" name="Oval 768">
                <a:extLst>
                  <a:ext uri="{FF2B5EF4-FFF2-40B4-BE49-F238E27FC236}">
                    <a16:creationId xmlns:a16="http://schemas.microsoft.com/office/drawing/2014/main" id="{352674DD-1B1C-FB93-E0F6-FBA560C5069D}"/>
                  </a:ext>
                </a:extLst>
              </p:cNvPr>
              <p:cNvSpPr>
                <a:spLocks noChangeArrowheads="1"/>
              </p:cNvSpPr>
              <p:nvPr/>
            </p:nvSpPr>
            <p:spPr bwMode="auto">
              <a:xfrm>
                <a:off x="7070754" y="4101318"/>
                <a:ext cx="11983" cy="9218"/>
              </a:xfrm>
              <a:prstGeom prst="ellipse">
                <a:avLst/>
              </a:pr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6" name="Freeform 769">
                <a:extLst>
                  <a:ext uri="{FF2B5EF4-FFF2-40B4-BE49-F238E27FC236}">
                    <a16:creationId xmlns:a16="http://schemas.microsoft.com/office/drawing/2014/main" id="{CC0A18A3-0D32-C387-167B-FF93AC26D4A8}"/>
                  </a:ext>
                </a:extLst>
              </p:cNvPr>
              <p:cNvSpPr>
                <a:spLocks/>
              </p:cNvSpPr>
              <p:nvPr/>
            </p:nvSpPr>
            <p:spPr bwMode="auto">
              <a:xfrm>
                <a:off x="7138964" y="4069057"/>
                <a:ext cx="42401" cy="63601"/>
              </a:xfrm>
              <a:custGeom>
                <a:avLst/>
                <a:gdLst>
                  <a:gd name="T0" fmla="*/ 14 w 17"/>
                  <a:gd name="T1" fmla="*/ 5 h 26"/>
                  <a:gd name="T2" fmla="*/ 7 w 17"/>
                  <a:gd name="T3" fmla="*/ 0 h 26"/>
                  <a:gd name="T4" fmla="*/ 1 w 17"/>
                  <a:gd name="T5" fmla="*/ 6 h 26"/>
                  <a:gd name="T6" fmla="*/ 7 w 17"/>
                  <a:gd name="T7" fmla="*/ 12 h 26"/>
                  <a:gd name="T8" fmla="*/ 14 w 17"/>
                  <a:gd name="T9" fmla="*/ 22 h 26"/>
                  <a:gd name="T10" fmla="*/ 7 w 17"/>
                  <a:gd name="T11" fmla="*/ 26 h 26"/>
                  <a:gd name="T12" fmla="*/ 0 w 17"/>
                  <a:gd name="T13" fmla="*/ 19 h 26"/>
                </a:gdLst>
                <a:ahLst/>
                <a:cxnLst>
                  <a:cxn ang="0">
                    <a:pos x="T0" y="T1"/>
                  </a:cxn>
                  <a:cxn ang="0">
                    <a:pos x="T2" y="T3"/>
                  </a:cxn>
                  <a:cxn ang="0">
                    <a:pos x="T4" y="T5"/>
                  </a:cxn>
                  <a:cxn ang="0">
                    <a:pos x="T6" y="T7"/>
                  </a:cxn>
                  <a:cxn ang="0">
                    <a:pos x="T8" y="T9"/>
                  </a:cxn>
                  <a:cxn ang="0">
                    <a:pos x="T10" y="T11"/>
                  </a:cxn>
                  <a:cxn ang="0">
                    <a:pos x="T12" y="T13"/>
                  </a:cxn>
                </a:cxnLst>
                <a:rect l="0" t="0" r="r" b="b"/>
                <a:pathLst>
                  <a:path w="17" h="26">
                    <a:moveTo>
                      <a:pt x="14" y="5"/>
                    </a:moveTo>
                    <a:cubicBezTo>
                      <a:pt x="14" y="5"/>
                      <a:pt x="13" y="0"/>
                      <a:pt x="7" y="0"/>
                    </a:cubicBezTo>
                    <a:cubicBezTo>
                      <a:pt x="1" y="0"/>
                      <a:pt x="1" y="4"/>
                      <a:pt x="1" y="6"/>
                    </a:cubicBezTo>
                    <a:cubicBezTo>
                      <a:pt x="1" y="9"/>
                      <a:pt x="3" y="12"/>
                      <a:pt x="7" y="12"/>
                    </a:cubicBezTo>
                    <a:cubicBezTo>
                      <a:pt x="12" y="13"/>
                      <a:pt x="17" y="15"/>
                      <a:pt x="14" y="22"/>
                    </a:cubicBezTo>
                    <a:cubicBezTo>
                      <a:pt x="13" y="24"/>
                      <a:pt x="12" y="26"/>
                      <a:pt x="7" y="26"/>
                    </a:cubicBezTo>
                    <a:cubicBezTo>
                      <a:pt x="4" y="26"/>
                      <a:pt x="1" y="24"/>
                      <a:pt x="0" y="19"/>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67" name="Line 770">
                <a:extLst>
                  <a:ext uri="{FF2B5EF4-FFF2-40B4-BE49-F238E27FC236}">
                    <a16:creationId xmlns:a16="http://schemas.microsoft.com/office/drawing/2014/main" id="{A593BE40-3741-686D-071D-7B467B02F0EF}"/>
                  </a:ext>
                </a:extLst>
              </p:cNvPr>
              <p:cNvSpPr>
                <a:spLocks noChangeShapeType="1"/>
              </p:cNvSpPr>
              <p:nvPr/>
            </p:nvSpPr>
            <p:spPr bwMode="auto">
              <a:xfrm>
                <a:off x="7156477" y="4058918"/>
                <a:ext cx="0" cy="86645"/>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sp>
        <p:nvSpPr>
          <p:cNvPr id="52" name="Subtitle 2">
            <a:extLst>
              <a:ext uri="{FF2B5EF4-FFF2-40B4-BE49-F238E27FC236}">
                <a16:creationId xmlns:a16="http://schemas.microsoft.com/office/drawing/2014/main" id="{E031EA39-CC00-0460-BD6A-B48E9970DA47}"/>
              </a:ext>
            </a:extLst>
          </p:cNvPr>
          <p:cNvSpPr txBox="1">
            <a:spLocks/>
          </p:cNvSpPr>
          <p:nvPr/>
        </p:nvSpPr>
        <p:spPr>
          <a:xfrm>
            <a:off x="304800" y="2750122"/>
            <a:ext cx="985073" cy="1319708"/>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dirty="0">
                <a:ln>
                  <a:noFill/>
                </a:ln>
                <a:solidFill>
                  <a:srgbClr val="000000"/>
                </a:solidFill>
                <a:effectLst/>
                <a:uLnTx/>
                <a:uFillTx/>
                <a:latin typeface="Fund Light"/>
                <a:ea typeface="+mn-ea"/>
                <a:cs typeface="DIN Next LT Arabic Light" panose="020B0303020203050203" pitchFamily="34" charset="-78"/>
                <a:sym typeface="DIN Next LT Arabic"/>
              </a:rPr>
              <a:t>Spend on goods and services</a:t>
            </a:r>
            <a:endParaRPr kumimoji="0" lang="en-US" sz="900" b="0" i="0" u="none" strike="noStrike" kern="0" cap="none" spc="-20" normalizeH="0" baseline="0" noProof="0" dirty="0">
              <a:ln>
                <a:noFill/>
              </a:ln>
              <a:solidFill>
                <a:srgbClr val="000000"/>
              </a:solidFill>
              <a:effectLst/>
              <a:uLnTx/>
              <a:uFillTx/>
              <a:latin typeface="Fund Light"/>
              <a:ea typeface="+mn-ea"/>
              <a:cs typeface="DIN Next LT Arabic Light" panose="020B0303020203050203" pitchFamily="34" charset="-78"/>
              <a:sym typeface="DIN Next LT Arabic"/>
            </a:endParaRPr>
          </a:p>
        </p:txBody>
      </p:sp>
      <p:sp>
        <p:nvSpPr>
          <p:cNvPr id="53" name="TextBox 52">
            <a:extLst>
              <a:ext uri="{FF2B5EF4-FFF2-40B4-BE49-F238E27FC236}">
                <a16:creationId xmlns:a16="http://schemas.microsoft.com/office/drawing/2014/main" id="{69F33E42-C1BB-4458-E7D8-CBDA14980717}"/>
              </a:ext>
            </a:extLst>
          </p:cNvPr>
          <p:cNvSpPr txBox="1"/>
          <p:nvPr/>
        </p:nvSpPr>
        <p:spPr>
          <a:xfrm>
            <a:off x="304800" y="1714818"/>
            <a:ext cx="1064612" cy="4154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D9B60"/>
                </a:solidFill>
                <a:effectLst/>
                <a:uLnTx/>
                <a:uFillTx/>
                <a:latin typeface="Fund Light"/>
                <a:ea typeface="+mn-ea"/>
                <a:cs typeface="+mn-cs"/>
              </a:rPr>
              <a:t>Total procurement of goods and services</a:t>
            </a:r>
            <a:endParaRPr kumimoji="0" lang="en-US" sz="900" b="0" i="0" u="none" strike="noStrike" kern="1200" cap="none" spc="0" normalizeH="0" baseline="0" noProof="0" dirty="0">
              <a:ln>
                <a:noFill/>
              </a:ln>
              <a:solidFill>
                <a:srgbClr val="BD9B60"/>
              </a:solidFill>
              <a:effectLst/>
              <a:uLnTx/>
              <a:uFillTx/>
              <a:latin typeface="Fund Light"/>
              <a:ea typeface="+mn-ea"/>
              <a:cs typeface="+mn-cs"/>
            </a:endParaRPr>
          </a:p>
        </p:txBody>
      </p:sp>
      <p:grpSp>
        <p:nvGrpSpPr>
          <p:cNvPr id="68" name="Group 67">
            <a:extLst>
              <a:ext uri="{FF2B5EF4-FFF2-40B4-BE49-F238E27FC236}">
                <a16:creationId xmlns:a16="http://schemas.microsoft.com/office/drawing/2014/main" id="{92905855-0B89-7346-E3EB-94F7B761922A}"/>
              </a:ext>
            </a:extLst>
          </p:cNvPr>
          <p:cNvGrpSpPr/>
          <p:nvPr/>
        </p:nvGrpSpPr>
        <p:grpSpPr>
          <a:xfrm>
            <a:off x="3113358" y="1827865"/>
            <a:ext cx="241130" cy="748128"/>
            <a:chOff x="3003138" y="2239848"/>
            <a:chExt cx="241130" cy="748128"/>
          </a:xfrm>
        </p:grpSpPr>
        <p:cxnSp>
          <p:nvCxnSpPr>
            <p:cNvPr id="69" name="Straight Connector 68">
              <a:extLst>
                <a:ext uri="{FF2B5EF4-FFF2-40B4-BE49-F238E27FC236}">
                  <a16:creationId xmlns:a16="http://schemas.microsoft.com/office/drawing/2014/main" id="{EC990719-973F-781D-6F04-FBD00BDDA4A6}"/>
                </a:ext>
              </a:extLst>
            </p:cNvPr>
            <p:cNvCxnSpPr>
              <a:cxnSpLocks/>
            </p:cNvCxnSpPr>
            <p:nvPr/>
          </p:nvCxnSpPr>
          <p:spPr>
            <a:xfrm>
              <a:off x="3123703" y="2239848"/>
              <a:ext cx="0" cy="748128"/>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E4244E61-05E2-E9B6-43B5-A71BA85D5A05}"/>
                </a:ext>
              </a:extLst>
            </p:cNvPr>
            <p:cNvSpPr txBox="1"/>
            <p:nvPr/>
          </p:nvSpPr>
          <p:spPr>
            <a:xfrm>
              <a:off x="3003138" y="2495040"/>
              <a:ext cx="241130" cy="237744"/>
            </a:xfrm>
            <a:prstGeom prst="ellipse">
              <a:avLst/>
            </a:prstGeom>
            <a:solidFill>
              <a:schemeClr val="bg1"/>
            </a:solidFill>
            <a:ln>
              <a:solidFill>
                <a:schemeClr val="tx1"/>
              </a:solidFill>
            </a:ln>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4325"/>
                  </a:solidFill>
                  <a:effectLst/>
                  <a:uLnTx/>
                  <a:uFillTx/>
                  <a:latin typeface="Fund Light"/>
                  <a:ea typeface="+mn-ea"/>
                  <a:cs typeface="+mn-cs"/>
                </a:rPr>
                <a:t>+</a:t>
              </a:r>
            </a:p>
          </p:txBody>
        </p:sp>
      </p:grpSp>
      <p:grpSp>
        <p:nvGrpSpPr>
          <p:cNvPr id="71" name="Group 70">
            <a:extLst>
              <a:ext uri="{FF2B5EF4-FFF2-40B4-BE49-F238E27FC236}">
                <a16:creationId xmlns:a16="http://schemas.microsoft.com/office/drawing/2014/main" id="{B2C1A0BD-7215-8233-BED3-9247B1F83974}"/>
              </a:ext>
            </a:extLst>
          </p:cNvPr>
          <p:cNvGrpSpPr/>
          <p:nvPr/>
        </p:nvGrpSpPr>
        <p:grpSpPr>
          <a:xfrm>
            <a:off x="7314462" y="1827865"/>
            <a:ext cx="241130" cy="748128"/>
            <a:chOff x="7185741" y="2239848"/>
            <a:chExt cx="241130" cy="748128"/>
          </a:xfrm>
        </p:grpSpPr>
        <p:cxnSp>
          <p:nvCxnSpPr>
            <p:cNvPr id="72" name="Straight Connector 71">
              <a:extLst>
                <a:ext uri="{FF2B5EF4-FFF2-40B4-BE49-F238E27FC236}">
                  <a16:creationId xmlns:a16="http://schemas.microsoft.com/office/drawing/2014/main" id="{D7EA879B-CA43-04D1-8A98-2A229EC11812}"/>
                </a:ext>
              </a:extLst>
            </p:cNvPr>
            <p:cNvCxnSpPr>
              <a:cxnSpLocks/>
            </p:cNvCxnSpPr>
            <p:nvPr/>
          </p:nvCxnSpPr>
          <p:spPr>
            <a:xfrm>
              <a:off x="7306306" y="2239848"/>
              <a:ext cx="0" cy="748128"/>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B53146F2-F173-96F5-88B1-80CB25603856}"/>
                </a:ext>
              </a:extLst>
            </p:cNvPr>
            <p:cNvSpPr txBox="1"/>
            <p:nvPr/>
          </p:nvSpPr>
          <p:spPr>
            <a:xfrm>
              <a:off x="7185741" y="2495040"/>
              <a:ext cx="241130" cy="237744"/>
            </a:xfrm>
            <a:prstGeom prst="ellipse">
              <a:avLst/>
            </a:prstGeom>
            <a:solidFill>
              <a:schemeClr val="bg1"/>
            </a:solidFill>
            <a:ln>
              <a:solidFill>
                <a:schemeClr val="tx1"/>
              </a:solidFill>
            </a:ln>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4325"/>
                  </a:solidFill>
                  <a:effectLst/>
                  <a:uLnTx/>
                  <a:uFillTx/>
                  <a:latin typeface="Fund Light"/>
                  <a:ea typeface="+mn-ea"/>
                  <a:cs typeface="+mn-cs"/>
                </a:rPr>
                <a:t>+</a:t>
              </a:r>
            </a:p>
          </p:txBody>
        </p:sp>
      </p:grpSp>
      <p:sp>
        <p:nvSpPr>
          <p:cNvPr id="74" name="TextBox 73">
            <a:extLst>
              <a:ext uri="{FF2B5EF4-FFF2-40B4-BE49-F238E27FC236}">
                <a16:creationId xmlns:a16="http://schemas.microsoft.com/office/drawing/2014/main" id="{8758F0E8-EC75-9B6E-4C9B-32541BEACAF8}"/>
              </a:ext>
            </a:extLst>
          </p:cNvPr>
          <p:cNvSpPr txBox="1"/>
          <p:nvPr/>
        </p:nvSpPr>
        <p:spPr>
          <a:xfrm>
            <a:off x="4306585" y="1714818"/>
            <a:ext cx="2055781" cy="138499"/>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2600" b="1" i="0" u="none" strike="noStrike" cap="none" spc="0" normalizeH="0" baseline="0">
                <a:ln>
                  <a:noFill/>
                </a:ln>
                <a:solidFill>
                  <a:schemeClr val="bg1"/>
                </a:solidFill>
                <a:effectLst/>
                <a:uLnTx/>
                <a:uFillTx/>
                <a:latin typeface="Sakkal Majall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BD9B60"/>
                </a:solidFill>
                <a:effectLst/>
                <a:uLnTx/>
                <a:uFillTx/>
                <a:latin typeface="Fund Light"/>
                <a:ea typeface="+mn-ea"/>
                <a:cs typeface="+mn-cs"/>
              </a:rPr>
              <a:t>Total spend on capacity building</a:t>
            </a:r>
          </a:p>
        </p:txBody>
      </p:sp>
      <p:sp>
        <p:nvSpPr>
          <p:cNvPr id="76" name="Subtitle 2">
            <a:extLst>
              <a:ext uri="{FF2B5EF4-FFF2-40B4-BE49-F238E27FC236}">
                <a16:creationId xmlns:a16="http://schemas.microsoft.com/office/drawing/2014/main" id="{0E32DA5E-E198-D745-5178-600EED9C528B}"/>
              </a:ext>
            </a:extLst>
          </p:cNvPr>
          <p:cNvSpPr txBox="1">
            <a:spLocks/>
          </p:cNvSpPr>
          <p:nvPr/>
        </p:nvSpPr>
        <p:spPr>
          <a:xfrm>
            <a:off x="5120706" y="2750122"/>
            <a:ext cx="834708" cy="484240"/>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Spend on R&amp;D</a:t>
            </a:r>
            <a:r>
              <a:rPr kumimoji="0" lang="en-US" sz="900" b="0"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 in KSA</a:t>
            </a:r>
          </a:p>
        </p:txBody>
      </p:sp>
      <p:grpSp>
        <p:nvGrpSpPr>
          <p:cNvPr id="77" name="Group 76">
            <a:extLst>
              <a:ext uri="{FF2B5EF4-FFF2-40B4-BE49-F238E27FC236}">
                <a16:creationId xmlns:a16="http://schemas.microsoft.com/office/drawing/2014/main" id="{E23C69DA-87D3-3C2F-D850-AA0C9D69E59D}"/>
              </a:ext>
            </a:extLst>
          </p:cNvPr>
          <p:cNvGrpSpPr/>
          <p:nvPr/>
        </p:nvGrpSpPr>
        <p:grpSpPr>
          <a:xfrm>
            <a:off x="5282028" y="2179867"/>
            <a:ext cx="512064" cy="512064"/>
            <a:chOff x="5082530" y="2606587"/>
            <a:chExt cx="512064" cy="512064"/>
          </a:xfrm>
        </p:grpSpPr>
        <p:sp>
          <p:nvSpPr>
            <p:cNvPr id="78" name="Oval 77">
              <a:extLst>
                <a:ext uri="{FF2B5EF4-FFF2-40B4-BE49-F238E27FC236}">
                  <a16:creationId xmlns:a16="http://schemas.microsoft.com/office/drawing/2014/main" id="{4938DA03-DCF8-BBE8-3257-CE26B58084CB}"/>
                </a:ext>
              </a:extLst>
            </p:cNvPr>
            <p:cNvSpPr/>
            <p:nvPr/>
          </p:nvSpPr>
          <p:spPr>
            <a:xfrm>
              <a:off x="5082530" y="2606587"/>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79" name="Group 78">
              <a:extLst>
                <a:ext uri="{FF2B5EF4-FFF2-40B4-BE49-F238E27FC236}">
                  <a16:creationId xmlns:a16="http://schemas.microsoft.com/office/drawing/2014/main" id="{2F481951-3D32-3944-2989-E02D6871F0A0}"/>
                </a:ext>
              </a:extLst>
            </p:cNvPr>
            <p:cNvGrpSpPr/>
            <p:nvPr/>
          </p:nvGrpSpPr>
          <p:grpSpPr>
            <a:xfrm>
              <a:off x="5170699" y="2721812"/>
              <a:ext cx="335753" cy="281673"/>
              <a:chOff x="5153478" y="2691287"/>
              <a:chExt cx="387501" cy="299273"/>
            </a:xfrm>
          </p:grpSpPr>
          <p:sp>
            <p:nvSpPr>
              <p:cNvPr id="80" name="Oval 245">
                <a:extLst>
                  <a:ext uri="{FF2B5EF4-FFF2-40B4-BE49-F238E27FC236}">
                    <a16:creationId xmlns:a16="http://schemas.microsoft.com/office/drawing/2014/main" id="{50249BEF-D1C2-71E2-D051-17DA1C9EF864}"/>
                  </a:ext>
                </a:extLst>
              </p:cNvPr>
              <p:cNvSpPr>
                <a:spLocks noChangeArrowheads="1"/>
              </p:cNvSpPr>
              <p:nvPr/>
            </p:nvSpPr>
            <p:spPr bwMode="auto">
              <a:xfrm>
                <a:off x="5283261" y="2786784"/>
                <a:ext cx="123826" cy="108335"/>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1" name="Oval 246">
                <a:extLst>
                  <a:ext uri="{FF2B5EF4-FFF2-40B4-BE49-F238E27FC236}">
                    <a16:creationId xmlns:a16="http://schemas.microsoft.com/office/drawing/2014/main" id="{A4DC7375-AEE0-3104-CEEC-101F635DEE96}"/>
                  </a:ext>
                </a:extLst>
              </p:cNvPr>
              <p:cNvSpPr>
                <a:spLocks noChangeArrowheads="1"/>
              </p:cNvSpPr>
              <p:nvPr/>
            </p:nvSpPr>
            <p:spPr bwMode="auto">
              <a:xfrm>
                <a:off x="5439136" y="2691346"/>
                <a:ext cx="65555" cy="58038"/>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2" name="Line 247">
                <a:extLst>
                  <a:ext uri="{FF2B5EF4-FFF2-40B4-BE49-F238E27FC236}">
                    <a16:creationId xmlns:a16="http://schemas.microsoft.com/office/drawing/2014/main" id="{8BFCA30F-A9ED-B8EB-A1DF-B1AC75F3BEBD}"/>
                  </a:ext>
                </a:extLst>
              </p:cNvPr>
              <p:cNvSpPr>
                <a:spLocks noChangeShapeType="1"/>
              </p:cNvSpPr>
              <p:nvPr/>
            </p:nvSpPr>
            <p:spPr bwMode="auto">
              <a:xfrm flipV="1">
                <a:off x="5389605" y="2742934"/>
                <a:ext cx="59728" cy="52879"/>
              </a:xfrm>
              <a:prstGeom prst="line">
                <a:avLst/>
              </a:prstGeom>
              <a:noFill/>
              <a:ln w="6350" cap="rnd">
                <a:solidFill>
                  <a:schemeClr val="tx1"/>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3" name="Oval 248">
                <a:extLst>
                  <a:ext uri="{FF2B5EF4-FFF2-40B4-BE49-F238E27FC236}">
                    <a16:creationId xmlns:a16="http://schemas.microsoft.com/office/drawing/2014/main" id="{0625607F-0A2D-46AD-7AD7-2A034D38ACCB}"/>
                  </a:ext>
                </a:extLst>
              </p:cNvPr>
              <p:cNvSpPr>
                <a:spLocks noChangeArrowheads="1"/>
              </p:cNvSpPr>
              <p:nvPr/>
            </p:nvSpPr>
            <p:spPr bwMode="auto">
              <a:xfrm>
                <a:off x="5424569" y="2917045"/>
                <a:ext cx="65555" cy="58038"/>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4" name="Line 249">
                <a:extLst>
                  <a:ext uri="{FF2B5EF4-FFF2-40B4-BE49-F238E27FC236}">
                    <a16:creationId xmlns:a16="http://schemas.microsoft.com/office/drawing/2014/main" id="{16147047-72D0-7FB1-5147-46C06321B062}"/>
                  </a:ext>
                </a:extLst>
              </p:cNvPr>
              <p:cNvSpPr>
                <a:spLocks noChangeShapeType="1"/>
              </p:cNvSpPr>
              <p:nvPr/>
            </p:nvSpPr>
            <p:spPr bwMode="auto">
              <a:xfrm>
                <a:off x="5383779" y="2883512"/>
                <a:ext cx="48073" cy="39981"/>
              </a:xfrm>
              <a:prstGeom prst="line">
                <a:avLst/>
              </a:prstGeom>
              <a:noFill/>
              <a:ln w="6350" cap="rnd">
                <a:solidFill>
                  <a:schemeClr val="tx1"/>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5" name="Oval 250">
                <a:extLst>
                  <a:ext uri="{FF2B5EF4-FFF2-40B4-BE49-F238E27FC236}">
                    <a16:creationId xmlns:a16="http://schemas.microsoft.com/office/drawing/2014/main" id="{1D634962-2CDE-8CF8-19FB-DADA75EF3B72}"/>
                  </a:ext>
                </a:extLst>
              </p:cNvPr>
              <p:cNvSpPr>
                <a:spLocks noChangeArrowheads="1"/>
              </p:cNvSpPr>
              <p:nvPr/>
            </p:nvSpPr>
            <p:spPr bwMode="auto">
              <a:xfrm>
                <a:off x="5172547" y="2932522"/>
                <a:ext cx="65555" cy="58038"/>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6" name="Line 251">
                <a:extLst>
                  <a:ext uri="{FF2B5EF4-FFF2-40B4-BE49-F238E27FC236}">
                    <a16:creationId xmlns:a16="http://schemas.microsoft.com/office/drawing/2014/main" id="{CFE8C026-7FD2-D629-2013-420C9D7D132B}"/>
                  </a:ext>
                </a:extLst>
              </p:cNvPr>
              <p:cNvSpPr>
                <a:spLocks noChangeShapeType="1"/>
              </p:cNvSpPr>
              <p:nvPr/>
            </p:nvSpPr>
            <p:spPr bwMode="auto">
              <a:xfrm flipH="1">
                <a:off x="5224991" y="2877065"/>
                <a:ext cx="71382" cy="61906"/>
              </a:xfrm>
              <a:prstGeom prst="line">
                <a:avLst/>
              </a:prstGeom>
              <a:noFill/>
              <a:ln w="6350" cap="rnd">
                <a:solidFill>
                  <a:schemeClr val="tx1"/>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7" name="Oval 252">
                <a:extLst>
                  <a:ext uri="{FF2B5EF4-FFF2-40B4-BE49-F238E27FC236}">
                    <a16:creationId xmlns:a16="http://schemas.microsoft.com/office/drawing/2014/main" id="{CAF9E8D7-938E-1F06-F9CF-28375FC1EFD7}"/>
                  </a:ext>
                </a:extLst>
              </p:cNvPr>
              <p:cNvSpPr>
                <a:spLocks noChangeArrowheads="1"/>
              </p:cNvSpPr>
              <p:nvPr/>
            </p:nvSpPr>
            <p:spPr bwMode="auto">
              <a:xfrm>
                <a:off x="5153478" y="2765324"/>
                <a:ext cx="64098" cy="58038"/>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88" name="Line 253">
                <a:extLst>
                  <a:ext uri="{FF2B5EF4-FFF2-40B4-BE49-F238E27FC236}">
                    <a16:creationId xmlns:a16="http://schemas.microsoft.com/office/drawing/2014/main" id="{92AF05DF-1809-540C-8DE8-AEBC68B3AAB2}"/>
                  </a:ext>
                </a:extLst>
              </p:cNvPr>
              <p:cNvSpPr>
                <a:spLocks noChangeShapeType="1"/>
              </p:cNvSpPr>
              <p:nvPr/>
            </p:nvSpPr>
            <p:spPr bwMode="auto">
              <a:xfrm flipH="1" flipV="1">
                <a:off x="5220907" y="2804122"/>
                <a:ext cx="64897" cy="12668"/>
              </a:xfrm>
              <a:prstGeom prst="line">
                <a:avLst/>
              </a:prstGeom>
              <a:noFill/>
              <a:ln w="6350" cap="rnd">
                <a:solidFill>
                  <a:schemeClr val="tx1"/>
                </a:solidFill>
                <a:prstDash val="sys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cxnSp>
            <p:nvCxnSpPr>
              <p:cNvPr id="89" name="Straight Connector 88">
                <a:extLst>
                  <a:ext uri="{FF2B5EF4-FFF2-40B4-BE49-F238E27FC236}">
                    <a16:creationId xmlns:a16="http://schemas.microsoft.com/office/drawing/2014/main" id="{3D7537AE-F0D6-D656-ED29-88A1C25D1F24}"/>
                  </a:ext>
                </a:extLst>
              </p:cNvPr>
              <p:cNvCxnSpPr/>
              <p:nvPr/>
            </p:nvCxnSpPr>
            <p:spPr>
              <a:xfrm flipV="1">
                <a:off x="5333173" y="2734855"/>
                <a:ext cx="0" cy="46755"/>
              </a:xfrm>
              <a:prstGeom prst="line">
                <a:avLst/>
              </a:prstGeom>
              <a:ln w="6350" cap="flat">
                <a:solidFill>
                  <a:schemeClr val="tx1"/>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90" name="Oval 246">
                <a:extLst>
                  <a:ext uri="{FF2B5EF4-FFF2-40B4-BE49-F238E27FC236}">
                    <a16:creationId xmlns:a16="http://schemas.microsoft.com/office/drawing/2014/main" id="{4109A503-F4F1-F6D0-8526-C5DA8179F600}"/>
                  </a:ext>
                </a:extLst>
              </p:cNvPr>
              <p:cNvSpPr>
                <a:spLocks noChangeArrowheads="1"/>
              </p:cNvSpPr>
              <p:nvPr/>
            </p:nvSpPr>
            <p:spPr bwMode="auto">
              <a:xfrm>
                <a:off x="5307043" y="2691287"/>
                <a:ext cx="49214" cy="43570"/>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cxnSp>
            <p:nvCxnSpPr>
              <p:cNvPr id="91" name="Straight Connector 90">
                <a:extLst>
                  <a:ext uri="{FF2B5EF4-FFF2-40B4-BE49-F238E27FC236}">
                    <a16:creationId xmlns:a16="http://schemas.microsoft.com/office/drawing/2014/main" id="{4CAA739B-6E45-6F8E-8E1D-BADF3CEEAC42}"/>
                  </a:ext>
                </a:extLst>
              </p:cNvPr>
              <p:cNvCxnSpPr>
                <a:stCxn id="80" idx="6"/>
              </p:cNvCxnSpPr>
              <p:nvPr/>
            </p:nvCxnSpPr>
            <p:spPr>
              <a:xfrm>
                <a:off x="5407091" y="2840955"/>
                <a:ext cx="83036" cy="0"/>
              </a:xfrm>
              <a:prstGeom prst="line">
                <a:avLst/>
              </a:prstGeom>
              <a:ln w="6350" cap="flat">
                <a:solidFill>
                  <a:schemeClr val="tx1"/>
                </a:solidFill>
                <a:prstDash val="sysDash"/>
                <a:miter lim="800000"/>
                <a:tailEnd type="none"/>
              </a:ln>
            </p:spPr>
            <p:style>
              <a:lnRef idx="1">
                <a:schemeClr val="accent1"/>
              </a:lnRef>
              <a:fillRef idx="0">
                <a:schemeClr val="accent1"/>
              </a:fillRef>
              <a:effectRef idx="0">
                <a:schemeClr val="accent1"/>
              </a:effectRef>
              <a:fontRef idx="minor">
                <a:schemeClr val="tx1"/>
              </a:fontRef>
            </p:style>
          </p:cxnSp>
          <p:sp>
            <p:nvSpPr>
              <p:cNvPr id="92" name="Oval 246">
                <a:extLst>
                  <a:ext uri="{FF2B5EF4-FFF2-40B4-BE49-F238E27FC236}">
                    <a16:creationId xmlns:a16="http://schemas.microsoft.com/office/drawing/2014/main" id="{6B0A211D-9CCB-BF71-4BBF-A55C6FFCC037}"/>
                  </a:ext>
                </a:extLst>
              </p:cNvPr>
              <p:cNvSpPr>
                <a:spLocks noChangeArrowheads="1"/>
              </p:cNvSpPr>
              <p:nvPr/>
            </p:nvSpPr>
            <p:spPr bwMode="auto">
              <a:xfrm>
                <a:off x="5491765" y="2817075"/>
                <a:ext cx="49214" cy="43570"/>
              </a:xfrm>
              <a:prstGeom prst="ellipse">
                <a:avLst/>
              </a:pr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sp>
        <p:nvSpPr>
          <p:cNvPr id="94" name="Subtitle 2">
            <a:extLst>
              <a:ext uri="{FF2B5EF4-FFF2-40B4-BE49-F238E27FC236}">
                <a16:creationId xmlns:a16="http://schemas.microsoft.com/office/drawing/2014/main" id="{75AFD025-22ED-8D22-A49E-8BA7F91FA1C8}"/>
              </a:ext>
            </a:extLst>
          </p:cNvPr>
          <p:cNvSpPr txBox="1">
            <a:spLocks/>
          </p:cNvSpPr>
          <p:nvPr/>
        </p:nvSpPr>
        <p:spPr>
          <a:xfrm>
            <a:off x="3453177" y="2750122"/>
            <a:ext cx="1238491" cy="700740"/>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Spend on supplier development</a:t>
            </a:r>
          </a:p>
        </p:txBody>
      </p:sp>
      <p:sp>
        <p:nvSpPr>
          <p:cNvPr id="96" name="Oval 95">
            <a:extLst>
              <a:ext uri="{FF2B5EF4-FFF2-40B4-BE49-F238E27FC236}">
                <a16:creationId xmlns:a16="http://schemas.microsoft.com/office/drawing/2014/main" id="{F614B8AE-461B-1EBE-755D-82C8DDA42C53}"/>
              </a:ext>
            </a:extLst>
          </p:cNvPr>
          <p:cNvSpPr/>
          <p:nvPr/>
        </p:nvSpPr>
        <p:spPr>
          <a:xfrm>
            <a:off x="3816390" y="2179865"/>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97" name="Group 96">
            <a:extLst>
              <a:ext uri="{FF2B5EF4-FFF2-40B4-BE49-F238E27FC236}">
                <a16:creationId xmlns:a16="http://schemas.microsoft.com/office/drawing/2014/main" id="{C3878225-C53D-8CDF-DFCD-5DD13130E183}"/>
              </a:ext>
            </a:extLst>
          </p:cNvPr>
          <p:cNvGrpSpPr/>
          <p:nvPr/>
        </p:nvGrpSpPr>
        <p:grpSpPr>
          <a:xfrm>
            <a:off x="3899885" y="2286494"/>
            <a:ext cx="345071" cy="285256"/>
            <a:chOff x="8325130" y="1985940"/>
            <a:chExt cx="415736" cy="285256"/>
          </a:xfrm>
        </p:grpSpPr>
        <p:sp>
          <p:nvSpPr>
            <p:cNvPr id="98" name="Line 591">
              <a:extLst>
                <a:ext uri="{FF2B5EF4-FFF2-40B4-BE49-F238E27FC236}">
                  <a16:creationId xmlns:a16="http://schemas.microsoft.com/office/drawing/2014/main" id="{2E89F6B8-6D94-8C94-F886-055989E95ED0}"/>
                </a:ext>
              </a:extLst>
            </p:cNvPr>
            <p:cNvSpPr>
              <a:spLocks noChangeShapeType="1"/>
            </p:cNvSpPr>
            <p:nvPr/>
          </p:nvSpPr>
          <p:spPr bwMode="auto">
            <a:xfrm flipH="1">
              <a:off x="8397119" y="2233402"/>
              <a:ext cx="343747"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99" name="Oval 592">
              <a:extLst>
                <a:ext uri="{FF2B5EF4-FFF2-40B4-BE49-F238E27FC236}">
                  <a16:creationId xmlns:a16="http://schemas.microsoft.com/office/drawing/2014/main" id="{5BFBE56E-C954-B394-D250-6E424BD6DB1C}"/>
                </a:ext>
              </a:extLst>
            </p:cNvPr>
            <p:cNvSpPr>
              <a:spLocks noChangeArrowheads="1"/>
            </p:cNvSpPr>
            <p:nvPr/>
          </p:nvSpPr>
          <p:spPr bwMode="auto">
            <a:xfrm>
              <a:off x="8366524" y="2012035"/>
              <a:ext cx="43193" cy="45892"/>
            </a:xfrm>
            <a:prstGeom prst="ellipse">
              <a:avLst/>
            </a:pr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0" name="Freeform 593">
              <a:extLst>
                <a:ext uri="{FF2B5EF4-FFF2-40B4-BE49-F238E27FC236}">
                  <a16:creationId xmlns:a16="http://schemas.microsoft.com/office/drawing/2014/main" id="{AC753E40-9C1A-3A44-8B44-3B71E2C3E251}"/>
                </a:ext>
              </a:extLst>
            </p:cNvPr>
            <p:cNvSpPr>
              <a:spLocks/>
            </p:cNvSpPr>
            <p:nvPr/>
          </p:nvSpPr>
          <p:spPr bwMode="auto">
            <a:xfrm>
              <a:off x="8424115" y="2012035"/>
              <a:ext cx="30596" cy="45892"/>
            </a:xfrm>
            <a:custGeom>
              <a:avLst/>
              <a:gdLst>
                <a:gd name="T0" fmla="*/ 0 w 13"/>
                <a:gd name="T1" fmla="*/ 18 h 19"/>
                <a:gd name="T2" fmla="*/ 4 w 13"/>
                <a:gd name="T3" fmla="*/ 19 h 19"/>
                <a:gd name="T4" fmla="*/ 13 w 13"/>
                <a:gd name="T5" fmla="*/ 10 h 19"/>
                <a:gd name="T6" fmla="*/ 4 w 13"/>
                <a:gd name="T7" fmla="*/ 0 h 19"/>
                <a:gd name="T8" fmla="*/ 0 w 13"/>
                <a:gd name="T9" fmla="*/ 1 h 19"/>
              </a:gdLst>
              <a:ahLst/>
              <a:cxnLst>
                <a:cxn ang="0">
                  <a:pos x="T0" y="T1"/>
                </a:cxn>
                <a:cxn ang="0">
                  <a:pos x="T2" y="T3"/>
                </a:cxn>
                <a:cxn ang="0">
                  <a:pos x="T4" y="T5"/>
                </a:cxn>
                <a:cxn ang="0">
                  <a:pos x="T6" y="T7"/>
                </a:cxn>
                <a:cxn ang="0">
                  <a:pos x="T8" y="T9"/>
                </a:cxn>
              </a:cxnLst>
              <a:rect l="0" t="0" r="r" b="b"/>
              <a:pathLst>
                <a:path w="13" h="19">
                  <a:moveTo>
                    <a:pt x="0" y="18"/>
                  </a:moveTo>
                  <a:cubicBezTo>
                    <a:pt x="1" y="18"/>
                    <a:pt x="3" y="19"/>
                    <a:pt x="4" y="19"/>
                  </a:cubicBezTo>
                  <a:cubicBezTo>
                    <a:pt x="9" y="19"/>
                    <a:pt x="13" y="14"/>
                    <a:pt x="13" y="10"/>
                  </a:cubicBezTo>
                  <a:cubicBezTo>
                    <a:pt x="13" y="5"/>
                    <a:pt x="9" y="0"/>
                    <a:pt x="4" y="0"/>
                  </a:cubicBezTo>
                  <a:cubicBezTo>
                    <a:pt x="3" y="0"/>
                    <a:pt x="1" y="1"/>
                    <a:pt x="0" y="1"/>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1" name="Line 594">
              <a:extLst>
                <a:ext uri="{FF2B5EF4-FFF2-40B4-BE49-F238E27FC236}">
                  <a16:creationId xmlns:a16="http://schemas.microsoft.com/office/drawing/2014/main" id="{309512F7-9344-BBB6-9122-03B8C01AA8FB}"/>
                </a:ext>
              </a:extLst>
            </p:cNvPr>
            <p:cNvSpPr>
              <a:spLocks noChangeShapeType="1"/>
            </p:cNvSpPr>
            <p:nvPr/>
          </p:nvSpPr>
          <p:spPr bwMode="auto">
            <a:xfrm>
              <a:off x="8363824" y="2148814"/>
              <a:ext cx="40494"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2" name="Line 595">
              <a:extLst>
                <a:ext uri="{FF2B5EF4-FFF2-40B4-BE49-F238E27FC236}">
                  <a16:creationId xmlns:a16="http://schemas.microsoft.com/office/drawing/2014/main" id="{17B40A55-35FD-BC7D-67EC-E047969EF256}"/>
                </a:ext>
              </a:extLst>
            </p:cNvPr>
            <p:cNvSpPr>
              <a:spLocks noChangeShapeType="1"/>
            </p:cNvSpPr>
            <p:nvPr/>
          </p:nvSpPr>
          <p:spPr bwMode="auto">
            <a:xfrm>
              <a:off x="8438513" y="2148814"/>
              <a:ext cx="40494"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3" name="Line 596">
              <a:extLst>
                <a:ext uri="{FF2B5EF4-FFF2-40B4-BE49-F238E27FC236}">
                  <a16:creationId xmlns:a16="http://schemas.microsoft.com/office/drawing/2014/main" id="{D28106B8-E061-6009-D851-6EAD63E57061}"/>
                </a:ext>
              </a:extLst>
            </p:cNvPr>
            <p:cNvSpPr>
              <a:spLocks noChangeShapeType="1"/>
            </p:cNvSpPr>
            <p:nvPr/>
          </p:nvSpPr>
          <p:spPr bwMode="auto">
            <a:xfrm>
              <a:off x="8512302" y="2148814"/>
              <a:ext cx="41394"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4" name="Line 597">
              <a:extLst>
                <a:ext uri="{FF2B5EF4-FFF2-40B4-BE49-F238E27FC236}">
                  <a16:creationId xmlns:a16="http://schemas.microsoft.com/office/drawing/2014/main" id="{5070790B-43A0-3568-45C6-933A133D4F98}"/>
                </a:ext>
              </a:extLst>
            </p:cNvPr>
            <p:cNvSpPr>
              <a:spLocks noChangeShapeType="1"/>
            </p:cNvSpPr>
            <p:nvPr/>
          </p:nvSpPr>
          <p:spPr bwMode="auto">
            <a:xfrm>
              <a:off x="8586989" y="2148814"/>
              <a:ext cx="40494"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5" name="Freeform 598">
              <a:extLst>
                <a:ext uri="{FF2B5EF4-FFF2-40B4-BE49-F238E27FC236}">
                  <a16:creationId xmlns:a16="http://schemas.microsoft.com/office/drawing/2014/main" id="{ED27838C-4030-D93C-A5E5-7E1FDE7B8D30}"/>
                </a:ext>
              </a:extLst>
            </p:cNvPr>
            <p:cNvSpPr>
              <a:spLocks/>
            </p:cNvSpPr>
            <p:nvPr/>
          </p:nvSpPr>
          <p:spPr bwMode="auto">
            <a:xfrm>
              <a:off x="8325130" y="1985940"/>
              <a:ext cx="341048" cy="213267"/>
            </a:xfrm>
            <a:custGeom>
              <a:avLst/>
              <a:gdLst>
                <a:gd name="T0" fmla="*/ 118 w 142"/>
                <a:gd name="T1" fmla="*/ 89 h 89"/>
                <a:gd name="T2" fmla="*/ 24 w 142"/>
                <a:gd name="T3" fmla="*/ 89 h 89"/>
                <a:gd name="T4" fmla="*/ 0 w 142"/>
                <a:gd name="T5" fmla="*/ 65 h 89"/>
                <a:gd name="T6" fmla="*/ 0 w 142"/>
                <a:gd name="T7" fmla="*/ 24 h 89"/>
                <a:gd name="T8" fmla="*/ 24 w 142"/>
                <a:gd name="T9" fmla="*/ 0 h 89"/>
                <a:gd name="T10" fmla="*/ 118 w 142"/>
                <a:gd name="T11" fmla="*/ 0 h 89"/>
                <a:gd name="T12" fmla="*/ 142 w 142"/>
                <a:gd name="T13" fmla="*/ 24 h 89"/>
                <a:gd name="T14" fmla="*/ 142 w 142"/>
                <a:gd name="T15" fmla="*/ 65 h 89"/>
                <a:gd name="T16" fmla="*/ 118 w 142"/>
                <a:gd name="T17"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89">
                  <a:moveTo>
                    <a:pt x="118" y="89"/>
                  </a:moveTo>
                  <a:cubicBezTo>
                    <a:pt x="24" y="89"/>
                    <a:pt x="24" y="89"/>
                    <a:pt x="24" y="89"/>
                  </a:cubicBezTo>
                  <a:cubicBezTo>
                    <a:pt x="11" y="89"/>
                    <a:pt x="0" y="78"/>
                    <a:pt x="0" y="65"/>
                  </a:cubicBezTo>
                  <a:cubicBezTo>
                    <a:pt x="0" y="24"/>
                    <a:pt x="0" y="24"/>
                    <a:pt x="0" y="24"/>
                  </a:cubicBezTo>
                  <a:cubicBezTo>
                    <a:pt x="0" y="11"/>
                    <a:pt x="11" y="0"/>
                    <a:pt x="24" y="0"/>
                  </a:cubicBezTo>
                  <a:cubicBezTo>
                    <a:pt x="118" y="0"/>
                    <a:pt x="118" y="0"/>
                    <a:pt x="118" y="0"/>
                  </a:cubicBezTo>
                  <a:cubicBezTo>
                    <a:pt x="131" y="0"/>
                    <a:pt x="142" y="11"/>
                    <a:pt x="142" y="24"/>
                  </a:cubicBezTo>
                  <a:cubicBezTo>
                    <a:pt x="142" y="65"/>
                    <a:pt x="142" y="65"/>
                    <a:pt x="142" y="65"/>
                  </a:cubicBezTo>
                  <a:cubicBezTo>
                    <a:pt x="142" y="78"/>
                    <a:pt x="131" y="89"/>
                    <a:pt x="118" y="89"/>
                  </a:cubicBez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6" name="Freeform 599">
              <a:extLst>
                <a:ext uri="{FF2B5EF4-FFF2-40B4-BE49-F238E27FC236}">
                  <a16:creationId xmlns:a16="http://schemas.microsoft.com/office/drawing/2014/main" id="{E4EBD6AD-2B8B-7A70-1629-FE3599775B5C}"/>
                </a:ext>
              </a:extLst>
            </p:cNvPr>
            <p:cNvSpPr>
              <a:spLocks/>
            </p:cNvSpPr>
            <p:nvPr/>
          </p:nvSpPr>
          <p:spPr bwMode="auto">
            <a:xfrm>
              <a:off x="8397119" y="2057929"/>
              <a:ext cx="343747" cy="213267"/>
            </a:xfrm>
            <a:custGeom>
              <a:avLst/>
              <a:gdLst>
                <a:gd name="T0" fmla="*/ 112 w 143"/>
                <a:gd name="T1" fmla="*/ 0 h 89"/>
                <a:gd name="T2" fmla="*/ 133 w 143"/>
                <a:gd name="T3" fmla="*/ 0 h 89"/>
                <a:gd name="T4" fmla="*/ 143 w 143"/>
                <a:gd name="T5" fmla="*/ 10 h 89"/>
                <a:gd name="T6" fmla="*/ 143 w 143"/>
                <a:gd name="T7" fmla="*/ 80 h 89"/>
                <a:gd name="T8" fmla="*/ 133 w 143"/>
                <a:gd name="T9" fmla="*/ 89 h 89"/>
                <a:gd name="T10" fmla="*/ 10 w 143"/>
                <a:gd name="T11" fmla="*/ 89 h 89"/>
                <a:gd name="T12" fmla="*/ 0 w 143"/>
                <a:gd name="T13" fmla="*/ 80 h 89"/>
                <a:gd name="T14" fmla="*/ 0 w 143"/>
                <a:gd name="T15" fmla="*/ 5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3" h="89">
                  <a:moveTo>
                    <a:pt x="112" y="0"/>
                  </a:moveTo>
                  <a:cubicBezTo>
                    <a:pt x="133" y="0"/>
                    <a:pt x="133" y="0"/>
                    <a:pt x="133" y="0"/>
                  </a:cubicBezTo>
                  <a:cubicBezTo>
                    <a:pt x="139" y="0"/>
                    <a:pt x="143" y="5"/>
                    <a:pt x="143" y="10"/>
                  </a:cubicBezTo>
                  <a:cubicBezTo>
                    <a:pt x="143" y="80"/>
                    <a:pt x="143" y="80"/>
                    <a:pt x="143" y="80"/>
                  </a:cubicBezTo>
                  <a:cubicBezTo>
                    <a:pt x="143" y="85"/>
                    <a:pt x="139" y="89"/>
                    <a:pt x="133" y="89"/>
                  </a:cubicBezTo>
                  <a:cubicBezTo>
                    <a:pt x="10" y="89"/>
                    <a:pt x="10" y="89"/>
                    <a:pt x="10" y="89"/>
                  </a:cubicBezTo>
                  <a:cubicBezTo>
                    <a:pt x="4" y="89"/>
                    <a:pt x="0" y="85"/>
                    <a:pt x="0" y="80"/>
                  </a:cubicBezTo>
                  <a:cubicBezTo>
                    <a:pt x="0" y="59"/>
                    <a:pt x="0" y="59"/>
                    <a:pt x="0" y="59"/>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07" name="Line 600">
              <a:extLst>
                <a:ext uri="{FF2B5EF4-FFF2-40B4-BE49-F238E27FC236}">
                  <a16:creationId xmlns:a16="http://schemas.microsoft.com/office/drawing/2014/main" id="{9BD1C26B-91FF-6DD4-3C82-BD960208FCBC}"/>
                </a:ext>
              </a:extLst>
            </p:cNvPr>
            <p:cNvSpPr>
              <a:spLocks noChangeShapeType="1"/>
            </p:cNvSpPr>
            <p:nvPr/>
          </p:nvSpPr>
          <p:spPr bwMode="auto">
            <a:xfrm>
              <a:off x="8568092" y="2021934"/>
              <a:ext cx="59391"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sp>
        <p:nvSpPr>
          <p:cNvPr id="109" name="Subtitle 2">
            <a:extLst>
              <a:ext uri="{FF2B5EF4-FFF2-40B4-BE49-F238E27FC236}">
                <a16:creationId xmlns:a16="http://schemas.microsoft.com/office/drawing/2014/main" id="{703E3E81-016D-E43C-72A7-BDF1D96C09E1}"/>
              </a:ext>
            </a:extLst>
          </p:cNvPr>
          <p:cNvSpPr txBox="1">
            <a:spLocks/>
          </p:cNvSpPr>
          <p:nvPr/>
        </p:nvSpPr>
        <p:spPr>
          <a:xfrm>
            <a:off x="6381065" y="2750122"/>
            <a:ext cx="834708" cy="705205"/>
          </a:xfrm>
          <a:prstGeom prst="rect">
            <a:avLst/>
          </a:prstGeom>
          <a:noFill/>
          <a:ln w="9525" cap="flat" cmpd="sng" algn="ctr">
            <a:noFill/>
            <a:prstDash val="solid"/>
          </a:ln>
          <a:effectLst/>
        </p:spPr>
        <p:txBody>
          <a:bodyPr wrap="square" lIns="0" tIns="0" rIns="0" bIns="0" rtlCol="0" anchor="t" anchorCtr="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914400" hangingPunct="1">
              <a:defRPr sz="1000" spc="-20">
                <a:solidFill>
                  <a:schemeClr val="tx1"/>
                </a:solidFill>
                <a:latin typeface="DIN Next LT Arabic"/>
                <a:cs typeface="DIN Next LT Arabic"/>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 normalizeH="0" baseline="0" noProof="0">
                <a:ln>
                  <a:noFill/>
                </a:ln>
                <a:solidFill>
                  <a:srgbClr val="000000"/>
                </a:solidFill>
                <a:effectLst/>
                <a:uLnTx/>
                <a:uFillTx/>
                <a:latin typeface="Fund Light"/>
                <a:ea typeface="+mn-ea"/>
                <a:cs typeface="DIN Next LT Arabic Light" panose="020B0303020203050203" pitchFamily="34" charset="-78"/>
                <a:sym typeface="DIN Next LT Arabic"/>
              </a:rPr>
              <a:t>Spend on training of employees</a:t>
            </a:r>
            <a:endParaRPr kumimoji="0" lang="en-US" sz="900" b="1" i="0" u="none" strike="noStrike" kern="0" cap="none" spc="-20" normalizeH="0" baseline="30000" noProof="0">
              <a:ln>
                <a:noFill/>
              </a:ln>
              <a:solidFill>
                <a:srgbClr val="000000"/>
              </a:solidFill>
              <a:effectLst/>
              <a:uLnTx/>
              <a:uFillTx/>
              <a:latin typeface="Fund Light"/>
              <a:ea typeface="+mn-ea"/>
              <a:cs typeface="DIN Next LT Arabic Light" panose="020B0303020203050203" pitchFamily="34" charset="-78"/>
              <a:sym typeface="DIN Next LT Arabic"/>
            </a:endParaRPr>
          </a:p>
        </p:txBody>
      </p:sp>
      <p:grpSp>
        <p:nvGrpSpPr>
          <p:cNvPr id="110" name="Group 109">
            <a:extLst>
              <a:ext uri="{FF2B5EF4-FFF2-40B4-BE49-F238E27FC236}">
                <a16:creationId xmlns:a16="http://schemas.microsoft.com/office/drawing/2014/main" id="{42316AE8-1454-9D65-32B8-C6FCC265FB3A}"/>
              </a:ext>
            </a:extLst>
          </p:cNvPr>
          <p:cNvGrpSpPr/>
          <p:nvPr/>
        </p:nvGrpSpPr>
        <p:grpSpPr>
          <a:xfrm>
            <a:off x="6542387" y="2145031"/>
            <a:ext cx="512064" cy="512064"/>
            <a:chOff x="6471740" y="2571751"/>
            <a:chExt cx="512064" cy="512064"/>
          </a:xfrm>
        </p:grpSpPr>
        <p:sp>
          <p:nvSpPr>
            <p:cNvPr id="111" name="Oval 110">
              <a:extLst>
                <a:ext uri="{FF2B5EF4-FFF2-40B4-BE49-F238E27FC236}">
                  <a16:creationId xmlns:a16="http://schemas.microsoft.com/office/drawing/2014/main" id="{4D478725-72CC-FE87-48C2-EF123AEAA71A}"/>
                </a:ext>
              </a:extLst>
            </p:cNvPr>
            <p:cNvSpPr/>
            <p:nvPr/>
          </p:nvSpPr>
          <p:spPr>
            <a:xfrm>
              <a:off x="6471740" y="2571751"/>
              <a:ext cx="512064" cy="512064"/>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Fund Light"/>
                <a:ea typeface="+mn-ea"/>
                <a:cs typeface="+mn-cs"/>
              </a:endParaRPr>
            </a:p>
          </p:txBody>
        </p:sp>
        <p:grpSp>
          <p:nvGrpSpPr>
            <p:cNvPr id="112" name="Group 111">
              <a:extLst>
                <a:ext uri="{FF2B5EF4-FFF2-40B4-BE49-F238E27FC236}">
                  <a16:creationId xmlns:a16="http://schemas.microsoft.com/office/drawing/2014/main" id="{15EF715C-4A0A-2DDA-AC8C-87BFDF7D568F}"/>
                </a:ext>
              </a:extLst>
            </p:cNvPr>
            <p:cNvGrpSpPr/>
            <p:nvPr/>
          </p:nvGrpSpPr>
          <p:grpSpPr>
            <a:xfrm>
              <a:off x="6579551" y="2664345"/>
              <a:ext cx="296443" cy="326876"/>
              <a:chOff x="8339262" y="3742943"/>
              <a:chExt cx="451151" cy="561901"/>
            </a:xfrm>
          </p:grpSpPr>
          <p:grpSp>
            <p:nvGrpSpPr>
              <p:cNvPr id="113" name="Group 112">
                <a:extLst>
                  <a:ext uri="{FF2B5EF4-FFF2-40B4-BE49-F238E27FC236}">
                    <a16:creationId xmlns:a16="http://schemas.microsoft.com/office/drawing/2014/main" id="{FFEB561F-FF2B-4267-B1F4-CAEB0EC6F441}"/>
                  </a:ext>
                </a:extLst>
              </p:cNvPr>
              <p:cNvGrpSpPr/>
              <p:nvPr/>
            </p:nvGrpSpPr>
            <p:grpSpPr>
              <a:xfrm>
                <a:off x="8444587" y="3893146"/>
                <a:ext cx="345826" cy="411698"/>
                <a:chOff x="1080279" y="1237431"/>
                <a:chExt cx="329066" cy="391745"/>
              </a:xfrm>
            </p:grpSpPr>
            <p:sp>
              <p:nvSpPr>
                <p:cNvPr id="118" name="Freeform 271">
                  <a:extLst>
                    <a:ext uri="{FF2B5EF4-FFF2-40B4-BE49-F238E27FC236}">
                      <a16:creationId xmlns:a16="http://schemas.microsoft.com/office/drawing/2014/main" id="{BC9DAB3E-F9CC-CF06-79BF-EC37820A1DE7}"/>
                    </a:ext>
                  </a:extLst>
                </p:cNvPr>
                <p:cNvSpPr>
                  <a:spLocks/>
                </p:cNvSpPr>
                <p:nvPr/>
              </p:nvSpPr>
              <p:spPr bwMode="auto">
                <a:xfrm>
                  <a:off x="1220386" y="1431921"/>
                  <a:ext cx="69132" cy="106002"/>
                </a:xfrm>
                <a:custGeom>
                  <a:avLst/>
                  <a:gdLst>
                    <a:gd name="T0" fmla="*/ 23 w 28"/>
                    <a:gd name="T1" fmla="*/ 9 h 43"/>
                    <a:gd name="T2" fmla="*/ 12 w 28"/>
                    <a:gd name="T3" fmla="*/ 0 h 43"/>
                    <a:gd name="T4" fmla="*/ 1 w 28"/>
                    <a:gd name="T5" fmla="*/ 11 h 43"/>
                    <a:gd name="T6" fmla="*/ 12 w 28"/>
                    <a:gd name="T7" fmla="*/ 21 h 43"/>
                    <a:gd name="T8" fmla="*/ 24 w 28"/>
                    <a:gd name="T9" fmla="*/ 36 h 43"/>
                    <a:gd name="T10" fmla="*/ 12 w 28"/>
                    <a:gd name="T11" fmla="*/ 43 h 43"/>
                    <a:gd name="T12" fmla="*/ 0 w 28"/>
                    <a:gd name="T13" fmla="*/ 33 h 43"/>
                  </a:gdLst>
                  <a:ahLst/>
                  <a:cxnLst>
                    <a:cxn ang="0">
                      <a:pos x="T0" y="T1"/>
                    </a:cxn>
                    <a:cxn ang="0">
                      <a:pos x="T2" y="T3"/>
                    </a:cxn>
                    <a:cxn ang="0">
                      <a:pos x="T4" y="T5"/>
                    </a:cxn>
                    <a:cxn ang="0">
                      <a:pos x="T6" y="T7"/>
                    </a:cxn>
                    <a:cxn ang="0">
                      <a:pos x="T8" y="T9"/>
                    </a:cxn>
                    <a:cxn ang="0">
                      <a:pos x="T10" y="T11"/>
                    </a:cxn>
                    <a:cxn ang="0">
                      <a:pos x="T12" y="T13"/>
                    </a:cxn>
                  </a:cxnLst>
                  <a:rect l="0" t="0" r="r" b="b"/>
                  <a:pathLst>
                    <a:path w="28" h="43">
                      <a:moveTo>
                        <a:pt x="23" y="9"/>
                      </a:moveTo>
                      <a:cubicBezTo>
                        <a:pt x="23" y="9"/>
                        <a:pt x="22" y="0"/>
                        <a:pt x="12" y="0"/>
                      </a:cubicBezTo>
                      <a:cubicBezTo>
                        <a:pt x="3" y="0"/>
                        <a:pt x="1" y="7"/>
                        <a:pt x="1" y="11"/>
                      </a:cubicBezTo>
                      <a:cubicBezTo>
                        <a:pt x="1" y="15"/>
                        <a:pt x="4" y="21"/>
                        <a:pt x="12" y="21"/>
                      </a:cubicBezTo>
                      <a:cubicBezTo>
                        <a:pt x="19" y="22"/>
                        <a:pt x="28" y="26"/>
                        <a:pt x="24" y="36"/>
                      </a:cubicBezTo>
                      <a:cubicBezTo>
                        <a:pt x="21" y="40"/>
                        <a:pt x="20" y="43"/>
                        <a:pt x="12" y="43"/>
                      </a:cubicBezTo>
                      <a:cubicBezTo>
                        <a:pt x="7" y="43"/>
                        <a:pt x="2" y="41"/>
                        <a:pt x="0" y="33"/>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19" name="Line 272">
                  <a:extLst>
                    <a:ext uri="{FF2B5EF4-FFF2-40B4-BE49-F238E27FC236}">
                      <a16:creationId xmlns:a16="http://schemas.microsoft.com/office/drawing/2014/main" id="{9488326A-492C-73B7-7F84-9A2883D28BDE}"/>
                    </a:ext>
                  </a:extLst>
                </p:cNvPr>
                <p:cNvSpPr>
                  <a:spLocks noChangeShapeType="1"/>
                </p:cNvSpPr>
                <p:nvPr/>
              </p:nvSpPr>
              <p:spPr bwMode="auto">
                <a:xfrm>
                  <a:off x="1249882" y="1417173"/>
                  <a:ext cx="0" cy="142872"/>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20" name="Freeform 273">
                  <a:extLst>
                    <a:ext uri="{FF2B5EF4-FFF2-40B4-BE49-F238E27FC236}">
                      <a16:creationId xmlns:a16="http://schemas.microsoft.com/office/drawing/2014/main" id="{86A65B29-8374-082D-A06B-DB3D9E658DAC}"/>
                    </a:ext>
                  </a:extLst>
                </p:cNvPr>
                <p:cNvSpPr>
                  <a:spLocks/>
                </p:cNvSpPr>
                <p:nvPr/>
              </p:nvSpPr>
              <p:spPr bwMode="auto">
                <a:xfrm>
                  <a:off x="1080279" y="1360946"/>
                  <a:ext cx="329066" cy="268230"/>
                </a:xfrm>
                <a:custGeom>
                  <a:avLst/>
                  <a:gdLst>
                    <a:gd name="T0" fmla="*/ 51 w 134"/>
                    <a:gd name="T1" fmla="*/ 1 h 109"/>
                    <a:gd name="T2" fmla="*/ 31 w 134"/>
                    <a:gd name="T3" fmla="*/ 92 h 109"/>
                    <a:gd name="T4" fmla="*/ 103 w 134"/>
                    <a:gd name="T5" fmla="*/ 92 h 109"/>
                    <a:gd name="T6" fmla="*/ 82 w 134"/>
                    <a:gd name="T7" fmla="*/ 0 h 109"/>
                  </a:gdLst>
                  <a:ahLst/>
                  <a:cxnLst>
                    <a:cxn ang="0">
                      <a:pos x="T0" y="T1"/>
                    </a:cxn>
                    <a:cxn ang="0">
                      <a:pos x="T2" y="T3"/>
                    </a:cxn>
                    <a:cxn ang="0">
                      <a:pos x="T4" y="T5"/>
                    </a:cxn>
                    <a:cxn ang="0">
                      <a:pos x="T6" y="T7"/>
                    </a:cxn>
                  </a:cxnLst>
                  <a:rect l="0" t="0" r="r" b="b"/>
                  <a:pathLst>
                    <a:path w="134" h="109">
                      <a:moveTo>
                        <a:pt x="51" y="1"/>
                      </a:moveTo>
                      <a:cubicBezTo>
                        <a:pt x="51" y="1"/>
                        <a:pt x="0" y="37"/>
                        <a:pt x="31" y="92"/>
                      </a:cubicBezTo>
                      <a:cubicBezTo>
                        <a:pt x="31" y="92"/>
                        <a:pt x="57" y="109"/>
                        <a:pt x="103" y="92"/>
                      </a:cubicBezTo>
                      <a:cubicBezTo>
                        <a:pt x="103" y="92"/>
                        <a:pt x="134" y="41"/>
                        <a:pt x="82" y="0"/>
                      </a:cubicBezTo>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21" name="Freeform 274">
                  <a:extLst>
                    <a:ext uri="{FF2B5EF4-FFF2-40B4-BE49-F238E27FC236}">
                      <a16:creationId xmlns:a16="http://schemas.microsoft.com/office/drawing/2014/main" id="{17D9A2C3-5A4B-8E08-3EE9-05217B4CA9F6}"/>
                    </a:ext>
                  </a:extLst>
                </p:cNvPr>
                <p:cNvSpPr>
                  <a:spLocks/>
                </p:cNvSpPr>
                <p:nvPr/>
              </p:nvSpPr>
              <p:spPr bwMode="auto">
                <a:xfrm>
                  <a:off x="1193655" y="1323154"/>
                  <a:ext cx="100471" cy="39636"/>
                </a:xfrm>
                <a:custGeom>
                  <a:avLst/>
                  <a:gdLst>
                    <a:gd name="T0" fmla="*/ 33 w 41"/>
                    <a:gd name="T1" fmla="*/ 16 h 16"/>
                    <a:gd name="T2" fmla="*/ 8 w 41"/>
                    <a:gd name="T3" fmla="*/ 16 h 16"/>
                    <a:gd name="T4" fmla="*/ 0 w 41"/>
                    <a:gd name="T5" fmla="*/ 8 h 16"/>
                    <a:gd name="T6" fmla="*/ 0 w 41"/>
                    <a:gd name="T7" fmla="*/ 8 h 16"/>
                    <a:gd name="T8" fmla="*/ 8 w 41"/>
                    <a:gd name="T9" fmla="*/ 0 h 16"/>
                    <a:gd name="T10" fmla="*/ 33 w 41"/>
                    <a:gd name="T11" fmla="*/ 0 h 16"/>
                    <a:gd name="T12" fmla="*/ 41 w 41"/>
                    <a:gd name="T13" fmla="*/ 8 h 16"/>
                    <a:gd name="T14" fmla="*/ 41 w 41"/>
                    <a:gd name="T15" fmla="*/ 8 h 16"/>
                    <a:gd name="T16" fmla="*/ 33 w 41"/>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16">
                      <a:moveTo>
                        <a:pt x="33" y="16"/>
                      </a:moveTo>
                      <a:cubicBezTo>
                        <a:pt x="8" y="16"/>
                        <a:pt x="8" y="16"/>
                        <a:pt x="8" y="16"/>
                      </a:cubicBezTo>
                      <a:cubicBezTo>
                        <a:pt x="3" y="16"/>
                        <a:pt x="0" y="12"/>
                        <a:pt x="0" y="8"/>
                      </a:cubicBezTo>
                      <a:cubicBezTo>
                        <a:pt x="0" y="8"/>
                        <a:pt x="0" y="8"/>
                        <a:pt x="0" y="8"/>
                      </a:cubicBezTo>
                      <a:cubicBezTo>
                        <a:pt x="0" y="4"/>
                        <a:pt x="3" y="0"/>
                        <a:pt x="8" y="0"/>
                      </a:cubicBezTo>
                      <a:cubicBezTo>
                        <a:pt x="33" y="0"/>
                        <a:pt x="33" y="0"/>
                        <a:pt x="33" y="0"/>
                      </a:cubicBezTo>
                      <a:cubicBezTo>
                        <a:pt x="38" y="0"/>
                        <a:pt x="41" y="4"/>
                        <a:pt x="41" y="8"/>
                      </a:cubicBezTo>
                      <a:cubicBezTo>
                        <a:pt x="41" y="8"/>
                        <a:pt x="41" y="8"/>
                        <a:pt x="41" y="8"/>
                      </a:cubicBezTo>
                      <a:cubicBezTo>
                        <a:pt x="41" y="12"/>
                        <a:pt x="38" y="16"/>
                        <a:pt x="33" y="16"/>
                      </a:cubicBez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22" name="Freeform 275">
                  <a:extLst>
                    <a:ext uri="{FF2B5EF4-FFF2-40B4-BE49-F238E27FC236}">
                      <a16:creationId xmlns:a16="http://schemas.microsoft.com/office/drawing/2014/main" id="{0A40926A-C5F3-E567-BEA6-788E0D431191}"/>
                    </a:ext>
                  </a:extLst>
                </p:cNvPr>
                <p:cNvSpPr>
                  <a:spLocks/>
                </p:cNvSpPr>
                <p:nvPr/>
              </p:nvSpPr>
              <p:spPr bwMode="auto">
                <a:xfrm>
                  <a:off x="1188124" y="1237431"/>
                  <a:ext cx="110610" cy="85723"/>
                </a:xfrm>
                <a:custGeom>
                  <a:avLst/>
                  <a:gdLst>
                    <a:gd name="T0" fmla="*/ 14 w 45"/>
                    <a:gd name="T1" fmla="*/ 35 h 35"/>
                    <a:gd name="T2" fmla="*/ 0 w 45"/>
                    <a:gd name="T3" fmla="*/ 11 h 35"/>
                    <a:gd name="T4" fmla="*/ 45 w 45"/>
                    <a:gd name="T5" fmla="*/ 12 h 35"/>
                    <a:gd name="T6" fmla="*/ 33 w 45"/>
                    <a:gd name="T7" fmla="*/ 35 h 35"/>
                    <a:gd name="T8" fmla="*/ 14 w 45"/>
                    <a:gd name="T9" fmla="*/ 35 h 35"/>
                  </a:gdLst>
                  <a:ahLst/>
                  <a:cxnLst>
                    <a:cxn ang="0">
                      <a:pos x="T0" y="T1"/>
                    </a:cxn>
                    <a:cxn ang="0">
                      <a:pos x="T2" y="T3"/>
                    </a:cxn>
                    <a:cxn ang="0">
                      <a:pos x="T4" y="T5"/>
                    </a:cxn>
                    <a:cxn ang="0">
                      <a:pos x="T6" y="T7"/>
                    </a:cxn>
                    <a:cxn ang="0">
                      <a:pos x="T8" y="T9"/>
                    </a:cxn>
                  </a:cxnLst>
                  <a:rect l="0" t="0" r="r" b="b"/>
                  <a:pathLst>
                    <a:path w="45" h="35">
                      <a:moveTo>
                        <a:pt x="14" y="35"/>
                      </a:moveTo>
                      <a:cubicBezTo>
                        <a:pt x="0" y="11"/>
                        <a:pt x="0" y="11"/>
                        <a:pt x="0" y="11"/>
                      </a:cubicBezTo>
                      <a:cubicBezTo>
                        <a:pt x="0" y="11"/>
                        <a:pt x="29" y="0"/>
                        <a:pt x="45" y="12"/>
                      </a:cubicBezTo>
                      <a:cubicBezTo>
                        <a:pt x="33" y="35"/>
                        <a:pt x="33" y="35"/>
                        <a:pt x="33" y="35"/>
                      </a:cubicBezTo>
                      <a:lnTo>
                        <a:pt x="14" y="35"/>
                      </a:lnTo>
                      <a:close/>
                    </a:path>
                  </a:pathLst>
                </a:custGeom>
                <a:noFill/>
                <a:ln w="6350" cap="rnd">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nvGrpSpPr>
              <p:cNvPr id="114" name="Group 113">
                <a:extLst>
                  <a:ext uri="{FF2B5EF4-FFF2-40B4-BE49-F238E27FC236}">
                    <a16:creationId xmlns:a16="http://schemas.microsoft.com/office/drawing/2014/main" id="{9ABB0FB1-B578-7176-BAA0-DBAA0C3CAAF6}"/>
                  </a:ext>
                </a:extLst>
              </p:cNvPr>
              <p:cNvGrpSpPr/>
              <p:nvPr/>
            </p:nvGrpSpPr>
            <p:grpSpPr>
              <a:xfrm>
                <a:off x="8339262" y="3742943"/>
                <a:ext cx="158751" cy="474652"/>
                <a:chOff x="4207331" y="5651400"/>
                <a:chExt cx="158751" cy="474652"/>
              </a:xfrm>
            </p:grpSpPr>
            <p:sp>
              <p:nvSpPr>
                <p:cNvPr id="115" name="Line 634">
                  <a:extLst>
                    <a:ext uri="{FF2B5EF4-FFF2-40B4-BE49-F238E27FC236}">
                      <a16:creationId xmlns:a16="http://schemas.microsoft.com/office/drawing/2014/main" id="{E46A3598-20B4-D629-6D23-95E9B1969873}"/>
                    </a:ext>
                  </a:extLst>
                </p:cNvPr>
                <p:cNvSpPr>
                  <a:spLocks noChangeShapeType="1"/>
                </p:cNvSpPr>
                <p:nvPr/>
              </p:nvSpPr>
              <p:spPr bwMode="auto">
                <a:xfrm>
                  <a:off x="4242366" y="5686425"/>
                  <a:ext cx="0" cy="0"/>
                </a:xfrm>
                <a:prstGeom prst="line">
                  <a:avLst/>
                </a:prstGeom>
                <a:noFill/>
                <a:ln w="6350"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16" name="Freeform 636">
                  <a:extLst>
                    <a:ext uri="{FF2B5EF4-FFF2-40B4-BE49-F238E27FC236}">
                      <a16:creationId xmlns:a16="http://schemas.microsoft.com/office/drawing/2014/main" id="{0146B6BE-90AB-D62F-2931-61E74B61EA00}"/>
                    </a:ext>
                  </a:extLst>
                </p:cNvPr>
                <p:cNvSpPr>
                  <a:spLocks/>
                </p:cNvSpPr>
                <p:nvPr/>
              </p:nvSpPr>
              <p:spPr bwMode="auto">
                <a:xfrm>
                  <a:off x="4207331" y="5784738"/>
                  <a:ext cx="158751" cy="341314"/>
                </a:xfrm>
                <a:custGeom>
                  <a:avLst/>
                  <a:gdLst>
                    <a:gd name="T0" fmla="*/ 52 w 63"/>
                    <a:gd name="T1" fmla="*/ 0 h 136"/>
                    <a:gd name="T2" fmla="*/ 52 w 63"/>
                    <a:gd name="T3" fmla="*/ 0 h 136"/>
                    <a:gd name="T4" fmla="*/ 52 w 63"/>
                    <a:gd name="T5" fmla="*/ 0 h 136"/>
                    <a:gd name="T6" fmla="*/ 39 w 63"/>
                    <a:gd name="T7" fmla="*/ 0 h 136"/>
                    <a:gd name="T8" fmla="*/ 32 w 63"/>
                    <a:gd name="T9" fmla="*/ 14 h 136"/>
                    <a:gd name="T10" fmla="*/ 23 w 63"/>
                    <a:gd name="T11" fmla="*/ 0 h 136"/>
                    <a:gd name="T12" fmla="*/ 11 w 63"/>
                    <a:gd name="T13" fmla="*/ 0 h 136"/>
                    <a:gd name="T14" fmla="*/ 11 w 63"/>
                    <a:gd name="T15" fmla="*/ 0 h 136"/>
                    <a:gd name="T16" fmla="*/ 0 w 63"/>
                    <a:gd name="T17" fmla="*/ 11 h 136"/>
                    <a:gd name="T18" fmla="*/ 0 w 63"/>
                    <a:gd name="T19" fmla="*/ 62 h 136"/>
                    <a:gd name="T20" fmla="*/ 11 w 63"/>
                    <a:gd name="T21" fmla="*/ 72 h 136"/>
                    <a:gd name="T22" fmla="*/ 11 w 63"/>
                    <a:gd name="T23" fmla="*/ 79 h 136"/>
                    <a:gd name="T24" fmla="*/ 11 w 63"/>
                    <a:gd name="T25" fmla="*/ 90 h 136"/>
                    <a:gd name="T26" fmla="*/ 11 w 63"/>
                    <a:gd name="T27" fmla="*/ 125 h 136"/>
                    <a:gd name="T28" fmla="*/ 22 w 63"/>
                    <a:gd name="T29" fmla="*/ 136 h 136"/>
                    <a:gd name="T30" fmla="*/ 32 w 63"/>
                    <a:gd name="T31" fmla="*/ 130 h 136"/>
                    <a:gd name="T32" fmla="*/ 41 w 63"/>
                    <a:gd name="T33" fmla="*/ 136 h 136"/>
                    <a:gd name="T34" fmla="*/ 52 w 63"/>
                    <a:gd name="T35" fmla="*/ 125 h 136"/>
                    <a:gd name="T36" fmla="*/ 52 w 63"/>
                    <a:gd name="T37" fmla="*/ 90 h 136"/>
                    <a:gd name="T38" fmla="*/ 52 w 63"/>
                    <a:gd name="T39" fmla="*/ 79 h 136"/>
                    <a:gd name="T40" fmla="*/ 52 w 63"/>
                    <a:gd name="T41" fmla="*/ 72 h 136"/>
                    <a:gd name="T42" fmla="*/ 52 w 63"/>
                    <a:gd name="T43" fmla="*/ 72 h 136"/>
                    <a:gd name="T44" fmla="*/ 63 w 63"/>
                    <a:gd name="T45" fmla="*/ 62 h 136"/>
                    <a:gd name="T46" fmla="*/ 63 w 63"/>
                    <a:gd name="T47" fmla="*/ 11 h 136"/>
                    <a:gd name="T48" fmla="*/ 52 w 63"/>
                    <a:gd name="T49"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136">
                      <a:moveTo>
                        <a:pt x="52" y="0"/>
                      </a:moveTo>
                      <a:cubicBezTo>
                        <a:pt x="52" y="0"/>
                        <a:pt x="52" y="0"/>
                        <a:pt x="52" y="0"/>
                      </a:cubicBezTo>
                      <a:cubicBezTo>
                        <a:pt x="52" y="0"/>
                        <a:pt x="52" y="0"/>
                        <a:pt x="52" y="0"/>
                      </a:cubicBezTo>
                      <a:cubicBezTo>
                        <a:pt x="39" y="0"/>
                        <a:pt x="39" y="0"/>
                        <a:pt x="39" y="0"/>
                      </a:cubicBezTo>
                      <a:cubicBezTo>
                        <a:pt x="32" y="14"/>
                        <a:pt x="32" y="14"/>
                        <a:pt x="32" y="14"/>
                      </a:cubicBezTo>
                      <a:cubicBezTo>
                        <a:pt x="23" y="0"/>
                        <a:pt x="23" y="0"/>
                        <a:pt x="23" y="0"/>
                      </a:cubicBezTo>
                      <a:cubicBezTo>
                        <a:pt x="11" y="0"/>
                        <a:pt x="11" y="0"/>
                        <a:pt x="11" y="0"/>
                      </a:cubicBezTo>
                      <a:cubicBezTo>
                        <a:pt x="11" y="0"/>
                        <a:pt x="11" y="0"/>
                        <a:pt x="11" y="0"/>
                      </a:cubicBezTo>
                      <a:cubicBezTo>
                        <a:pt x="5" y="0"/>
                        <a:pt x="0" y="6"/>
                        <a:pt x="0" y="11"/>
                      </a:cubicBezTo>
                      <a:cubicBezTo>
                        <a:pt x="0" y="62"/>
                        <a:pt x="0" y="62"/>
                        <a:pt x="0" y="62"/>
                      </a:cubicBezTo>
                      <a:cubicBezTo>
                        <a:pt x="0" y="68"/>
                        <a:pt x="5" y="72"/>
                        <a:pt x="11" y="72"/>
                      </a:cubicBezTo>
                      <a:cubicBezTo>
                        <a:pt x="11" y="79"/>
                        <a:pt x="11" y="79"/>
                        <a:pt x="11" y="79"/>
                      </a:cubicBezTo>
                      <a:cubicBezTo>
                        <a:pt x="11" y="90"/>
                        <a:pt x="11" y="90"/>
                        <a:pt x="11" y="90"/>
                      </a:cubicBezTo>
                      <a:cubicBezTo>
                        <a:pt x="11" y="125"/>
                        <a:pt x="11" y="125"/>
                        <a:pt x="11" y="125"/>
                      </a:cubicBezTo>
                      <a:cubicBezTo>
                        <a:pt x="11" y="131"/>
                        <a:pt x="15" y="136"/>
                        <a:pt x="22" y="136"/>
                      </a:cubicBezTo>
                      <a:cubicBezTo>
                        <a:pt x="26" y="136"/>
                        <a:pt x="30" y="133"/>
                        <a:pt x="32" y="130"/>
                      </a:cubicBezTo>
                      <a:cubicBezTo>
                        <a:pt x="33" y="133"/>
                        <a:pt x="37" y="136"/>
                        <a:pt x="41" y="136"/>
                      </a:cubicBezTo>
                      <a:cubicBezTo>
                        <a:pt x="47" y="136"/>
                        <a:pt x="52" y="131"/>
                        <a:pt x="52" y="125"/>
                      </a:cubicBezTo>
                      <a:cubicBezTo>
                        <a:pt x="52" y="90"/>
                        <a:pt x="52" y="90"/>
                        <a:pt x="52" y="90"/>
                      </a:cubicBezTo>
                      <a:cubicBezTo>
                        <a:pt x="52" y="79"/>
                        <a:pt x="52" y="79"/>
                        <a:pt x="52" y="79"/>
                      </a:cubicBezTo>
                      <a:cubicBezTo>
                        <a:pt x="52" y="72"/>
                        <a:pt x="52" y="72"/>
                        <a:pt x="52" y="72"/>
                      </a:cubicBezTo>
                      <a:cubicBezTo>
                        <a:pt x="52" y="72"/>
                        <a:pt x="52" y="72"/>
                        <a:pt x="52" y="72"/>
                      </a:cubicBezTo>
                      <a:cubicBezTo>
                        <a:pt x="58" y="72"/>
                        <a:pt x="63" y="68"/>
                        <a:pt x="63" y="62"/>
                      </a:cubicBezTo>
                      <a:cubicBezTo>
                        <a:pt x="63" y="11"/>
                        <a:pt x="63" y="11"/>
                        <a:pt x="63" y="11"/>
                      </a:cubicBezTo>
                      <a:cubicBezTo>
                        <a:pt x="63" y="6"/>
                        <a:pt x="58" y="0"/>
                        <a:pt x="52" y="0"/>
                      </a:cubicBezTo>
                      <a:close/>
                    </a:path>
                  </a:pathLst>
                </a:cu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sp>
              <p:nvSpPr>
                <p:cNvPr id="117" name="Oval 637">
                  <a:extLst>
                    <a:ext uri="{FF2B5EF4-FFF2-40B4-BE49-F238E27FC236}">
                      <a16:creationId xmlns:a16="http://schemas.microsoft.com/office/drawing/2014/main" id="{270A7307-6ECC-0F49-37F3-18432BAA5BAE}"/>
                    </a:ext>
                  </a:extLst>
                </p:cNvPr>
                <p:cNvSpPr>
                  <a:spLocks noChangeArrowheads="1"/>
                </p:cNvSpPr>
                <p:nvPr/>
              </p:nvSpPr>
              <p:spPr bwMode="auto">
                <a:xfrm>
                  <a:off x="4226390" y="5651400"/>
                  <a:ext cx="98425" cy="101600"/>
                </a:xfrm>
                <a:prstGeom prst="ellipse">
                  <a:avLst/>
                </a:prstGeom>
                <a:noFill/>
                <a:ln w="635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Fund Light"/>
                    <a:ea typeface="+mn-ea"/>
                    <a:cs typeface="+mn-cs"/>
                  </a:endParaRPr>
                </a:p>
              </p:txBody>
            </p:sp>
          </p:grpSp>
        </p:grpSp>
      </p:grpSp>
      <p:sp>
        <p:nvSpPr>
          <p:cNvPr id="123" name="TextBox 122">
            <a:extLst>
              <a:ext uri="{FF2B5EF4-FFF2-40B4-BE49-F238E27FC236}">
                <a16:creationId xmlns:a16="http://schemas.microsoft.com/office/drawing/2014/main" id="{FDF0A206-829C-5BDB-18FD-E9FA412B6F7B}"/>
              </a:ext>
            </a:extLst>
          </p:cNvPr>
          <p:cNvSpPr txBox="1"/>
          <p:nvPr/>
        </p:nvSpPr>
        <p:spPr>
          <a:xfrm>
            <a:off x="4785622" y="2696491"/>
            <a:ext cx="241130" cy="237744"/>
          </a:xfrm>
          <a:prstGeom prst="ellipse">
            <a:avLst/>
          </a:prstGeom>
          <a:solidFill>
            <a:schemeClr val="bg1"/>
          </a:solidFill>
          <a:ln>
            <a:solidFill>
              <a:schemeClr val="tx1"/>
            </a:solidFill>
          </a:ln>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Fund Light"/>
                <a:ea typeface="+mn-ea"/>
                <a:cs typeface="+mn-cs"/>
              </a:rPr>
              <a:t>+</a:t>
            </a:r>
          </a:p>
        </p:txBody>
      </p:sp>
      <p:sp>
        <p:nvSpPr>
          <p:cNvPr id="124" name="TextBox 123">
            <a:extLst>
              <a:ext uri="{FF2B5EF4-FFF2-40B4-BE49-F238E27FC236}">
                <a16:creationId xmlns:a16="http://schemas.microsoft.com/office/drawing/2014/main" id="{EAF5133F-E4DB-F7A3-ED97-13E26C15D443}"/>
              </a:ext>
            </a:extLst>
          </p:cNvPr>
          <p:cNvSpPr txBox="1"/>
          <p:nvPr/>
        </p:nvSpPr>
        <p:spPr>
          <a:xfrm>
            <a:off x="6049368" y="2696491"/>
            <a:ext cx="237744" cy="237744"/>
          </a:xfrm>
          <a:prstGeom prst="ellipse">
            <a:avLst/>
          </a:prstGeom>
          <a:solidFill>
            <a:schemeClr val="bg1"/>
          </a:solidFill>
          <a:ln>
            <a:solidFill>
              <a:schemeClr val="tx1"/>
            </a:solidFill>
          </a:ln>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000000"/>
                </a:solidFill>
                <a:effectLst/>
                <a:uLnTx/>
                <a:uFillTx/>
                <a:latin typeface="Fund Light"/>
                <a:ea typeface="+mn-ea"/>
                <a:cs typeface="+mn-cs"/>
              </a:rPr>
              <a:t>+</a:t>
            </a:r>
          </a:p>
        </p:txBody>
      </p:sp>
    </p:spTree>
    <p:extLst>
      <p:ext uri="{BB962C8B-B14F-4D97-AF65-F5344CB8AC3E}">
        <p14:creationId xmlns:p14="http://schemas.microsoft.com/office/powerpoint/2010/main" val="27033447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868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584&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70999999999999996447E+00&quot;&gt;&lt;m_msothmcolidx val=&quot;0&quot;/&gt;&lt;m_rgb r=&quot;F3&quot; g=&quot;EA&quot; b=&quot;DB&quot;/&gt;&lt;/elem&gt;&lt;elem m_fUsage=&quot;1.00000000000000000000E+00&quot;&gt;&lt;m_msothmcolidx val=&quot;0&quot;/&gt;&lt;m_rgb r=&quot;E7&quot; g=&quot;D6&quot; b=&quot;B8&quot;/&gt;&lt;/elem&gt;&lt;/m_vecMRU&gt;&lt;/m_mruColor&gt;&lt;m_eweekdayFirstOfWeek val=&quot;1&quot;/&gt;&lt;m_eweekdayFirstOfWorkweek val=&quot;2&quot;/&gt;&lt;m_eweekdayFirstOfWeekend val=&quot;7&quot;/&gt;&lt;/CPresentation&gt;&lt;/root&gt;"/>
  <p:tag name="LASTSLIDEVIEWED" val="311,5,Slide5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SHAPENAME" val="5. Sourc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5Vz9wpzrRQKjk0ErqRK.H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0PbVPx7XG6Dkq3Y8p2M9P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QKlNrQWqpwfF5R5zLa4qp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bZDC7D_BrtA5DZnTJoDC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TWRq_n26SB4YeW4IwHc3j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LPVWEwF1A9qAjG7hgt0lK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7sOPRd7NwYYs63YknGyM6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3QcRaHcIsWsot.lAnBOSI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LnCv09SkLDyrswnxyP5mj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KKjTlmIDHi0nORL8GFC81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51p2_D8IF2DWewtqGFXo9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t0uOpRcaP3l4ELbfZr0WC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PfXSWPrpt.iW.b4u23agg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M6Vs4idgyGGzjhrPLBHL5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tR3_OeHYIoAuQavAt60CC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QKlNrQWqpwfF5R5zLa4qp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LPVWEwF1A9qAjG7hgt0lK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3QcRaHcIsWsot.lAnBOSI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KKjTlmIDHi0nORL8GFC81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xocZJfUb_DtKSmWZwjAdO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xocZJfUb_DtKSmWZwjAdO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0PbVPx7XG6Dkq3Y8p2M9P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bLrZ5bP63i5cMSHv6bY80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sKQf7uLlqruppd_Yj7snY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4qpRLgiqRriitgknnwg6N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8p1a9S6ZHBryhE0q2jUAU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bFQnWy22vpPskNduEHXXC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p5oIRPD2vBPpv7xNAalsF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T9RNFeCUVzac4IsttI4BZ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yucE6RaSyu_ud410aZzHo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R6RttuNfMWFN3m5r0LkpD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jej.TCFuAq9wWWAztiCcc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ani60W_XJ4cq8vMRb1O05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1el8SSOm.MEs8dkDk4zU2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_8ORSCmjYksPwHHHWsj5O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8Bu_vdOukHRPCt9OPjMFR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_qUTCo_4J7wytS2.XyTUE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yCi_l92.kEJQHED9BdILb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Sq5KCzJJPDxzuRMwDQrp6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dS7AfRPShsPZIjlQ3OU53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WoFWQkj5bOEsb2yXbF2Rg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4AUWWeUCmG07XXFeYXoK.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KL.AItEkHDk1u6QZ7dOOR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kA3NBaZwfN3_mxX8zJhTJ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aB_wSV0UkaPxYdia0kq35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xStFkusCcE60dA0b5R8bD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Qkq58psihA.X3NZn8B6jM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KtH5OpibiPuFdEJP8IcFW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8hyuRMGU9cX.bDS_R7BO.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qFzl7zxX8spEjL5Jcw6zB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1djOAe_xOzBTykTIDwG5A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83.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86.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hyTFCHSNcUOJ0szQUEHN.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0PbVPx7XG6Dkq3Y8p2M9P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QKlNrQWqpwfF5R5zLa4qp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AbZDC7D_BrtA5DZnTJoDC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TWRq_n26SB4YeW4IwHc3jg"/>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LPVWEwF1A9qAjG7hgt0lK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7sOPRd7NwYYs63YknGyM6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3QcRaHcIsWsot.lAnBOSI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LnCv09SkLDyrswnxyP5mj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KKjTlmIDHi0nORL8GFC81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51p2_D8IF2DWewtqGFXo9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t0uOpRcaP3l4ELbfZr0WC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PfXSWPrpt.iW.b4u23agg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M6Vs4idgyGGzjhrPLBHL5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tR3_OeHYIoAuQavAt60CC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QKlNrQWqpwfF5R5zLa4qp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LPVWEwF1A9qAjG7hgt0lK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3QcRaHcIsWsot.lAnBOSI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KKjTlmIDHi0nORL8GFC81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xocZJfUb_DtKSmWZwjAdO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xocZJfUb_DtKSmWZwjAdO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0PbVPx7XG6Dkq3Y8p2M9P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bLrZ5bP63i5cMSHv6bY80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sKQf7uLlqruppd_Yj7snY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4qpRLgiqRriitgknnwg6N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8p1a9S6ZHBryhE0q2jUAU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bFQnWy22vpPskNduEHXXC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p5oIRPD2vBPpv7xNAalsFQ"/>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T9RNFeCUVzac4IsttI4BZ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yucE6RaSyu_ud410aZzHo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R6RttuNfMWFN3m5r0LkpD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jej.TCFuAq9wWWAztiCcc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ani60W_XJ4cq8vMRb1O05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1el8SSOm.MEs8dkDk4zU2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_8ORSCmjYksPwHHHWsj5OA"/>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8Bu_vdOukHRPCt9OPjMFRA"/>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_qUTCo_4J7wytS2.XyTUE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yCi_l92.kEJQHED9BdILb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Sq5KCzJJPDxzuRMwDQrp6w"/>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dS7AfRPShsPZIjlQ3OU53g"/>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WoFWQkj5bOEsb2yXbF2Rg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4AUWWeUCmG07XXFeYXoK.g"/>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KL.AItEkHDk1u6QZ7dOORA"/>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kA3NBaZwfN3_mxX8zJhTJ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aB_wSV0UkaPxYdia0kq35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xStFkusCcE60dA0b5R8bDQ"/>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Qkq58psihA.X3NZn8B6jMQ"/>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KtH5OpibiPuFdEJP8IcFW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8hyuRMGU9cX.bDS_R7BO.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Fzl7zxX8spEjL5Jcw6zB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1djOAe_xOzBTykTIDwG5A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8p1a9S6ZHBryhE0q2jUAU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bFQnWy22vpPskNduEHXXC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p5oIRPD2vBPpv7xNAalsFQ"/>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T9RNFeCUVzac4IsttI4BZg"/>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yucE6RaSyu_ud410aZzHoA"/>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R6RttuNfMWFN3m5r0LkpD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jej.TCFuAq9wWWAztiCcc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ani60W_XJ4cq8vMRb1O05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1el8SSOm.MEs8dkDk4zU2g"/>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_8ORSCmjYksPwHHHWsj5OA"/>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8Bu_vdOukHRPCt9OPjMFR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_qUTCo_4J7wytS2.XyTUEw"/>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yCi_l92.kEJQHED9BdILb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Sq5KCzJJPDxzuRMwDQrp6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dS7AfRPShsPZIjlQ3OU53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WoFWQkj5bOEsb2yXbF2Rgw"/>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4AUWWeUCmG07XXFeYXoK.g"/>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KL.AItEkHDk1u6QZ7dOORA"/>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kA3NBaZwfN3_mxX8zJhTJA"/>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aB_wSV0UkaPxYdia0kq35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xStFkusCcE60dA0b5R8bD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Qkq58psihA.X3NZn8B6jMQ"/>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KtH5OpibiPuFdEJP8IcFWw"/>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8hyuRMGU9cX.bDS_R7BO.A"/>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qFzl7zxX8spEjL5Jcw6zBQ"/>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1djOAe_xOzBTykTIDwG5A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06.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09.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12.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15.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18.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21.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24.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27.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28.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29.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32.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35.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36.xml><?xml version="1.0" encoding="utf-8"?>
<p:tagLst xmlns:a="http://schemas.openxmlformats.org/drawingml/2006/main" xmlns:r="http://schemas.openxmlformats.org/officeDocument/2006/relationships" xmlns:p="http://schemas.openxmlformats.org/presentationml/2006/main">
  <p:tag name="STRATEGYSHAPE" val="yes"/>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39.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40.xml><?xml version="1.0" encoding="utf-8"?>
<p:tagLst xmlns:a="http://schemas.openxmlformats.org/drawingml/2006/main" xmlns:r="http://schemas.openxmlformats.org/officeDocument/2006/relationships" xmlns:p="http://schemas.openxmlformats.org/presentationml/2006/main">
  <p:tag name="STRATEGYSHAPE" val="yes"/>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45.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EE4P_TEMPLATESTYLE" val="3"/>
  <p:tag name="EE4P_STYLE_ID" val="fd1d33d9-b93f-4d0e-b357-3fd5e7558413"/>
  <p:tag name="EE4P_STYLE_NAME" val="16:9 Box"/>
  <p:tag name="EE4P_SMART_ELEMENT_XML" val="&lt;smartelement id=&quot;ProcessArrow&quot; custom=&quot;1&quot;&gt;&lt;value angle=&quot;4&quot; /&gt;&lt;/smartelement&gt;"/>
</p:tagLst>
</file>

<file path=ppt/tags/tag252.xml><?xml version="1.0" encoding="utf-8"?>
<p:tagLst xmlns:a="http://schemas.openxmlformats.org/drawingml/2006/main" xmlns:r="http://schemas.openxmlformats.org/officeDocument/2006/relationships" xmlns:p="http://schemas.openxmlformats.org/presentationml/2006/main">
  <p:tag name="EE4P_STYLE_ID" val="fd1d33d9-b93f-4d0e-b357-3fd5e7558413"/>
  <p:tag name="EE4P_STYLE_NAME" val="16:9 Box"/>
  <p:tag name="EE4P_SMART_ELEMENT_XML" val="&lt;smartelement id=&quot;ProcessArrow&quot; custom=&quot;1&quot;&gt;&lt;value angle=&quot;4&quot; /&gt;&lt;/smartelement&gt;"/>
  <p:tag name="EE4P_TEMPLATESTYLE" val="25"/>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PIF Color">
      <a:dk1>
        <a:srgbClr val="00332A"/>
      </a:dk1>
      <a:lt1>
        <a:srgbClr val="FFFFFF"/>
      </a:lt1>
      <a:dk2>
        <a:srgbClr val="005C4D"/>
      </a:dk2>
      <a:lt2>
        <a:srgbClr val="C3984D"/>
      </a:lt2>
      <a:accent1>
        <a:srgbClr val="02CC99"/>
      </a:accent1>
      <a:accent2>
        <a:srgbClr val="5F007F"/>
      </a:accent2>
      <a:accent3>
        <a:srgbClr val="005A65"/>
      </a:accent3>
      <a:accent4>
        <a:srgbClr val="BB6321"/>
      </a:accent4>
      <a:accent5>
        <a:srgbClr val="28176F"/>
      </a:accent5>
      <a:accent6>
        <a:srgbClr val="B21D41"/>
      </a:accent6>
      <a:hlink>
        <a:srgbClr val="0563C1"/>
      </a:hlink>
      <a:folHlink>
        <a:srgbClr val="3C39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emplate 2024 - ENG - 1x9 - IDI - CAD[1]" id="{3DB87032-9C7C-4B45-9090-8249C70F8EE0}" vid="{337DBEB4-315C-1C4F-93E8-F2E7EA0F0461}"/>
    </a:ext>
  </a:extLst>
</a:theme>
</file>

<file path=ppt/theme/theme2.xml><?xml version="1.0" encoding="utf-8"?>
<a:theme xmlns:a="http://schemas.openxmlformats.org/drawingml/2006/main" name="Theme Option 4">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Theme">
  <a:themeElements>
    <a:clrScheme name="PIF Color">
      <a:dk1>
        <a:srgbClr val="00332A"/>
      </a:dk1>
      <a:lt1>
        <a:srgbClr val="FFFFFF"/>
      </a:lt1>
      <a:dk2>
        <a:srgbClr val="005C4D"/>
      </a:dk2>
      <a:lt2>
        <a:srgbClr val="C3984D"/>
      </a:lt2>
      <a:accent1>
        <a:srgbClr val="02CC99"/>
      </a:accent1>
      <a:accent2>
        <a:srgbClr val="5F007F"/>
      </a:accent2>
      <a:accent3>
        <a:srgbClr val="005A65"/>
      </a:accent3>
      <a:accent4>
        <a:srgbClr val="BB6321"/>
      </a:accent4>
      <a:accent5>
        <a:srgbClr val="28176F"/>
      </a:accent5>
      <a:accent6>
        <a:srgbClr val="B21D41"/>
      </a:accent6>
      <a:hlink>
        <a:srgbClr val="0563C1"/>
      </a:hlink>
      <a:folHlink>
        <a:srgbClr val="3C39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emplate 2024 - ENG - 1x9 - IDI - CAD[1]" id="{3DB87032-9C7C-4B45-9090-8249C70F8EE0}" vid="{337DBEB4-315C-1C4F-93E8-F2E7EA0F0461}"/>
    </a:ext>
  </a:extLst>
</a:theme>
</file>

<file path=ppt/theme/theme4.xml><?xml version="1.0" encoding="utf-8"?>
<a:theme xmlns:a="http://schemas.openxmlformats.org/drawingml/2006/main" name="2_Office Theme">
  <a:themeElements>
    <a:clrScheme name="PIF Color">
      <a:dk1>
        <a:srgbClr val="00332A"/>
      </a:dk1>
      <a:lt1>
        <a:srgbClr val="FFFFFF"/>
      </a:lt1>
      <a:dk2>
        <a:srgbClr val="005C4D"/>
      </a:dk2>
      <a:lt2>
        <a:srgbClr val="C3984D"/>
      </a:lt2>
      <a:accent1>
        <a:srgbClr val="02CC99"/>
      </a:accent1>
      <a:accent2>
        <a:srgbClr val="5F007F"/>
      </a:accent2>
      <a:accent3>
        <a:srgbClr val="005A65"/>
      </a:accent3>
      <a:accent4>
        <a:srgbClr val="BB6321"/>
      </a:accent4>
      <a:accent5>
        <a:srgbClr val="28176F"/>
      </a:accent5>
      <a:accent6>
        <a:srgbClr val="B21D41"/>
      </a:accent6>
      <a:hlink>
        <a:srgbClr val="0563C1"/>
      </a:hlink>
      <a:folHlink>
        <a:srgbClr val="3C39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emplate 2024 - ENG - 1x9 - IDI - CAD[1]" id="{3DB87032-9C7C-4B45-9090-8249C70F8EE0}" vid="{337DBEB4-315C-1C4F-93E8-F2E7EA0F0461}"/>
    </a:ext>
  </a:extLst>
</a:theme>
</file>

<file path=ppt/theme/theme5.xml><?xml version="1.0" encoding="utf-8"?>
<a:theme xmlns:a="http://schemas.openxmlformats.org/drawingml/2006/main" name="3_Office Theme">
  <a:themeElements>
    <a:clrScheme name="GREY SHADOW">
      <a:dk1>
        <a:srgbClr val="007A3C"/>
      </a:dk1>
      <a:lt1>
        <a:srgbClr val="FFFFFF"/>
      </a:lt1>
      <a:dk2>
        <a:srgbClr val="1A1918"/>
      </a:dk2>
      <a:lt2>
        <a:srgbClr val="B89358"/>
      </a:lt2>
      <a:accent1>
        <a:srgbClr val="004325"/>
      </a:accent1>
      <a:accent2>
        <a:srgbClr val="0A1E19"/>
      </a:accent2>
      <a:accent3>
        <a:srgbClr val="9C7149"/>
      </a:accent3>
      <a:accent4>
        <a:srgbClr val="F6ECDA"/>
      </a:accent4>
      <a:accent5>
        <a:srgbClr val="DED8C3"/>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46D3BBA6-545C-4A38-B832-0971D8DFCA7B}" vid="{4C69DDDA-D32C-47F1-8E31-3E14E897282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A4EB801-5335-4381-AF75-7942C5F30B9C}">
  <we:reference id="a761e866-31f6-4676-9a6c-095a3a900831" version="1.0.0.8" store="EXCatalog" storeType="EXCatalog"/>
  <we:alternateReferences>
    <we:reference id="WA200001625" version="1.0.0.8"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d="http://www.w3.org/2001/XMLSchema" xmlns:xsi="http://www.w3.org/2001/XMLSchema-instance" xmlns="http://www.boldonjames.com/2008/01/sie/internal/label" sislVersion="0" policy="4f3ffa34-8ea5-4d04-9688-c0eeb614b05f" origin="userSelected">
  <element uid="id_classification_nonbusiness" value=""/>
</sisl>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743F9E08288146BE9EBF2DBA28EFC2" ma:contentTypeVersion="10" ma:contentTypeDescription="Create a new document." ma:contentTypeScope="" ma:versionID="8cb76de2e0be89ce2310e184434731db">
  <xsd:schema xmlns:xsd="http://www.w3.org/2001/XMLSchema" xmlns:xs="http://www.w3.org/2001/XMLSchema" xmlns:p="http://schemas.microsoft.com/office/2006/metadata/properties" xmlns:ns3="95a060d7-8ebb-48ae-b328-e58bdcc83281" targetNamespace="http://schemas.microsoft.com/office/2006/metadata/properties" ma:root="true" ma:fieldsID="17b9038cd937c1016c501a3c88e5d469" ns3:_="">
    <xsd:import namespace="95a060d7-8ebb-48ae-b328-e58bdcc8328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a060d7-8ebb-48ae-b328-e58bdcc8328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95a060d7-8ebb-48ae-b328-e58bdcc83281" xsi:nil="true"/>
  </documentManagement>
</p:properties>
</file>

<file path=customXml/itemProps1.xml><?xml version="1.0" encoding="utf-8"?>
<ds:datastoreItem xmlns:ds="http://schemas.openxmlformats.org/officeDocument/2006/customXml" ds:itemID="{362425D2-070D-4850-B1EC-8CA200357F9A}">
  <ds:schemaRefs>
    <ds:schemaRef ds:uri="http://www.boldonjames.com/2008/01/sie/internal/label"/>
    <ds:schemaRef ds:uri="http://www.w3.org/2001/XMLSchema"/>
  </ds:schemaRefs>
</ds:datastoreItem>
</file>

<file path=customXml/itemProps2.xml><?xml version="1.0" encoding="utf-8"?>
<ds:datastoreItem xmlns:ds="http://schemas.openxmlformats.org/officeDocument/2006/customXml" ds:itemID="{BEB26EB3-E966-4F65-8244-406DE76079E4}">
  <ds:schemaRefs>
    <ds:schemaRef ds:uri="http://schemas.microsoft.com/sharepoint/v3/contenttype/forms"/>
  </ds:schemaRefs>
</ds:datastoreItem>
</file>

<file path=customXml/itemProps3.xml><?xml version="1.0" encoding="utf-8"?>
<ds:datastoreItem xmlns:ds="http://schemas.openxmlformats.org/officeDocument/2006/customXml" ds:itemID="{CCCB9238-6506-42B3-A36B-E6D26F814A41}">
  <ds:schemaRefs>
    <ds:schemaRef ds:uri="95a060d7-8ebb-48ae-b328-e58bdcc832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D7419B25-247A-4C23-A4F4-2CB305120CC3}">
  <ds:schemaRefs>
    <ds:schemaRef ds:uri="http://schemas.microsoft.com/office/2006/metadata/properties"/>
    <ds:schemaRef ds:uri="95a060d7-8ebb-48ae-b328-e58bdcc83281"/>
    <ds:schemaRef ds:uri="http://www.w3.org/XML/1998/namespace"/>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4822</TotalTime>
  <Words>15592</Words>
  <Application>Microsoft Office PowerPoint</Application>
  <PresentationFormat>On-screen Show (16:9)</PresentationFormat>
  <Paragraphs>2689</Paragraphs>
  <Slides>97</Slides>
  <Notes>62</Notes>
  <HiddenSlides>0</HiddenSlides>
  <MMClips>0</MMClips>
  <ScaleCrop>false</ScaleCrop>
  <HeadingPairs>
    <vt:vector size="8" baseType="variant">
      <vt:variant>
        <vt:lpstr>Fonts Used</vt:lpstr>
      </vt:variant>
      <vt:variant>
        <vt:i4>8</vt:i4>
      </vt:variant>
      <vt:variant>
        <vt:lpstr>Theme</vt:lpstr>
      </vt:variant>
      <vt:variant>
        <vt:i4>5</vt:i4>
      </vt:variant>
      <vt:variant>
        <vt:lpstr>Embedded OLE Servers</vt:lpstr>
      </vt:variant>
      <vt:variant>
        <vt:i4>1</vt:i4>
      </vt:variant>
      <vt:variant>
        <vt:lpstr>Slide Titles</vt:lpstr>
      </vt:variant>
      <vt:variant>
        <vt:i4>97</vt:i4>
      </vt:variant>
    </vt:vector>
  </HeadingPairs>
  <TitlesOfParts>
    <vt:vector size="111" baseType="lpstr">
      <vt:lpstr>Aptos</vt:lpstr>
      <vt:lpstr>Arial</vt:lpstr>
      <vt:lpstr>Calibri</vt:lpstr>
      <vt:lpstr>Courier New</vt:lpstr>
      <vt:lpstr>Fund Light</vt:lpstr>
      <vt:lpstr>Fund Regular</vt:lpstr>
      <vt:lpstr>Sakkal Majalla</vt:lpstr>
      <vt:lpstr>Trebuchet MS</vt:lpstr>
      <vt:lpstr>Office Theme</vt:lpstr>
      <vt:lpstr>Theme Option 4</vt:lpstr>
      <vt:lpstr>1_Office Theme</vt:lpstr>
      <vt:lpstr>2_Office Theme</vt:lpstr>
      <vt:lpstr>3_Office Theme</vt:lpstr>
      <vt:lpstr>think-cell Slide</vt:lpstr>
      <vt:lpstr>Localization Demand Commitment (LDC):  Implementation Guide</vt:lpstr>
      <vt:lpstr>PowerPoint Presentation</vt:lpstr>
      <vt:lpstr>PowerPoint Presentation</vt:lpstr>
      <vt:lpstr>PowerPoint Presentation</vt:lpstr>
      <vt:lpstr>PowerPoint Presentation</vt:lpstr>
      <vt:lpstr>PowerPoint Presentation</vt:lpstr>
      <vt:lpstr>In order to execute a successful LDC for a product, you will need to follow five stages</vt:lpstr>
      <vt:lpstr>To support your LDC journey, this implementation guide includes a range of tools </vt:lpstr>
      <vt:lpstr>Stage 1 − Product selection: Selecting eligible products for LDC requires assessment across three screening criteria</vt:lpstr>
      <vt:lpstr>LDC feasibility provides an in-depth assessment of the opportunity by answering four questions </vt:lpstr>
      <vt:lpstr>LDC localization opportunities should be articulated across the following parameters</vt:lpstr>
      <vt:lpstr>To prove localization viability, total addressable demand needs to be assessed against the plant capacity</vt:lpstr>
      <vt:lpstr>Stage 2 − Feasibility and terms assessment: There are two types of LDC agreements </vt:lpstr>
      <vt:lpstr>Stage 2 − Feasibility and terms assessment:  The type of demand commitment is assessed via three parameters</vt:lpstr>
      <vt:lpstr>Stage 2 − Feasibility and terms assessment: two parameters needed to understand the level of risks</vt:lpstr>
      <vt:lpstr>Example business case output – telecom product </vt:lpstr>
      <vt:lpstr>Stage 3 – Tendering and LDC award: two types of LDC agreements and related terms need to be defined</vt:lpstr>
      <vt:lpstr>Stage 4 – Tendering and LDC award: two types of LDC agreements and related terms need to be defined</vt:lpstr>
      <vt:lpstr>Stage 5 – LDC execution and monitoring: Recommended governance to monitor LDC </vt:lpstr>
      <vt:lpstr>PowerPoint Presentation</vt:lpstr>
      <vt:lpstr>Stage 1 of 5 − Product selection: Section preface</vt:lpstr>
      <vt:lpstr>Selecting eligible products for LDC requires assessment based on three screening criteria</vt:lpstr>
      <vt:lpstr>LDC product selection – screening criteria</vt:lpstr>
      <vt:lpstr>Scale of demand and level of local procurement indicate a potential for localization </vt:lpstr>
      <vt:lpstr>Output example of estimating the 2 dimensions</vt:lpstr>
      <vt:lpstr>Visualization template to select products for localization </vt:lpstr>
      <vt:lpstr>Output example for selecting products for localization</vt:lpstr>
      <vt:lpstr>Products for LDC are selected along three dimensions</vt:lpstr>
      <vt:lpstr>Technical localization feasibility can be assessed along a range of qualitative dimensions</vt:lpstr>
      <vt:lpstr>Products for LDC are selected along three dimensions</vt:lpstr>
      <vt:lpstr>Requirement of demand commitment can be evaluated across two key dimensions</vt:lpstr>
      <vt:lpstr>Output example of product selection – telecom product</vt:lpstr>
      <vt:lpstr>PowerPoint Presentation</vt:lpstr>
      <vt:lpstr>Stage 2 of 5 – Feasibility assessment: Section preface</vt:lpstr>
      <vt:lpstr>LDC feasibility provides an in-depth assessment of the opportunity by answering four questions </vt:lpstr>
      <vt:lpstr>LDC localization opportunities should be articulated across the following parameters</vt:lpstr>
      <vt:lpstr>Methodology to calculate local content impact</vt:lpstr>
      <vt:lpstr>LDC feasibility provides an in-depth assessment of the opportunity by answering four questions </vt:lpstr>
      <vt:lpstr>To prove localization viability, total addressable demand needs to be assessed against the plant capacity</vt:lpstr>
      <vt:lpstr>Output example for a telecom product subject to localization</vt:lpstr>
      <vt:lpstr>LDC feasibility provides an in-depth assessment of the opportunity by answering four questions </vt:lpstr>
      <vt:lpstr>There are two types of demand commitments that can be offered</vt:lpstr>
      <vt:lpstr>A business model needs to be created to assess the type of demand commitment </vt:lpstr>
      <vt:lpstr>Example output of a business case – telecom product </vt:lpstr>
      <vt:lpstr>The type of demand commitment is informed by three parameters</vt:lpstr>
      <vt:lpstr>LDC feasibility provides an in-depth assessment of the opportunity by answering four questions </vt:lpstr>
      <vt:lpstr>Two parameters (estimated as part of the business model) can inform investors whether the risks are manageable</vt:lpstr>
      <vt:lpstr>Example output of a business case to inform level of risk – telecom product </vt:lpstr>
      <vt:lpstr>The associated risks can be analyzed using two parameters</vt:lpstr>
      <vt:lpstr>Once all four questions are answered, the product’s LDC feasibility is known – output example</vt:lpstr>
      <vt:lpstr>PowerPoint Presentation</vt:lpstr>
      <vt:lpstr>Stage 3 of 5 − Tendering and LDC award: Section preface</vt:lpstr>
      <vt:lpstr>An RfI and RfP process helps select suppliers competitively and lower risks as much as possible</vt:lpstr>
      <vt:lpstr>RfI typically includes three sections </vt:lpstr>
      <vt:lpstr>Information from suppliers is typically requested under four objectives </vt:lpstr>
      <vt:lpstr>RfI responses should be evaluated and shortlisted based on supplier interest and qualifications</vt:lpstr>
      <vt:lpstr>RfP typically includes eight sections </vt:lpstr>
      <vt:lpstr>RfP typically includes eight sections </vt:lpstr>
      <vt:lpstr>Responses to RfP need to be evaluated against technical and commercial parameters</vt:lpstr>
      <vt:lpstr>RfP evaluation process – technical and commercial scoring</vt:lpstr>
      <vt:lpstr>RfP responses should be evaluated against a minimum technical criteria</vt:lpstr>
      <vt:lpstr>Suppliers that pass technical screening should be scored against three dimensions</vt:lpstr>
      <vt:lpstr>Commercial evaluation is done across four dimensions</vt:lpstr>
      <vt:lpstr>PowerPoint Presentation</vt:lpstr>
      <vt:lpstr>Stage 4 of 5 – Terms and conditions: Section preface</vt:lpstr>
      <vt:lpstr>Optimal terms and conditions of an LDC agreement to be defined for appropriate risk mitigation</vt:lpstr>
      <vt:lpstr>Defining terms and conditions helps structure the optimal agreement</vt:lpstr>
      <vt:lpstr>A preferred supplier agreement is structured with 11 sections</vt:lpstr>
      <vt:lpstr> Supply risk mitigation mechanisms</vt:lpstr>
      <vt:lpstr> Supply risk mitigation mechanisms – buyer and supplier compensation</vt:lpstr>
      <vt:lpstr> Price and technology risks mitigation mechanisms</vt:lpstr>
      <vt:lpstr>Defining terms and conditions helps structure the optimal agreement</vt:lpstr>
      <vt:lpstr>Take-or-pay draft agreement structured around 13+ sections</vt:lpstr>
      <vt:lpstr> Liability risk mitigation mechanisms</vt:lpstr>
      <vt:lpstr> Portfolio company event of default – quarterly and annual assessment (section 10)</vt:lpstr>
      <vt:lpstr>Termination payment – output example</vt:lpstr>
      <vt:lpstr> Supply risk mitigation mechanisms</vt:lpstr>
      <vt:lpstr> Supply risk mitigation mechanisms – Contractor and buyer’s compensation</vt:lpstr>
      <vt:lpstr> Price and technology risks mitigation mechanisms</vt:lpstr>
      <vt:lpstr>PowerPoint Presentation</vt:lpstr>
      <vt:lpstr>Stage 5 of 5 – LDC monitoring: Section preface</vt:lpstr>
      <vt:lpstr>Three types of KPIs are defined for monitoring LDC progress </vt:lpstr>
      <vt:lpstr>Three KPIs to measure LDC liability for the buyer</vt:lpstr>
      <vt:lpstr>Multiple KPIs to measure supplier performance</vt:lpstr>
      <vt:lpstr>Two KPIs to measure localization impact</vt:lpstr>
      <vt:lpstr>PowerPoint Presentation</vt:lpstr>
      <vt:lpstr>Stage 5 of 5 – LDC governance: Section preface</vt:lpstr>
      <vt:lpstr>LDC governance cuts across the LDC value chain with various decision makers</vt:lpstr>
      <vt:lpstr>Recommended roles of key stakeholders</vt:lpstr>
      <vt:lpstr>Roles and responsibilities of the LDC taskforce</vt:lpstr>
      <vt:lpstr>PowerPoint Presentation</vt:lpstr>
      <vt:lpstr>In case of questions / request for support, reach out to PIF’s NDD team</vt:lpstr>
      <vt:lpstr>Factory database to understand presence of suppliers and / or other buyers for a product</vt:lpstr>
      <vt:lpstr>Typical sources for local data to inform the business model</vt:lpstr>
      <vt:lpstr>LCGPA LC score sheet</vt:lpstr>
      <vt:lpstr>Components used to measure total cost of operations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Strategy&amp;</dc:creator>
  <cp:keywords>PIF_Public</cp:keywords>
  <cp:lastModifiedBy>Rakind Gupta (MiddleEast)</cp:lastModifiedBy>
  <cp:revision>2</cp:revision>
  <cp:lastPrinted>2023-09-17T10:43:25Z</cp:lastPrinted>
  <dcterms:created xsi:type="dcterms:W3CDTF">2023-09-14T09:51:36Z</dcterms:created>
  <dcterms:modified xsi:type="dcterms:W3CDTF">2026-05-04T09:41:12Z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33b8be60-7943-4142-a097-06ceebd6aa23</vt:lpwstr>
  </property>
  <property fmtid="{D5CDD505-2E9C-101B-9397-08002B2CF9AE}" pid="3" name="bjSaver">
    <vt:lpwstr>XDgVB67PWuNxgqJHjG19FzAvP5RcwR/E</vt:lpwstr>
  </property>
  <property fmtid="{D5CDD505-2E9C-101B-9397-08002B2CF9AE}" pid="4" name="ContentTypeId">
    <vt:lpwstr>0x01010053743F9E08288146BE9EBF2DBA28EFC2</vt:lpwstr>
  </property>
  <property fmtid="{D5CDD505-2E9C-101B-9397-08002B2CF9AE}" pid="5" name="bjDocumentLabelXML">
    <vt:lpwstr>&lt;?xml version="1.0" encoding="us-ascii"?&gt;&lt;sisl xmlns:xsd="http://www.w3.org/2001/XMLSchema" xmlns:xsi="http://www.w3.org/2001/XMLSchema-instance" sislVersion="0" policy="4f3ffa34-8ea5-4d04-9688-c0eeb614b05f" origin="userSelected" xmlns="http://www.boldonj</vt:lpwstr>
  </property>
  <property fmtid="{D5CDD505-2E9C-101B-9397-08002B2CF9AE}" pid="6" name="bjDocumentLabelXML-0">
    <vt:lpwstr>ames.com/2008/01/sie/internal/label"&gt;&lt;element uid="id_classification_nonbusiness" value="" /&gt;&lt;/sisl&gt;</vt:lpwstr>
  </property>
  <property fmtid="{D5CDD505-2E9C-101B-9397-08002B2CF9AE}" pid="7" name="bjClsUserRVM">
    <vt:lpwstr>[]</vt:lpwstr>
  </property>
  <property fmtid="{D5CDD505-2E9C-101B-9397-08002B2CF9AE}" pid="8" name="bjDocumentSecurityLabel">
    <vt:lpwstr>Public </vt:lpwstr>
  </property>
</Properties>
</file>